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25400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7512813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5175478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1129340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9790787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734272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3420878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0398671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9211821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1984147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2324019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0778385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5103158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4176387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13759457" name="Text">
    </p:cNvPr>
          <p:cNvSpPr>
            <a:spLocks noGrp="1"/>
          </p:cNvSpPr>
          <p:nvPr/>
        </p:nvSpPr>
        <p:spPr>
          <a:xfrm rot="0">
            <a:off x="97028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</a:p>
        </p:txBody>
      </p:sp>
      <p:sp>
        <p:nvSpPr>
          <p:cNvPr id="182005113" name="Text">
    </p:cNvPr>
          <p:cNvSpPr>
            <a:spLocks noGrp="1"/>
          </p:cNvSpPr>
          <p:nvPr/>
        </p:nvSpPr>
        <p:spPr>
          <a:xfrm rot="0">
            <a:off x="93345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</a:p>
        </p:txBody>
      </p:sp>
      <p:sp>
        <p:nvSpPr>
          <p:cNvPr id="27348244" name="Text">
    </p:cNvPr>
          <p:cNvSpPr>
            <a:spLocks noGrp="1"/>
          </p:cNvSpPr>
          <p:nvPr/>
        </p:nvSpPr>
        <p:spPr>
          <a:xfrm rot="0">
            <a:off x="5930900" y="1511300"/>
            <a:ext cx="3403600" cy="3949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</a:p>
        </p:txBody>
      </p:sp>
      <p:sp>
        <p:nvSpPr>
          <p:cNvPr id="1371298910" name="Text">
    </p:cNvPr>
          <p:cNvSpPr>
            <a:spLocks noGrp="1"/>
          </p:cNvSpPr>
          <p:nvPr/>
        </p:nvSpPr>
        <p:spPr>
          <a:xfrm rot="0">
            <a:off x="5308600" y="1511300"/>
            <a:ext cx="5715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838038147" name="Text">
    </p:cNvPr>
          <p:cNvSpPr>
            <a:spLocks noGrp="1"/>
          </p:cNvSpPr>
          <p:nvPr/>
        </p:nvSpPr>
        <p:spPr>
          <a:xfrm rot="0">
            <a:off x="88900" y="1511300"/>
            <a:ext cx="5715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1921131297" name="Text">
    </p:cNvPr>
          <p:cNvSpPr>
            <a:spLocks noGrp="1"/>
          </p:cNvSpPr>
          <p:nvPr/>
        </p:nvSpPr>
        <p:spPr>
          <a:xfrm rot="0">
            <a:off x="711200" y="1511300"/>
            <a:ext cx="3403600" cy="3949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ITSM-105297 비용 예산 조정 승인신청서 승인연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도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ITSM-105327 D99-24-0002 협조문 첨부파일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ITSM-105386 정보기술지원신청서 상의 첨부파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일 교체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ITSM-105333 기안지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ITSM-105372 기안지 (AA1-23-0024) 첨부파일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ITSM-105406 협조문 내용 수정요청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ITSM-105608 2024년 표준문서 '리스크대응매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뉴얼(SOM-6-200)' 개정 품의 첨부파일 교체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ITSM-105619 결재문서 내용 재수정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ITSM-105652 파견용역업체 기안지 일부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ITSM-105654 인감날인 신청서의 첨부 서류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ITSM-105692 CP 기안문서 내용수정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ITSM-105709 대표이사 사용인감 날인 신청서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첨부파일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ITSM-105714 기안지 내 예산 및 자원란 문구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요청 (기안지 제목 : 2023~2024년 해상시설물 건전성 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용역 품의)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ITSM-105754 보고서 결재 문서 첨부 파일 추가</a:t>
            </a:r>
          </a:p>
        </p:txBody>
      </p:sp>
      <p:sp>
        <p:nvSpPr>
          <p:cNvPr id="2034243976" name="Text">
    </p:cNvPr>
          <p:cNvSpPr>
            <a:spLocks noGrp="1"/>
          </p:cNvSpPr>
          <p:nvPr/>
        </p:nvSpPr>
        <p:spPr>
          <a:xfrm rot="0">
            <a:off x="44831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</a:p>
        </p:txBody>
      </p:sp>
      <p:sp>
        <p:nvSpPr>
          <p:cNvPr id="1252914258" name="Text">
    </p:cNvPr>
          <p:cNvSpPr>
            <a:spLocks noGrp="1"/>
          </p:cNvSpPr>
          <p:nvPr/>
        </p:nvSpPr>
        <p:spPr>
          <a:xfrm rot="0">
            <a:off x="48514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</a:p>
        </p:txBody>
      </p:sp>
      <p:sp>
        <p:nvSpPr>
          <p:cNvPr id="1616965870" name="Text">
    </p:cNvPr>
          <p:cNvSpPr>
            <a:spLocks noGrp="1"/>
          </p:cNvSpPr>
          <p:nvPr/>
        </p:nvSpPr>
        <p:spPr>
          <a:xfrm rot="0">
            <a:off x="41148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</a:p>
        </p:txBody>
      </p:sp>
      <p:sp>
        <p:nvSpPr>
          <p:cNvPr id="51928296" name="Text">
    </p:cNvPr>
          <p:cNvSpPr>
            <a:spLocks noGrp="1"/>
          </p:cNvSpPr>
          <p:nvPr/>
        </p:nvSpPr>
        <p:spPr>
          <a:xfrm rot="0">
            <a:off x="660400" y="1511300"/>
            <a:ext cx="34544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3998938" name="Text">
    </p:cNvPr>
          <p:cNvSpPr>
            <a:spLocks noGrp="1"/>
          </p:cNvSpPr>
          <p:nvPr/>
        </p:nvSpPr>
        <p:spPr>
          <a:xfrm rot="0">
            <a:off x="5880100" y="1511300"/>
            <a:ext cx="34544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55337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4421034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3799893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7537931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6046114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770181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6739716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7624622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3430112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9920591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7565453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5385759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2993393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0822288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870141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80238044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76113993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New RTDB 연동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</a:p>
        </p:txBody>
      </p:sp>
      <p:sp>
        <p:nvSpPr>
          <p:cNvPr id="140386523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68308741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49529605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</a:p>
        </p:txBody>
      </p:sp>
      <p:sp>
        <p:nvSpPr>
          <p:cNvPr id="107483743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204266876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176725027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</a:p>
        </p:txBody>
      </p:sp>
      <p:sp>
        <p:nvSpPr>
          <p:cNvPr id="147767256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9463694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318528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94303149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</a:p>
        </p:txBody>
      </p:sp>
      <p:sp>
        <p:nvSpPr>
          <p:cNvPr id="207347033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CI 시설 대금청구 매뉴에서 PR 일괄 생성 보완</a:t>
            </a:r>
          </a:p>
        </p:txBody>
      </p:sp>
      <p:sp>
        <p:nvSpPr>
          <p:cNvPr id="97833841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39963304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20661042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탱크청소 작업요청서 작성문서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CI 시설 대금청구 매뉴에서 PR 일괄 생성 보완</a:t>
            </a:r>
          </a:p>
        </p:txBody>
      </p:sp>
      <p:sp>
        <p:nvSpPr>
          <p:cNvPr id="16099357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83701792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</a:p>
        </p:txBody>
      </p:sp>
      <p:sp>
        <p:nvSpPr>
          <p:cNvPr id="11935229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</a:p>
        </p:txBody>
      </p:sp>
      <p:sp>
        <p:nvSpPr>
          <p:cNvPr id="45543377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5919531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7624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7870630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7052383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3979135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2138459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5029570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486297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5844854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7698729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878794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6618665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5347323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5314654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6997940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423716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36662569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</a:p>
        </p:txBody>
      </p:sp>
      <p:sp>
        <p:nvSpPr>
          <p:cNvPr id="16976460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GW-mobile sdk 변경 및 테스트</a:t>
            </a:r>
          </a:p>
        </p:txBody>
      </p:sp>
      <p:sp>
        <p:nvSpPr>
          <p:cNvPr id="139651396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01625460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6829430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ebiz 권한 요청 팝업 화면 이미지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ITSM-105287 수동배포ITSM-105288 수동배포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ITSM-105673 삭제ITSM-105548 삭제ITSM-105250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작업유형 변경ITSM-105369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atss 사용자 패스워드 초기화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IITSM-105769 작업자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GW-mobile sdk 변경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ITSM-105829 작업자 변경</a:t>
            </a:r>
          </a:p>
        </p:txBody>
      </p:sp>
      <p:sp>
        <p:nvSpPr>
          <p:cNvPr id="118255821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209919920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177747150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82230180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727243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15702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7716446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1404079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195803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3755934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8513549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7203281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8336218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5693722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3872894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6854729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5799373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4182283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7004355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7437907" name="Text">
    </p:cNvPr>
          <p:cNvSpPr>
            <a:spLocks noGrp="1"/>
          </p:cNvSpPr>
          <p:nvPr/>
        </p:nvSpPr>
        <p:spPr>
          <a:xfrm rot="0">
            <a:off x="9702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606714183" name="Text">
    </p:cNvPr>
          <p:cNvSpPr>
            <a:spLocks noGrp="1"/>
          </p:cNvSpPr>
          <p:nvPr/>
        </p:nvSpPr>
        <p:spPr>
          <a:xfrm rot="0">
            <a:off x="93345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</a:p>
        </p:txBody>
      </p:sp>
      <p:sp>
        <p:nvSpPr>
          <p:cNvPr id="70366725" name="Text">
    </p:cNvPr>
          <p:cNvSpPr>
            <a:spLocks noGrp="1"/>
          </p:cNvSpPr>
          <p:nvPr/>
        </p:nvSpPr>
        <p:spPr>
          <a:xfrm rot="0">
            <a:off x="5930900" y="1511300"/>
            <a:ext cx="3403600" cy="3797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'#1 회계지급계좌 증빙대사' 작업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Migration 테스트, 수정</a:t>
            </a:r>
            <a:br/>
          </a:p>
        </p:txBody>
      </p:sp>
      <p:sp>
        <p:nvSpPr>
          <p:cNvPr id="2120897009" name="Text">
    </p:cNvPr>
          <p:cNvSpPr>
            <a:spLocks noGrp="1"/>
          </p:cNvSpPr>
          <p:nvPr/>
        </p:nvSpPr>
        <p:spPr>
          <a:xfrm rot="0">
            <a:off x="53086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249525957" name="Text">
    </p:cNvPr>
          <p:cNvSpPr>
            <a:spLocks noGrp="1"/>
          </p:cNvSpPr>
          <p:nvPr/>
        </p:nvSpPr>
        <p:spPr>
          <a:xfrm rot="0">
            <a:off x="88900" y="1511300"/>
            <a:ext cx="5715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602942284" name="Text">
    </p:cNvPr>
          <p:cNvSpPr>
            <a:spLocks noGrp="1"/>
          </p:cNvSpPr>
          <p:nvPr/>
        </p:nvSpPr>
        <p:spPr>
          <a:xfrm rot="0">
            <a:off x="711200" y="1511300"/>
            <a:ext cx="3403600" cy="3797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A11 -&gt; A360 '일일 사전점검' 작업 마이그레이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션 및 테스트,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'#1 회계지급전표 증빙대사' 작업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Migration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'#4 외화송금' 작업 파일첨부 작업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'LPG팀-자가수송비 정산' 작업 미수행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거래처들 원인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      - 12월 중 거래 종료 되었던 거래처들이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라 번호 조회 불가. 현업 수기처리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'에너지관리팀-Daily Report' 작업 2024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년도 파일 미제공으로 인한 2023년도 파일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Data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'사전점검' 작업 CP 점검 불가 사유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- '사전점검' 전 작업의 F11 기능으로 인한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검 불가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Data 정상 확인 완료 여부, DNS등록 및 방화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벽 오픈 완료 확인 후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방화벽 Open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'생산최적화팀-Margin' 작업 엑셀 복사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미작동 확인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'CCS 사전점검' 수신자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SABIC 에러 확인 및 로그 전달, 큐 생성</a:t>
            </a:r>
            <a:br/>
          </a:p>
        </p:txBody>
      </p:sp>
      <p:sp>
        <p:nvSpPr>
          <p:cNvPr id="712519849" name="Text">
    </p:cNvPr>
          <p:cNvSpPr>
            <a:spLocks noGrp="1"/>
          </p:cNvSpPr>
          <p:nvPr/>
        </p:nvSpPr>
        <p:spPr>
          <a:xfrm rot="0">
            <a:off x="44831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103877070" name="Text">
    </p:cNvPr>
          <p:cNvSpPr>
            <a:spLocks noGrp="1"/>
          </p:cNvSpPr>
          <p:nvPr/>
        </p:nvSpPr>
        <p:spPr>
          <a:xfrm rot="0">
            <a:off x="48514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517279141" name="Text">
    </p:cNvPr>
          <p:cNvSpPr>
            <a:spLocks noGrp="1"/>
          </p:cNvSpPr>
          <p:nvPr/>
        </p:nvSpPr>
        <p:spPr>
          <a:xfrm rot="0">
            <a:off x="4114800" y="1511300"/>
            <a:ext cx="3683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1021177720" name="Text">
    </p:cNvPr>
          <p:cNvSpPr>
            <a:spLocks noGrp="1"/>
          </p:cNvSpPr>
          <p:nvPr/>
        </p:nvSpPr>
        <p:spPr>
          <a:xfrm rot="0">
            <a:off x="6604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72953650" name="Text">
    </p:cNvPr>
          <p:cNvSpPr>
            <a:spLocks noGrp="1"/>
          </p:cNvSpPr>
          <p:nvPr/>
        </p:nvSpPr>
        <p:spPr>
          <a:xfrm rot="0">
            <a:off x="5880100" y="1511300"/>
            <a:ext cx="3454400" cy="379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9097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7412679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1092234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1262470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8697980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1405669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6574437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265271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0411854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6804532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4446969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9182241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4918305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8142123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8895645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204192388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</a:p>
        </p:txBody>
      </p:sp>
      <p:sp>
        <p:nvSpPr>
          <p:cNvPr id="69201795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당일 시내출장 중식비 신청서 개발 요청</a:t>
            </a:r>
          </a:p>
        </p:txBody>
      </p:sp>
      <p:sp>
        <p:nvSpPr>
          <p:cNvPr id="130081532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8125910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46749849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당일 시내출장 중식비 신청서 개발 요청</a:t>
            </a:r>
          </a:p>
        </p:txBody>
      </p:sp>
      <p:sp>
        <p:nvSpPr>
          <p:cNvPr id="7211870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25382781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87441142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</a:p>
        </p:txBody>
      </p:sp>
      <p:sp>
        <p:nvSpPr>
          <p:cNvPr id="57141739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037832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3064340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86846660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</a:p>
        </p:txBody>
      </p:sp>
      <p:sp>
        <p:nvSpPr>
          <p:cNvPr id="1591779789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권한 부여 기능 수정 요청</a:t>
            </a:r>
          </a:p>
        </p:txBody>
      </p:sp>
      <p:sp>
        <p:nvSpPr>
          <p:cNvPr id="1417482999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446768463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974959168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건(내부평가/외부평가 관련 세부확인 관리자 메뉴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Soft skill 평가자 대상 정성평가 요청 메일 발송 추가)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권한 부여 기능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HG-A-1660 소프트웨어유지보수및 운영비산정 지침서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Alkylation1팀 전정배 주임 부서지침서 관리자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Risk Assessment data 업데이트 요청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시스템상 2023.4Q Risk assessment data 수정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(R297 관련)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IT 인프라 운영 정보보호 정책 현행화을 위한 ERS(규정관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리) 열람 권한 요청_기안메일_송부건	(인프라 박경근 대리)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전자결재 요청 양식의 첨부파일 다운로드 링크 http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s로 변경 적용</a:t>
            </a:r>
          </a:p>
        </p:txBody>
      </p:sp>
      <p:sp>
        <p:nvSpPr>
          <p:cNvPr id="1630110215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</a:p>
        </p:txBody>
      </p:sp>
      <p:sp>
        <p:nvSpPr>
          <p:cNvPr id="1577045631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</a:p>
        </p:txBody>
      </p:sp>
      <p:sp>
        <p:nvSpPr>
          <p:cNvPr id="1421284120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</a:p>
        </p:txBody>
      </p:sp>
      <p:sp>
        <p:nvSpPr>
          <p:cNvPr id="191243644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45048237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8737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7202516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0780768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1205321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3358559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2340273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780318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5326324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7741809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4954555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010489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6265142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562492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7446786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3383090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62188954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175314687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감사팀 협조 요청 20.04.01 ~ 24.1.11 지류 상품권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재고 데이터 추출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조치 권고 사항 처리 요청 (C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ISO에서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처리 요청(CIS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O에서 메일이 오면 작업진행)</a:t>
            </a:r>
          </a:p>
        </p:txBody>
      </p:sp>
      <p:sp>
        <p:nvSpPr>
          <p:cNvPr id="103170146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02452514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01482761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IAMS IT Process 2023 Final 모집단 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hqgiftap1 서버 다운 원인 파악 및 장애보고서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상품권 판매 거래처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지류상품권 모바일 상품권 전환 로그 테이블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CRM과 상품권 번호 동기화작업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감사팀 접속권한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대리점영업팀 판매등록 테스트 데이터 취소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감사팀 요청 :20.04.01 ~ 24.1.11 지류 상품권 재고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데이터 추출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SP104 시나리오 잘못 추출된 데이터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서버 계정 유효성 검증 회신</a:t>
            </a:r>
          </a:p>
        </p:txBody>
      </p:sp>
      <p:sp>
        <p:nvSpPr>
          <p:cNvPr id="174232364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</a:p>
        </p:txBody>
      </p:sp>
      <p:sp>
        <p:nvSpPr>
          <p:cNvPr id="77915564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</a:p>
        </p:txBody>
      </p:sp>
      <p:sp>
        <p:nvSpPr>
          <p:cNvPr id="14412214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</a:p>
        </p:txBody>
      </p:sp>
      <p:sp>
        <p:nvSpPr>
          <p:cNvPr id="131526259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9313349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969247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209453186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</a:p>
        </p:txBody>
      </p:sp>
      <p:sp>
        <p:nvSpPr>
          <p:cNvPr id="41717028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( 1. PDF 내 발행번호를 읽지 못함 /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저유소명 불일치 / 3. 셀병합 및 가운데 정렬로 인한 값 오배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업로드 및 수정 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연도 정확도 체크</a:t>
            </a:r>
          </a:p>
        </p:txBody>
      </p:sp>
      <p:sp>
        <p:nvSpPr>
          <p:cNvPr id="62695742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42635653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76634837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( 1. PDF 내 발행번호를 읽지 못함 /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저유소명 불일치 / 3. 셀병합 및 가운데 정렬로 인한 값 오배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업로드 및 수정 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연도 정확도 체크</a:t>
            </a:r>
          </a:p>
        </p:txBody>
      </p:sp>
      <p:sp>
        <p:nvSpPr>
          <p:cNvPr id="50295574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</a:p>
        </p:txBody>
      </p:sp>
      <p:sp>
        <p:nvSpPr>
          <p:cNvPr id="127657064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</a:p>
        </p:txBody>
      </p:sp>
      <p:sp>
        <p:nvSpPr>
          <p:cNvPr id="98444930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01/11</a:t>
            </a:r>
            <a:br/>
            <a:br/>
          </a:p>
        </p:txBody>
      </p:sp>
      <p:sp>
        <p:nvSpPr>
          <p:cNvPr id="30176127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0641312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1588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6446437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5738016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3540615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5521583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0457237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2220290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416212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0722371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1119061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0218030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2593726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2454085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3583242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4600743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23396784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</a:p>
        </p:txBody>
      </p:sp>
      <p:sp>
        <p:nvSpPr>
          <p:cNvPr id="158046756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12월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2023.12월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HCM 당일 시내출장 중식비 신청서 신규개발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SOIL&lt;-&gt;SABIC 연계간 발생하는 에러메세지 처리를 위한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EQ 신규 생성</a:t>
            </a:r>
          </a:p>
        </p:txBody>
      </p:sp>
      <p:sp>
        <p:nvSpPr>
          <p:cNvPr id="36430074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10349865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54654934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12월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2023.12월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HCM 당일 시내출장 중식비 신청서 신규개발</a:t>
            </a:r>
          </a:p>
        </p:txBody>
      </p:sp>
      <p:sp>
        <p:nvSpPr>
          <p:cNvPr id="58399177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2649418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89261919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159464689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42069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