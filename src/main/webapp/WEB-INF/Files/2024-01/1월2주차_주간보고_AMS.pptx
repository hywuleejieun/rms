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6"/>
    <p:sldId id="257" r:id="rId10"/>
    <p:sldId id="258" r:id="rId12"/>
    <p:sldId id="259" r:id="rId13"/>
    <p:sldId id="260" r:id="rId14"/>
    <p:sldId id="261" r:id="rId16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  <p:sldId id="274" r:id="rId31"/>
    <p:sldId id="275" r:id="rId33"/>
    <p:sldId id="276" r:id="rId35"/>
  </p:sldIdLst>
  <p:sldSz cx="10160000" cy="6921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2.xml" Type="http://schemas.openxmlformats.org/officeDocument/2006/relationships/slide"/><Relationship Id="rId11" Target="notesSlides/notesSlide2.xml" Type="http://schemas.openxmlformats.org/officeDocument/2006/relationships/notesSlide"/><Relationship Id="rId12" Target="slides/slide3.xml" Type="http://schemas.openxmlformats.org/officeDocument/2006/relationships/slide"/><Relationship Id="rId13" Target="slides/slide4.xml" Type="http://schemas.openxmlformats.org/officeDocument/2006/relationships/slide"/><Relationship Id="rId14" Target="slides/slide5.xml" Type="http://schemas.openxmlformats.org/officeDocument/2006/relationships/slide"/><Relationship Id="rId15" Target="notesSlides/notesSlide3.xml" Type="http://schemas.openxmlformats.org/officeDocument/2006/relationships/notesSlide"/><Relationship Id="rId16" Target="slides/slide6.xml" Type="http://schemas.openxmlformats.org/officeDocument/2006/relationships/slide"/><Relationship Id="rId17" Target="notesSlides/notesSlide4.xml" Type="http://schemas.openxmlformats.org/officeDocument/2006/relationships/notesSlide"/><Relationship Id="rId18" Target="slides/slide7.xml" Type="http://schemas.openxmlformats.org/officeDocument/2006/relationships/slide"/><Relationship Id="rId19" Target="slides/slide8.xml" Type="http://schemas.openxmlformats.org/officeDocument/2006/relationships/slide"/><Relationship Id="rId2" Target="presProps.xml" Type="http://schemas.openxmlformats.org/officeDocument/2006/relationships/presProps"/><Relationship Id="rId20" Target="slides/slide9.xml" Type="http://schemas.openxmlformats.org/officeDocument/2006/relationships/slide"/><Relationship Id="rId21" Target="slides/slide10.xml" Type="http://schemas.openxmlformats.org/officeDocument/2006/relationships/slide"/><Relationship Id="rId22" Target="slides/slide11.xml" Type="http://schemas.openxmlformats.org/officeDocument/2006/relationships/slide"/><Relationship Id="rId23" Target="slides/slide12.xml" Type="http://schemas.openxmlformats.org/officeDocument/2006/relationships/slide"/><Relationship Id="rId24" Target="slides/slide13.xml" Type="http://schemas.openxmlformats.org/officeDocument/2006/relationships/slide"/><Relationship Id="rId25" Target="slides/slide14.xml" Type="http://schemas.openxmlformats.org/officeDocument/2006/relationships/slide"/><Relationship Id="rId26" Target="slides/slide15.xml" Type="http://schemas.openxmlformats.org/officeDocument/2006/relationships/slide"/><Relationship Id="rId27" Target="slides/slide16.xml" Type="http://schemas.openxmlformats.org/officeDocument/2006/relationships/slide"/><Relationship Id="rId28" Target="slides/slide17.xml" Type="http://schemas.openxmlformats.org/officeDocument/2006/relationships/slide"/><Relationship Id="rId29" Target="slides/slide18.xml" Type="http://schemas.openxmlformats.org/officeDocument/2006/relationships/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slides/slide19.xml" Type="http://schemas.openxmlformats.org/officeDocument/2006/relationships/slide"/><Relationship Id="rId32" Target="notesSlides/notesSlide6.xml" Type="http://schemas.openxmlformats.org/officeDocument/2006/relationships/notesSlide"/><Relationship Id="rId33" Target="slides/slide20.xml" Type="http://schemas.openxmlformats.org/officeDocument/2006/relationships/slide"/><Relationship Id="rId34" Target="notesSlides/notesSlide7.xml" Type="http://schemas.openxmlformats.org/officeDocument/2006/relationships/notesSlide"/><Relationship Id="rId35" Target="slides/slide21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notesMasters/notesMaster1.xml" Type="http://schemas.openxmlformats.org/officeDocument/2006/relationships/notesMaster"/><Relationship Id="rId8" Target="theme/theme2.xml" Type="http://schemas.openxmlformats.org/officeDocument/2006/relationships/theme"/><Relationship Id="rId9" Target="notesSlides/notesSlide1.xml" Type="http://schemas.openxmlformats.org/officeDocument/2006/relationships/notesSlide"/></Relationships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4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5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6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7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notesSlide1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spcBef>
                <a:spcPct val="30000"/>
              </a:spcBef>
              <a:spcAft>
                <a:spcPct val="0"/>
              </a:spcAft>
              <a:defRPr/>
            </a:pPr>
            <a:endParaRPr lang="ko-KR" altLang="en-US"/>
          </a:p>
        </p:txBody>
      </p:sp>
    </p:spTree>
  </p:cSld>
</p:notes>
</file>

<file path=ppt/notesSlides/notesSlide2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notesSlides/notesSlide3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30000"/>
              </a:spcBef>
              <a:spcAft>
                <a:spcPct val="0"/>
              </a:spcAft>
            </a:pPr>
            <a:endParaRPr lang="en-NZ" altLang="ko-KR" smtClean="0"/>
          </a:p>
        </p:txBody>
      </p:sp>
    </p:spTree>
  </p:cSld>
</p:notes>
</file>

<file path=ppt/notesSlides/notesSlide4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714375" y="746125"/>
            <a:ext cx="5370513" cy="3719513"/>
          </a:xfrm>
          <a:ln/>
        </p:spPr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5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6.xml><?xml version="1.0" encoding="utf-8"?>
<p:notes xmlns:p="http://schemas.openxmlformats.org/presentationml/2006/main">
  <p:cSld>
    <p:spTree xmlns:dsp="http://schemas.microsoft.com/office/drawing/2008/diagram" xmlns:a="http://schemas.openxmlformats.org/drawingml/2006/main" xmlns:r="http://schemas.openxmlformats.org/officeDocument/2006/relationships" xmlns:c="http://schemas.openxmlformats.org/drawingml/2006/chart" xmlns:dgm="http://schemas.openxmlformats.org/drawingml/2006/diagram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Rot="1" noChangeAspect="1" noChangeArrowheads="1" noTextEdit="1"/>
          </p:cNvSpPr>
          <p:nvPr>
            <p:ph type="sldImg" idx="0"/>
          </p:nvPr>
        </p:nvSpPr>
        <p:spPr>
          <a:xfrm>
            <a:off x="698500" y="741363"/>
            <a:ext cx="5340350" cy="3697287"/>
          </a:xfrm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lvl="0">
              <a:spcBef>
                <a:spcPct val="30000"/>
              </a:spcBef>
              <a:spcAft>
                <a:spcPct val="0"/>
              </a:spcAft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</p:notes>
</file>

<file path=ppt/notesSlides/notesSlide7.xml><?xml version="1.0" encoding="utf-8"?>
<p:notes xmlns:p="http://schemas.openxmlformats.org/presentationml/2006/main">
  <p:cSld>
    <p:spTree xmlns:a="http://schemas.openxmlformats.org/drawingml/2006/main"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52500" y="685800"/>
            <a:ext cx="4953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</a:t>
            </a:fld>
            <a:endParaRPr lang="ko-KR" altLang="en-US"/>
          </a:p>
        </p:txBody>
      </p:sp>
    </p:spTree>
  </p:cSld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lIns="0" rIns="0" anchor="b"/>
          <a:lstStyle/>
          <a:p>
            <a:pPr lvl="0" algn="l" marL="372596" indent="-372596">
              <a:spcAft>
                <a:spcPct val="0"/>
              </a:spcAft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050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3019" y="1599162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half" idx="3"/>
          </p:nvPr>
        </p:nvSpPr>
        <p:spPr>
          <a:xfrm>
            <a:off x="493781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half" idx="4"/>
          </p:nvPr>
        </p:nvSpPr>
        <p:spPr>
          <a:xfrm>
            <a:off x="5031750" y="3981637"/>
            <a:ext cx="4372951" cy="2194576"/>
          </a:xfrm>
        </p:spPr>
        <p:txBody>
          <a:bodyPr lIns="45720" rIns="4572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marL="175431" indent="-175431">
              <a:spcBef>
                <a:spcPct val="0"/>
              </a:spcBef>
              <a:spcAft>
                <a:spcPct val="0"/>
              </a:spcAft>
              <a:defRPr/>
            </a:pPr>
            <a:r>
              <a:rPr lang="ko-KR" altLang="en-US"/>
              <a:t>마스터 텍스트 스타일을 편집합니다</a:t>
            </a:r>
          </a:p>
          <a:p>
            <a:pPr lvl="1" marL="526292" indent="-175431">
              <a:spcAft>
                <a:spcPct val="0"/>
              </a:spcAft>
              <a:defRPr/>
            </a:pPr>
            <a:r>
              <a:rPr lang="ko-KR" altLang="en-US"/>
              <a:t>둘째 수준</a:t>
            </a:r>
          </a:p>
          <a:p>
            <a:pPr lvl="2" marL="875601" indent="-173878">
              <a:spcAft>
                <a:spcPct val="0"/>
              </a:spcAft>
              <a:defRPr/>
            </a:pPr>
            <a:r>
              <a:rPr lang="ko-KR" altLang="en-US"/>
              <a:t>셋째 수준</a:t>
            </a:r>
          </a:p>
          <a:p>
            <a:pPr lvl="3" marL="1235776" indent="-184746">
              <a:spcAft>
                <a:spcPct val="0"/>
              </a:spcAft>
              <a:defRPr/>
            </a:pPr>
            <a:r>
              <a:rPr lang="ko-KR" altLang="en-US"/>
              <a:t>넷째 수준</a:t>
            </a:r>
          </a:p>
          <a:p>
            <a:pPr lvl="4" marL="1586638" indent="-175431">
              <a:spcAft>
                <a:spcPct val="0"/>
              </a:spcAft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10" name="날짜 개체 틀 3"/>
          <p:cNvSpPr>
            <a:spLocks noGrp="1"/>
          </p:cNvSpPr>
          <p:nvPr>
            <p:ph type="dt" sz="half" idx="10"/>
          </p:nvPr>
        </p:nvSpPr>
        <p:spPr>
          <a:xfrm>
            <a:off x="493650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D8D7A7C4-C82A-4D21-9AB0-F0C5A1D3EF09}" type="datetime1">
              <a:rPr kumimoji="1" lang="ko-KR" altLang="en-US" sz="1200" b="0" i="0" baseline="0">
                <a:solidFill>
                  <a:schemeClr val="tx1"/>
                </a:solidFill>
                <a:latin typeface="+mn-lt"/>
                <a:ea typeface="바탕"/>
                <a:cs typeface="+mn-cs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2023-12-27</a:t>
            </a:fld>
            <a:endParaRPr kumimoji="1" lang="ko-KR" altLang="en-US" sz="1200" b="0" i="0" baseline="0">
              <a:solidFill>
                <a:schemeClr val="tx1"/>
              </a:solidFill>
              <a:latin typeface="+mn-lt"/>
              <a:ea typeface="바탕"/>
              <a:cs typeface="+mn-cs"/>
            </a:endParaRPr>
          </a:p>
        </p:txBody>
      </p:sp>
      <p:sp>
        <p:nvSpPr>
          <p:cNvPr id="11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382318" y="6352034"/>
            <a:ext cx="313476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ea typeface="바탕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endParaRPr kumimoji="1" lang="ko-KR" altLang="en-US" sz="1200" b="0" i="0" baseline="0">
              <a:solidFill>
                <a:schemeClr val="tx1"/>
              </a:solidFill>
              <a:ea typeface="바탕"/>
            </a:endParaRPr>
          </a:p>
        </p:txBody>
      </p:sp>
      <p:sp>
        <p:nvSpPr>
          <p:cNvPr id="12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7094854" y="6352034"/>
            <a:ext cx="2310957" cy="365046"/>
          </a:xfrm>
          <a:noFill/>
          <a:ln w="9525" cap="flat" cmpd="sng" algn="ctr">
            <a:noFill/>
            <a:prstDash val="solid"/>
            <a:round/>
          </a:ln>
        </p:spPr>
        <p:txBody>
          <a:bodyPr vert="horz" wrap="square" lIns="91440" tIns="45720" rIns="91440" bIns="45720" anchor="t">
            <a:noAutofit/>
          </a:bodyPr>
          <a:lstStyle>
            <a:lvl1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defRPr>
            </a:lvl1pPr>
          </a:lstStyle>
          <a:p>
            <a:pPr marL="0" lvl="0" indent="0" algn="l" rtl="0" eaLnBrk="1" latinLnBrk="1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None/>
              <a:defRPr/>
            </a:pPr>
            <a:fld id="{9327EF7B-8B08-4053-A0CD-9D52558E44A8}" type="slidenum">
              <a:rPr kumimoji="1" lang="ko-KR" altLang="en-US" sz="1200" b="0" i="0" baseline="0">
                <a:solidFill>
                  <a:schemeClr val="tx1"/>
                </a:solidFill>
                <a:latin typeface="Arial"/>
                <a:ea typeface="Arial"/>
              </a:rPr>
              <a:pPr marL="0" lvl="0" indent="0" algn="l" rtl="0" eaLnBrk="1" latinLnBrk="1" hangingPunct="1">
                <a:lnSpc>
                  <a:spcPct val="100000"/>
                </a:lnSpc>
                <a:spcBef>
                  <a:spcPct val="30000"/>
                </a:spcBef>
                <a:spcAft>
                  <a:spcPct val="0"/>
                </a:spcAft>
                <a:buNone/>
                <a:defRPr/>
              </a:pPr>
              <a:t>‹#›</a:t>
            </a:fld>
            <a:endParaRPr kumimoji="1" lang="ko-KR" altLang="en-US" sz="1200" b="0" i="0" baseline="0">
              <a:solidFill>
                <a:schemeClr val="tx1"/>
              </a:solidFill>
              <a:latin typeface="Arial"/>
              <a:ea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13" Target="../media/image3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730" y="101530"/>
            <a:ext cx="9055507" cy="43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 algn="l" marL="372596" indent="-372596">
              <a:spcAft>
                <a:spcPct val="0"/>
              </a:spcAft>
            </a:pPr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062" y="836032"/>
            <a:ext cx="8911114" cy="52858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 marL="175431" indent="-175431">
              <a:spcBef>
                <a:spcPct val="0"/>
              </a:spcBef>
              <a:spcAft>
                <a:spcPct val="0"/>
              </a:spcAft>
            </a:pPr>
            <a:r>
              <a:rPr lang="en-US" altLang="ko-KR"/>
              <a:t>Level One Text</a:t>
            </a:r>
          </a:p>
          <a:p>
            <a:pPr lvl="1" marL="526292" indent="-175431">
              <a:spcAft>
                <a:spcPct val="0"/>
              </a:spcAft>
            </a:pPr>
            <a:r>
              <a:rPr lang="en-US" altLang="ko-KR"/>
              <a:t>Level Two Text</a:t>
            </a:r>
          </a:p>
          <a:p>
            <a:pPr lvl="2" marL="875601" indent="-173878">
              <a:spcAft>
                <a:spcPct val="0"/>
              </a:spcAft>
            </a:pPr>
            <a:r>
              <a:rPr lang="en-US" altLang="ko-KR"/>
              <a:t>Level Three Text</a:t>
            </a:r>
          </a:p>
          <a:p>
            <a:pPr lvl="3" marL="1235776" indent="-184746">
              <a:spcAft>
                <a:spcPct val="0"/>
              </a:spcAft>
            </a:pPr>
            <a:r>
              <a:rPr lang="en-US" altLang="ko-KR"/>
              <a:t>Level Four Text</a:t>
            </a:r>
          </a:p>
          <a:p>
            <a:pPr lvl="4" marL="1586638" indent="-175431">
              <a:spcAft>
                <a:spcPct val="0"/>
              </a:spcAft>
            </a:pPr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327" y="609177"/>
            <a:ext cx="9406176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4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200" y="6610520"/>
            <a:ext cx="0" cy="2157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4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049" y="6512166"/>
            <a:ext cx="852077" cy="318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7223" y="6558168"/>
            <a:ext cx="493476" cy="287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8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8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  <p:sp>
        <p:nvSpPr>
          <p:cNvPr id="2" name="MSIPCMContentMarking" descr="{&quot;HashCode&quot;:1183346205,&quot;Placement&quot;:&quot;Footer&quot;,&quot;Top&quot;:517.622253,&quot;Left&quot;:0.0,&quot;SlideWidth&quot;:779,&quot;SlideHeight&quot;:539}">
            <a:extLst>
              <a:ext uri="{FF2B5EF4-FFF2-40B4-BE49-F238E27FC236}">
                <a16:creationId xmlns:a16="http://schemas.microsoft.com/office/drawing/2014/main" id="{06CD49F0-D643-4002-B42C-3477312F1EA3}"/>
              </a:ext>
            </a:extLst>
          </p:cNvPr>
          <p:cNvSpPr txBox="1"/>
          <p:nvPr userDrawn="1"/>
        </p:nvSpPr>
        <p:spPr>
          <a:xfrm>
            <a:off x="0" y="6573803"/>
            <a:ext cx="1757926" cy="279435"/>
          </a:xfrm>
          <a:prstGeom prst="rect">
            <a:avLst/>
          </a:prstGeom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altLang="ko-KR" sz="1100">
                <a:solidFill>
                  <a:srgbClr val="5F5F5F"/>
                </a:solidFill>
                <a:latin typeface="Calibri" panose="020F0502020204030204" pitchFamily="34" charset="0"/>
              </a:rPr>
              <a:t>S-OIL: Company Use Only</a:t>
            </a:r>
            <a:endParaRPr lang="ko-KR" altLang="en-US" sz="1100">
              <a:solidFill>
                <a:srgbClr val="5F5F5F"/>
              </a:solidFill>
              <a:latin typeface="Calibri" panose="020F050202020403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19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20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2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showMasterSp="false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  <a:buFontTx/>
              <a:buNone/>
              <a:defRPr/>
            </a:pPr>
            <a:r>
              <a:rPr b="true" lang="en-US" sz="1960">
                <a:latin typeface="맑은 고딕"/>
              </a:rPr>
              <a:t>[2024.01.02 ~ 2024.01.08]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defRPr/>
            </a:pPr>
            <a:r>
              <a:rPr b="true" lang="en-US" sz="1960">
                <a:solidFill>
                  <a:srgbClr val="000000"/>
                </a:solidFill>
                <a:latin typeface="맑은 고딕"/>
              </a:rPr>
              <a:t>1월 2주차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rgbClr val="BBE0E3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pPr>
              <a:spcBef>
                <a:spcPct val="0"/>
              </a:spcBef>
              <a:spcAft>
                <a:spcPct val="0"/>
              </a:spcAft>
            </a:pPr>
            <a:endParaRPr altLang="en-US" lang="ko-KR" sz="2716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59758088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신정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125"/>
          <p:cNvSpPr>
            <a:spLocks noChangeArrowheads="1"/>
          </p:cNvSpPr>
          <p:nvPr/>
        </p:nvSpPr>
        <p:spPr bwMode="auto">
          <a:xfrm>
            <a:off x="2486232" y="2518720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en-US" lang="ko-KR" sz="1566">
                <a:solidFill>
                  <a:schemeClr val="tx1"/>
                </a:solidFill>
              </a:rPr>
              <a:t>주간업무 실적 및 계획</a:t>
            </a:r>
          </a:p>
        </p:txBody>
      </p:sp>
      <p:sp>
        <p:nvSpPr>
          <p:cNvPr id="12291" name="Rectangle 3"/>
          <p:cNvSpPr>
            <a:spLocks noChangeArrowheads="1" noGrp="1"/>
          </p:cNvSpPr>
          <p:nvPr>
            <p:ph idx="4294967295" type="subTitle"/>
          </p:nvPr>
        </p:nvSpPr>
        <p:spPr>
          <a:xfrm>
            <a:off x="255577" y="297385"/>
            <a:ext cx="4927323" cy="372811"/>
          </a:xfrm>
        </p:spPr>
        <p:txBody>
          <a:bodyPr anchor="t" anchorCtr="0" bIns="46759" compatLnSpc="1" lIns="93521" numCol="1" rIns="93521" tIns="18410" vert="horz" wrap="square">
            <a:prstTxWarp prst="textNoShape">
              <a:avLst/>
            </a:prstTxWarp>
          </a:bodyPr>
          <a:lstStyle/>
          <a:p>
            <a:pPr defTabSz="894857" eaLnBrk="1" hangingPunct="1" indent="0" marL="0">
              <a:spcBef>
                <a:spcPct val="0"/>
              </a:spcBef>
              <a:spcAft>
                <a:spcPct val="0"/>
              </a:spcAft>
              <a:buNone/>
            </a:pPr>
            <a:r>
              <a:rPr altLang="en-US" b="1" lang="ko-KR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목차 </a:t>
            </a:r>
          </a:p>
        </p:txBody>
      </p:sp>
      <p:sp>
        <p:nvSpPr>
          <p:cNvPr id="12292" name="AutoShape 88"/>
          <p:cNvSpPr>
            <a:spLocks noChangeArrowheads="1"/>
          </p:cNvSpPr>
          <p:nvPr/>
        </p:nvSpPr>
        <p:spPr bwMode="auto">
          <a:xfrm>
            <a:off x="2487786" y="1943968"/>
            <a:ext cx="5711780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r>
              <a:rPr altLang="ko-KR" lang="en-US" sz="1566">
                <a:solidFill>
                  <a:schemeClr val="tx1"/>
                </a:solidFill>
              </a:rPr>
              <a:t>Summary</a:t>
            </a:r>
            <a:endParaRPr altLang="en-US" lang="ko-KR" sz="1566">
              <a:solidFill>
                <a:schemeClr val="tx1"/>
              </a:solidFill>
            </a:endParaRPr>
          </a:p>
        </p:txBody>
      </p:sp>
      <p:grpSp>
        <p:nvGrpSpPr>
          <p:cNvPr id="12293" name="Group 89"/>
          <p:cNvGrpSpPr>
            <a:grpSpLocks/>
          </p:cNvGrpSpPr>
          <p:nvPr/>
        </p:nvGrpSpPr>
        <p:grpSpPr bwMode="auto">
          <a:xfrm>
            <a:off x="2046626" y="2487652"/>
            <a:ext cx="539023" cy="487761"/>
            <a:chOff x="2225" y="1060"/>
            <a:chExt cx="294" cy="292"/>
          </a:xfrm>
        </p:grpSpPr>
        <p:grpSp>
          <p:nvGrpSpPr>
            <p:cNvPr id="12303" name="Group 90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305" name="Group 91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7" name="Oval 92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8" name="Oval 93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8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6" name="Oval 94"/>
              <p:cNvSpPr>
                <a:spLocks noChangeArrowheads="1"/>
              </p:cNvSpPr>
              <p:nvPr/>
            </p:nvSpPr>
            <p:spPr bwMode="auto">
              <a:xfrm rot="-1800000">
                <a:off x="-142" y="464"/>
                <a:ext cx="307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304" name="Text Box 95"/>
            <p:cNvSpPr txBox="1">
              <a:spLocks noChangeArrowheads="1"/>
            </p:cNvSpPr>
            <p:nvPr/>
          </p:nvSpPr>
          <p:spPr bwMode="auto">
            <a:xfrm>
              <a:off x="2293" y="1105"/>
              <a:ext cx="163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2</a:t>
              </a:r>
            </a:p>
          </p:txBody>
        </p:sp>
      </p:grpSp>
      <p:grpSp>
        <p:nvGrpSpPr>
          <p:cNvPr id="12294" name="Group 116"/>
          <p:cNvGrpSpPr>
            <a:grpSpLocks/>
          </p:cNvGrpSpPr>
          <p:nvPr/>
        </p:nvGrpSpPr>
        <p:grpSpPr bwMode="auto">
          <a:xfrm>
            <a:off x="2034199" y="1928435"/>
            <a:ext cx="563877" cy="487761"/>
            <a:chOff x="2225" y="1060"/>
            <a:chExt cx="294" cy="292"/>
          </a:xfrm>
        </p:grpSpPr>
        <p:grpSp>
          <p:nvGrpSpPr>
            <p:cNvPr id="12297" name="Group 117"/>
            <p:cNvGrpSpPr>
              <a:grpSpLocks/>
            </p:cNvGrpSpPr>
            <p:nvPr/>
          </p:nvGrpSpPr>
          <p:grpSpPr bwMode="auto">
            <a:xfrm>
              <a:off x="2225" y="1060"/>
              <a:ext cx="294" cy="292"/>
              <a:chOff x="-233" y="400"/>
              <a:chExt cx="669" cy="669"/>
            </a:xfrm>
          </p:grpSpPr>
          <p:grpSp>
            <p:nvGrpSpPr>
              <p:cNvPr id="12299" name="Group 118"/>
              <p:cNvGrpSpPr>
                <a:grpSpLocks/>
              </p:cNvGrpSpPr>
              <p:nvPr/>
            </p:nvGrpSpPr>
            <p:grpSpPr bwMode="auto">
              <a:xfrm>
                <a:off x="-233" y="400"/>
                <a:ext cx="669" cy="669"/>
                <a:chOff x="5297" y="1592"/>
                <a:chExt cx="669" cy="669"/>
              </a:xfrm>
            </p:grpSpPr>
            <p:sp>
              <p:nvSpPr>
                <p:cNvPr id="12301" name="Oval 119"/>
                <p:cNvSpPr>
                  <a:spLocks noChangeArrowheads="1"/>
                </p:cNvSpPr>
                <p:nvPr/>
              </p:nvSpPr>
              <p:spPr bwMode="auto">
                <a:xfrm>
                  <a:off x="5297" y="1592"/>
                  <a:ext cx="669" cy="669"/>
                </a:xfrm>
                <a:prstGeom prst="ellipse">
                  <a:avLst/>
                </a:prstGeom>
                <a:solidFill>
                  <a:srgbClr val="EAEEF6"/>
                </a:solidFill>
                <a:ln algn="ctr" w="6350">
                  <a:solidFill>
                    <a:srgbClr val="95AAD3"/>
                  </a:solidFill>
                  <a:round/>
                  <a:headEnd/>
                  <a:tailEnd/>
                </a:ln>
                <a:effectLst>
                  <a:outerShdw algn="ctr" dir="2700000" dist="35921" rotWithShape="0">
                    <a:schemeClr val="bg2"/>
                  </a:outerShdw>
                </a:effec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  <p:sp>
              <p:nvSpPr>
                <p:cNvPr id="12302" name="Oval 120"/>
                <p:cNvSpPr>
                  <a:spLocks noChangeArrowheads="1"/>
                </p:cNvSpPr>
                <p:nvPr/>
              </p:nvSpPr>
              <p:spPr bwMode="auto">
                <a:xfrm>
                  <a:off x="5343" y="1615"/>
                  <a:ext cx="579" cy="580"/>
                </a:xfrm>
                <a:prstGeom prst="ellipse">
                  <a:avLst/>
                </a:prstGeom>
                <a:gradFill rotWithShape="1">
                  <a:gsLst>
                    <a:gs pos="0">
                      <a:srgbClr val="95AAD3"/>
                    </a:gs>
                    <a:gs pos="100000">
                      <a:srgbClr val="405F9E"/>
                    </a:gs>
                  </a:gsLst>
                  <a:lin ang="5400000" scaled="1"/>
                </a:gradFill>
                <a:ln>
                  <a:noFill/>
                </a:ln>
                <a:effectLst>
                  <a:outerShdw algn="ctr" dir="2700000" dist="35921" rotWithShape="0">
                    <a:schemeClr val="bg2"/>
                  </a:outerShdw>
                </a:effectLst>
                <a:extLst>
                  <a:ext uri="{91240B29-F687-4F45-9708-019B960494DF}">
                    <a14:hiddenLine xmlns:a14="http://schemas.microsoft.com/office/drawing/2010/main" algn="ctr" w="6350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anchor="ctr" wrap="none"/>
                <a:lstStyle>
                  <a:lvl1pPr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1pPr>
                  <a:lvl2pPr indent="-285750" marL="74295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2pPr>
                  <a:lvl3pPr indent="-228600" marL="11430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3pPr>
                  <a:lvl4pPr indent="-228600" marL="16002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4pPr>
                  <a:lvl5pPr indent="-228600" marL="2057400"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5pPr>
                  <a:lvl6pPr eaLnBrk="0" fontAlgn="base" hangingPunct="0" indent="-228600" marL="25146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6pPr>
                  <a:lvl7pPr eaLnBrk="0" fontAlgn="base" hangingPunct="0" indent="-228600" marL="29718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7pPr>
                  <a:lvl8pPr eaLnBrk="0" fontAlgn="base" hangingPunct="0" indent="-228600" marL="34290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8pPr>
                  <a:lvl9pPr eaLnBrk="0" fontAlgn="base" hangingPunct="0" indent="-228600" marL="3886200">
                    <a:spcBef>
                      <a:spcPct val="0"/>
                    </a:spcBef>
                    <a:spcAft>
                      <a:spcPct val="0"/>
                    </a:spcAft>
                    <a:defRPr b="1" sz="900">
                      <a:solidFill>
                        <a:schemeClr val="bg1"/>
                      </a:solidFill>
                      <a:latin charset="-127" panose="020B0503020000020004" pitchFamily="50" typeface="맑은 고딕"/>
                      <a:ea charset="-127" panose="020B0503020000020004" pitchFamily="50" typeface="맑은 고딕"/>
                    </a:defRPr>
                  </a:lvl9pPr>
                </a:lstStyle>
                <a:p>
                  <a:pPr algn="r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endParaRPr altLang="en-US" lang="ko-KR" sz="1566">
                    <a:latin charset="-127" panose="02030600000101010101" pitchFamily="18" typeface="새굴림"/>
                    <a:ea charset="-127" panose="02030600000101010101" pitchFamily="18" typeface="새굴림"/>
                  </a:endParaRPr>
                </a:p>
              </p:txBody>
            </p:sp>
          </p:grpSp>
          <p:sp>
            <p:nvSpPr>
              <p:cNvPr id="12300" name="Oval 121"/>
              <p:cNvSpPr>
                <a:spLocks noChangeArrowheads="1"/>
              </p:cNvSpPr>
              <p:nvPr/>
            </p:nvSpPr>
            <p:spPr bwMode="auto">
              <a:xfrm rot="-1800000">
                <a:off x="-143" y="464"/>
                <a:ext cx="308" cy="194"/>
              </a:xfrm>
              <a:prstGeom prst="ellipse">
                <a:avLst/>
              </a:prstGeom>
              <a:gradFill rotWithShape="1">
                <a:gsLst>
                  <a:gs pos="0">
                    <a:srgbClr val="EAEEF6"/>
                  </a:gs>
                  <a:gs pos="100000">
                    <a:srgbClr val="8299C8"/>
                  </a:gs>
                </a:gsLst>
                <a:lin ang="5400000" scaled="1"/>
              </a:gradFill>
              <a:ln>
                <a:noFill/>
              </a:ln>
              <a:effectLst>
                <a:outerShdw algn="ctr" dir="2700000" dist="35921" rotWithShape="0">
                  <a:schemeClr val="bg2"/>
                </a:outerShdw>
              </a:effectLst>
              <a:extLst>
                <a:ext uri="{91240B29-F687-4F45-9708-019B960494DF}">
                  <a14:hiddenLine xmlns:a14="http://schemas.microsoft.com/office/drawing/2010/main" algn="ctr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 wrap="none"/>
              <a:lstStyle>
                <a:lvl1pPr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1pPr>
                <a:lvl2pPr indent="-285750" marL="74295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2pPr>
                <a:lvl3pPr indent="-228600" marL="11430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3pPr>
                <a:lvl4pPr indent="-228600" marL="16002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4pPr>
                <a:lvl5pPr indent="-228600" marL="2057400"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5pPr>
                <a:lvl6pPr eaLnBrk="0" fontAlgn="base" hangingPunct="0" indent="-228600" marL="25146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6pPr>
                <a:lvl7pPr eaLnBrk="0" fontAlgn="base" hangingPunct="0" indent="-228600" marL="29718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7pPr>
                <a:lvl8pPr eaLnBrk="0" fontAlgn="base" hangingPunct="0" indent="-228600" marL="34290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8pPr>
                <a:lvl9pPr eaLnBrk="0" fontAlgn="base" hangingPunct="0" indent="-228600" marL="3886200">
                  <a:spcBef>
                    <a:spcPct val="0"/>
                  </a:spcBef>
                  <a:spcAft>
                    <a:spcPct val="0"/>
                  </a:spcAft>
                  <a:defRPr b="1" sz="900">
                    <a:solidFill>
                      <a:schemeClr val="bg1"/>
                    </a:solidFill>
                    <a:latin charset="-127" panose="020B0503020000020004" pitchFamily="50" typeface="맑은 고딕"/>
                    <a:ea charset="-127" panose="020B0503020000020004" pitchFamily="50" typeface="맑은 고딕"/>
                  </a:defRPr>
                </a:lvl9pPr>
              </a:lstStyle>
              <a:p>
                <a:pPr algn="r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altLang="en-US" lang="ko-KR" sz="1566">
                  <a:latin charset="-127" panose="02030600000101010101" pitchFamily="18" typeface="새굴림"/>
                  <a:ea charset="-127" panose="02030600000101010101" pitchFamily="18" typeface="새굴림"/>
                </a:endParaRPr>
              </a:p>
            </p:txBody>
          </p:sp>
        </p:grpSp>
        <p:sp>
          <p:nvSpPr>
            <p:cNvPr id="12298" name="Text Box 122"/>
            <p:cNvSpPr txBox="1">
              <a:spLocks noChangeArrowheads="1"/>
            </p:cNvSpPr>
            <p:nvPr/>
          </p:nvSpPr>
          <p:spPr bwMode="auto">
            <a:xfrm>
              <a:off x="2295" y="1105"/>
              <a:ext cx="156" cy="185"/>
            </a:xfrm>
            <a:prstGeom prst="rect">
              <a:avLst/>
            </a:prstGeom>
            <a:noFill/>
            <a:ln>
              <a:noFill/>
            </a:ln>
            <a:effectLst>
              <a:outerShdw algn="ctr" dir="2700000" dist="35921" rotWithShape="0">
                <a:schemeClr val="bg2"/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wrap="none">
              <a:spAutoFit/>
            </a:bodyPr>
            <a:lstStyle>
              <a:lvl1pPr defTabSz="762000" indent="-187325" marL="187325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defTabSz="762000"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defTabSz="762000"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defTabSz="762000"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defTabSz="762000"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defTabSz="762000"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defTabSz="762000"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defTabSz="762000"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defTabSz="762000"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altLang="ko-KR" lang="en-US" sz="1566">
                  <a:latin charset="-127" panose="02030600000101010101" pitchFamily="18" typeface="새굴림"/>
                  <a:ea charset="-127" panose="02030600000101010101" pitchFamily="18" typeface="새굴림"/>
                </a:rPr>
                <a:t>1</a:t>
              </a:r>
            </a:p>
          </p:txBody>
        </p:sp>
      </p:grpSp>
      <p:sp>
        <p:nvSpPr>
          <p:cNvPr id="12295" name="AutoShape 125"/>
          <p:cNvSpPr>
            <a:spLocks noChangeArrowheads="1"/>
          </p:cNvSpPr>
          <p:nvPr/>
        </p:nvSpPr>
        <p:spPr bwMode="auto">
          <a:xfrm>
            <a:off x="2492446" y="3130752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1] ERP </a:t>
            </a:r>
            <a:r>
              <a:rPr altLang="en-US" kumimoji="1" lang="ko-KR" sz="1370">
                <a:solidFill>
                  <a:srgbClr val="000000"/>
                </a:solidFill>
              </a:rPr>
              <a:t>사용자 계정 및 보안관리</a:t>
            </a:r>
          </a:p>
        </p:txBody>
      </p:sp>
      <p:sp>
        <p:nvSpPr>
          <p:cNvPr id="12296" name="AutoShape 125"/>
          <p:cNvSpPr>
            <a:spLocks noChangeArrowheads="1"/>
          </p:cNvSpPr>
          <p:nvPr/>
        </p:nvSpPr>
        <p:spPr bwMode="auto">
          <a:xfrm>
            <a:off x="2492446" y="3578125"/>
            <a:ext cx="5711781" cy="391452"/>
          </a:xfrm>
          <a:prstGeom prst="roundRect">
            <a:avLst>
              <a:gd fmla="val 16667" name="adj"/>
            </a:avLst>
          </a:prstGeom>
          <a:solidFill>
            <a:schemeClr val="bg1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635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anchor="ctr" lIns="176131" wrap="none"/>
          <a:lstStyle>
            <a:lvl1pPr defTabSz="762000" indent="-342900" marL="3429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762000" indent="-385763" marL="5651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76200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76200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76200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76200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76200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76200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76200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lvl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charset="2" panose="05000000000000000000" pitchFamily="2" typeface="Wingdings"/>
              <a:buChar char="v"/>
            </a:pPr>
            <a:r>
              <a:rPr altLang="en-US" kumimoji="1" lang="ko-KR" sz="1370">
                <a:solidFill>
                  <a:srgbClr val="000000"/>
                </a:solidFill>
              </a:rPr>
              <a:t>별첨 </a:t>
            </a:r>
            <a:r>
              <a:rPr altLang="ko-KR" kumimoji="1" lang="en-US" sz="1370">
                <a:solidFill>
                  <a:srgbClr val="000000"/>
                </a:solidFill>
              </a:rPr>
              <a:t>2] </a:t>
            </a:r>
            <a:r>
              <a:rPr altLang="en-US" kumimoji="1" lang="ko-KR" sz="1370">
                <a:solidFill>
                  <a:srgbClr val="000000"/>
                </a:solidFill>
              </a:rPr>
              <a:t>휴가계획서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0970924" name="Text">
    </p:cNvPr>
          <p:cNvSpPr>
            <a:spLocks noGrp="1"/>
          </p:cNvSpPr>
          <p:nvPr/>
        </p:nvSpPr>
        <p:spPr>
          <a:xfrm rot="0">
            <a:off x="8674100" y="76200"/>
            <a:ext cx="762000" cy="508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8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80">
                <a:latin typeface="맑은 고딕"/>
                <a:ea typeface="맑은 고딕"/>
                <a:cs typeface="맑은 고딕"/>
              </a:rPr>
              <a:t>: 완료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:진행중</a:t>
            </a:r>
            <a:br/>
            <a:r>
              <a:rPr lang="ko" sz="980">
                <a:latin typeface="맑은 고딕"/>
                <a:ea typeface="맑은 고딕"/>
                <a:cs typeface="맑은 고딕"/>
              </a:rPr>
              <a:t>:미완료(문제)</a:t>
            </a:r>
          </a:p>
        </p:txBody>
      </p:sp>
      <p:sp>
        <p:nvSpPr>
          <p:cNvPr id="940534049" name="Rectangle"/>
          <p:cNvSpPr>
            <a:spLocks noGrp="1"/>
          </p:cNvSpPr>
          <p:nvPr/>
        </p:nvSpPr>
        <p:spPr>
          <a:xfrm>
            <a:off x="8420100" y="50800"/>
            <a:ext cx="254000" cy="139700"/>
          </a:xfrm>
          <a:prstGeom prst="rect">
            <a:avLst/>
          </a:prstGeom>
          <a:solidFill>
            <a:srgbClr val="00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744677843" name="Rectangle"/>
          <p:cNvSpPr>
            <a:spLocks noGrp="1"/>
          </p:cNvSpPr>
          <p:nvPr/>
        </p:nvSpPr>
        <p:spPr>
          <a:xfrm>
            <a:off x="8420100" y="228600"/>
            <a:ext cx="254000" cy="139700"/>
          </a:xfrm>
          <a:prstGeom prst="rect">
            <a:avLst/>
          </a:prstGeom>
          <a:solidFill>
            <a:srgbClr val="FFFF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146046351" name="Rectangle"/>
          <p:cNvSpPr>
            <a:spLocks noGrp="1"/>
          </p:cNvSpPr>
          <p:nvPr/>
        </p:nvSpPr>
        <p:spPr>
          <a:xfrm>
            <a:off x="8420100" y="406400"/>
            <a:ext cx="254000" cy="1397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815948164" name="Text">
    </p:cNvPr>
          <p:cNvSpPr>
            <a:spLocks noGrp="1"/>
          </p:cNvSpPr>
          <p:nvPr/>
        </p:nvSpPr>
        <p:spPr>
          <a:xfrm rot="0">
            <a:off x="127000" y="190500"/>
            <a:ext cx="5181600" cy="381000"/>
          </a:xfrm>
          <a:prstGeom prst="rect">
            <a:avLst/>
          </a:prstGeom>
        </p:spPr>
        <p:txBody>
          <a:bodyPr anchor="b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2. Summary - ①Baynex</a:t>
            </a:r>
          </a:p>
        </p:txBody>
      </p:sp>
      <p:sp>
        <p:nvSpPr>
          <p:cNvPr id="800588099" name="Text">
    </p:cNvPr>
          <p:cNvSpPr>
            <a:spLocks noGrp="1"/>
          </p:cNvSpPr>
          <p:nvPr/>
        </p:nvSpPr>
        <p:spPr>
          <a:xfrm rot="0">
            <a:off x="190500" y="7493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30293588" name="Text">
    </p:cNvPr>
          <p:cNvSpPr>
            <a:spLocks noGrp="1"/>
          </p:cNvSpPr>
          <p:nvPr/>
        </p:nvSpPr>
        <p:spPr>
          <a:xfrm rot="0">
            <a:off x="165100" y="723900"/>
            <a:ext cx="2108200" cy="2159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금주 업무 실적</a:t>
            </a:r>
          </a:p>
        </p:txBody>
      </p:sp>
      <p:sp>
        <p:nvSpPr>
          <p:cNvPr id="459066454" name="Text">
    </p:cNvPr>
          <p:cNvSpPr>
            <a:spLocks noGrp="1"/>
          </p:cNvSpPr>
          <p:nvPr/>
        </p:nvSpPr>
        <p:spPr>
          <a:xfrm rot="0">
            <a:off x="152400" y="977900"/>
            <a:ext cx="7366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515421618" name="Text">
    </p:cNvPr>
          <p:cNvSpPr>
            <a:spLocks noGrp="1"/>
          </p:cNvSpPr>
          <p:nvPr/>
        </p:nvSpPr>
        <p:spPr>
          <a:xfrm rot="0">
            <a:off x="889000" y="977900"/>
            <a:ext cx="46482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902452031" name="Text">
    </p:cNvPr>
          <p:cNvSpPr>
            <a:spLocks noGrp="1"/>
          </p:cNvSpPr>
          <p:nvPr/>
        </p:nvSpPr>
        <p:spPr>
          <a:xfrm rot="0">
            <a:off x="6108700" y="977900"/>
            <a:ext cx="762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진행율</a:t>
            </a:r>
          </a:p>
        </p:txBody>
      </p:sp>
      <p:sp>
        <p:nvSpPr>
          <p:cNvPr id="1484751971" name="Text">
    </p:cNvPr>
          <p:cNvSpPr>
            <a:spLocks noGrp="1"/>
          </p:cNvSpPr>
          <p:nvPr/>
        </p:nvSpPr>
        <p:spPr>
          <a:xfrm rot="0">
            <a:off x="6870700" y="977900"/>
            <a:ext cx="2540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상</a:t>
            </a:r>
            <a:br/>
            <a:r>
              <a:rPr lang="ko" sz="1000">
                <a:latin typeface="맑은 고딕"/>
                <a:ea typeface="맑은 고딕"/>
                <a:cs typeface="맑은 고딕"/>
              </a:rPr>
              <a:t>태</a:t>
            </a:r>
          </a:p>
        </p:txBody>
      </p:sp>
      <p:sp>
        <p:nvSpPr>
          <p:cNvPr id="624745798" name="Text">
    </p:cNvPr>
          <p:cNvSpPr>
            <a:spLocks noGrp="1"/>
          </p:cNvSpPr>
          <p:nvPr/>
        </p:nvSpPr>
        <p:spPr>
          <a:xfrm rot="0">
            <a:off x="7124700" y="977900"/>
            <a:ext cx="26543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2129852790" name="Text">
    </p:cNvPr>
          <p:cNvSpPr>
            <a:spLocks noGrp="1"/>
          </p:cNvSpPr>
          <p:nvPr/>
        </p:nvSpPr>
        <p:spPr>
          <a:xfrm rot="0">
            <a:off x="5537200" y="977900"/>
            <a:ext cx="571500" cy="3937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656908146" name="Frame"/>
          <p:cNvSpPr>
            <a:spLocks noGrp="1"/>
          </p:cNvSpPr>
          <p:nvPr/>
        </p:nvSpPr>
        <p:spPr>
          <a:xfrm>
            <a:off x="25400" y="5397500"/>
            <a:ext cx="9855200" cy="11430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56580969" name="Text">
    </p:cNvPr>
          <p:cNvSpPr>
            <a:spLocks noGrp="1"/>
          </p:cNvSpPr>
          <p:nvPr/>
        </p:nvSpPr>
        <p:spPr>
          <a:xfrm rot="0">
            <a:off x="152400" y="5422900"/>
            <a:ext cx="2476500" cy="228600"/>
          </a:xfrm>
          <a:prstGeom prst="rect">
            <a:avLst/>
          </a:prstGeom>
          <a:solidFill>
            <a:srgbClr val="CCFFCC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ERP 디버깅 권한신청 처리현황</a:t>
            </a:r>
          </a:p>
        </p:txBody>
      </p:sp>
      <p:sp>
        <p:nvSpPr>
          <p:cNvPr id="1087004841" name="Text">
    </p:cNvPr>
          <p:cNvSpPr>
            <a:spLocks noGrp="1"/>
          </p:cNvSpPr>
          <p:nvPr/>
        </p:nvSpPr>
        <p:spPr>
          <a:xfrm rot="0">
            <a:off x="6451600" y="59563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9576079" name="Text">
    </p:cNvPr>
          <p:cNvSpPr>
            <a:spLocks noGrp="1"/>
          </p:cNvSpPr>
          <p:nvPr/>
        </p:nvSpPr>
        <p:spPr>
          <a:xfrm rot="0">
            <a:off x="2057400" y="59563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3401297" name="Text">
    </p:cNvPr>
          <p:cNvSpPr>
            <a:spLocks noGrp="1"/>
          </p:cNvSpPr>
          <p:nvPr/>
        </p:nvSpPr>
        <p:spPr>
          <a:xfrm rot="0">
            <a:off x="101600" y="59563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68801520" name="Text">
    </p:cNvPr>
          <p:cNvSpPr>
            <a:spLocks noGrp="1"/>
          </p:cNvSpPr>
          <p:nvPr/>
        </p:nvSpPr>
        <p:spPr>
          <a:xfrm rot="0">
            <a:off x="101600" y="5715000"/>
            <a:ext cx="1143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Date</a:t>
            </a:r>
          </a:p>
        </p:txBody>
      </p:sp>
      <p:sp>
        <p:nvSpPr>
          <p:cNvPr id="1484566789" name="Text">
    </p:cNvPr>
          <p:cNvSpPr>
            <a:spLocks noGrp="1"/>
          </p:cNvSpPr>
          <p:nvPr/>
        </p:nvSpPr>
        <p:spPr>
          <a:xfrm rot="0">
            <a:off x="2057400" y="5715000"/>
            <a:ext cx="43942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Text (변경값)</a:t>
            </a:r>
          </a:p>
        </p:txBody>
      </p:sp>
      <p:sp>
        <p:nvSpPr>
          <p:cNvPr id="568001765" name="Text">
    </p:cNvPr>
          <p:cNvSpPr>
            <a:spLocks noGrp="1"/>
          </p:cNvSpPr>
          <p:nvPr/>
        </p:nvSpPr>
        <p:spPr>
          <a:xfrm rot="0">
            <a:off x="6451600" y="5715000"/>
            <a:ext cx="16510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 권한신청서번호</a:t>
            </a:r>
          </a:p>
        </p:txBody>
      </p:sp>
      <p:sp>
        <p:nvSpPr>
          <p:cNvPr id="2108456281" name="Text">
    </p:cNvPr>
          <p:cNvSpPr>
            <a:spLocks noGrp="1"/>
          </p:cNvSpPr>
          <p:nvPr/>
        </p:nvSpPr>
        <p:spPr>
          <a:xfrm rot="0">
            <a:off x="101600" y="6248400"/>
            <a:ext cx="1143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84667075" name="Text">
    </p:cNvPr>
          <p:cNvSpPr>
            <a:spLocks noGrp="1"/>
          </p:cNvSpPr>
          <p:nvPr/>
        </p:nvSpPr>
        <p:spPr>
          <a:xfrm rot="0">
            <a:off x="6451600" y="6248400"/>
            <a:ext cx="16510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66959560" name="Text">
    </p:cNvPr>
          <p:cNvSpPr>
            <a:spLocks noGrp="1"/>
          </p:cNvSpPr>
          <p:nvPr/>
        </p:nvSpPr>
        <p:spPr>
          <a:xfrm rot="0">
            <a:off x="2057400" y="6248400"/>
            <a:ext cx="43942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95192639" name="Text">
    </p:cNvPr>
          <p:cNvSpPr>
            <a:spLocks noGrp="1"/>
          </p:cNvSpPr>
          <p:nvPr/>
        </p:nvSpPr>
        <p:spPr>
          <a:xfrm rot="0">
            <a:off x="1244600" y="62484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56939469" name="Text">
    </p:cNvPr>
          <p:cNvSpPr>
            <a:spLocks noGrp="1"/>
          </p:cNvSpPr>
          <p:nvPr/>
        </p:nvSpPr>
        <p:spPr>
          <a:xfrm rot="0">
            <a:off x="1244600" y="5956300"/>
            <a:ext cx="812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24489009" name="Text">
    </p:cNvPr>
          <p:cNvSpPr>
            <a:spLocks noGrp="1"/>
          </p:cNvSpPr>
          <p:nvPr/>
        </p:nvSpPr>
        <p:spPr>
          <a:xfrm rot="0">
            <a:off x="1244600" y="5715000"/>
            <a:ext cx="812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User</a:t>
            </a:r>
          </a:p>
        </p:txBody>
      </p:sp>
      <p:sp>
        <p:nvSpPr>
          <p:cNvPr id="407477132" name="Text">
    </p:cNvPr>
          <p:cNvSpPr>
            <a:spLocks noGrp="1"/>
          </p:cNvSpPr>
          <p:nvPr/>
        </p:nvSpPr>
        <p:spPr>
          <a:xfrm rot="0">
            <a:off x="8102600" y="62484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22278170" name="Text">
    </p:cNvPr>
          <p:cNvSpPr>
            <a:spLocks noGrp="1"/>
          </p:cNvSpPr>
          <p:nvPr/>
        </p:nvSpPr>
        <p:spPr>
          <a:xfrm rot="0">
            <a:off x="8102600" y="5715000"/>
            <a:ext cx="1701800" cy="241300"/>
          </a:xfrm>
          <a:prstGeom prst="rect">
            <a:avLst/>
          </a:prstGeom>
          <a:solidFill>
            <a:srgbClr val="FF9933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구분(일반/긴급)</a:t>
            </a:r>
          </a:p>
        </p:txBody>
      </p:sp>
      <p:sp>
        <p:nvSpPr>
          <p:cNvPr id="1093097805" name="Text">
    </p:cNvPr>
          <p:cNvSpPr>
            <a:spLocks noGrp="1"/>
          </p:cNvSpPr>
          <p:nvPr/>
        </p:nvSpPr>
        <p:spPr>
          <a:xfrm rot="0">
            <a:off x="8102600" y="5956300"/>
            <a:ext cx="1701800" cy="292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1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1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202825150" name="Frame"/>
          <p:cNvSpPr>
            <a:spLocks noGrp="1"/>
          </p:cNvSpPr>
          <p:nvPr/>
        </p:nvSpPr>
        <p:spPr>
          <a:xfrm>
            <a:off x="101600" y="2679700"/>
            <a:ext cx="9779000" cy="2552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334549311" name="Text">
    </p:cNvPr>
          <p:cNvSpPr>
            <a:spLocks noGrp="1"/>
          </p:cNvSpPr>
          <p:nvPr/>
        </p:nvSpPr>
        <p:spPr>
          <a:xfrm rot="0">
            <a:off x="165100" y="2743200"/>
            <a:ext cx="2108200" cy="2159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688806036" name="Text">
    </p:cNvPr>
          <p:cNvSpPr>
            <a:spLocks noGrp="1"/>
          </p:cNvSpPr>
          <p:nvPr/>
        </p:nvSpPr>
        <p:spPr>
          <a:xfrm rot="0">
            <a:off x="152400" y="2705100"/>
            <a:ext cx="2095500" cy="228600"/>
          </a:xfrm>
          <a:prstGeom prst="rect">
            <a:avLst/>
          </a:prstGeom>
          <a:solidFill>
            <a:srgbClr val="FF9900"/>
          </a:solidFill>
        </p:spPr>
        <p:txBody>
          <a:bodyPr anchor="ctr" bIns="0" lIns="0" rIns="0" rtlCol="0" tIns="0" wrap="square"/>
          <a:lstStyle/>
          <a:p>
            <a:pPr algn="l">
              <a:lnSpc>
                <a:spcPct val="100%"/>
              </a:lnSpc>
              <a:defRPr b="1"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000">
                <a:latin typeface="맑은 고딕"/>
                <a:ea typeface="맑은 고딕"/>
                <a:cs typeface="맑은 고딕"/>
              </a:rPr>
              <a:t> 차주 업무 계획</a:t>
            </a:r>
          </a:p>
        </p:txBody>
      </p:sp>
      <p:sp>
        <p:nvSpPr>
          <p:cNvPr id="1385730505" name="Text">
    </p:cNvPr>
          <p:cNvSpPr>
            <a:spLocks noGrp="1"/>
          </p:cNvSpPr>
          <p:nvPr/>
        </p:nvSpPr>
        <p:spPr>
          <a:xfrm rot="0">
            <a:off x="165100" y="2959100"/>
            <a:ext cx="7366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408834163" name="Text">
    </p:cNvPr>
          <p:cNvSpPr>
            <a:spLocks noGrp="1"/>
          </p:cNvSpPr>
          <p:nvPr/>
        </p:nvSpPr>
        <p:spPr>
          <a:xfrm rot="0">
            <a:off x="901700" y="2959100"/>
            <a:ext cx="46482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29774190" name="Text">
    </p:cNvPr>
          <p:cNvSpPr>
            <a:spLocks noGrp="1"/>
          </p:cNvSpPr>
          <p:nvPr/>
        </p:nvSpPr>
        <p:spPr>
          <a:xfrm rot="0">
            <a:off x="5549900" y="2959100"/>
            <a:ext cx="5715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완료예정</a:t>
            </a:r>
          </a:p>
        </p:txBody>
      </p:sp>
      <p:sp>
        <p:nvSpPr>
          <p:cNvPr id="1453531316" name="Text">
    </p:cNvPr>
          <p:cNvSpPr>
            <a:spLocks noGrp="1"/>
          </p:cNvSpPr>
          <p:nvPr/>
        </p:nvSpPr>
        <p:spPr>
          <a:xfrm rot="0">
            <a:off x="6121400" y="2959100"/>
            <a:ext cx="3644900" cy="3429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비고</a:t>
            </a:r>
          </a:p>
        </p:txBody>
      </p:sp>
      <p:sp>
        <p:nvSpPr>
          <p:cNvPr id="1084487024" name="Frame"/>
          <p:cNvSpPr>
            <a:spLocks noGrp="1"/>
          </p:cNvSpPr>
          <p:nvPr/>
        </p:nvSpPr>
        <p:spPr>
          <a:xfrm>
            <a:off x="165100" y="4000500"/>
            <a:ext cx="9664700" cy="12319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706017503" name="Text">
    </p:cNvPr>
          <p:cNvSpPr>
            <a:spLocks noGrp="1"/>
          </p:cNvSpPr>
          <p:nvPr/>
        </p:nvSpPr>
        <p:spPr>
          <a:xfrm rot="0">
            <a:off x="165100" y="3975100"/>
            <a:ext cx="7366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933275536" name="Text">
    </p:cNvPr>
          <p:cNvSpPr>
            <a:spLocks noGrp="1"/>
          </p:cNvSpPr>
          <p:nvPr/>
        </p:nvSpPr>
        <p:spPr>
          <a:xfrm rot="0">
            <a:off x="965200" y="4025900"/>
            <a:ext cx="4584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주유소/충전소 PRM 거래처 마스터 신규 등록시 필수 계약 자동 체결요청 시스템 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[E-Approval] Defect Elimination Dashboard Renewal(신규 Portal 구축) 관련 전자결재 연동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[LMS] Soft Skill 인증제도(Skillset) 시행에 따른 LMS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HCM 당일 시내출장 중식비 신청서 신규개발</a:t>
            </a:r>
          </a:p>
        </p:txBody>
      </p:sp>
      <p:sp>
        <p:nvSpPr>
          <p:cNvPr id="2026473296" name="Text">
    </p:cNvPr>
          <p:cNvSpPr>
            <a:spLocks noGrp="1"/>
          </p:cNvSpPr>
          <p:nvPr/>
        </p:nvSpPr>
        <p:spPr>
          <a:xfrm rot="0">
            <a:off x="7239000" y="4025900"/>
            <a:ext cx="25527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656336204" name="Text">
    </p:cNvPr>
          <p:cNvSpPr>
            <a:spLocks noGrp="1"/>
          </p:cNvSpPr>
          <p:nvPr/>
        </p:nvSpPr>
        <p:spPr>
          <a:xfrm rot="0">
            <a:off x="5549900" y="4025900"/>
            <a:ext cx="571500" cy="1206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</a:p>
        </p:txBody>
      </p:sp>
      <p:sp>
        <p:nvSpPr>
          <p:cNvPr id="717304688" name="Text">
    </p:cNvPr>
          <p:cNvSpPr>
            <a:spLocks noGrp="1"/>
          </p:cNvSpPr>
          <p:nvPr/>
        </p:nvSpPr>
        <p:spPr>
          <a:xfrm rot="0">
            <a:off x="901700" y="3975100"/>
            <a:ext cx="46482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09963935" name="Text">
    </p:cNvPr>
          <p:cNvSpPr>
            <a:spLocks noGrp="1"/>
          </p:cNvSpPr>
          <p:nvPr/>
        </p:nvSpPr>
        <p:spPr>
          <a:xfrm rot="0">
            <a:off x="6121400" y="3975100"/>
            <a:ext cx="36449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40850373" name="Text">
    </p:cNvPr>
          <p:cNvSpPr>
            <a:spLocks noGrp="1"/>
          </p:cNvSpPr>
          <p:nvPr/>
        </p:nvSpPr>
        <p:spPr>
          <a:xfrm rot="0">
            <a:off x="5549900" y="3975100"/>
            <a:ext cx="571500" cy="12573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93801097" name="Frame"/>
          <p:cNvSpPr>
            <a:spLocks noGrp="1"/>
          </p:cNvSpPr>
          <p:nvPr/>
        </p:nvSpPr>
        <p:spPr>
          <a:xfrm>
            <a:off x="165100" y="3302000"/>
            <a:ext cx="9639300" cy="6731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605712083" name="Text">
    </p:cNvPr>
          <p:cNvSpPr>
            <a:spLocks noGrp="1"/>
          </p:cNvSpPr>
          <p:nvPr/>
        </p:nvSpPr>
        <p:spPr>
          <a:xfrm rot="0">
            <a:off x="165100" y="3302000"/>
            <a:ext cx="7366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1003636175" name="Text">
    </p:cNvPr>
          <p:cNvSpPr>
            <a:spLocks noGrp="1"/>
          </p:cNvSpPr>
          <p:nvPr/>
        </p:nvSpPr>
        <p:spPr>
          <a:xfrm rot="0">
            <a:off x="965200" y="3378200"/>
            <a:ext cx="4584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[CO] 구분회계기준 비용의 1차원가요소 data 산출 프로그램 생성(ZCPR1050)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[FI] 대주주 감사자료 생성-MRO 자재계정의 상대계정 리스트 테이블 저장(ZFIR7035,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ZFIT7035)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산업안전보건관리비 계상 관련 시스템 보완 요청</a:t>
            </a:r>
          </a:p>
        </p:txBody>
      </p:sp>
      <p:sp>
        <p:nvSpPr>
          <p:cNvPr id="1422126626" name="Text">
    </p:cNvPr>
          <p:cNvSpPr>
            <a:spLocks noGrp="1"/>
          </p:cNvSpPr>
          <p:nvPr/>
        </p:nvSpPr>
        <p:spPr>
          <a:xfrm rot="0">
            <a:off x="7239000" y="33782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323391653" name="Text">
    </p:cNvPr>
          <p:cNvSpPr>
            <a:spLocks noGrp="1"/>
          </p:cNvSpPr>
          <p:nvPr/>
        </p:nvSpPr>
        <p:spPr>
          <a:xfrm rot="0">
            <a:off x="5549900" y="33782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</a:p>
        </p:txBody>
      </p:sp>
      <p:sp>
        <p:nvSpPr>
          <p:cNvPr id="946114570" name="Text">
    </p:cNvPr>
          <p:cNvSpPr>
            <a:spLocks noGrp="1"/>
          </p:cNvSpPr>
          <p:nvPr/>
        </p:nvSpPr>
        <p:spPr>
          <a:xfrm rot="0">
            <a:off x="901700" y="3302000"/>
            <a:ext cx="46482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88446196" name="Text">
    </p:cNvPr>
          <p:cNvSpPr>
            <a:spLocks noGrp="1"/>
          </p:cNvSpPr>
          <p:nvPr/>
        </p:nvSpPr>
        <p:spPr>
          <a:xfrm rot="0">
            <a:off x="6121400" y="3302000"/>
            <a:ext cx="36449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14670094" name="Text">
    </p:cNvPr>
          <p:cNvSpPr>
            <a:spLocks noGrp="1"/>
          </p:cNvSpPr>
          <p:nvPr/>
        </p:nvSpPr>
        <p:spPr>
          <a:xfrm rot="0">
            <a:off x="5549900" y="3302000"/>
            <a:ext cx="571500" cy="6731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15392912" name="Frame"/>
          <p:cNvSpPr>
            <a:spLocks noGrp="1"/>
          </p:cNvSpPr>
          <p:nvPr/>
        </p:nvSpPr>
        <p:spPr>
          <a:xfrm>
            <a:off x="127000" y="1384300"/>
            <a:ext cx="9779000" cy="1155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37778061" name="Frame"/>
          <p:cNvSpPr>
            <a:spLocks noGrp="1"/>
          </p:cNvSpPr>
          <p:nvPr/>
        </p:nvSpPr>
        <p:spPr>
          <a:xfrm>
            <a:off x="152400" y="1917700"/>
            <a:ext cx="9664700" cy="6223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433918663" name="Text">
    </p:cNvPr>
          <p:cNvSpPr>
            <a:spLocks noGrp="1"/>
          </p:cNvSpPr>
          <p:nvPr/>
        </p:nvSpPr>
        <p:spPr>
          <a:xfrm rot="0">
            <a:off x="152400" y="1892300"/>
            <a:ext cx="7366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WEB</a:t>
            </a:r>
          </a:p>
        </p:txBody>
      </p:sp>
      <p:sp>
        <p:nvSpPr>
          <p:cNvPr id="63926666" name="Text">
    </p:cNvPr>
          <p:cNvSpPr>
            <a:spLocks noGrp="1"/>
          </p:cNvSpPr>
          <p:nvPr/>
        </p:nvSpPr>
        <p:spPr>
          <a:xfrm rot="0">
            <a:off x="952500" y="1943100"/>
            <a:ext cx="45974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[PRM] 플랜트별/거래처별 품질자료 제공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[RPA] A11 '#1 회계지급전표 증빙대사' 작업 '대사결과 X' 원인파악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[ERS] 문서등록 변환오류 수정요청(PX2팀, 부서지침서 16건)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[EAI] MGT 장비(파노라마) 및 DC_EXT_FW OS Upgrad 서비스지원</a:t>
            </a:r>
          </a:p>
        </p:txBody>
      </p:sp>
      <p:sp>
        <p:nvSpPr>
          <p:cNvPr id="1594306726" name="Text">
    </p:cNvPr>
          <p:cNvSpPr>
            <a:spLocks noGrp="1"/>
          </p:cNvSpPr>
          <p:nvPr/>
        </p:nvSpPr>
        <p:spPr>
          <a:xfrm rot="0">
            <a:off x="7226300" y="1943100"/>
            <a:ext cx="25527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1582491089" name="Text">
    </p:cNvPr>
          <p:cNvSpPr>
            <a:spLocks noGrp="1"/>
          </p:cNvSpPr>
          <p:nvPr/>
        </p:nvSpPr>
        <p:spPr>
          <a:xfrm rot="0">
            <a:off x="6108700" y="1892300"/>
            <a:ext cx="7620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95381750" name="Text">
    </p:cNvPr>
          <p:cNvSpPr>
            <a:spLocks noGrp="1"/>
          </p:cNvSpPr>
          <p:nvPr/>
        </p:nvSpPr>
        <p:spPr>
          <a:xfrm rot="0">
            <a:off x="5537200" y="1943100"/>
            <a:ext cx="571500" cy="596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</a:p>
        </p:txBody>
      </p:sp>
      <p:sp>
        <p:nvSpPr>
          <p:cNvPr id="1473505456" name="Text">
    </p:cNvPr>
          <p:cNvSpPr>
            <a:spLocks noGrp="1"/>
          </p:cNvSpPr>
          <p:nvPr/>
        </p:nvSpPr>
        <p:spPr>
          <a:xfrm rot="0">
            <a:off x="889000" y="1892300"/>
            <a:ext cx="46482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4105580" name="Text">
    </p:cNvPr>
          <p:cNvSpPr>
            <a:spLocks noGrp="1"/>
          </p:cNvSpPr>
          <p:nvPr/>
        </p:nvSpPr>
        <p:spPr>
          <a:xfrm rot="0">
            <a:off x="7124700" y="1892300"/>
            <a:ext cx="26543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013423462" name="Text">
    </p:cNvPr>
          <p:cNvSpPr>
            <a:spLocks noGrp="1"/>
          </p:cNvSpPr>
          <p:nvPr/>
        </p:nvSpPr>
        <p:spPr>
          <a:xfrm rot="0">
            <a:off x="5537200" y="1892300"/>
            <a:ext cx="571500" cy="64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7045295" name="Rectangle"/>
          <p:cNvSpPr>
            <a:spLocks noGrp="1"/>
          </p:cNvSpPr>
          <p:nvPr/>
        </p:nvSpPr>
        <p:spPr>
          <a:xfrm>
            <a:off x="6870700" y="1892300"/>
            <a:ext cx="254000" cy="647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  <p:sp>
        <p:nvSpPr>
          <p:cNvPr id="1537260568" name="Frame"/>
          <p:cNvSpPr>
            <a:spLocks noGrp="1"/>
          </p:cNvSpPr>
          <p:nvPr/>
        </p:nvSpPr>
        <p:spPr>
          <a:xfrm>
            <a:off x="152400" y="1371600"/>
            <a:ext cx="9639300" cy="520700"/>
          </a:xfrm>
          <a:prstGeom prst="rect">
            <a:avLst/>
          </a:prstGeom>
        </p:spPr>
        <p:txBody>
          <a:bodyPr anchor="ctr" rtlCol="0"/>
          <a:lstStyle/>
          <a:p>
            <a:pPr algn="ctr"/>
          </a:p>
        </p:txBody>
      </p:sp>
      <p:sp>
        <p:nvSpPr>
          <p:cNvPr id="1360693136" name="Text">
    </p:cNvPr>
          <p:cNvSpPr>
            <a:spLocks noGrp="1"/>
          </p:cNvSpPr>
          <p:nvPr/>
        </p:nvSpPr>
        <p:spPr>
          <a:xfrm rot="0">
            <a:off x="152400" y="1371600"/>
            <a:ext cx="7366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10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1000">
                <a:latin typeface="맑은 고딕"/>
                <a:ea typeface="맑은 고딕"/>
                <a:cs typeface="맑은 고딕"/>
              </a:rPr>
              <a:t>ERP</a:t>
            </a:r>
          </a:p>
        </p:txBody>
      </p:sp>
      <p:sp>
        <p:nvSpPr>
          <p:cNvPr id="986243970" name="Text">
    </p:cNvPr>
          <p:cNvSpPr>
            <a:spLocks noGrp="1"/>
          </p:cNvSpPr>
          <p:nvPr/>
        </p:nvSpPr>
        <p:spPr>
          <a:xfrm rot="0">
            <a:off x="939800" y="1422400"/>
            <a:ext cx="4610100" cy="469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[FI] SAP ZFIR9581 화면 기본 조회 화면에 '용량' column 추가 설정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[MM] 자재 입고전표(반입증, 검수증) 등록 시 개선 요청</a:t>
            </a:r>
          </a:p>
        </p:txBody>
      </p:sp>
      <p:sp>
        <p:nvSpPr>
          <p:cNvPr id="1532110684" name="Text">
    </p:cNvPr>
          <p:cNvSpPr>
            <a:spLocks noGrp="1"/>
          </p:cNvSpPr>
          <p:nvPr/>
        </p:nvSpPr>
        <p:spPr>
          <a:xfrm rot="0">
            <a:off x="7226300" y="1447800"/>
            <a:ext cx="25527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</a:p>
        </p:txBody>
      </p:sp>
      <p:sp>
        <p:nvSpPr>
          <p:cNvPr id="97255506" name="Text">
    </p:cNvPr>
          <p:cNvSpPr>
            <a:spLocks noGrp="1"/>
          </p:cNvSpPr>
          <p:nvPr/>
        </p:nvSpPr>
        <p:spPr>
          <a:xfrm rot="0">
            <a:off x="6108700" y="1371600"/>
            <a:ext cx="7620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완료</a:t>
            </a:r>
          </a:p>
        </p:txBody>
      </p:sp>
      <p:sp>
        <p:nvSpPr>
          <p:cNvPr id="7283068" name="Text">
    </p:cNvPr>
          <p:cNvSpPr>
            <a:spLocks noGrp="1"/>
          </p:cNvSpPr>
          <p:nvPr/>
        </p:nvSpPr>
        <p:spPr>
          <a:xfrm rot="0">
            <a:off x="5537200" y="1447800"/>
            <a:ext cx="571500" cy="444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</a:p>
        </p:txBody>
      </p:sp>
      <p:sp>
        <p:nvSpPr>
          <p:cNvPr id="2101745152" name="Text">
    </p:cNvPr>
          <p:cNvSpPr>
            <a:spLocks noGrp="1"/>
          </p:cNvSpPr>
          <p:nvPr/>
        </p:nvSpPr>
        <p:spPr>
          <a:xfrm rot="0">
            <a:off x="889000" y="1371600"/>
            <a:ext cx="46482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29347123" name="Text">
    </p:cNvPr>
          <p:cNvSpPr>
            <a:spLocks noGrp="1"/>
          </p:cNvSpPr>
          <p:nvPr/>
        </p:nvSpPr>
        <p:spPr>
          <a:xfrm rot="0">
            <a:off x="7124700" y="1371600"/>
            <a:ext cx="26543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389358621" name="Text">
    </p:cNvPr>
          <p:cNvSpPr>
            <a:spLocks noGrp="1"/>
          </p:cNvSpPr>
          <p:nvPr/>
        </p:nvSpPr>
        <p:spPr>
          <a:xfrm rot="0">
            <a:off x="5537200" y="1371600"/>
            <a:ext cx="571500" cy="520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726811129" name="Rectangle"/>
          <p:cNvSpPr>
            <a:spLocks noGrp="1"/>
          </p:cNvSpPr>
          <p:nvPr/>
        </p:nvSpPr>
        <p:spPr>
          <a:xfrm>
            <a:off x="6870700" y="1371600"/>
            <a:ext cx="254000" cy="520700"/>
          </a:xfrm>
          <a:prstGeom prst="rect">
            <a:avLst/>
          </a:prstGeom>
          <a:solidFill>
            <a:srgbClr val="00FF00"/>
          </a:solidFill>
          <a:ln w="12700">
            <a:solidFill>
              <a:srgbClr val="000000"/>
            </a:solidFill>
            <a:prstDash val="solid"/>
          </a:ln>
        </p:spPr>
        <p:txBody>
          <a:bodyPr anchor="ctr" rtlCol="0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97"/>
          <p:cNvSpPr>
            <a:spLocks noChangeArrowheads="1"/>
          </p:cNvSpPr>
          <p:nvPr/>
        </p:nvSpPr>
        <p:spPr bwMode="auto">
          <a:xfrm>
            <a:off x="330140" y="744758"/>
            <a:ext cx="2288130" cy="212814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금주 업무 실적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sp>
        <p:nvSpPr>
          <p:cNvPr id="7171" name="Rectangle 755"/>
          <p:cNvSpPr>
            <a:spLocks noChangeArrowheads="1"/>
          </p:cNvSpPr>
          <p:nvPr/>
        </p:nvSpPr>
        <p:spPr bwMode="auto">
          <a:xfrm>
            <a:off x="268005" y="296321"/>
            <a:ext cx="766748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 defTabSz="957263" indent="-381000" marL="381000"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1pPr>
            <a:lvl2pPr defTabSz="957263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2pPr>
            <a:lvl3pPr defTabSz="957263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3pPr>
            <a:lvl4pPr defTabSz="957263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4pPr>
            <a:lvl5pPr defTabSz="957263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5pPr>
            <a:lvl6pPr defTabSz="957263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6pPr>
            <a:lvl7pPr defTabSz="957263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7pPr>
            <a:lvl8pPr defTabSz="957263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8pPr>
            <a:lvl9pPr defTabSz="957263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charset="0" panose="020B0604020202020204" pitchFamily="34" typeface="Arial"/>
                <a:ea charset="-127" panose="020B0609000101010101" pitchFamily="49" typeface="굴림체"/>
                <a:cs charset="0" panose="020B0604020202020204" pitchFamily="34" typeface="Arial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altLang="ko-KR" lang="en-US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2. Summary – </a:t>
            </a:r>
            <a:r>
              <a:rPr altLang="en-US" lang="ko-KR" sz="1566">
                <a:solidFill>
                  <a:srgbClr val="000000"/>
                </a:solidFill>
                <a:latin charset="-127" panose="020B0503020000020004" pitchFamily="50" typeface="맑은 고딕"/>
                <a:ea charset="-127" panose="020B0503020000020004" pitchFamily="50" typeface="맑은 고딕"/>
              </a:rPr>
              <a:t>②</a:t>
            </a:r>
            <a:r>
              <a:rPr altLang="ko-KR" lang="en-US" sz="1566">
                <a:latin charset="-127" panose="020B0503020000020004" pitchFamily="50" typeface="맑은 고딕"/>
                <a:ea charset="-127" panose="020B0503020000020004" pitchFamily="50" typeface="맑은 고딕"/>
              </a:rPr>
              <a:t>Quintet</a:t>
            </a:r>
            <a:endParaRPr altLang="en-US" lang="ko-KR" sz="1566">
              <a:latin charset="-127" panose="020B0503020000020004" pitchFamily="50" typeface="맑은 고딕"/>
              <a:ea charset="-127" panose="020B0503020000020004" pitchFamily="50" typeface="맑은 고딕"/>
            </a:endParaRPr>
          </a:p>
        </p:txBody>
      </p:sp>
      <p:sp>
        <p:nvSpPr>
          <p:cNvPr id="7172" name="Rectangle 1382"/>
          <p:cNvSpPr>
            <a:spLocks noChangeArrowheads="1"/>
          </p:cNvSpPr>
          <p:nvPr/>
        </p:nvSpPr>
        <p:spPr bwMode="auto">
          <a:xfrm>
            <a:off x="330140" y="5740430"/>
            <a:ext cx="2311430" cy="223687"/>
          </a:xfrm>
          <a:prstGeom prst="rect">
            <a:avLst/>
          </a:prstGeom>
          <a:solidFill>
            <a:srgbClr val="CCFFCC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174">
                <a:solidFill>
                  <a:srgbClr val="000000"/>
                </a:solidFill>
              </a:rPr>
              <a:t>ISSUE</a:t>
            </a:r>
            <a:r>
              <a:rPr altLang="en-US" kumimoji="1" lang="ko-KR" sz="1174">
                <a:solidFill>
                  <a:srgbClr val="000000"/>
                </a:solidFill>
              </a:rPr>
              <a:t> 및 공지사항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20" name="Group 3691"/>
          <p:cNvGraphicFramePr>
            <a:graphicFrameLocks noGrp="1"/>
          </p:cNvGraphicFramePr>
          <p:nvPr/>
        </p:nvGraphicFramePr>
        <p:xfrm>
          <a:off x="468391" y="5964118"/>
          <a:ext cx="8809220" cy="568537"/>
        </p:xfrm>
        <a:graphic>
          <a:graphicData uri="http://schemas.openxmlformats.org/drawingml/2006/table">
            <a:tbl>
              <a:tblPr/>
              <a:tblGrid>
                <a:gridCol w="8809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68537"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charset="0" panose="020B0604020202020204" pitchFamily="34" typeface="Arial"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typeface="Arial"/>
                      </a:endParaRPr>
                    </a:p>
                  </a:txBody>
                  <a:tcPr anchor="ctr" horzOverflow="overflow" marB="45823" marL="88066" marR="88066" marT="4582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7179" name="Group 240"/>
          <p:cNvGrpSpPr>
            <a:grpSpLocks/>
          </p:cNvGrpSpPr>
          <p:nvPr/>
        </p:nvGrpSpPr>
        <p:grpSpPr bwMode="auto">
          <a:xfrm>
            <a:off x="8218216" y="73699"/>
            <a:ext cx="1059407" cy="591838"/>
            <a:chOff x="5222" y="377"/>
            <a:chExt cx="682" cy="381"/>
          </a:xfrm>
        </p:grpSpPr>
        <p:sp>
          <p:nvSpPr>
            <p:cNvPr id="7236" name="Rectangle 94"/>
            <p:cNvSpPr>
              <a:spLocks noChangeArrowheads="1"/>
            </p:cNvSpPr>
            <p:nvPr/>
          </p:nvSpPr>
          <p:spPr bwMode="auto">
            <a:xfrm>
              <a:off x="5222" y="406"/>
              <a:ext cx="144" cy="96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  <a:effectLst>
              <a:prstShdw dir="2700000" dist="17961" prst="shdw17">
                <a:srgbClr val="00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7" name="Rectangle 95"/>
            <p:cNvSpPr>
              <a:spLocks noChangeArrowheads="1"/>
            </p:cNvSpPr>
            <p:nvPr/>
          </p:nvSpPr>
          <p:spPr bwMode="auto">
            <a:xfrm>
              <a:off x="5222" y="518"/>
              <a:ext cx="144" cy="96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  <a:effectLst>
              <a:prstShdw dir="2700000" dist="17961" prst="shdw17">
                <a:srgbClr val="9999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7238" name="Rectangle 96"/>
            <p:cNvSpPr>
              <a:spLocks noChangeArrowheads="1"/>
            </p:cNvSpPr>
            <p:nvPr/>
          </p:nvSpPr>
          <p:spPr bwMode="auto">
            <a:xfrm>
              <a:off x="5222" y="622"/>
              <a:ext cx="144" cy="96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>
              <a:prstShdw dir="2700000" dist="17961" prst="shdw17">
                <a:srgbClr val="990000"/>
              </a:prstShdw>
            </a:effectLst>
            <a:extLst>
              <a:ext uri="{91240B29-F687-4F45-9708-019B960494DF}">
                <a14:hiddenLine xmlns:a14="http://schemas.microsoft.com/office/drawing/2010/main" algn="ctr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 lIns="0" rIns="0" wrap="none"/>
            <a:lstStyle>
              <a:lvl1pPr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1pPr>
              <a:lvl2pPr indent="-285750" marL="74295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2pPr>
              <a:lvl3pPr indent="-228600" marL="11430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3pPr>
              <a:lvl4pPr indent="-228600" marL="16002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4pPr>
              <a:lvl5pPr indent="-228600" marL="2057400"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5pPr>
              <a:lvl6pPr eaLnBrk="0" fontAlgn="base" hangingPunct="0" indent="-228600" marL="25146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6pPr>
              <a:lvl7pPr eaLnBrk="0" fontAlgn="base" hangingPunct="0" indent="-228600" marL="29718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7pPr>
              <a:lvl8pPr eaLnBrk="0" fontAlgn="base" hangingPunct="0" indent="-228600" marL="34290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8pPr>
              <a:lvl9pPr eaLnBrk="0" fontAlgn="base" hangingPunct="0" indent="-228600" marL="3886200">
                <a:spcBef>
                  <a:spcPct val="0"/>
                </a:spcBef>
                <a:spcAft>
                  <a:spcPct val="0"/>
                </a:spcAft>
                <a:defRPr b="1" sz="900">
                  <a:solidFill>
                    <a:schemeClr val="bg1"/>
                  </a:solidFill>
                  <a:latin charset="-127" panose="020B0503020000020004" pitchFamily="50" typeface="맑은 고딕"/>
                  <a:ea charset="-127" panose="020B0503020000020004" pitchFamily="50" typeface="맑은 고딕"/>
                </a:defRPr>
              </a:lvl9pPr>
            </a:lstStyle>
            <a:p>
              <a:pPr algn="r">
                <a:spcBef>
                  <a:spcPct val="0"/>
                </a:spcBef>
                <a:spcAft>
                  <a:spcPct val="0"/>
                </a:spcAft>
              </a:pPr>
              <a:endParaRPr altLang="en-US" b="0" lang="ko-KR" sz="783">
                <a:solidFill>
                  <a:srgbClr val="FF6600"/>
                </a:solidFill>
              </a:endParaRPr>
            </a:p>
          </p:txBody>
        </p:sp>
        <p:sp>
          <p:nvSpPr>
            <p:cNvPr id="29" name="Text Box 97"/>
            <p:cNvSpPr txBox="1">
              <a:spLocks noChangeArrowheads="1"/>
            </p:cNvSpPr>
            <p:nvPr/>
          </p:nvSpPr>
          <p:spPr bwMode="auto">
            <a:xfrm>
              <a:off x="5395" y="377"/>
              <a:ext cx="207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완료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0" name="Text Box 98"/>
            <p:cNvSpPr txBox="1">
              <a:spLocks noChangeArrowheads="1"/>
            </p:cNvSpPr>
            <p:nvPr/>
          </p:nvSpPr>
          <p:spPr bwMode="auto">
            <a:xfrm>
              <a:off x="5397" y="489"/>
              <a:ext cx="28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진행중</a:t>
              </a:r>
              <a:endParaRPr altLang="ko-KR" b="0" lang="en-US" sz="979">
                <a:solidFill>
                  <a:srgbClr val="000000"/>
                </a:solidFill>
              </a:endParaRPr>
            </a:p>
          </p:txBody>
        </p:sp>
        <p:sp>
          <p:nvSpPr>
            <p:cNvPr id="31" name="Text Box 99"/>
            <p:cNvSpPr txBox="1">
              <a:spLocks noChangeArrowheads="1"/>
            </p:cNvSpPr>
            <p:nvPr/>
          </p:nvSpPr>
          <p:spPr bwMode="auto">
            <a:xfrm>
              <a:off x="5406" y="602"/>
              <a:ext cx="498" cy="156"/>
            </a:xfrm>
            <a:prstGeom prst="rect">
              <a:avLst/>
            </a:prstGeom>
            <a:noFill/>
            <a:ln algn="ctr" w="9525">
              <a:noFill/>
              <a:miter lim="800000"/>
              <a:headEnd/>
              <a:tailEnd/>
            </a:ln>
            <a:effectLst>
              <a:prstShdw dir="2700000" dist="17961" prst="shdw17">
                <a:schemeClr val="accent1">
                  <a:gamma/>
                  <a:shade val="60000"/>
                  <a:invGamma/>
                </a:schemeClr>
              </a:prstShdw>
            </a:effectLst>
          </p:spPr>
          <p:txBody>
            <a:bodyPr lIns="0" rIns="0" wrap="none">
              <a:spAutoFit/>
            </a:bodyPr>
            <a:lstStyle/>
            <a:p>
              <a:pPr algn="ctr" defTabSz="842035" eaLnBrk="1" hangingPunct="1" indent="-177107" marL="177107">
                <a:spcBef>
                  <a:spcPct val="40000"/>
                </a:spcBef>
                <a:spcAft>
                  <a:spcPct val="0"/>
                </a:spcAft>
                <a:defRPr/>
              </a:pPr>
              <a:r>
                <a:rPr altLang="ko-KR" b="0" lang="en-US" sz="979">
                  <a:solidFill>
                    <a:srgbClr val="000000"/>
                  </a:solidFill>
                </a:rPr>
                <a:t>: </a:t>
              </a:r>
              <a:r>
                <a:rPr altLang="en-US" b="0" lang="ko-KR" sz="979">
                  <a:solidFill>
                    <a:srgbClr val="000000"/>
                  </a:solidFill>
                </a:rPr>
                <a:t>미완료</a:t>
              </a:r>
              <a:r>
                <a:rPr altLang="ko-KR" b="0" lang="en-US" sz="979">
                  <a:solidFill>
                    <a:srgbClr val="000000"/>
                  </a:solidFill>
                </a:rPr>
                <a:t>(</a:t>
              </a:r>
              <a:r>
                <a:rPr altLang="en-US" b="0" lang="ko-KR" sz="979">
                  <a:solidFill>
                    <a:srgbClr val="000000"/>
                  </a:solidFill>
                </a:rPr>
                <a:t>문제</a:t>
              </a:r>
              <a:r>
                <a:rPr altLang="ko-KR" b="0" lang="en-US" sz="979">
                  <a:solidFill>
                    <a:srgbClr val="000000"/>
                  </a:solidFill>
                </a:rPr>
                <a:t>)</a:t>
              </a:r>
            </a:p>
          </p:txBody>
        </p:sp>
      </p:grpSp>
      <p:graphicFrame>
        <p:nvGraphicFramePr>
          <p:cNvPr id="15" name="Group 3690"/>
          <p:cNvGraphicFramePr>
            <a:graphicFrameLocks noGrp="1"/>
          </p:cNvGraphicFramePr>
          <p:nvPr/>
        </p:nvGraphicFramePr>
        <p:xfrm>
          <a:off x="479264" y="1043008"/>
          <a:ext cx="8798347" cy="2816279"/>
        </p:xfrm>
        <a:graphic>
          <a:graphicData uri="http://schemas.openxmlformats.org/drawingml/2006/table">
            <a:tbl>
              <a:tblPr/>
              <a:tblGrid>
                <a:gridCol w="8232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46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386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19605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err="1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진행율</a:t>
                      </a: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상태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375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CRM/BI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연동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 중복로그인 제한 개발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인카페이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r>
                        <a:rPr altLang="ko-KR" b="0" baseline="0" dirty="0" lang="en-US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_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마케팅 플랫폼 필드테스트 지원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en-US" b="0" baseline="0" dirty="0" err="1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="0" baseline="0" dirty="0" lang="ko-KR" smtClean="0" sz="10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상품권 제휴관련 성능저하 개선</a:t>
                      </a: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921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 Summary 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1/15</a:t>
                      </a:r>
                    </a:p>
                  </a:txBody>
                  <a:tcPr anchor="ctr" horzOverflow="overflow" marB="45783" marL="88066" marR="88066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</a:p>
                  </a:txBody>
                  <a:tcPr anchor="ctr" horzOverflow="overflow" marB="45786" marL="88066" marR="88066" marT="4578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mtClean="0" strike="noStrike" sz="1000" u="none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817" marL="88066" marR="88066" marT="45817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211" name="Rectangle 3082"/>
          <p:cNvSpPr>
            <a:spLocks noChangeArrowheads="1"/>
          </p:cNvSpPr>
          <p:nvPr/>
        </p:nvSpPr>
        <p:spPr bwMode="auto">
          <a:xfrm>
            <a:off x="330140" y="3950936"/>
            <a:ext cx="2311430" cy="245434"/>
          </a:xfrm>
          <a:prstGeom prst="rect">
            <a:avLst/>
          </a:prstGeom>
          <a:solidFill>
            <a:srgbClr val="FF9900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174">
                <a:solidFill>
                  <a:srgbClr val="000000"/>
                </a:solidFill>
              </a:rPr>
              <a:t>차주 업무 계획</a:t>
            </a:r>
            <a:endParaRPr altLang="ko-KR" kumimoji="1" lang="en-US" sz="1174">
              <a:solidFill>
                <a:srgbClr val="000000"/>
              </a:solidFill>
            </a:endParaRPr>
          </a:p>
        </p:txBody>
      </p:sp>
      <p:graphicFrame>
        <p:nvGraphicFramePr>
          <p:cNvPr id="16" name="Group 3690"/>
          <p:cNvGraphicFramePr>
            <a:graphicFrameLocks noGrp="1"/>
          </p:cNvGraphicFramePr>
          <p:nvPr/>
        </p:nvGraphicFramePr>
        <p:xfrm>
          <a:off x="479264" y="4249185"/>
          <a:ext cx="8798347" cy="1143651"/>
        </p:xfrm>
        <a:graphic>
          <a:graphicData uri="http://schemas.openxmlformats.org/drawingml/2006/table">
            <a:tbl>
              <a:tblPr/>
              <a:tblGrid>
                <a:gridCol w="820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63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1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07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7202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구분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업무 내용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완료일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11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비고</a:t>
                      </a:r>
                      <a:endParaRPr altLang="ko-KR" b="0" baseline="0" cap="none" dirty="0" i="0" kumimoji="1" lang="en-US" normalizeH="0" smtClean="0" strike="noStrike" sz="11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703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lang="en-US" smtClean="0" sz="10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004"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10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VOC/PRM</a:t>
                      </a: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0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10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anchor="ctr" horzOverflow="overflow" marB="45652" marL="88066" marR="88066" marT="4565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37">
            <a:extLst>
              <a:ext uri="{FF2B5EF4-FFF2-40B4-BE49-F238E27FC236}">
                <a16:creationId xmlns:a16="http://schemas.microsoft.com/office/drawing/2014/main" id="{95DBC0E4-3FED-4168-A811-F22F73E27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179" y="296320"/>
            <a:ext cx="8761066" cy="331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(CP(IT Winner))</a:t>
            </a:r>
          </a:p>
        </p:txBody>
      </p:sp>
      <p:graphicFrame>
        <p:nvGraphicFramePr>
          <p:cNvPr id="7" name="Group 108">
            <a:extLst>
              <a:ext uri="{FF2B5EF4-FFF2-40B4-BE49-F238E27FC236}">
                <a16:creationId xmlns:a16="http://schemas.microsoft.com/office/drawing/2014/main" id="{D1918DE1-D523-480A-B775-91AD5D4C8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1939277"/>
              </p:ext>
            </p:extLst>
          </p:nvPr>
        </p:nvGraphicFramePr>
        <p:xfrm>
          <a:off x="255578" y="1117570"/>
          <a:ext cx="4846547" cy="2400406"/>
        </p:xfrm>
        <a:graphic>
          <a:graphicData uri="http://schemas.openxmlformats.org/drawingml/2006/table">
            <a:tbl>
              <a:tblPr/>
              <a:tblGrid>
                <a:gridCol w="596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5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64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468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1" baseline="0" cap="none" i="0" kumimoji="1" lang="ko-KR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i="0" kumimoji="1" lang="en-US" normalizeH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anchor="ctr" horzOverflow="overflow" marB="45721" marL="88066" marR="88066" marT="45721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2881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dirty="0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6" marL="88066" marR="88066" marT="4575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indent="-169863" marL="169863"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171450"/>
                          <a:tab algn="l" pos="1085850"/>
                          <a:tab algn="l" pos="2000250"/>
                          <a:tab algn="l" pos="2914650"/>
                          <a:tab algn="l" pos="3829050"/>
                          <a:tab algn="l" pos="4743450"/>
                          <a:tab algn="l" pos="5657850"/>
                          <a:tab algn="l" pos="6572250"/>
                          <a:tab algn="l" pos="7486650"/>
                          <a:tab algn="l" pos="8401050"/>
                          <a:tab algn="l" pos="9315450"/>
                          <a:tab algn="l" pos="1022985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더보기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메뉴 권한 중복 조회 이슈 수정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ERS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규정관리지안지 누락 배치 재 실행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따른 운영 반영 작업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자원예약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본사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20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년도 화상 전체 자료 작성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전직원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품질 만족도 조사 설문 생성 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조회 권한 기능 변경 및 권한 추가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정유제품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Spread HSK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누락 데이터 등록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안전수업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안전지킴이가이드북 메뉴 전환</a:t>
                      </a:r>
                      <a:endParaRPr altLang="ko-KR" b="0" baseline="0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algn="l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유가 연동 배치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범위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:3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-&gt;15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일로 변경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01/12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01/13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01/14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01/15</a:t>
                      </a: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indent="-177800" marL="536575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indent="-177800" marL="8937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indent="-188913" marL="1262063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indent="-177800" marL="1620838">
                        <a:spcBef>
                          <a:spcPts val="350"/>
                        </a:spcBef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177800" marL="20780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177800" marL="25352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177800" marL="29924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177800" marL="3449638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B0604020202020204" pitchFamily="34" typeface="Arial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100%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72" marL="88066" marR="88066" marT="45772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8" name="Group 109">
            <a:extLst>
              <a:ext uri="{FF2B5EF4-FFF2-40B4-BE49-F238E27FC236}">
                <a16:creationId xmlns:a16="http://schemas.microsoft.com/office/drawing/2014/main" id="{7721BB07-7B10-4642-8619-4B25D434FC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118837"/>
              </p:ext>
            </p:extLst>
          </p:nvPr>
        </p:nvGraphicFramePr>
        <p:xfrm>
          <a:off x="5176687" y="1117570"/>
          <a:ext cx="4399173" cy="1944545"/>
        </p:xfrm>
        <a:graphic>
          <a:graphicData uri="http://schemas.openxmlformats.org/drawingml/2006/table">
            <a:tbl>
              <a:tblPr/>
              <a:tblGrid>
                <a:gridCol w="6601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59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5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871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3976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i="0" kumimoji="1" lang="ko-KR" normalizeH="0" strike="noStrike" sz="10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anchor="ctr" horzOverflow="overflow" marB="45729" marL="88066" marR="88066" marT="4572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28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i="0" kumimoji="1" lang="en-US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CP/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i="0" kumimoji="1" lang="ko-KR" normalizeH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이영주</a:t>
                      </a:r>
                      <a:endParaRPr altLang="ko-KR" b="0" baseline="0" cap="none" i="0" kumimoji="1" lang="en-US" normalizeH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L="88066" marR="88066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>
                        <a:spcBef>
                          <a:spcPts val="35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defTabSz="449263" eaLnBrk="0" fontAlgn="base" hangingPunct="0" indent="-228600" marL="25146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defTabSz="449263" eaLnBrk="0" fontAlgn="base" hangingPunct="0" indent="-228600" marL="29718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defTabSz="449263" eaLnBrk="0" fontAlgn="base" hangingPunct="0" indent="-228600" marL="34290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defTabSz="449263" eaLnBrk="0" fontAlgn="base" hangingPunct="0" indent="-228600" marL="3886200">
                        <a:spcBef>
                          <a:spcPts val="3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 charset="0" panose="02020603050405020304" pitchFamily="18" typeface="Times New Roman"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 sz="1200">
                          <a:solidFill>
                            <a:srgbClr val="000000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CP 1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월 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2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회차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정기점검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(WAS/</a:t>
                      </a:r>
                      <a:r>
                        <a:rPr altLang="en-US" b="0" baseline="0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배치 </a:t>
                      </a:r>
                      <a:r>
                        <a:rPr altLang="en-US" b="0" baseline="0" dirty="0" err="1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재기동</a:t>
                      </a:r>
                      <a:r>
                        <a:rPr altLang="ko-KR" b="0" baseline="0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- ADOBE FLASH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종료에 따른 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HTML5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전환 </a:t>
                      </a:r>
                      <a:endParaRPr altLang="ko-KR" dirty="0" kern="1200" kumimoji="1" lang="en-US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  <a:p>
                      <a:pPr rtl="0"/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   ( * 1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차 개발 완료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, </a:t>
                      </a:r>
                      <a:r>
                        <a:rPr altLang="en-US" dirty="0" kern="1200" kumimoji="1" lang="ko-KR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테스트 및 보완 예정</a:t>
                      </a: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)</a:t>
                      </a:r>
                      <a:endParaRPr altLang="en-US" dirty="0" kern="1200" kumimoji="1" lang="ko-KR" smtClean="0" sz="9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endParaRPr altLang="ko-KR" b="0" baseline="0" cap="none" dirty="0" i="0" kern="1200" kumimoji="1" lang="en-US" noProof="0" normalizeH="0" smtClean="0" spc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01/20</a:t>
                      </a:r>
                    </a:p>
                    <a:p>
                      <a:pPr algn="ctr" defTabSz="914400" eaLnBrk="1" fontAlgn="base" hangingPunct="1" indent="0" latinLnBrk="1" lvl="0" marL="0" marR="0" rtl="0">
                        <a:lnSpc>
                          <a:spcPct val="100000"/>
                        </a:lnSpc>
                        <a:spcBef>
                          <a:spcPts val="450"/>
                        </a:spcBef>
                        <a:spcAft>
                          <a:spcPct val="0"/>
                        </a:spcAft>
                        <a:buClr>
                          <a:srgbClr val="000000"/>
                        </a:buClr>
                        <a:buSzPct val="100000"/>
                        <a:buFontTx/>
                        <a:buNone/>
                        <a:tabLst>
                          <a:tab algn="l" pos="169863"/>
                          <a:tab algn="l" pos="1084263"/>
                          <a:tab algn="l" pos="1998663"/>
                          <a:tab algn="l" pos="2913063"/>
                          <a:tab algn="l" pos="3827463"/>
                          <a:tab algn="l" pos="4741863"/>
                          <a:tab algn="l" pos="5656263"/>
                          <a:tab algn="l" pos="6570663"/>
                          <a:tab algn="l" pos="7485063"/>
                          <a:tab algn="l" pos="8399463"/>
                          <a:tab algn="l" pos="9313863"/>
                          <a:tab algn="l" pos="10228263"/>
                        </a:tabLst>
                        <a:defRPr/>
                      </a:pPr>
                      <a:r>
                        <a:rPr altLang="ko-KR" dirty="0" kern="1200" kumimoji="1" lang="en-US" smtClean="0" sz="9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  <a:cs typeface="+mn-cs"/>
                        </a:rPr>
                        <a:t>01/29</a:t>
                      </a:r>
                    </a:p>
                  </a:txBody>
                  <a:tcPr horzOverflow="overflow" marB="45817" marL="88066" marR="88066" marT="5358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184" name="Rectangle 136">
            <a:extLst>
              <a:ext uri="{FF2B5EF4-FFF2-40B4-BE49-F238E27FC236}">
                <a16:creationId xmlns:a16="http://schemas.microsoft.com/office/drawing/2014/main" id="{546AF6F6-150A-4F5D-B79C-9EC68A79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6687" y="760293"/>
            <a:ext cx="4399174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sp>
        <p:nvSpPr>
          <p:cNvPr id="6185" name="Rectangle 136">
            <a:extLst>
              <a:ext uri="{FF2B5EF4-FFF2-40B4-BE49-F238E27FC236}">
                <a16:creationId xmlns:a16="http://schemas.microsoft.com/office/drawing/2014/main" id="{227A3DDD-F02B-4FC8-A75A-DDE02A45C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577" y="744759"/>
            <a:ext cx="4846547" cy="310676"/>
          </a:xfrm>
          <a:prstGeom prst="rect">
            <a:avLst/>
          </a:prstGeom>
          <a:solidFill>
            <a:srgbClr val="C7CDFD"/>
          </a:solidFill>
          <a:ln algn="ctr" w="9525">
            <a:noFill/>
            <a:miter lim="800000"/>
            <a:headEnd/>
            <a:tailEnd/>
          </a:ln>
          <a:effectLst>
            <a:outerShdw algn="ctr" dir="2700000" dist="35921" rotWithShape="0">
              <a:schemeClr val="bg2"/>
            </a:outerShdw>
          </a:effectLst>
        </p:spPr>
        <p:txBody>
          <a:bodyPr anchor="ctr"/>
          <a:lstStyle/>
          <a:p>
            <a:pPr algn="ctr" defTabSz="789214" eaLnBrk="1" hangingPunct="1" indent="-242357" marL="242357">
              <a:spcBef>
                <a:spcPct val="0"/>
              </a:spcBef>
              <a:spcAft>
                <a:spcPct val="0"/>
              </a:spcAft>
              <a:defRPr/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9545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893870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580038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777446418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4572504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54269014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76528807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893152715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4374512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929718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01133556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6020650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69505628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58623478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32116542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79614091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10/17</a:t>
            </a:r>
            <a:br/>
            <a:br/>
          </a:p>
        </p:txBody>
      </p:sp>
      <p:sp>
        <p:nvSpPr>
          <p:cNvPr id="72730114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구분회계기준 비용의 1차원가요소 data 산출 프로그램 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성 (ZCPR1050)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[CO] PP(Polypropylene) 제품별 원가내역 조회 Report 개발 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청(ZPCOR2030)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대주주 감사자료 생성-MRO 자재계정의 상대계정 리스트 테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이블 저장 (ZFIR7035, ZFIT7035)</a:t>
            </a:r>
          </a:p>
        </p:txBody>
      </p:sp>
      <p:sp>
        <p:nvSpPr>
          <p:cNvPr id="14587595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335179083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FI/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CO/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강민경</a:t>
            </a:r>
          </a:p>
        </p:txBody>
      </p:sp>
      <p:sp>
        <p:nvSpPr>
          <p:cNvPr id="1400648884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공휴일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권한오브젝트 유저 셋팅 분석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국내/해외출장비 신청서 작성연도와 같은 연도/전기일로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표 생성되도록 수정(ZFI_RFC_RECEIVE_POSTING)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방문교통비관련 인터페이스 오더번호 분석 / 출장비 회계연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도 추가수정 (ZFI_RFC_RECEIVE_POSTING)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'SAP ZFIR9581 화면 기본 조회 화면에 '용량' column 추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가 설정(ZFIR9581)</a:t>
            </a:r>
          </a:p>
        </p:txBody>
      </p:sp>
      <p:sp>
        <p:nvSpPr>
          <p:cNvPr id="89991468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09465892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67045873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35423710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1985647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68488734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283904020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</a:p>
        </p:txBody>
      </p:sp>
      <p:sp>
        <p:nvSpPr>
          <p:cNvPr id="1817739510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외근신청현황(ZHRR2780) 수정 및 삭제 기능 추가 요청</a:t>
            </a:r>
          </a:p>
        </p:txBody>
      </p:sp>
      <p:sp>
        <p:nvSpPr>
          <p:cNvPr id="517029895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848873533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Fiori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김예린</a:t>
            </a:r>
          </a:p>
        </p:txBody>
      </p:sp>
      <p:sp>
        <p:nvSpPr>
          <p:cNvPr id="112019733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해외출장비 신청서 금액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휴가사용조회(HCM)의 종류별 휴가 표기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당일 시내출장 중식비 신청서 개발 요청</a:t>
            </a:r>
          </a:p>
        </p:txBody>
      </p:sp>
      <p:sp>
        <p:nvSpPr>
          <p:cNvPr id="179016430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</a:p>
        </p:txBody>
      </p:sp>
      <p:sp>
        <p:nvSpPr>
          <p:cNvPr id="212166896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0131</a:t>
            </a:r>
            <a:br/>
          </a:p>
        </p:txBody>
      </p:sp>
      <p:sp>
        <p:nvSpPr>
          <p:cNvPr id="182185910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1856878197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1964318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998853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377235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760553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333870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40541239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271211092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95126407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1948183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82987223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261413913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81989878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83498939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369838590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2029746631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92430813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56513312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08999100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</a:p>
        </p:txBody>
      </p:sp>
      <p:sp>
        <p:nvSpPr>
          <p:cNvPr id="166734181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179375555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FI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김원기</a:t>
            </a:r>
          </a:p>
        </p:txBody>
      </p:sp>
      <p:sp>
        <p:nvSpPr>
          <p:cNvPr id="845653701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ZIMHCD 티코드에 전표기준 AP반제 기능추가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SAP의 ZIMBAD B/L List에 B/L금액필드 추가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윤활유 첨가제 입고 취소 일자 반영 요처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[FI] 전표 자동승인(회계팀)시 전표의 증빙일과 계산서 발행일 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크로직 추가요청</a:t>
            </a:r>
          </a:p>
        </p:txBody>
      </p:sp>
      <p:sp>
        <p:nvSpPr>
          <p:cNvPr id="129841281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04/30</a:t>
            </a:r>
            <a:br/>
            <a:br/>
          </a:p>
        </p:txBody>
      </p:sp>
      <p:sp>
        <p:nvSpPr>
          <p:cNvPr id="579204881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50%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br/>
          </a:p>
        </p:txBody>
      </p:sp>
      <p:sp>
        <p:nvSpPr>
          <p:cNvPr id="47166191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09/07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33149378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2145534530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917984720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01/15</a:t>
            </a:r>
            <a:br/>
          </a:p>
        </p:txBody>
      </p:sp>
      <p:sp>
        <p:nvSpPr>
          <p:cNvPr id="165669577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01/09</a:t>
            </a:r>
            <a:br/>
          </a:p>
        </p:txBody>
      </p:sp>
      <p:sp>
        <p:nvSpPr>
          <p:cNvPr id="19419261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</a:p>
        </p:txBody>
      </p:sp>
      <p:sp>
        <p:nvSpPr>
          <p:cNvPr id="172061683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79734809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BC/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박남신</a:t>
            </a:r>
          </a:p>
        </p:txBody>
      </p:sp>
      <p:sp>
        <p:nvSpPr>
          <p:cNvPr id="192515377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정기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SAP 시스템 이관 /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ERP운영 마감업무 지원작업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HCM운영 서버 인사 마스터 전송 관련 파일 다운로드 및 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[BC] 2023년 Final 운영평가용 내부통제 관련 증빙자료 취합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및 전달</a:t>
            </a:r>
          </a:p>
        </p:txBody>
      </p:sp>
      <p:sp>
        <p:nvSpPr>
          <p:cNvPr id="1620649300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924736127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93310574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</a:p>
        </p:txBody>
      </p:sp>
      <p:sp>
        <p:nvSpPr>
          <p:cNvPr id="2107029263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18501740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5273950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525835704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31172535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5847815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593860545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178493739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546167909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6458079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699035561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5829434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7251717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305348937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74684249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970240576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093383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</a:p>
        </p:txBody>
      </p:sp>
      <p:sp>
        <p:nvSpPr>
          <p:cNvPr id="1834172949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</a:p>
        </p:txBody>
      </p:sp>
      <p:sp>
        <p:nvSpPr>
          <p:cNvPr id="1892447877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</a:p>
        </p:txBody>
      </p:sp>
      <p:sp>
        <p:nvSpPr>
          <p:cNvPr id="182180567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45227678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MM/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공장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오승룡</a:t>
            </a:r>
          </a:p>
        </p:txBody>
      </p:sp>
      <p:sp>
        <p:nvSpPr>
          <p:cNvPr id="1833011346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산업안전보건관리비 계상 관련 시스템 보완 요청* 구매요구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서 전송(ZMMT4040), 기성보고서 전송(ZMMT4060) 관련 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능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자산취득 장기 미정산 누락 방지를 위한 시스템 개선* WBS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요소 약정 관리를 위한 PR생성, 삭제 RFC Function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[MM] 자재 입고전표(반입증, 검수증) 등록 시 개선 요청* 엑셀 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로드 양식으로 자체검수 품목 입고(103) 및 기술검수증 전송</a:t>
            </a:r>
          </a:p>
        </p:txBody>
      </p:sp>
      <p:sp>
        <p:nvSpPr>
          <p:cNvPr id="211672368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638035382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</a:p>
        </p:txBody>
      </p:sp>
      <p:sp>
        <p:nvSpPr>
          <p:cNvPr id="357597167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05/23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12/23</a:t>
            </a:r>
            <a:br/>
            <a:br/>
          </a:p>
        </p:txBody>
      </p:sp>
      <p:sp>
        <p:nvSpPr>
          <p:cNvPr id="1949593807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9664947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51063109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377989694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</a:p>
        </p:txBody>
      </p:sp>
      <p:sp>
        <p:nvSpPr>
          <p:cNvPr id="96978109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</a:p>
        </p:txBody>
      </p:sp>
      <p:sp>
        <p:nvSpPr>
          <p:cNvPr id="233146094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390484715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e-Biz/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CCS/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Lube E-Biz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이여진</a:t>
            </a:r>
          </a:p>
        </p:txBody>
      </p:sp>
      <p:sp>
        <p:nvSpPr>
          <p:cNvPr id="1451513785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POS기 전송 테스트 및 보완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[Lube E-Biz] 서블릿 HANG 현상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[e-Biz] 계정 생성 프로시저 api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 문서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인수인계</a:t>
            </a:r>
          </a:p>
        </p:txBody>
      </p:sp>
      <p:sp>
        <p:nvSpPr>
          <p:cNvPr id="1834849272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278130763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</a:p>
        </p:txBody>
      </p:sp>
      <p:sp>
        <p:nvSpPr>
          <p:cNvPr id="1775925295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11/09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12/20</a:t>
            </a:r>
            <a:br/>
          </a:p>
        </p:txBody>
      </p:sp>
      <p:sp>
        <p:nvSpPr>
          <p:cNvPr id="496485170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83672363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283288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31649413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00857371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41832099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75711370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ERP)</a:t>
            </a:r>
          </a:p>
        </p:txBody>
      </p:sp>
      <p:sp>
        <p:nvSpPr>
          <p:cNvPr id="806482226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2241310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363706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9455913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2553269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98964897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57424061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04689331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77071548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55939674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1529738524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12/18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</a:p>
        </p:txBody>
      </p:sp>
      <p:sp>
        <p:nvSpPr>
          <p:cNvPr id="283423762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95%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생리휴가 매월 쿼터 자동 발생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특근확인서(HCM/CP) 휴게시간 및 특근시간 수정 요청 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0%</a:t>
            </a:r>
          </a:p>
        </p:txBody>
      </p:sp>
      <p:sp>
        <p:nvSpPr>
          <p:cNvPr id="1011022726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962201927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HR/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HCM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최연화</a:t>
            </a:r>
          </a:p>
        </p:txBody>
      </p:sp>
      <p:sp>
        <p:nvSpPr>
          <p:cNvPr id="1086676432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다면평가 평가자 추출 방식 개발 - 사용자 테스트 및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HCM 문의 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[HCM] 특근확인서(HCM/CP) 휴게시간 및 특근시간 수정 요청</a:t>
            </a:r>
          </a:p>
        </p:txBody>
      </p:sp>
      <p:sp>
        <p:nvSpPr>
          <p:cNvPr id="1966355966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</a:p>
        </p:txBody>
      </p:sp>
      <p:sp>
        <p:nvSpPr>
          <p:cNvPr id="1577156117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95%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</a:p>
        </p:txBody>
      </p:sp>
      <p:sp>
        <p:nvSpPr>
          <p:cNvPr id="205385849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12/11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</a:p>
        </p:txBody>
      </p:sp>
      <p:sp>
        <p:nvSpPr>
          <p:cNvPr id="1719404531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50613511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729590418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[보류]</a:t>
            </a:r>
            <a:br/>
            <a:br/>
            <a:br/>
          </a:p>
        </p:txBody>
      </p:sp>
      <p:sp>
        <p:nvSpPr>
          <p:cNvPr id="7202360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</a:p>
        </p:txBody>
      </p:sp>
      <p:sp>
        <p:nvSpPr>
          <p:cNvPr id="42939092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</a:p>
        </p:txBody>
      </p:sp>
      <p:sp>
        <p:nvSpPr>
          <p:cNvPr id="708592879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1985152734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TD/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최진우</a:t>
            </a:r>
          </a:p>
        </p:txBody>
      </p:sp>
      <p:sp>
        <p:nvSpPr>
          <p:cNvPr id="62467413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ITSM-93611 ZSDR7090 - 담보관리:채권대비 담보확보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액” 개선요청-6/2~ 변경 요청사항 반영- 8/29~8/30 요구사항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변경으로 로직수정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ITSM-96689PRM 거래처 마스터 항목별 관리를 위한 ERP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마스터 분개처리 구조 보완 요청-7/3 RFC 구조 생성-7/4 조건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별 T코드 및 프로그램 코딩-7/5 처리결과 리턴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ITSM-96030   ZFIR9350-1/4 운영반영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[SD] ITSM-98746-1/4 프로그램 수정</a:t>
            </a:r>
          </a:p>
        </p:txBody>
      </p:sp>
      <p:sp>
        <p:nvSpPr>
          <p:cNvPr id="1582914226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</a:p>
        </p:txBody>
      </p:sp>
      <p:sp>
        <p:nvSpPr>
          <p:cNvPr id="36978039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</a:p>
        </p:txBody>
      </p:sp>
      <p:sp>
        <p:nvSpPr>
          <p:cNvPr id="2021779267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07/03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6577468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93470552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7546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4257055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49414678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0335563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01130555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34047688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63294395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783787523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33159567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93881366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475437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53690949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2575264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44810299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315548053" name="Text">
    </p:cNvPr>
          <p:cNvSpPr>
            <a:spLocks noGrp="1"/>
          </p:cNvSpPr>
          <p:nvPr/>
        </p:nvSpPr>
        <p:spPr>
          <a:xfrm rot="0">
            <a:off x="9702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</a:p>
        </p:txBody>
      </p:sp>
      <p:sp>
        <p:nvSpPr>
          <p:cNvPr id="1922012899" name="Text">
    </p:cNvPr>
          <p:cNvSpPr>
            <a:spLocks noGrp="1"/>
          </p:cNvSpPr>
          <p:nvPr/>
        </p:nvSpPr>
        <p:spPr>
          <a:xfrm rot="0">
            <a:off x="93345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</a:p>
        </p:txBody>
      </p:sp>
      <p:sp>
        <p:nvSpPr>
          <p:cNvPr id="557277429" name="Text">
    </p:cNvPr>
          <p:cNvSpPr>
            <a:spLocks noGrp="1"/>
          </p:cNvSpPr>
          <p:nvPr/>
        </p:nvSpPr>
        <p:spPr>
          <a:xfrm rot="0">
            <a:off x="59309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</a:p>
        </p:txBody>
      </p:sp>
      <p:sp>
        <p:nvSpPr>
          <p:cNvPr id="1976672866" name="Text">
    </p:cNvPr>
          <p:cNvSpPr>
            <a:spLocks noGrp="1"/>
          </p:cNvSpPr>
          <p:nvPr/>
        </p:nvSpPr>
        <p:spPr>
          <a:xfrm rot="0">
            <a:off x="53086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1986501198" name="Text">
    </p:cNvPr>
          <p:cNvSpPr>
            <a:spLocks noGrp="1"/>
          </p:cNvSpPr>
          <p:nvPr/>
        </p:nvSpPr>
        <p:spPr>
          <a:xfrm rot="0">
            <a:off x="88900" y="1511300"/>
            <a:ext cx="5715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OSPM/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고귀한</a:t>
            </a:r>
          </a:p>
        </p:txBody>
      </p:sp>
      <p:sp>
        <p:nvSpPr>
          <p:cNvPr id="2026975983" name="Text">
    </p:cNvPr>
          <p:cNvSpPr>
            <a:spLocks noGrp="1"/>
          </p:cNvSpPr>
          <p:nvPr/>
        </p:nvSpPr>
        <p:spPr>
          <a:xfrm rot="0">
            <a:off x="711200" y="1511300"/>
            <a:ext cx="3403600" cy="31877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[OSPM] ITSM-96727 [OSPM] Application Secure Coding 취약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ITSM-104911 A30-23-0715 결재문서 본문 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미지 파일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ITSM-104885 경조금신청서 삭제요청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ITSM-104883 기성보고서 첨부파일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ITSM-104966 결재문서 내용 수정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ITSM-105216 협조문의 첨부파일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ITSM-105227 Arrow Diagram Management Syst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em 도입 용역 계약체결기안 첨부 교체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ITSM-105234 결재 완료된 문서의 첨부 문서 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경 (제목 : Minutes of the 25th Meeting of Shaheen Projec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t Steering Committee)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ITSM-105198 2024년 실험장비 부품류 연간교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정 계약 체결기안의 첨부파일 변경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ITSM-105259 RTS I21-0035 PX1팀 Flare Ga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 열량계 설치 가동전점검 첨부문서 수정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ITSM-105265 협조문 첨부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ITSM-105293 협조문 오탈자 수정 요청</a:t>
            </a:r>
          </a:p>
        </p:txBody>
      </p:sp>
      <p:sp>
        <p:nvSpPr>
          <p:cNvPr id="1660667336" name="Text">
    </p:cNvPr>
          <p:cNvSpPr>
            <a:spLocks noGrp="1"/>
          </p:cNvSpPr>
          <p:nvPr/>
        </p:nvSpPr>
        <p:spPr>
          <a:xfrm rot="0">
            <a:off x="44831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448903495" name="Text">
    </p:cNvPr>
          <p:cNvSpPr>
            <a:spLocks noGrp="1"/>
          </p:cNvSpPr>
          <p:nvPr/>
        </p:nvSpPr>
        <p:spPr>
          <a:xfrm rot="0">
            <a:off x="48514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80%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1354692027" name="Text">
    </p:cNvPr>
          <p:cNvSpPr>
            <a:spLocks noGrp="1"/>
          </p:cNvSpPr>
          <p:nvPr/>
        </p:nvSpPr>
        <p:spPr>
          <a:xfrm rot="0">
            <a:off x="4114800" y="1511300"/>
            <a:ext cx="3683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554300169" name="Text">
    </p:cNvPr>
          <p:cNvSpPr>
            <a:spLocks noGrp="1"/>
          </p:cNvSpPr>
          <p:nvPr/>
        </p:nvSpPr>
        <p:spPr>
          <a:xfrm rot="0">
            <a:off x="6604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2877669" name="Text">
    </p:cNvPr>
          <p:cNvSpPr>
            <a:spLocks noGrp="1"/>
          </p:cNvSpPr>
          <p:nvPr/>
        </p:nvSpPr>
        <p:spPr>
          <a:xfrm rot="0">
            <a:off x="5880100" y="1511300"/>
            <a:ext cx="3454400" cy="31877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0311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759697862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127694045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542742593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814953334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64000899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662949423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9575832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83694562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82944934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4135109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4201313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08732097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158170699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312868345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8326712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559811158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New RTDB 연동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</a:p>
        </p:txBody>
      </p:sp>
      <p:sp>
        <p:nvSpPr>
          <p:cNvPr id="1530234258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1724047672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OAS/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ePSMS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김상훈</a:t>
            </a:r>
          </a:p>
        </p:txBody>
      </p:sp>
      <p:sp>
        <p:nvSpPr>
          <p:cNvPr id="255756077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[OAS] OAS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[ePSMS] ePSMS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 문의응대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RTS DashboardSecure Coding 취약점 개선 요청 건</a:t>
            </a:r>
          </a:p>
        </p:txBody>
      </p:sp>
      <p:sp>
        <p:nvSpPr>
          <p:cNvPr id="369015032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165364704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</a:p>
        </p:txBody>
      </p:sp>
      <p:sp>
        <p:nvSpPr>
          <p:cNvPr id="321540235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06/22</a:t>
            </a:r>
            <a:br/>
          </a:p>
        </p:txBody>
      </p:sp>
      <p:sp>
        <p:nvSpPr>
          <p:cNvPr id="175889873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3648438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867442113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</a:p>
        </p:txBody>
      </p:sp>
      <p:sp>
        <p:nvSpPr>
          <p:cNvPr id="773934251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</a:p>
        </p:txBody>
      </p:sp>
      <p:sp>
        <p:nvSpPr>
          <p:cNvPr id="1937446025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</a:p>
        </p:txBody>
      </p:sp>
      <p:sp>
        <p:nvSpPr>
          <p:cNvPr id="79099398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48433811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PRM/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S-ERP/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BI-EDW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남대현</a:t>
            </a:r>
          </a:p>
        </p:txBody>
      </p:sp>
      <p:sp>
        <p:nvSpPr>
          <p:cNvPr id="943602330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주유소/충전소 PRM 거래처 마스터 신규 등록시 필수 계약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자동 체결요청 시스템 구축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PRM 실수송 거리 측정데이타 erp 연동요청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[PRM] 플랜트별/거래처별 품질자료 제공 시스템 구축</a:t>
            </a:r>
          </a:p>
        </p:txBody>
      </p:sp>
      <p:sp>
        <p:nvSpPr>
          <p:cNvPr id="32366138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03/31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553610465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99%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85%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</a:p>
        </p:txBody>
      </p:sp>
      <p:sp>
        <p:nvSpPr>
          <p:cNvPr id="1334014681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06/13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09/05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102792025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07994655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29694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3988086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3854260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21413229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234897422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651816374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895850700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7534940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2911957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8545434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37866042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90856755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07094123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809380588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96527109" name="Text">
    </p:cNvPr>
          <p:cNvSpPr>
            <a:spLocks noGrp="1"/>
          </p:cNvSpPr>
          <p:nvPr/>
        </p:nvSpPr>
        <p:spPr>
          <a:xfrm rot="0">
            <a:off x="9702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</a:p>
        </p:txBody>
      </p:sp>
      <p:sp>
        <p:nvSpPr>
          <p:cNvPr id="570986385" name="Text">
    </p:cNvPr>
          <p:cNvSpPr>
            <a:spLocks noGrp="1"/>
          </p:cNvSpPr>
          <p:nvPr/>
        </p:nvSpPr>
        <p:spPr>
          <a:xfrm rot="0">
            <a:off x="93345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</a:p>
        </p:txBody>
      </p:sp>
      <p:sp>
        <p:nvSpPr>
          <p:cNvPr id="1500656714" name="Text">
    </p:cNvPr>
          <p:cNvSpPr>
            <a:spLocks noGrp="1"/>
          </p:cNvSpPr>
          <p:nvPr/>
        </p:nvSpPr>
        <p:spPr>
          <a:xfrm rot="0">
            <a:off x="59309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JIRA 변경 관리 요청 업무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소스 내 naver 지도 api 소스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epro 자동 배포 반영</a:t>
            </a:r>
          </a:p>
        </p:txBody>
      </p:sp>
      <p:sp>
        <p:nvSpPr>
          <p:cNvPr id="416943298" name="Text">
    </p:cNvPr>
          <p:cNvSpPr>
            <a:spLocks noGrp="1"/>
          </p:cNvSpPr>
          <p:nvPr/>
        </p:nvSpPr>
        <p:spPr>
          <a:xfrm rot="0">
            <a:off x="53086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270451421" name="Text">
    </p:cNvPr>
          <p:cNvSpPr>
            <a:spLocks noGrp="1"/>
          </p:cNvSpPr>
          <p:nvPr/>
        </p:nvSpPr>
        <p:spPr>
          <a:xfrm rot="0">
            <a:off x="88900" y="1511300"/>
            <a:ext cx="5715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ATSS/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ASM/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Mobile/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Admin관리/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박민우</a:t>
            </a:r>
          </a:p>
        </p:txBody>
      </p:sp>
      <p:sp>
        <p:nvSpPr>
          <p:cNvPr id="1988932424" name="Text">
    </p:cNvPr>
          <p:cNvSpPr>
            <a:spLocks noGrp="1"/>
          </p:cNvSpPr>
          <p:nvPr/>
        </p:nvSpPr>
        <p:spPr>
          <a:xfrm rot="0">
            <a:off x="711200" y="1511300"/>
            <a:ext cx="3403600" cy="27305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공지사항 검색 기능 추가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naver api 반영 테스트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상차계획ㆍ배차계획 화면 가격그룹 항목 추가및 데이터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[Mobile] ebiz 권한 요청 화면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ITSM-104515 변경결과 작성ITSM-104947 변경결과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작성ITSM-104991 긴급도 변경ITSM-103126 견적서 삭제IT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SM-103198 변경요청서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confluence 서비스 항목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ITSM-104952 서비스요청서 삭제ITSM-104961 견적서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삭제ITSM-105087 변경결과 작성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confluence 서비스 항목 삭제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ITSM-104997 상태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[ATSS] 자동 배차 엔진 재가동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[ASM] ITSM-105319 변경결과 작성ITSM-105288 배포상태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변경ITSM-105287 배포상태 변경</a:t>
            </a:r>
          </a:p>
        </p:txBody>
      </p:sp>
      <p:sp>
        <p:nvSpPr>
          <p:cNvPr id="1041504695" name="Text">
    </p:cNvPr>
          <p:cNvSpPr>
            <a:spLocks noGrp="1"/>
          </p:cNvSpPr>
          <p:nvPr/>
        </p:nvSpPr>
        <p:spPr>
          <a:xfrm rot="0">
            <a:off x="44831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986047659" name="Text">
    </p:cNvPr>
          <p:cNvSpPr>
            <a:spLocks noGrp="1"/>
          </p:cNvSpPr>
          <p:nvPr/>
        </p:nvSpPr>
        <p:spPr>
          <a:xfrm rot="0">
            <a:off x="48514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19%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58%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277774992" name="Text">
    </p:cNvPr>
          <p:cNvSpPr>
            <a:spLocks noGrp="1"/>
          </p:cNvSpPr>
          <p:nvPr/>
        </p:nvSpPr>
        <p:spPr>
          <a:xfrm rot="0">
            <a:off x="4114800" y="1511300"/>
            <a:ext cx="3683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51082554" name="Text">
    </p:cNvPr>
          <p:cNvSpPr>
            <a:spLocks noGrp="1"/>
          </p:cNvSpPr>
          <p:nvPr/>
        </p:nvSpPr>
        <p:spPr>
          <a:xfrm rot="0">
            <a:off x="6604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499912013" name="Text">
    </p:cNvPr>
          <p:cNvSpPr>
            <a:spLocks noGrp="1"/>
          </p:cNvSpPr>
          <p:nvPr/>
        </p:nvSpPr>
        <p:spPr>
          <a:xfrm rot="0">
            <a:off x="5880100" y="1511300"/>
            <a:ext cx="3454400" cy="27305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6695721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81696750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378774571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80463239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6986898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060227475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51692938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78313584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413746996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69503321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02742080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841409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2101893284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507832740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78407783" name="Text">
    </p:cNvPr>
          <p:cNvSpPr>
            <a:spLocks noGrp="1"/>
          </p:cNvSpPr>
          <p:nvPr/>
        </p:nvSpPr>
        <p:spPr>
          <a:xfrm rot="0">
            <a:off x="9702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</a:p>
        </p:txBody>
      </p:sp>
      <p:sp>
        <p:nvSpPr>
          <p:cNvPr id="580930922" name="Text">
    </p:cNvPr>
          <p:cNvSpPr>
            <a:spLocks noGrp="1"/>
          </p:cNvSpPr>
          <p:nvPr/>
        </p:nvSpPr>
        <p:spPr>
          <a:xfrm rot="0">
            <a:off x="93345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</a:p>
        </p:txBody>
      </p:sp>
      <p:sp>
        <p:nvSpPr>
          <p:cNvPr id="487763170" name="Text">
    </p:cNvPr>
          <p:cNvSpPr>
            <a:spLocks noGrp="1"/>
          </p:cNvSpPr>
          <p:nvPr/>
        </p:nvSpPr>
        <p:spPr>
          <a:xfrm rot="0">
            <a:off x="5930900" y="1511300"/>
            <a:ext cx="3403600" cy="3644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이상관리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A11 -&gt; A360 '일일 사전점검' 작업 마이그레이션 및 테스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트, 수정</a:t>
            </a:r>
          </a:p>
        </p:txBody>
      </p:sp>
      <p:sp>
        <p:nvSpPr>
          <p:cNvPr id="963931767" name="Text">
    </p:cNvPr>
          <p:cNvSpPr>
            <a:spLocks noGrp="1"/>
          </p:cNvSpPr>
          <p:nvPr/>
        </p:nvSpPr>
        <p:spPr>
          <a:xfrm rot="0">
            <a:off x="53086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426759371" name="Text">
    </p:cNvPr>
          <p:cNvSpPr>
            <a:spLocks noGrp="1"/>
          </p:cNvSpPr>
          <p:nvPr/>
        </p:nvSpPr>
        <p:spPr>
          <a:xfrm rot="0">
            <a:off x="88900" y="1511300"/>
            <a:ext cx="5715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전자계약/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PPS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박선미</a:t>
            </a:r>
          </a:p>
        </p:txBody>
      </p:sp>
      <p:sp>
        <p:nvSpPr>
          <p:cNvPr id="1969312285" name="Text">
    </p:cNvPr>
          <p:cNvSpPr>
            <a:spLocks noGrp="1"/>
          </p:cNvSpPr>
          <p:nvPr/>
        </p:nvSpPr>
        <p:spPr>
          <a:xfrm rot="0">
            <a:off x="711200" y="1511300"/>
            <a:ext cx="3403600" cy="36449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A11 -&gt; A360 '일일 사전점검' 작업 마이그레이션 및 테스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트, 수정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'Daily Report' 작업 데이터 정리 및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외화송금' 작업 수행 년도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'에너지관리팀-Daily Report', '생산최적화팀-Mar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gin' 엑셀 연도 변경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'자금운영팀-환율주가 SMS전송' 작업 종가 재수행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A360 '법인영업팀-항공급유 매출입력' 작업 재수행 및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모니터링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'사전점검' 수기발송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 A11 '#1 회계지급전표 증빙대사' 작업 데이터 정리 및 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수행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시스템 추가 설정 (Git, .....), 개발 및 빌드, 배포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 송금' 작업 원활 수행을 위한 1번(회계증빙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대사) 작업 중단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'#4 외화송금' 새벽작업 작업 마무리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A11 '#1 회계지급전표 증빙대사' 작업 '대사결과 X' 원인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파악 및 전달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[RPA] A360 'Basic Chemical팀-나프타 수입부과금' 작업 및 스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케쥴알림 수신자 추가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[PPS]  Data 회신 가능 여부 확인 및 DB 접속 계정 정보 전달- D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NS 등록 및 방화벽 오픈 결제 신청</a:t>
            </a:r>
          </a:p>
        </p:txBody>
      </p:sp>
      <p:sp>
        <p:nvSpPr>
          <p:cNvPr id="2099025391" name="Text">
    </p:cNvPr>
          <p:cNvSpPr>
            <a:spLocks noGrp="1"/>
          </p:cNvSpPr>
          <p:nvPr/>
        </p:nvSpPr>
        <p:spPr>
          <a:xfrm rot="0">
            <a:off x="44831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728138221" name="Text">
    </p:cNvPr>
          <p:cNvSpPr>
            <a:spLocks noGrp="1"/>
          </p:cNvSpPr>
          <p:nvPr/>
        </p:nvSpPr>
        <p:spPr>
          <a:xfrm rot="0">
            <a:off x="48514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1719434496" name="Text">
    </p:cNvPr>
          <p:cNvSpPr>
            <a:spLocks noGrp="1"/>
          </p:cNvSpPr>
          <p:nvPr/>
        </p:nvSpPr>
        <p:spPr>
          <a:xfrm rot="0">
            <a:off x="4114800" y="1511300"/>
            <a:ext cx="3683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</a:p>
        </p:txBody>
      </p:sp>
      <p:sp>
        <p:nvSpPr>
          <p:cNvPr id="435300968" name="Text">
    </p:cNvPr>
          <p:cNvSpPr>
            <a:spLocks noGrp="1"/>
          </p:cNvSpPr>
          <p:nvPr/>
        </p:nvSpPr>
        <p:spPr>
          <a:xfrm rot="0">
            <a:off x="6604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182228" name="Text">
    </p:cNvPr>
          <p:cNvSpPr>
            <a:spLocks noGrp="1"/>
          </p:cNvSpPr>
          <p:nvPr/>
        </p:nvSpPr>
        <p:spPr>
          <a:xfrm rot="0">
            <a:off x="5880100" y="1511300"/>
            <a:ext cx="3454400" cy="36449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124289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75289094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62445524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603066821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385361960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701449280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344735341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667782549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881236664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731732780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6347053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784406362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72934496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36665803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51234308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828483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105669584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</a:p>
        </p:txBody>
      </p:sp>
      <p:sp>
        <p:nvSpPr>
          <p:cNvPr id="472514623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850759314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E-Approval/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TPMS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배영식</a:t>
            </a:r>
          </a:p>
        </p:txBody>
      </p:sp>
      <p:sp>
        <p:nvSpPr>
          <p:cNvPr id="1476266555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[TPMS]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Soft Skill 인증제도(Skillset) 시행에 따른 LMS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개발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Defect Elimination Dashboard Renewal(신규 Po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rtal 구축) 관련 전자결재 연동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보너스카드 서비스 중단유예 / 매출비율 기준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신청서 format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[E-Approval] 당일 시내출장 중식비 신청서 개발 요청</a:t>
            </a:r>
          </a:p>
        </p:txBody>
      </p:sp>
      <p:sp>
        <p:nvSpPr>
          <p:cNvPr id="911569987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205853115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40%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20%</a:t>
            </a:r>
            <a:br/>
          </a:p>
        </p:txBody>
      </p:sp>
      <p:sp>
        <p:nvSpPr>
          <p:cNvPr id="1684890004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07/20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11/20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12/19</a:t>
            </a:r>
            <a:br/>
          </a:p>
        </p:txBody>
      </p:sp>
      <p:sp>
        <p:nvSpPr>
          <p:cNvPr id="1139085552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578075043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836268525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1052166019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</a:p>
        </p:txBody>
      </p:sp>
      <p:sp>
        <p:nvSpPr>
          <p:cNvPr id="1438589493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권한 부여 기능 수정 요청</a:t>
            </a:r>
          </a:p>
        </p:txBody>
      </p:sp>
      <p:sp>
        <p:nvSpPr>
          <p:cNvPr id="2005905850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95084991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LMS/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ERM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순현국</a:t>
            </a:r>
          </a:p>
        </p:txBody>
      </p:sp>
      <p:sp>
        <p:nvSpPr>
          <p:cNvPr id="220767318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Soft Skill 인증제도(Skillset) 시행에 따른 LMS 개발 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요청의 건(assessment 요청관련 기능 추가요청, 사내평가/사외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평가관련 메일발송 기능 추가)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IT 시스템 BCP매뉴얼 등록 및 관리화면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LMS내 문구 수정 요청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[LMS] LMS시스템 2024년 DP CODE 생성 요청	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ERS규정관리 권한 부여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[ERM] ERM 시스템 권한 부여 기능 수정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[ERS] 문서등록 변환오류 수정요청(PX2팀, 부서지침서 16건)</a:t>
            </a:r>
          </a:p>
        </p:txBody>
      </p:sp>
      <p:sp>
        <p:nvSpPr>
          <p:cNvPr id="56482644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723707554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2035768672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08/22</a:t>
            </a:r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12/26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</a:p>
        </p:txBody>
      </p:sp>
      <p:sp>
        <p:nvSpPr>
          <p:cNvPr id="831872008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145080711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03075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999591019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544928269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621514550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14059438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1544830227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722028038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2041894328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16052179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660364334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183061941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423756744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735784373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856223692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42352914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</a:p>
        </p:txBody>
      </p:sp>
      <p:sp>
        <p:nvSpPr>
          <p:cNvPr id="19479702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11/27</a:t>
            </a:r>
            <a:br/>
            <a:br/>
          </a:p>
        </p:txBody>
      </p:sp>
      <p:sp>
        <p:nvSpPr>
          <p:cNvPr id="1936527235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사이버 보안 컴플라이언스 조치 권고 사항 처리 요청 (C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ISO에서 메일이 오면 작업진행)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[EWS] 사이버 보안 컴플라이언스 조치 권고 사항 처리 요청(CIS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O에서 메일이 오면 작업진행)</a:t>
            </a:r>
          </a:p>
        </p:txBody>
      </p:sp>
      <p:sp>
        <p:nvSpPr>
          <p:cNvPr id="15967739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1769372485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WMS/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EWS/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RPA/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GCMS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이병준</a:t>
            </a:r>
          </a:p>
        </p:txBody>
      </p:sp>
      <p:sp>
        <p:nvSpPr>
          <p:cNvPr id="56958347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[WMS] Application Secure Coding 취약점 개선 요청 건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공장 Application 사전작업 체크리스트 검토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WMS HQWMSAP1 서버 다운 장애 긴급 조치 및 원인 파악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IAMS 2023 Final 모집단 자료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[WMS] [취약점 대상] 확인 불가 DB 계정 삭제 검토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지사 -&gt; 본사 불출이관 건 오류 데이터 확인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입출고, 입고일자 및 판매등록 데이터 판매일, 재고 DB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 작업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모바일교환상품권 9월 테스트 데이터 확인 및 삭제된 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이터 복구 요청 (사용자 오류)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[GCMS] 지류상품권 회수현황 ERP연계 데이터 DB작업 요청</a:t>
            </a:r>
          </a:p>
        </p:txBody>
      </p:sp>
      <p:sp>
        <p:nvSpPr>
          <p:cNvPr id="981022171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</a:p>
        </p:txBody>
      </p:sp>
      <p:sp>
        <p:nvSpPr>
          <p:cNvPr id="658019090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65%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</a:p>
        </p:txBody>
      </p:sp>
      <p:sp>
        <p:nvSpPr>
          <p:cNvPr id="2110683363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</a:p>
        </p:txBody>
      </p:sp>
      <p:sp>
        <p:nvSpPr>
          <p:cNvPr id="116169126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907682325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1440319431" name="Text">
    </p:cNvPr>
          <p:cNvSpPr>
            <a:spLocks noGrp="1"/>
          </p:cNvSpPr>
          <p:nvPr/>
        </p:nvSpPr>
        <p:spPr>
          <a:xfrm rot="0">
            <a:off x="9702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01/12</a:t>
            </a:r>
            <a:br/>
            <a:br/>
            <a:br/>
          </a:p>
        </p:txBody>
      </p:sp>
      <p:sp>
        <p:nvSpPr>
          <p:cNvPr id="1532945663" name="Text">
    </p:cNvPr>
          <p:cNvSpPr>
            <a:spLocks noGrp="1"/>
          </p:cNvSpPr>
          <p:nvPr/>
        </p:nvSpPr>
        <p:spPr>
          <a:xfrm rot="0">
            <a:off x="93345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01/08</a:t>
            </a:r>
            <a:br/>
            <a:br/>
            <a:br/>
          </a:p>
        </p:txBody>
      </p:sp>
      <p:sp>
        <p:nvSpPr>
          <p:cNvPr id="1850860848" name="Text">
    </p:cNvPr>
          <p:cNvSpPr>
            <a:spLocks noGrp="1"/>
          </p:cNvSpPr>
          <p:nvPr/>
        </p:nvSpPr>
        <p:spPr>
          <a:xfrm rot="0">
            <a:off x="59309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163346533" name="Text">
    </p:cNvPr>
          <p:cNvSpPr>
            <a:spLocks noGrp="1"/>
          </p:cNvSpPr>
          <p:nvPr/>
        </p:nvSpPr>
        <p:spPr>
          <a:xfrm rot="0">
            <a:off x="53086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281157930" name="Text">
    </p:cNvPr>
          <p:cNvSpPr>
            <a:spLocks noGrp="1"/>
          </p:cNvSpPr>
          <p:nvPr/>
        </p:nvSpPr>
        <p:spPr>
          <a:xfrm rot="0">
            <a:off x="88900" y="37719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계정관리/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LOPAS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이지은</a:t>
            </a:r>
          </a:p>
        </p:txBody>
      </p:sp>
      <p:sp>
        <p:nvSpPr>
          <p:cNvPr id="1016551121" name="Text">
    </p:cNvPr>
          <p:cNvSpPr>
            <a:spLocks noGrp="1"/>
          </p:cNvSpPr>
          <p:nvPr/>
        </p:nvSpPr>
        <p:spPr>
          <a:xfrm rot="0">
            <a:off x="711200" y="37719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[RMS] 기능 문의 및 피드백 처리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( 1. PDF 내 발행번호를 읽지 못함 / 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. 저유소명 불일치 / 3. 셀병합 및 가운데 정렬로 인한 값 오배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치 )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[LOPAS] 송유관 입고계획 관리 &gt; PDF upload, 'PDF' 양식 변경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으로 인한 업로드 에러 조치 기간 내 'PDF' 업로드 및 수정 배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포</a:t>
            </a:r>
          </a:p>
        </p:txBody>
      </p:sp>
      <p:sp>
        <p:nvSpPr>
          <p:cNvPr id="1569610774" name="Text">
    </p:cNvPr>
          <p:cNvSpPr>
            <a:spLocks noGrp="1"/>
          </p:cNvSpPr>
          <p:nvPr/>
        </p:nvSpPr>
        <p:spPr>
          <a:xfrm rot="0">
            <a:off x="44831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01/19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</a:p>
        </p:txBody>
      </p:sp>
      <p:sp>
        <p:nvSpPr>
          <p:cNvPr id="924543122" name="Text">
    </p:cNvPr>
          <p:cNvSpPr>
            <a:spLocks noGrp="1"/>
          </p:cNvSpPr>
          <p:nvPr/>
        </p:nvSpPr>
        <p:spPr>
          <a:xfrm rot="0">
            <a:off x="48514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68%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br/>
            <a:br/>
          </a:p>
        </p:txBody>
      </p:sp>
      <p:sp>
        <p:nvSpPr>
          <p:cNvPr id="911332394" name="Text">
    </p:cNvPr>
          <p:cNvSpPr>
            <a:spLocks noGrp="1"/>
          </p:cNvSpPr>
          <p:nvPr/>
        </p:nvSpPr>
        <p:spPr>
          <a:xfrm rot="0">
            <a:off x="4114800" y="37719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br/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01/01</a:t>
            </a:r>
            <a:br/>
            <a:br/>
            <a:br/>
          </a:p>
        </p:txBody>
      </p:sp>
      <p:sp>
        <p:nvSpPr>
          <p:cNvPr id="813055471" name="Text">
    </p:cNvPr>
          <p:cNvSpPr>
            <a:spLocks noGrp="1"/>
          </p:cNvSpPr>
          <p:nvPr/>
        </p:nvSpPr>
        <p:spPr>
          <a:xfrm rot="0">
            <a:off x="6604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532130075" name="Text">
    </p:cNvPr>
          <p:cNvSpPr>
            <a:spLocks noGrp="1"/>
          </p:cNvSpPr>
          <p:nvPr/>
        </p:nvSpPr>
        <p:spPr>
          <a:xfrm rot="0">
            <a:off x="5880100" y="37719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645447" name="Text">
    </p:cNvPr>
          <p:cNvSpPr>
            <a:spLocks noGrp="1"/>
          </p:cNvSpPr>
          <p:nvPr/>
        </p:nvSpPr>
        <p:spPr>
          <a:xfrm rot="0">
            <a:off x="5372100" y="774700"/>
            <a:ext cx="46609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71686985" name="Text">
    </p:cNvPr>
          <p:cNvSpPr>
            <a:spLocks noGrp="1"/>
          </p:cNvSpPr>
          <p:nvPr/>
        </p:nvSpPr>
        <p:spPr>
          <a:xfrm rot="0">
            <a:off x="114300" y="774700"/>
            <a:ext cx="5067300" cy="330200"/>
          </a:xfrm>
          <a:prstGeom prst="rect">
            <a:avLst/>
          </a:prstGeom>
          <a:solidFill>
            <a:srgbClr val="919191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" "</a:t>
            </a:r>
          </a:p>
        </p:txBody>
      </p:sp>
      <p:sp>
        <p:nvSpPr>
          <p:cNvPr id="1247060634" name="Text">
    </p:cNvPr>
          <p:cNvSpPr>
            <a:spLocks noGrp="1"/>
          </p:cNvSpPr>
          <p:nvPr/>
        </p:nvSpPr>
        <p:spPr>
          <a:xfrm rot="0">
            <a:off x="88900" y="749300"/>
            <a:ext cx="50546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금주 업무 실적</a:t>
            </a:r>
          </a:p>
        </p:txBody>
      </p:sp>
      <p:sp>
        <p:nvSpPr>
          <p:cNvPr id="1745434042" name="Text">
    </p:cNvPr>
          <p:cNvSpPr>
            <a:spLocks noGrp="1"/>
          </p:cNvSpPr>
          <p:nvPr/>
        </p:nvSpPr>
        <p:spPr>
          <a:xfrm rot="0">
            <a:off x="5384800" y="749300"/>
            <a:ext cx="4610100" cy="330200"/>
          </a:xfrm>
          <a:prstGeom prst="rect">
            <a:avLst/>
          </a:prstGeom>
          <a:solidFill>
            <a:srgbClr val="C7CDFD"/>
          </a:solidFill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13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370">
                <a:latin typeface="맑은 고딕"/>
                <a:ea typeface="맑은 고딕"/>
                <a:cs typeface="맑은 고딕"/>
              </a:rPr>
              <a:t>차주 업무 계획</a:t>
            </a:r>
          </a:p>
        </p:txBody>
      </p:sp>
      <p:sp>
        <p:nvSpPr>
          <p:cNvPr id="1001547017" name="Text">
    </p:cNvPr>
          <p:cNvSpPr>
            <a:spLocks noGrp="1"/>
          </p:cNvSpPr>
          <p:nvPr/>
        </p:nvSpPr>
        <p:spPr>
          <a:xfrm rot="0">
            <a:off x="241300" y="266700"/>
            <a:ext cx="5969000" cy="3810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b="1" sz="157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1570">
                <a:latin typeface="맑은 고딕"/>
                <a:ea typeface="맑은 고딕"/>
                <a:cs typeface="맑은 고딕"/>
              </a:rPr>
              <a:t>3. 주간업무 실적 및 계획(①Baynex - WEB)</a:t>
            </a:r>
          </a:p>
        </p:txBody>
      </p:sp>
      <p:sp>
        <p:nvSpPr>
          <p:cNvPr id="334277401" name="Text">
    </p:cNvPr>
          <p:cNvSpPr>
            <a:spLocks noGrp="1"/>
          </p:cNvSpPr>
          <p:nvPr/>
        </p:nvSpPr>
        <p:spPr>
          <a:xfrm rot="0">
            <a:off x="889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2093194124" name="Text">
    </p:cNvPr>
          <p:cNvSpPr>
            <a:spLocks noGrp="1"/>
          </p:cNvSpPr>
          <p:nvPr/>
        </p:nvSpPr>
        <p:spPr>
          <a:xfrm rot="0">
            <a:off x="6604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564923211" name="Text">
    </p:cNvPr>
          <p:cNvSpPr>
            <a:spLocks noGrp="1"/>
          </p:cNvSpPr>
          <p:nvPr/>
        </p:nvSpPr>
        <p:spPr>
          <a:xfrm rot="0">
            <a:off x="4114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978952135" name="Text">
    </p:cNvPr>
          <p:cNvSpPr>
            <a:spLocks noGrp="1"/>
          </p:cNvSpPr>
          <p:nvPr/>
        </p:nvSpPr>
        <p:spPr>
          <a:xfrm rot="0">
            <a:off x="44831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53915651" name="Text">
    </p:cNvPr>
          <p:cNvSpPr>
            <a:spLocks noGrp="1"/>
          </p:cNvSpPr>
          <p:nvPr/>
        </p:nvSpPr>
        <p:spPr>
          <a:xfrm rot="0">
            <a:off x="5308600" y="1143000"/>
            <a:ext cx="5715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구분/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담당자</a:t>
            </a:r>
          </a:p>
        </p:txBody>
      </p:sp>
      <p:sp>
        <p:nvSpPr>
          <p:cNvPr id="1665750034" name="Text">
    </p:cNvPr>
          <p:cNvSpPr>
            <a:spLocks noGrp="1"/>
          </p:cNvSpPr>
          <p:nvPr/>
        </p:nvSpPr>
        <p:spPr>
          <a:xfrm rot="0">
            <a:off x="5880100" y="1143000"/>
            <a:ext cx="34544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업무 내용</a:t>
            </a:r>
          </a:p>
        </p:txBody>
      </p:sp>
      <p:sp>
        <p:nvSpPr>
          <p:cNvPr id="147732925" name="Text">
    </p:cNvPr>
          <p:cNvSpPr>
            <a:spLocks noGrp="1"/>
          </p:cNvSpPr>
          <p:nvPr/>
        </p:nvSpPr>
        <p:spPr>
          <a:xfrm rot="0">
            <a:off x="93345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접수일</a:t>
            </a:r>
          </a:p>
        </p:txBody>
      </p:sp>
      <p:sp>
        <p:nvSpPr>
          <p:cNvPr id="1587729202" name="Text">
    </p:cNvPr>
          <p:cNvSpPr>
            <a:spLocks noGrp="1"/>
          </p:cNvSpPr>
          <p:nvPr/>
        </p:nvSpPr>
        <p:spPr>
          <a:xfrm rot="0">
            <a:off x="48514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진행율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완료일</a:t>
            </a:r>
          </a:p>
        </p:txBody>
      </p:sp>
      <p:sp>
        <p:nvSpPr>
          <p:cNvPr id="1755502157" name="Text">
    </p:cNvPr>
          <p:cNvSpPr>
            <a:spLocks noGrp="1"/>
          </p:cNvSpPr>
          <p:nvPr/>
        </p:nvSpPr>
        <p:spPr>
          <a:xfrm rot="0">
            <a:off x="9702800" y="1143000"/>
            <a:ext cx="368300" cy="368300"/>
          </a:xfrm>
          <a:prstGeom prst="rect">
            <a:avLst/>
          </a:prstGeom>
          <a:solidFill>
            <a:srgbClr val="FFCC99"/>
          </a:solidFill>
          <a:ln w="12700">
            <a:solidFill>
              <a:srgbClr val="000000"/>
            </a:solidFill>
            <a:prstDash val="solid"/>
          </a:ln>
        </p:spPr>
        <p:txBody>
          <a:bodyPr anchor="ctr" bIns="0" lIns="0" rIns="0" rtlCol="0" tIns="0" wrap="square"/>
          <a:lstStyle/>
          <a:p>
            <a:pPr algn="ctr">
              <a:lnSpc>
                <a:spcPct val="100%"/>
              </a:lnSpc>
              <a:defRPr b="1"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b="1" lang="ko" sz="900">
                <a:latin typeface="맑은 고딕"/>
                <a:ea typeface="맑은 고딕"/>
                <a:cs typeface="맑은 고딕"/>
              </a:rPr>
              <a:t>완료</a:t>
            </a:r>
            <a:br/>
            <a:r>
              <a:rPr b="1" lang="ko" sz="900">
                <a:latin typeface="맑은 고딕"/>
                <a:ea typeface="맑은 고딕"/>
                <a:cs typeface="맑은 고딕"/>
              </a:rPr>
              <a:t>목표일</a:t>
            </a:r>
          </a:p>
        </p:txBody>
      </p:sp>
      <p:sp>
        <p:nvSpPr>
          <p:cNvPr id="1097004687" name="Text">
    </p:cNvPr>
          <p:cNvSpPr>
            <a:spLocks noGrp="1"/>
          </p:cNvSpPr>
          <p:nvPr/>
        </p:nvSpPr>
        <p:spPr>
          <a:xfrm rot="0">
            <a:off x="9702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</a:p>
        </p:txBody>
      </p:sp>
      <p:sp>
        <p:nvSpPr>
          <p:cNvPr id="941108431" name="Text">
    </p:cNvPr>
          <p:cNvSpPr>
            <a:spLocks noGrp="1"/>
          </p:cNvSpPr>
          <p:nvPr/>
        </p:nvSpPr>
        <p:spPr>
          <a:xfrm rot="0">
            <a:off x="93345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01/02</a:t>
            </a:r>
            <a:br/>
          </a:p>
        </p:txBody>
      </p:sp>
      <p:sp>
        <p:nvSpPr>
          <p:cNvPr id="1894470589" name="Text">
    </p:cNvPr>
          <p:cNvSpPr>
            <a:spLocks noGrp="1"/>
          </p:cNvSpPr>
          <p:nvPr/>
        </p:nvSpPr>
        <p:spPr>
          <a:xfrm rot="0">
            <a:off x="59309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</a:p>
        </p:txBody>
      </p:sp>
      <p:sp>
        <p:nvSpPr>
          <p:cNvPr id="243655507" name="Text">
    </p:cNvPr>
          <p:cNvSpPr>
            <a:spLocks noGrp="1"/>
          </p:cNvSpPr>
          <p:nvPr/>
        </p:nvSpPr>
        <p:spPr>
          <a:xfrm rot="0">
            <a:off x="53086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1476766338" name="Text">
    </p:cNvPr>
          <p:cNvSpPr>
            <a:spLocks noGrp="1"/>
          </p:cNvSpPr>
          <p:nvPr/>
        </p:nvSpPr>
        <p:spPr>
          <a:xfrm rot="0">
            <a:off x="88900" y="1511300"/>
            <a:ext cx="5715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EIS/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EAI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황보람</a:t>
            </a:r>
          </a:p>
        </p:txBody>
      </p:sp>
      <p:sp>
        <p:nvSpPr>
          <p:cNvPr id="562207513" name="Text">
    </p:cNvPr>
          <p:cNvSpPr>
            <a:spLocks noGrp="1"/>
          </p:cNvSpPr>
          <p:nvPr/>
        </p:nvSpPr>
        <p:spPr>
          <a:xfrm rot="0">
            <a:off x="711200" y="1511300"/>
            <a:ext cx="3403600" cy="2260600"/>
          </a:xfrm>
          <a:prstGeom prst="rect">
            <a:avLst/>
          </a:prstGeom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- [EIS] 11월 Monthly Accountability Report 생성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산업안전보건관리비 계상 관련 시스템 보완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저유소 PM 관련 작업의뢰서 전자결재(T-Code : IW21) 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선 요청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PRM 영업시설물 지원 시스템 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HCM 당일 시내출장 중식비 신청서 신규개발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- [EAI] MGT 장비(파노라마) 및 DC_EXT_FW OS Upgrad 서비스지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  원</a:t>
            </a:r>
          </a:p>
        </p:txBody>
      </p:sp>
      <p:sp>
        <p:nvSpPr>
          <p:cNvPr id="190730799" name="Text">
    </p:cNvPr>
          <p:cNvSpPr>
            <a:spLocks noGrp="1"/>
          </p:cNvSpPr>
          <p:nvPr/>
        </p:nvSpPr>
        <p:spPr>
          <a:xfrm rot="0">
            <a:off x="44831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01/31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02/29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br/>
          </a:p>
        </p:txBody>
      </p:sp>
      <p:sp>
        <p:nvSpPr>
          <p:cNvPr id="710977388" name="Text">
    </p:cNvPr>
          <p:cNvSpPr>
            <a:spLocks noGrp="1"/>
          </p:cNvSpPr>
          <p:nvPr/>
        </p:nvSpPr>
        <p:spPr>
          <a:xfrm rot="0">
            <a:off x="48514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01/04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70%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30%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90%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</a:p>
        </p:txBody>
      </p:sp>
      <p:sp>
        <p:nvSpPr>
          <p:cNvPr id="1606699288" name="Text">
    </p:cNvPr>
          <p:cNvSpPr>
            <a:spLocks noGrp="1"/>
          </p:cNvSpPr>
          <p:nvPr/>
        </p:nvSpPr>
        <p:spPr>
          <a:xfrm rot="0">
            <a:off x="4114800" y="1511300"/>
            <a:ext cx="3683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ctr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br/>
            <a:r>
              <a:rPr lang="ko" sz="900">
                <a:latin typeface="맑은 고딕"/>
                <a:ea typeface="맑은 고딕"/>
                <a:cs typeface="맑은 고딕"/>
              </a:rPr>
              <a:t>12/07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10/20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04/21</a:t>
            </a:r>
            <a:br/>
            <a:br/>
            <a:r>
              <a:rPr lang="ko" sz="900">
                <a:latin typeface="맑은 고딕"/>
                <a:ea typeface="맑은 고딕"/>
                <a:cs typeface="맑은 고딕"/>
              </a:rPr>
              <a:t>10/27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01/05</a:t>
            </a:r>
            <a:br/>
            <a:r>
              <a:rPr lang="ko" sz="900">
                <a:latin typeface="맑은 고딕"/>
                <a:ea typeface="맑은 고딕"/>
                <a:cs typeface="맑은 고딕"/>
              </a:rPr>
              <a:t>01/03</a:t>
            </a:r>
            <a:br/>
            <a:br/>
          </a:p>
        </p:txBody>
      </p:sp>
      <p:sp>
        <p:nvSpPr>
          <p:cNvPr id="1789615018" name="Text">
    </p:cNvPr>
          <p:cNvSpPr>
            <a:spLocks noGrp="1"/>
          </p:cNvSpPr>
          <p:nvPr/>
        </p:nvSpPr>
        <p:spPr>
          <a:xfrm rot="0">
            <a:off x="6604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  <p:sp>
        <p:nvSpPr>
          <p:cNvPr id="320709626" name="Text">
    </p:cNvPr>
          <p:cNvSpPr>
            <a:spLocks noGrp="1"/>
          </p:cNvSpPr>
          <p:nvPr/>
        </p:nvSpPr>
        <p:spPr>
          <a:xfrm rot="0">
            <a:off x="5880100" y="1511300"/>
            <a:ext cx="3454400" cy="2260600"/>
          </a:xfrm>
          <a:prstGeom prst="rect">
            <a:avLst/>
          </a:prstGeom>
          <a:ln w="12700">
            <a:solidFill>
              <a:srgbClr val="000000"/>
            </a:solidFill>
            <a:prstDash val="solid"/>
          </a:ln>
        </p:spPr>
        <p:txBody>
          <a:bodyPr anchor="t" bIns="0" lIns="0" rIns="0" rtlCol="0" tIns="0" wrap="square"/>
          <a:lstStyle/>
          <a:p>
            <a:pPr algn="l">
              <a:lnSpc>
                <a:spcPct val="100%"/>
              </a:lnSpc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lang="ko" sz="900">
                <a:latin typeface="맑은 고딕"/>
                <a:ea typeface="맑은 고딕"/>
                <a:cs typeface="맑은 고딕"/>
              </a:rPr>
              <a:t> 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55577" y="1105143"/>
          <a:ext cx="4771985" cy="3535492"/>
        </p:xfrm>
        <a:graphic>
          <a:graphicData uri="http://schemas.openxmlformats.org/drawingml/2006/table">
            <a:tbl>
              <a:tblPr/>
              <a:tblGrid>
                <a:gridCol w="5219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58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4737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5077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494" marL="88055" marR="88055" marT="4549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494" marL="88055" marR="88055" marT="45494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922">
                <a:tc rowSpan="7">
                  <a:txBody>
                    <a:bodyPr/>
                    <a:lstStyle>
                      <a:lvl1pPr algn="l"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1pPr>
                      <a:lvl2pPr algn="l"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2pPr>
                      <a:lvl3pPr algn="l"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3pPr>
                      <a:lvl4pPr algn="l"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4pPr>
                      <a:lvl5pPr algn="l"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</a:defRPr>
                      </a:lvl9pPr>
                    </a:lstStyle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전화번호로 포인트 적립 적용 조회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73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 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주유소연동추가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_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현대서버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89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주유소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금결원전송관련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5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플랫폼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테스트 대응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부정적립관련 대응 조치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키오스크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즉발카드 등록 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9932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6" marL="83067" marR="83067" marT="4652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모바일상품권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제휴 성능 저하문제 수정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b="0" baseline="0" dirty="0" kern="1200" lang="ko-KR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1" marL="81282" marR="81282" marT="4561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05" marL="81282" marR="81282" marT="4560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568">
                <a:tc rowSpan="7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</a:txBody>
                  <a:tcPr horzOverflow="overflow" marB="45527" marL="81282" marR="81282" marT="455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773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 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사용가능상품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23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5247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680" marL="83077" marR="83077" marT="4668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55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6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569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525" marL="83067" marR="83067" marT="4652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2" marL="81282" marR="81282" marT="4561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8274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8275" name="Rectangle 135"/>
          <p:cNvSpPr>
            <a:spLocks noChangeArrowheads="1"/>
          </p:cNvSpPr>
          <p:nvPr/>
        </p:nvSpPr>
        <p:spPr bwMode="auto">
          <a:xfrm>
            <a:off x="255577" y="752526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426789"/>
              </p:ext>
            </p:extLst>
          </p:nvPr>
        </p:nvGraphicFramePr>
        <p:xfrm>
          <a:off x="5102125" y="1048417"/>
          <a:ext cx="4473736" cy="3871829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0165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49" marL="88066" marR="88066" marT="4574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49" marL="88066" marR="88066" marT="45749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1896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Market.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박치영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거래내역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(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 결제 수단 정의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)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ko-KR" b="0" baseline="0" dirty="0" err="1" lang="en-US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Pb</a:t>
                      </a:r>
                      <a:r>
                        <a:rPr altLang="en-US" b="0" baseline="0" dirty="0" lang="ko-KR" smtClean="0" sz="800">
                          <a:solidFill>
                            <a:schemeClr val="bg1">
                              <a:lumMod val="85000"/>
                            </a:schemeClr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상품적립</a:t>
                      </a:r>
                      <a:endParaRPr altLang="ko-KR" b="0" baseline="0" dirty="0" lang="en-US" smtClean="0" sz="800">
                        <a:solidFill>
                          <a:schemeClr val="bg1">
                            <a:lumMod val="85000"/>
                          </a:schemeClr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1896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-171450" latinLnBrk="1" lvl="0" marL="17145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사후적립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PRM,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전자결재 연동개발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8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1" marL="81291" marR="81291" marT="457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5434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70" marL="83077" marR="83077" marT="4677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App push</a:t>
                      </a:r>
                    </a:p>
                  </a:txBody>
                  <a:tcPr horzOverflow="overflow" marB="45679" marL="81282" marR="81282" marT="4567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dirty="0" kern="120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  <a:cs typeface="+mn-cs"/>
                      </a:endParaRPr>
                    </a:p>
                  </a:txBody>
                  <a:tcPr horzOverflow="overflow" marB="45737" marL="81291" marR="81291" marT="4573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0934">
                <a:tc rowSpan="8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IF.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이승범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1" marR="81291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금결원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41" marL="81282" marR="81282" marT="4564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02/03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9" marL="81282" marR="81282" marT="4562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0848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쿠폰 전문 수정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02/16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미정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lvl="0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현대차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G 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카페이 연동 </a:t>
                      </a:r>
                      <a:r>
                        <a:rPr altLang="ko-KR" b="0" baseline="0" dirty="0" lang="en-US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+ </a:t>
                      </a:r>
                      <a:r>
                        <a:rPr altLang="en-US" b="0" baseline="0" dirty="0" err="1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제네시스앱</a:t>
                      </a:r>
                      <a:r>
                        <a:rPr altLang="en-US" b="0" baseline="0" dirty="0" lang="ko-KR" smtClean="0" sz="800">
                          <a:solidFill>
                            <a:srgbClr val="00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연동</a:t>
                      </a:r>
                      <a:endParaRPr altLang="ko-KR" b="0" baseline="0" dirty="0" lang="en-US" smtClean="0" sz="800">
                        <a:solidFill>
                          <a:srgbClr val="00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09/21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01/29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078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국민카드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배치 서버 변경으로 인한 연계 테스트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 쿠폰 발행 점검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02/28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롯데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멤버스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정합성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,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후속 조치</a:t>
                      </a: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7" marL="81282" marR="81282" marT="4561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01/22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30" marL="81282" marR="81282" marT="4563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24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555">
                <a:tc vMerge="1"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6" marL="83077" marR="83077" marT="4676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endParaRPr altLang="ko-KR" baseline="0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15" marL="81282" marR="81282" marT="456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628" marL="81282" marR="81282" marT="4562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8336" name="Rectangle 136"/>
          <p:cNvSpPr>
            <a:spLocks noChangeArrowheads="1"/>
          </p:cNvSpPr>
          <p:nvPr/>
        </p:nvSpPr>
        <p:spPr bwMode="auto">
          <a:xfrm>
            <a:off x="5092804" y="744759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505" name="Group 97"/>
          <p:cNvGraphicFramePr>
            <a:graphicFrameLocks noGrp="1"/>
          </p:cNvGraphicFramePr>
          <p:nvPr/>
        </p:nvGraphicFramePr>
        <p:xfrm>
          <a:off x="264898" y="1097377"/>
          <a:ext cx="4771985" cy="5727215"/>
        </p:xfrm>
        <a:graphic>
          <a:graphicData uri="http://schemas.openxmlformats.org/drawingml/2006/table">
            <a:tbl>
              <a:tblPr/>
              <a:tblGrid>
                <a:gridCol w="655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2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4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538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1374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75" marR="88075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err="1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진행율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완료일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75" marR="88075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0977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법인 하위 카드 등록 </a:t>
                      </a:r>
                    </a:p>
                  </a:txBody>
                  <a:tcPr horzOverflow="overflow" marB="45727" marL="81298" marR="81298" marT="4572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3" marL="81298" marR="81298" marT="4573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12/31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06" marL="81298" marR="81298" marT="4580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프로모션 기간내 가입자 정보 제공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7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모바일주유권 문자 발송 </a:t>
                      </a: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47" marL="81301" marR="81301" marT="4574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7" marL="90003" marR="90003" marT="46757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모의해킹 중복로그인 제한 개발 및 운영 이관 </a:t>
                      </a: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11/02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1/12</a:t>
                      </a: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17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61" marL="90003" marR="90003" marT="4676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오류 확인 및 수정 요청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50%</a:t>
                      </a:r>
                    </a:p>
                  </a:txBody>
                  <a:tcPr horzOverflow="overflow" marB="45752" marL="81301" marR="81301" marT="4575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13">
                <a:tc rowSpan="7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감사인원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</a:t>
                      </a: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VOC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관리자 권한 부여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1/8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1/11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Summary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발송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변경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1/14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1/15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배치 스케줄러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8" marL="81301" marR="81301" marT="4575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1/13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9" marL="81301" marR="81301" marT="4575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100%</a:t>
                      </a: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18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1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7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43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8" marL="81301" marR="81301" marT="45768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9" marL="81301" marR="81301" marT="4576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29">
                <a:tc rowSpan="1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75" marR="88075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사입량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남선석유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리드코프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매출비율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반영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1/12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735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월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UNDEFINED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유치실적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itchFamily="50" typeface="맑은 고딕"/>
                          <a:ea charset="-127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itchFamily="50" typeface="맑은 고딕"/>
                        <a:ea charset="-127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7744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 분석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BI</a:t>
                      </a:r>
                      <a:r>
                        <a:rPr altLang="ko-KR" baseline="0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엑셀 파일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0" marL="81301" marR="81301" marT="45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관련 문의 응대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1/11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5" marL="90010" marR="90010" marT="46755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90%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3" marL="90010" marR="90010" marT="46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0857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6" marL="90010" marR="90010" marT="46746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0829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49" marL="90010" marR="90010" marT="46749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30140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10" marR="90010" marT="46754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60" marL="81298" marR="81298" marT="4576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9339" name="Rectangle 137"/>
          <p:cNvSpPr>
            <a:spLocks noChangeArrowheads="1"/>
          </p:cNvSpPr>
          <p:nvPr/>
        </p:nvSpPr>
        <p:spPr bwMode="auto">
          <a:xfrm>
            <a:off x="302179" y="302534"/>
            <a:ext cx="8761066" cy="3314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algn="ctr" dir="2700000" dist="35921" rotWithShape="0">
                    <a:schemeClr val="bg2"/>
                  </a:outerShdw>
                </a:effectLst>
              </a14:hiddenEffects>
            </a:ext>
          </a:extLst>
        </p:spPr>
        <p:txBody>
          <a:bodyPr anchor="ctr" bIns="44805" lIns="89609" rIns="89609" tIns="44805">
            <a:spAutoFit/>
          </a:bodyPr>
          <a:lstStyle>
            <a:lvl1pPr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0"/>
              </a:spcAft>
            </a:pPr>
            <a:r>
              <a:rPr altLang="ko-KR" kumimoji="1" lang="en-US" sz="1566">
                <a:solidFill>
                  <a:srgbClr val="000000"/>
                </a:solidFill>
              </a:rPr>
              <a:t>3. </a:t>
            </a:r>
            <a:r>
              <a:rPr altLang="en-US" kumimoji="1" lang="ko-KR" sz="1566">
                <a:solidFill>
                  <a:srgbClr val="000000"/>
                </a:solidFill>
              </a:rPr>
              <a:t>주간업무 실적 및 계획</a:t>
            </a:r>
            <a:r>
              <a:rPr altLang="ko-KR" kumimoji="1" lang="en-US" sz="1566">
                <a:solidFill>
                  <a:srgbClr val="000000"/>
                </a:solidFill>
              </a:rPr>
              <a:t>(</a:t>
            </a:r>
            <a:r>
              <a:rPr altLang="en-US" lang="ko-KR" sz="1566">
                <a:solidFill>
                  <a:srgbClr val="000000"/>
                </a:solidFill>
              </a:rPr>
              <a:t>②</a:t>
            </a:r>
            <a:r>
              <a:rPr altLang="ko-KR" kumimoji="1" lang="en-US" sz="1566">
                <a:solidFill>
                  <a:srgbClr val="000000"/>
                </a:solidFill>
              </a:rPr>
              <a:t>Quintet - CRM)</a:t>
            </a:r>
          </a:p>
        </p:txBody>
      </p:sp>
      <p:sp>
        <p:nvSpPr>
          <p:cNvPr id="9340" name="Rectangle 135"/>
          <p:cNvSpPr>
            <a:spLocks noChangeArrowheads="1"/>
          </p:cNvSpPr>
          <p:nvPr/>
        </p:nvSpPr>
        <p:spPr bwMode="auto">
          <a:xfrm>
            <a:off x="246257" y="750972"/>
            <a:ext cx="4771985" cy="298249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금주 업무 실적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  <p:graphicFrame>
        <p:nvGraphicFramePr>
          <p:cNvPr id="7" name="Group 97"/>
          <p:cNvGraphicFramePr>
            <a:graphicFrameLocks noGrp="1"/>
          </p:cNvGraphicFramePr>
          <p:nvPr/>
        </p:nvGraphicFramePr>
        <p:xfrm>
          <a:off x="5111445" y="1108250"/>
          <a:ext cx="4473736" cy="4374258"/>
        </p:xfrm>
        <a:graphic>
          <a:graphicData uri="http://schemas.openxmlformats.org/drawingml/2006/table">
            <a:tbl>
              <a:tblPr/>
              <a:tblGrid>
                <a:gridCol w="6685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13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21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752"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구분</a:t>
                      </a:r>
                      <a:r>
                        <a:rPr altLang="ko-KR" b="1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/</a:t>
                      </a:r>
                    </a:p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담당자</a:t>
                      </a:r>
                      <a:endParaRPr altLang="ko-KR" b="1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업무 내용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접수일</a:t>
                      </a:r>
                    </a:p>
                  </a:txBody>
                  <a:tcPr anchor="ctr" horzOverflow="overflow" marB="45755" marL="88066" marR="88066" marT="4575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>
                      <a:lvl1pPr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1pPr>
                      <a:lvl2pPr indent="-285750" marL="74295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2pPr>
                      <a:lvl3pPr indent="-228600" marL="11430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3pPr>
                      <a:lvl4pPr indent="-228600" marL="16002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4pPr>
                      <a:lvl5pPr indent="-228600" marL="2057400">
                        <a:spcBef>
                          <a:spcPct val="20000"/>
                        </a:spcBef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5pPr>
                      <a:lvl6pPr eaLnBrk="0" fontAlgn="base" hangingPunct="0" indent="-228600" marL="25146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6pPr>
                      <a:lvl7pPr eaLnBrk="0" fontAlgn="base" hangingPunct="0" indent="-228600" marL="29718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7pPr>
                      <a:lvl8pPr eaLnBrk="0" fontAlgn="base" hangingPunct="0" indent="-228600" marL="34290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8pPr>
                      <a:lvl9pPr eaLnBrk="0" fontAlgn="base" hangingPunct="0" indent="-228600" marL="388620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200">
                          <a:solidFill>
                            <a:schemeClr val="tx1"/>
                          </a:solidFill>
                          <a:latin charset="0" panose="020B0604020202020204" pitchFamily="34" typeface="Arial"/>
                          <a:ea charset="-127" panose="020B0609000101010101" pitchFamily="49" typeface="굴림체"/>
                          <a:cs charset="0" panose="020B0604020202020204" pitchFamily="34" typeface="Arial"/>
                        </a:defRPr>
                      </a:lvl9pPr>
                    </a:lstStyle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1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완료 목표일</a:t>
                      </a:r>
                    </a:p>
                  </a:txBody>
                  <a:tcPr horzOverflow="overflow" marB="45755" marL="88066" marR="88066" marT="45755">
                    <a:lnL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C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029">
                <a:tc rowSpan="5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홈페이지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김재희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latinLnBrk="1"/>
                      <a:endParaRPr altLang="en-US" dirty="0" lang="ko-KR" sz="900"/>
                    </a:p>
                  </a:txBody>
                  <a:tcPr horzOverflow="overflow" marB="45753" marL="88066" marR="88066" marT="45753">
                    <a:lnL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rgbClr val="000000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보너스카드홈페이지 카드 안내 페이지 수정</a:t>
                      </a: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9/17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미정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019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marL="0">
                        <a:buFontTx/>
                        <a:buNone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믿음가득주유소 화면 테스트 및 운영 이관</a:t>
                      </a:r>
                      <a:endParaRPr altLang="ko-KR" dirty="0" lang="en-US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1" marL="81298" marR="81298" marT="4575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1/13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ko-KR" b="0" baseline="0" cap="none" dirty="0" i="0" kern="1200" kumimoji="1" lang="en-US" normalizeH="0" smtClean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095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6" marL="81298" marR="81298" marT="4573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3" marL="81298" marR="81298" marT="4574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094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1" fontAlgn="auto" hangingPunct="1" indent="0" latinLnBrk="1" marL="0" marR="0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altLang="en-US" dirty="0" lang="ko-KR" smtClean="0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35" marL="81298" marR="81298" marT="4573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42" marL="81298" marR="81298" marT="4574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815" marL="81298" marR="81298" marT="4581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0987">
                <a:tc rowSpan="6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VOC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강길제</a:t>
                      </a:r>
                      <a:endParaRPr altLang="ko-KR" b="0" baseline="0" cap="none" dirty="0" i="0" kumimoji="1" lang="en-US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분류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3" marL="81301" marR="81301" marT="4576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64" marL="81301" marR="81301" marT="4576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3175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098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ern="1200" kumimoji="1" lang="en-US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-  VOC 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검색 </a:t>
                      </a:r>
                      <a:r>
                        <a:rPr altLang="en-US" b="0" baseline="0" cap="none" dirty="0" err="1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로직</a:t>
                      </a:r>
                      <a:r>
                        <a:rPr altLang="en-US" b="0" baseline="0" cap="none" dirty="0" i="0" kern="1200" kumimoji="1" lang="ko-KR" normalizeH="0" smtClean="0" strike="noStrike" sz="8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  <a:cs charset="0" panose="020B0604020202020204" pitchFamily="34" typeface="Arial"/>
                        </a:rPr>
                        <a:t> 개선</a:t>
                      </a: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9" marL="81294" marR="81294" marT="45789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90" marL="81294" marR="81294" marT="4579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99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3" marL="81301" marR="81301" marT="4577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4" marL="81301" marR="81301" marT="4577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0987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5" marL="81301" marR="81301" marT="45775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76" marL="81301" marR="81301" marT="45776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0885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2" marL="81294" marR="81294" marT="45782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914400" eaLnBrk="0" fontAlgn="base" hangingPunct="0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ern="1200" kumimoji="1" lang="ko-KR" normalizeH="0" strike="noStrike" sz="8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  <a:cs charset="0" panose="020B0604020202020204" pitchFamily="34" typeface="Arial"/>
                      </a:endParaRPr>
                    </a:p>
                  </a:txBody>
                  <a:tcPr horzOverflow="overflow" marB="45783" marL="81294" marR="81294" marT="4578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0879">
                <a:tc rowSpan="8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CRM BI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ko-KR" b="0" baseline="0" cap="none" dirty="0" i="0" kumimoji="1" lang="en-US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/ </a:t>
                      </a:r>
                    </a:p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altLang="en-US" b="0" baseline="0" cap="none" dirty="0" i="0" kumimoji="1" lang="ko-KR" normalizeH="0" smtClean="0" strike="noStrike" sz="900" u="none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석주연</a:t>
                      </a:r>
                    </a:p>
                  </a:txBody>
                  <a:tcPr horzOverflow="overflow" marB="45753" marL="88066" marR="88066" marT="45753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산정식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수정 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12/28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포인트 적립 사용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ERP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보고용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‘20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년도 데이터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’20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년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baseline="0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baseline="0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대상 리스트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12582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이벤트 기간 중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신규회원의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주유데이터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제공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1/18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10881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-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중단대상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거래처 및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과다적립금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</a:t>
                      </a:r>
                      <a:r>
                        <a:rPr altLang="en-US" dirty="0" err="1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재산정</a:t>
                      </a:r>
                      <a:r>
                        <a:rPr altLang="en-US" dirty="0" lang="ko-KR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개발 및 검증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1/14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altLang="ko-KR" dirty="0" lang="en-US" smtClean="0" sz="8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1/19</a:t>
                      </a:r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latinLnBrk="1"/>
                      <a:endParaRPr altLang="en-US"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0" marL="90000" marR="90000" marT="46750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10893">
                <a:tc vMerge="1">
                  <a:txBody>
                    <a:bodyPr/>
                    <a:lstStyle/>
                    <a:p>
                      <a:pPr algn="ctr" defTabSz="914400" eaLnBrk="1" fontAlgn="base" hangingPunct="1" indent="0" latinLnBrk="0" lvl="0" marL="0" marR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altLang="en-US" b="0" baseline="0" cap="none" dirty="0" i="0" kumimoji="1" lang="ko-KR" normalizeH="0" smtClean="0" strike="noStrike" sz="900" u="none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6754" marL="90000" marR="90000" marT="46754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8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horzOverflow="overflow" marB="45781" marL="81291" marR="81291" marT="45781">
                    <a:lnL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L>
                    <a:lnR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R>
                    <a:lnT algn="ctr" cap="flat" cmpd="sng" w="12700">
                      <a:noFill/>
                      <a:prstDash val="solid"/>
                      <a:round/>
                      <a:headEnd len="med" type="none" w="med"/>
                      <a:tailEnd len="med" type="none" w="med"/>
                    </a:lnT>
                    <a:lnB algn="ctr" cap="flat" cmpd="sng" w="12700">
                      <a:solidFill>
                        <a:schemeClr val="tx1"/>
                      </a:solidFill>
                      <a:prstDash val="solid"/>
                      <a:round/>
                      <a:headEnd len="med" type="none" w="med"/>
                      <a:tailEnd len="med" type="none" w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</a:tbl>
          </a:graphicData>
        </a:graphic>
      </p:graphicFrame>
      <p:sp>
        <p:nvSpPr>
          <p:cNvPr id="9423" name="Rectangle 136"/>
          <p:cNvSpPr>
            <a:spLocks noChangeArrowheads="1"/>
          </p:cNvSpPr>
          <p:nvPr/>
        </p:nvSpPr>
        <p:spPr bwMode="auto">
          <a:xfrm>
            <a:off x="5092804" y="750972"/>
            <a:ext cx="4473736" cy="310676"/>
          </a:xfrm>
          <a:prstGeom prst="rect">
            <a:avLst/>
          </a:prstGeom>
          <a:solidFill>
            <a:srgbClr val="C7CDFD"/>
          </a:solidFill>
          <a:ln>
            <a:noFill/>
          </a:ln>
          <a:effectLst>
            <a:outerShdw algn="ctr" dir="2700000" dist="35921" rotWithShape="0">
              <a:schemeClr val="bg2"/>
            </a:outerShdw>
          </a:effectLst>
          <a:extLst>
            <a:ext uri="{91240B29-F687-4F45-9708-019B960494DF}">
              <a14:hiddenLine xmlns:a14="http://schemas.microsoft.com/office/drawing/2010/main" algn="ctr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806450" indent="-247650" marL="2476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1pPr>
            <a:lvl2pPr defTabSz="806450" indent="-285750" marL="74295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2pPr>
            <a:lvl3pPr defTabSz="806450" indent="-228600" marL="11430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3pPr>
            <a:lvl4pPr defTabSz="806450" indent="-228600" marL="16002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4pPr>
            <a:lvl5pPr defTabSz="806450" indent="-228600" marL="2057400"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5pPr>
            <a:lvl6pPr defTabSz="806450"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6pPr>
            <a:lvl7pPr defTabSz="806450"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7pPr>
            <a:lvl8pPr defTabSz="806450"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8pPr>
            <a:lvl9pPr defTabSz="806450"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charset="-127" panose="020B0503020000020004" pitchFamily="50" typeface="맑은 고딕"/>
                <a:ea charset="-127" panose="020B0503020000020004" pitchFamily="50" typeface="맑은 고딕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</a:pPr>
            <a:r>
              <a:rPr altLang="en-US" kumimoji="1" lang="ko-KR" sz="1370">
                <a:solidFill>
                  <a:srgbClr val="000000"/>
                </a:solidFill>
              </a:rPr>
              <a:t>차주 업무 계획</a:t>
            </a:r>
            <a:endParaRPr altLang="ko-KR" kumimoji="1" lang="en-US" sz="137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6" name="표 3075"/>
          <p:cNvGraphicFramePr/>
          <p:nvPr>
            <p:extLst>
              <p:ext uri="{D42A27DB-BD31-4B8C-83A1-F6EECF244321}">
                <p14:modId xmlns:p14="http://schemas.microsoft.com/office/powerpoint/2010/main" val="259758088"/>
              </p:ext>
            </p:extLst>
          </p:nvPr>
        </p:nvGraphicFramePr>
        <p:xfrm>
          <a:off x="271440" y="1141189"/>
          <a:ext cx="9318451" cy="5164874"/>
        </p:xfrm>
        <a:graphic>
          <a:graphicData uri="http://schemas.openxmlformats.org/drawingml/2006/table">
            <a:tbl>
              <a:tblPr bandRow="1" firstRow="1"/>
              <a:tblGrid>
                <a:gridCol w="1320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205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3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50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3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518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8572"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FF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일</a:t>
                      </a:r>
                      <a:endParaRPr altLang="en-US" b="0" dirty="0" i="0" kumimoji="1" lang="ko-KR" sz="900">
                        <a:solidFill>
                          <a:srgbClr val="FF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i="0" kumimoji="1" lang="ko-KR" sz="900">
                          <a:solidFill>
                            <a:srgbClr val="000000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endParaRPr altLang="en-US" b="0" i="0" kumimoji="1" lang="ko-KR" sz="900">
                        <a:solidFill>
                          <a:srgbClr val="000000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58846888" eaLnBrk="0" hangingPunct="0" indent="0" latinLnBrk="0" lvl="0" marL="0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  <a:defRPr/>
                      </a:pPr>
                      <a:r>
                        <a:rPr altLang="en-US" b="0" baseline="0" dirty="0" i="0" kumimoji="1" lang="ko-KR" sz="900">
                          <a:solidFill>
                            <a:srgbClr val="0000FF">
                              <a:alpha val="100000"/>
                            </a:srgbClr>
                          </a:solidFill>
                          <a:latin typeface="맑은 고딕"/>
                          <a:ea typeface="맑은 고딕"/>
                        </a:rPr>
                        <a:t>토</a:t>
                      </a:r>
                      <a:endParaRPr altLang="en-US" b="0" dirty="0" i="0" kumimoji="1" lang="ko-KR" sz="900">
                        <a:solidFill>
                          <a:srgbClr val="0000FF">
                            <a:alpha val="100000"/>
                          </a:srgb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anchor="ctr"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solidFill>
                      <a:srgbClr val="EAEAEA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71392">
                <a:tc>
                  <a:txBody>
                    <a:bodyPr/>
                    <a:lstStyle/>
                    <a:p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</a:t>
                      </a:r>
                    </a:p>
                    <a:p>
                      <a:endParaRPr altLang="ko-KR" dirty="0" lang="en-US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  <a:p>
                      <a:r>
                        <a:rPr altLang="en-US" dirty="0" lang="ko-KR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신정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고귀한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5</a:t>
                      </a:r>
                      <a:endParaRPr altLang="en-US" dirty="0" lang="ko-KR" sz="900">
                        <a:solidFill>
                          <a:schemeClr val="tx1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6" marT="45716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6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917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7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8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9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11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◐ 순현국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12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김예린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강민경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13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52327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14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16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17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18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19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이여진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20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9146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21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22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23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24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25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26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이재원</a:t>
                      </a:r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최진우</a:t>
                      </a: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0070C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27</a:t>
                      </a:r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19" marT="45719"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14235"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rgbClr val="FF0000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28</a:t>
                      </a:r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 marB="45703" marT="45703">
                    <a:lnL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29</a:t>
                      </a:r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/>
                      </a:r>
                    </a:p>
                    <a:p>
                      <a:r>
                        <a:rPr altLang="ko-KR" dirty="0" lang="en-US" sz="900">
                          <a:solidFill>
                            <a:schemeClr val="tx1"/>
                          </a:solidFill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 ● 최연화</a:t>
                      </a: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30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altLang="ko-KR" dirty="0" lang="en-US" sz="900">
                          <a:latin charset="-127" panose="020B0503020000020004" pitchFamily="50" typeface="맑은 고딕"/>
                          <a:ea charset="-127" panose="020B0503020000020004" pitchFamily="50" typeface="맑은 고딕"/>
                        </a:rPr>
                        <a:t>31</a:t>
                      </a:r>
                      <a:endParaRPr altLang="en-US" dirty="0" lang="ko-KR" sz="900"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FF000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altLang="en-US" dirty="0" lang="ko-KR" sz="900">
                        <a:solidFill>
                          <a:srgbClr val="0070C0"/>
                        </a:solidFill>
                        <a:latin charset="-127" panose="020B0503020000020004" pitchFamily="50" typeface="맑은 고딕"/>
                        <a:ea charset="-127" panose="020B0503020000020004" pitchFamily="50" typeface="맑은 고딕"/>
                      </a:endParaRPr>
                    </a:p>
                  </a:txBody>
                  <a:tcPr>
                    <a:lnL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L>
                    <a:lnR algn="ctr" cap="flat" cmpd="sng" w="25508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R>
                    <a:lnT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T>
                    <a:lnB algn="ctr" cap="flat" cmpd="sng" w="12726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246" name="TextBox 3245"/>
          <p:cNvSpPr txBox="1"/>
          <p:nvPr/>
        </p:nvSpPr>
        <p:spPr>
          <a:xfrm>
            <a:off x="5639356" y="661884"/>
            <a:ext cx="661884" cy="36342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none">
            <a:noAutofit/>
          </a:bodyPr>
          <a:lstStyle/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00000"/>
              <a:buFont typeface="Arial"/>
              <a:buChar char="◑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반 차</a:t>
            </a:r>
          </a:p>
          <a:p>
            <a:pPr algn="r" defTabSz="75524200" eaLnBrk="0" hangingPunct="0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CC">
                  <a:alpha val="100000"/>
                </a:srgbClr>
              </a:buClr>
              <a:buSzPct val="150000"/>
              <a:buFont typeface="Wingdings"/>
              <a:buChar char="l"/>
              <a:defRPr/>
            </a:pPr>
            <a:r>
              <a:rPr altLang="en-US" b="0" baseline="0" i="0" kumimoji="1" lang="ko-KR" sz="900">
                <a:solidFill>
                  <a:srgbClr val="3333CC">
                    <a:alpha val="100000"/>
                  </a:srgbClr>
                </a:solidFill>
                <a:latin typeface="맑은 고딕"/>
                <a:ea typeface="맑은 고딕"/>
              </a:rPr>
              <a:t> 1day</a:t>
            </a:r>
            <a:endParaRPr altLang="en-US" b="0" i="0" kumimoji="1" lang="ko-KR" sz="900">
              <a:solidFill>
                <a:srgbClr val="3333CC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7" name="TextBox 3246"/>
          <p:cNvSpPr txBox="1"/>
          <p:nvPr/>
        </p:nvSpPr>
        <p:spPr>
          <a:xfrm>
            <a:off x="226954" y="199994"/>
            <a:ext cx="9056616" cy="33646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89" lIns="91577" rIns="91577" tIns="45789" vert="horz" wrap="square">
            <a:noAutofit/>
          </a:bodyPr>
          <a:lstStyle/>
          <a:p>
            <a:pPr algn="l" defTabSz="58846888" eaLnBrk="0" hangingPunct="0" indent="-385813" latinLnBrk="0" lvl="0" marL="385813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별첨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-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2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202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4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. </a:t>
            </a:r>
            <a:r>
              <a:rPr altLang="ko-KR" b="1" baseline="0" dirty="0" i="0" kumimoji="1" lang="en-US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01</a:t>
            </a:r>
            <a:r>
              <a:rPr altLang="en-US" b="1" baseline="0" dirty="0" i="0" kumimoji="1" lang="ko-KR" sz="16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월 휴가계획서</a:t>
            </a:r>
            <a:endParaRPr altLang="en-US" b="1" dirty="0" i="0" kumimoji="1" lang="ko-KR" sz="16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48" name="TextBox 3247"/>
          <p:cNvSpPr txBox="1"/>
          <p:nvPr/>
        </p:nvSpPr>
        <p:spPr>
          <a:xfrm>
            <a:off x="6777363" y="666628"/>
            <a:ext cx="1447571" cy="355557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Ø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예비군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/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민방위 훈련 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ü"/>
              <a:defRPr/>
            </a:pP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교육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바탕"/>
                <a:ea typeface="맑은 고딕"/>
              </a:rPr>
              <a:t>,</a:t>
            </a:r>
            <a:r>
              <a:rPr altLang="en-US" b="0" baseline="0" dirty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 내부회의 </a:t>
            </a:r>
            <a:endParaRPr altLang="en-US" b="0" dirty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2" name="TextBox 3251"/>
          <p:cNvSpPr txBox="1"/>
          <p:nvPr/>
        </p:nvSpPr>
        <p:spPr>
          <a:xfrm>
            <a:off x="7853525" y="661884"/>
            <a:ext cx="1676088" cy="355501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t" bIns="45720" lIns="91440" rIns="91440" tIns="45720" vert="horz" wrap="square">
            <a:noAutofit/>
          </a:bodyPr>
          <a:lstStyle/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Wingdings"/>
              <a:buChar char="v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경조휴가</a:t>
            </a:r>
          </a:p>
          <a:p>
            <a:pPr algn="r" defTabSz="75524200" eaLnBrk="1" hangingPunct="1" indent="-188937" latinLnBrk="0" lvl="0" marL="188937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rgbClr val="333399">
                  <a:alpha val="100000"/>
                </a:srgbClr>
              </a:buClr>
              <a:buSzPct val="100000"/>
              <a:buFont typeface="Arial"/>
              <a:buChar char="◇"/>
              <a:defRPr/>
            </a:pPr>
            <a:r>
              <a:rPr altLang="en-US" b="0" baseline="0" i="0" kumimoji="1" lang="ko-KR" sz="900">
                <a:solidFill>
                  <a:srgbClr val="333399">
                    <a:alpha val="100000"/>
                  </a:srgbClr>
                </a:solidFill>
                <a:latin typeface="맑은 고딕"/>
                <a:ea typeface="맑은 고딕"/>
              </a:rPr>
              <a:t>건강검진</a:t>
            </a:r>
            <a:endParaRPr altLang="en-US" b="0" i="0" kumimoji="1" lang="ko-KR" sz="900">
              <a:solidFill>
                <a:srgbClr val="333399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  <p:sp>
        <p:nvSpPr>
          <p:cNvPr id="3253" name="TextBox 3252"/>
          <p:cNvSpPr txBox="1"/>
          <p:nvPr/>
        </p:nvSpPr>
        <p:spPr>
          <a:xfrm>
            <a:off x="722167" y="6401209"/>
            <a:ext cx="3085536" cy="223828"/>
          </a:xfrm>
          <a:prstGeom prst="rect">
            <a:avLst/>
          </a:prstGeom>
          <a:noFill/>
          <a:ln algn="ctr" cap="flat" cmpd="sng" w="9525">
            <a:noFill/>
            <a:prstDash val="solid"/>
            <a:round/>
          </a:ln>
        </p:spPr>
        <p:txBody>
          <a:bodyPr anchor="ctr" bIns="45720" lIns="91440" rIns="91440" tIns="45720" vert="horz" wrap="none">
            <a:noAutofit/>
          </a:bodyPr>
          <a:lstStyle/>
          <a:p>
            <a:pPr algn="r" defTabSz="75524200" eaLnBrk="0" hangingPunct="0" indent="0" latinLnBrk="0" lvl="0" marL="0" rtl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H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IT운영팀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R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생산IT지원팀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B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Baynex   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(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Q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바탕"/>
                <a:ea typeface="맑은 고딕"/>
              </a:rPr>
              <a:t>)</a:t>
            </a:r>
            <a:r>
              <a:rPr altLang="en-US" b="0" baseline="0" i="0" kumimoji="1" lang="ko-KR" sz="900">
                <a:solidFill>
                  <a:srgbClr val="000000">
                    <a:alpha val="100000"/>
                  </a:srgbClr>
                </a:solidFill>
                <a:latin typeface="맑은 고딕"/>
                <a:ea typeface="맑은 고딕"/>
              </a:rPr>
              <a:t> Quintet</a:t>
            </a:r>
            <a:endParaRPr altLang="en-US" b="0" i="0" kumimoji="1" lang="ko-KR" sz="900">
              <a:solidFill>
                <a:srgbClr val="000000">
                  <a:alpha val="100000"/>
                </a:srgbClr>
              </a:solidFill>
              <a:latin typeface="맑은 고딕"/>
              <a:ea typeface="맑은 고딕"/>
            </a:endParaRP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showMasterSp="fals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