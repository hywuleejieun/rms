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2023-12-27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[2024.01.16 ~ 2024.01.22]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70609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9329082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3678494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141363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1967545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5248378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755726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88654720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8438554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275429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149706301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9611271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4542312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7771529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91877133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395350392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7819968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634932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5724753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957926970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372052632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76627059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503831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2589529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2806155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780125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1149128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256910236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0829730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64494817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4788681" name="Frame"/>
          <p:cNvSpPr>
            <a:spLocks noGrp="1"/>
          </p:cNvSpPr>
          <p:nvPr/>
        </p:nvSpPr>
        <p:spPr>
          <a:xfrm>
            <a:off x="101600" y="2679700"/>
            <a:ext cx="9779000" cy="2552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83222001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7178321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70758199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5581347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2681484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60598551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6860508" name="Frame"/>
          <p:cNvSpPr>
            <a:spLocks noGrp="1"/>
          </p:cNvSpPr>
          <p:nvPr/>
        </p:nvSpPr>
        <p:spPr>
          <a:xfrm>
            <a:off x="165100" y="4000500"/>
            <a:ext cx="9664700" cy="1231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21080141" name="Text">
    </p:cNvPr>
          <p:cNvSpPr>
            <a:spLocks noGrp="1"/>
          </p:cNvSpPr>
          <p:nvPr/>
        </p:nvSpPr>
        <p:spPr>
          <a:xfrm rot="0">
            <a:off x="165100" y="39751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41261413" name="Text">
    </p:cNvPr>
          <p:cNvSpPr>
            <a:spLocks noGrp="1"/>
          </p:cNvSpPr>
          <p:nvPr/>
        </p:nvSpPr>
        <p:spPr>
          <a:xfrm rot="0">
            <a:off x="965200" y="4025900"/>
            <a:ext cx="4584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HCM 당일 시내출장 중식비 신청서 신규개발</a:t>
            </a:r>
          </a:p>
        </p:txBody>
      </p:sp>
      <p:sp>
        <p:nvSpPr>
          <p:cNvPr id="573868515" name="Text">
    </p:cNvPr>
          <p:cNvSpPr>
            <a:spLocks noGrp="1"/>
          </p:cNvSpPr>
          <p:nvPr/>
        </p:nvSpPr>
        <p:spPr>
          <a:xfrm rot="0">
            <a:off x="7239000" y="4025900"/>
            <a:ext cx="2552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5367648" name="Text">
    </p:cNvPr>
          <p:cNvSpPr>
            <a:spLocks noGrp="1"/>
          </p:cNvSpPr>
          <p:nvPr/>
        </p:nvSpPr>
        <p:spPr>
          <a:xfrm rot="0">
            <a:off x="5549900" y="4025900"/>
            <a:ext cx="5715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</a:p>
        </p:txBody>
      </p:sp>
      <p:sp>
        <p:nvSpPr>
          <p:cNvPr id="1237670907" name="Text">
    </p:cNvPr>
          <p:cNvSpPr>
            <a:spLocks noGrp="1"/>
          </p:cNvSpPr>
          <p:nvPr/>
        </p:nvSpPr>
        <p:spPr>
          <a:xfrm rot="0">
            <a:off x="901700" y="39751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6798026" name="Text">
    </p:cNvPr>
          <p:cNvSpPr>
            <a:spLocks noGrp="1"/>
          </p:cNvSpPr>
          <p:nvPr/>
        </p:nvSpPr>
        <p:spPr>
          <a:xfrm rot="0">
            <a:off x="6121400" y="39751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1765322" name="Text">
    </p:cNvPr>
          <p:cNvSpPr>
            <a:spLocks noGrp="1"/>
          </p:cNvSpPr>
          <p:nvPr/>
        </p:nvSpPr>
        <p:spPr>
          <a:xfrm rot="0">
            <a:off x="5549900" y="39751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3970716" name="Frame"/>
          <p:cNvSpPr>
            <a:spLocks noGrp="1"/>
          </p:cNvSpPr>
          <p:nvPr/>
        </p:nvSpPr>
        <p:spPr>
          <a:xfrm>
            <a:off x="165100" y="33020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82869200" name="Text">
    </p:cNvPr>
          <p:cNvSpPr>
            <a:spLocks noGrp="1"/>
          </p:cNvSpPr>
          <p:nvPr/>
        </p:nvSpPr>
        <p:spPr>
          <a:xfrm rot="0">
            <a:off x="165100" y="33020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369387658" name="Text">
    </p:cNvPr>
          <p:cNvSpPr>
            <a:spLocks noGrp="1"/>
          </p:cNvSpPr>
          <p:nvPr/>
        </p:nvSpPr>
        <p:spPr>
          <a:xfrm rot="0">
            <a:off x="965200" y="33782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924895061" name="Text">
    </p:cNvPr>
          <p:cNvSpPr>
            <a:spLocks noGrp="1"/>
          </p:cNvSpPr>
          <p:nvPr/>
        </p:nvSpPr>
        <p:spPr>
          <a:xfrm rot="0">
            <a:off x="7239000" y="33782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1745897" name="Text">
    </p:cNvPr>
          <p:cNvSpPr>
            <a:spLocks noGrp="1"/>
          </p:cNvSpPr>
          <p:nvPr/>
        </p:nvSpPr>
        <p:spPr>
          <a:xfrm rot="0">
            <a:off x="5549900" y="33782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411087089" name="Text">
    </p:cNvPr>
          <p:cNvSpPr>
            <a:spLocks noGrp="1"/>
          </p:cNvSpPr>
          <p:nvPr/>
        </p:nvSpPr>
        <p:spPr>
          <a:xfrm rot="0">
            <a:off x="901700" y="33020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7651849" name="Text">
    </p:cNvPr>
          <p:cNvSpPr>
            <a:spLocks noGrp="1"/>
          </p:cNvSpPr>
          <p:nvPr/>
        </p:nvSpPr>
        <p:spPr>
          <a:xfrm rot="0">
            <a:off x="6121400" y="33020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737527" name="Text">
    </p:cNvPr>
          <p:cNvSpPr>
            <a:spLocks noGrp="1"/>
          </p:cNvSpPr>
          <p:nvPr/>
        </p:nvSpPr>
        <p:spPr>
          <a:xfrm rot="0">
            <a:off x="5549900" y="33020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1304755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56422824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92183106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07020254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'법인영업팀-항공급유 매출입력' 작업 수행 및 누락 데이터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24년 1월3주차 Soft Skill Assessment 대상자 내부평가 메일 발송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감사팀 요청 :20.04.01 ~ 24.1.11 지류 상품권 재고데이터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ERPO 내자대금미지급현황전송, 외자대금미지급현황전송 I/F 수정</a:t>
            </a:r>
          </a:p>
        </p:txBody>
      </p:sp>
      <p:sp>
        <p:nvSpPr>
          <p:cNvPr id="2046791948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66342434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45576404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</a:p>
        </p:txBody>
      </p:sp>
      <p:sp>
        <p:nvSpPr>
          <p:cNvPr id="2065850044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9223077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2804140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9964311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09103434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65417848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25418667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ZPCOR2010 오류 보완 및 ZPCOR2011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구매처코드 이전 사원번호로 전송 로직수정(ZFIR9057)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구매자금 추심 개선</a:t>
            </a:r>
          </a:p>
        </p:txBody>
      </p:sp>
      <p:sp>
        <p:nvSpPr>
          <p:cNvPr id="371000469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49088560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56308277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</a:p>
        </p:txBody>
      </p:sp>
      <p:sp>
        <p:nvSpPr>
          <p:cNvPr id="1364114942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9127918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6070823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7171807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9535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03837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011726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247847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4455968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928029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81906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38564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255528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27081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442806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20164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8788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267524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12025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41636743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0466702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66119018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40552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9864819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최종처분일 select 조건 제외(ZFIM9900)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ZPCOR2010 오류 보완 및 ZPCOR2011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구매처코드 이전 사원번호로 전송 로직수정(ZFIR9057)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폴리머 가공비 집계 변경 로직 보완(ZPCOR2011)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GSCM 전송시 전표번호 누락 이슈 원인 분석(ZGMR3511)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가공비 집계 프로그램 수정 요청(ZPCOR2010, ZPCO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R2011)</a:t>
            </a:r>
          </a:p>
        </p:txBody>
      </p:sp>
      <p:sp>
        <p:nvSpPr>
          <p:cNvPr id="104593378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5927210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410476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448561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09271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5074500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</a:p>
        </p:txBody>
      </p:sp>
      <p:sp>
        <p:nvSpPr>
          <p:cNvPr id="955083736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49698201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마곡 급여반영 시 지급일자 변경 및 기능 제어 개선</a:t>
            </a:r>
          </a:p>
        </p:txBody>
      </p:sp>
      <p:sp>
        <p:nvSpPr>
          <p:cNvPr id="694283535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729997590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889040774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출장비 추가정산을 위한 해외출장비신청서 추가 생성처리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의료비/학자금 승인 완료 후 지급 보류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관련 기능 개발(HSS 권한분리)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어학성적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생활안정자금 신청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마곡 급여반영 시 지급일자 변경 및 기능 제어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메뉴명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긴급업무 수행교통비 계약직 신청시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교대근무자의 출장취소시 출장 근태 반영된 교대근무자의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출장일 정상근무시간 삭제</a:t>
            </a:r>
          </a:p>
        </p:txBody>
      </p:sp>
      <p:sp>
        <p:nvSpPr>
          <p:cNvPr id="1019237695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451927613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0117</a:t>
            </a:r>
            <a:br/>
            <a:br/>
          </a:p>
        </p:txBody>
      </p:sp>
      <p:sp>
        <p:nvSpPr>
          <p:cNvPr id="278958957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1232641888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7974621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180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00707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61847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2994256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77717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838587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97658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50775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926640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714120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653300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77938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5522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438899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864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06958171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3581621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</a:p>
        </p:txBody>
      </p:sp>
      <p:sp>
        <p:nvSpPr>
          <p:cNvPr id="13310353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5232426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13862695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</a:p>
        </p:txBody>
      </p:sp>
      <p:sp>
        <p:nvSpPr>
          <p:cNvPr id="8139142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3474675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81761938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4310116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33087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166836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19415283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</a:p>
        </p:txBody>
      </p:sp>
      <p:sp>
        <p:nvSpPr>
          <p:cNvPr id="205431450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94355796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699011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2583487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Content Server MaxDB 데이타파일 추가 및 Aut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oLog 파일 삭제작업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SAP GUI 접속 문제로 원격 업무지원(경기동부지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 외1명)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 RSA1 "메타데이터 조회"시 발생하는 문제건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'23년도 4분기 용인센터 NT서버 보안패치 작업 관련 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시스템 서비스 점검작업(HQSAPROUTE, HQSOLMAN)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SSL VPN 버전 업그레이드에 따른 SAP 접속 점검 야간작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업무지원</a:t>
            </a:r>
          </a:p>
        </p:txBody>
      </p:sp>
      <p:sp>
        <p:nvSpPr>
          <p:cNvPr id="4448210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3170728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2065235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83000920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440680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0458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80220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137819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3033232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77145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27993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8702503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99821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224763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07439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33867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868772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533907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31593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20320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0376918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9702892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6973295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815576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59881251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73173681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38638190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94532435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9411440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285058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23539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7856035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4014338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</a:p>
        </p:txBody>
      </p:sp>
      <p:sp>
        <p:nvSpPr>
          <p:cNvPr id="97203809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28865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404505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피평가자 신청현황 진행상태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특근명령서 특근 유형 변경 요청 - 2건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특근확인서 특근시작시간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출장명령신청서 대상자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어학성적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내 '채권압류 급여공제 내역(ZHRR3540)'에 퇴직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월 급여 금액 반영 요청</a:t>
            </a:r>
          </a:p>
        </p:txBody>
      </p:sp>
      <p:sp>
        <p:nvSpPr>
          <p:cNvPr id="5533192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43290999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</a:p>
        </p:txBody>
      </p:sp>
      <p:sp>
        <p:nvSpPr>
          <p:cNvPr id="26852062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161848058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87763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2433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20301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42122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548291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353528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416510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85154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08749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91265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98877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65621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8744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31596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8872449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12533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121305290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201903719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4724382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366195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552479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ITSM-105166SAP 거래처별 가격 확인(입력/승인) 관련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용일자 설정 기능 생성(변경)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ITSM-105951구매자금 추심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ITSM-105538대리점 최적출하지 점검 프로그램 개선</a:t>
            </a:r>
          </a:p>
        </p:txBody>
      </p:sp>
      <p:sp>
        <p:nvSpPr>
          <p:cNvPr id="16832042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04122552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7107531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53823373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956051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9214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230848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28631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00752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0533921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9706615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54469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48478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86804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24087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77870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424470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276904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696270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195873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8903219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</a:p>
        </p:txBody>
      </p:sp>
      <p:sp>
        <p:nvSpPr>
          <p:cNvPr id="6464256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</a:p>
        </p:txBody>
      </p:sp>
      <p:sp>
        <p:nvSpPr>
          <p:cNvPr id="171381892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495475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8749169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ITSM-105810 제품운영팀 가동전점검 첨부파일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ITSM-105824 기안지 "예산 및 자원" 내용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ITSM-105830 방사선 동위원소 위탁폐기 계약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결기안의 첨부파일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ITSM-105834 변경계약서 품의서에 첨부된 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ITSM-105632 OSPM 작업정산서 준공 해제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(W/O 3909289)</a:t>
            </a:r>
          </a:p>
        </p:txBody>
      </p:sp>
      <p:sp>
        <p:nvSpPr>
          <p:cNvPr id="7943423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21354077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9432292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10397488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35127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564949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76579103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50795736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177500462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9117191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10151911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Dashboard사이버보안 컴플라이언스 점검 결과에 따른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</a:t>
            </a:r>
          </a:p>
        </p:txBody>
      </p:sp>
      <p:sp>
        <p:nvSpPr>
          <p:cNvPr id="143753872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15974651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7620582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1638357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60087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027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65907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41438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752279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6480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84810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09266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0311995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72108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73530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26927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30823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492437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422091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62513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3008066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</a:p>
        </p:txBody>
      </p:sp>
      <p:sp>
        <p:nvSpPr>
          <p:cNvPr id="10981938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시 필수 계약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완</a:t>
            </a:r>
            <a:br/>
          </a:p>
        </p:txBody>
      </p:sp>
      <p:sp>
        <p:nvSpPr>
          <p:cNvPr id="74627310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201940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260022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시 필수 계약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[BI-EDW] BI-Dashboard 의 CAPEX 집행 현황 조회 화면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 요청</a:t>
            </a:r>
            <a:br/>
          </a:p>
        </p:txBody>
      </p:sp>
      <p:sp>
        <p:nvSpPr>
          <p:cNvPr id="8591773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19026871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5069454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6087433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00876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719419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96443389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</a:p>
        </p:txBody>
      </p:sp>
      <p:sp>
        <p:nvSpPr>
          <p:cNvPr id="14792338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셋팅</a:t>
            </a:r>
          </a:p>
        </p:txBody>
      </p:sp>
      <p:sp>
        <p:nvSpPr>
          <p:cNvPr id="20504365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1550033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9615659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셋팅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ITSM-105817 요청정보 작성ITSM-104916 작업자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경ITSM-105821 변경결과 작성ITSM-105635 요청정보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성ITSM-104634 작업유형 변경ITSM-96329 변경수행자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ITSM-105817 견적공수 작성ITSM-96329 배포상태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경ITSM-105934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ITSM-106025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ITSM-104607 변경결과 작성ITSM-104766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</a:p>
        </p:txBody>
      </p:sp>
      <p:sp>
        <p:nvSpPr>
          <p:cNvPr id="100576123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20201638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72%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28704123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200459556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63905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3564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128021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518376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753915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212152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977973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66766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29704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065671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984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9188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13961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268093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337562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7630188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965248611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741172512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</a:p>
        </p:txBody>
      </p:sp>
      <p:sp>
        <p:nvSpPr>
          <p:cNvPr id="275432211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308596720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099983767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[기타] IAM 서버 접속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CP 점검 불가 수정          - 본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이전의 작업으로 인해 발생. 해당 작업 수정         - taskk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ill /f /im chrome.exe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작업 수행 및 누락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데이터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웹페이지 접속 불가 장애 현업에 전달 -&gt; 서버 재부팅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'생산최적화팀-Margin' 작업 엑셀 복사 미작동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A360 115pc (Error: could not open 'C:\Program File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s\Automation Anywhere\Bot Agent\jre\lib\jvm.cfg') 팝업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수행 불가     1. 해당 PC 'C:\Program Files\Java\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   jre1.8.0_333\lib\amd64\jvm.cfg' 파일         복사 -&gt; 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러 발생 X, 작업 또한 돌지 않음     2. 타 PC 'C:\Program 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les\Automation              Anywhere' 하위 전부 복사 붙여넣기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            -&gt; 정상작동         Chrome 'Automation 360' 확장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         재설치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PPS 웹페이지 접속 에로사항 현업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HQPPSCMDEV 서버 보안패치 완료 안내 및 서비스 정상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</a:t>
            </a:r>
          </a:p>
        </p:txBody>
      </p:sp>
      <p:sp>
        <p:nvSpPr>
          <p:cNvPr id="979917687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2086434162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223896646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817197890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5731164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0338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123042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3876693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39476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492345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6063563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71008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137721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56155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12274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899380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69147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26236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7307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54308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6610306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67552611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57848948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785871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350475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2686637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7850722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884248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212070713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46095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0102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076786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42638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520911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378246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2916996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851747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43561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519427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85149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63015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72979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502300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17767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3802034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725084714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46106857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</a:p>
        </p:txBody>
      </p:sp>
      <p:sp>
        <p:nvSpPr>
          <p:cNvPr id="684541938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49215043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72360899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건(1)	관리자&gt;Soft skill 관리&gt;Soft skill 실적현황관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교육달성일 및 Assessment 요청가능여부 엑셀업로드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추가2)	Soft skill 교육완료자 대상으로 매주 월요일 평가요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메일 자동 스케쥴러 반영.3)	Soft skill Assessment 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요청자 대상으로 내부/외부평가 체크하여 최종인증평가 업데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이트 스케쥴러 반영4)	사용자&gt;교육신청&gt;교육신청내역확인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뉴에 Soft skill 교육과정 추가 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2024.01.15일자 규정관리기안지 연계 개정오류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재처리, 중복 개정건 삭제처리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작성시 오류 확인 및 데이터 확인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24년 1월3주차 Soft Skill Assessment 대상자 내부평가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메일 발송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운영총괄&gt;Ulsan Complex Head 부서 조직 추가로 인해,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존 lms 부서 검색조건 3단계에서 5단계로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및 교육결과보고서 메뉴얼 신규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교육훈련신청서 작성시 공지 안내 팝업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data 업데이트 요청  </a:t>
            </a:r>
          </a:p>
        </p:txBody>
      </p:sp>
      <p:sp>
        <p:nvSpPr>
          <p:cNvPr id="1198732244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96673311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1673716606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</a:p>
        </p:txBody>
      </p:sp>
      <p:sp>
        <p:nvSpPr>
          <p:cNvPr id="1925212369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4125006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225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649733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729053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345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064945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500381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12766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851461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526914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19421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334546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9263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57207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277160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5636989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702936098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736627494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460593327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17015169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52921502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23년 4분기 DBsafer, DDL, DML 로그 관련 자료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감사팀 요청 :20.04.01 ~ 24.1.11 지류 상품권 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대리점영업팀(제주지사) 상품권 카드결제 프로그램 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충북지사 카드리더기 IC칩 오류 관련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지류식 판매 ERP 연계 교환판매 구분에 대한 전표번호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연계 안되는 현상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 교환 ERP 연계 전표번호 미연동 처리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잘못 추출된 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로직 확인 요청</a:t>
            </a:r>
          </a:p>
        </p:txBody>
      </p:sp>
      <p:sp>
        <p:nvSpPr>
          <p:cNvPr id="936718866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216003879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137857886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</a:p>
        </p:txBody>
      </p:sp>
      <p:sp>
        <p:nvSpPr>
          <p:cNvPr id="1658854905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2688917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5738472" name="Text">
    </p:cNvPr>
          <p:cNvSpPr>
            <a:spLocks noGrp="1"/>
          </p:cNvSpPr>
          <p:nvPr/>
        </p:nvSpPr>
        <p:spPr>
          <a:xfrm rot="0">
            <a:off x="97028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578606196" name="Text">
    </p:cNvPr>
          <p:cNvSpPr>
            <a:spLocks noGrp="1"/>
          </p:cNvSpPr>
          <p:nvPr/>
        </p:nvSpPr>
        <p:spPr>
          <a:xfrm rot="0">
            <a:off x="93345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1023037338" name="Text">
    </p:cNvPr>
          <p:cNvSpPr>
            <a:spLocks noGrp="1"/>
          </p:cNvSpPr>
          <p:nvPr/>
        </p:nvSpPr>
        <p:spPr>
          <a:xfrm rot="0">
            <a:off x="5930900" y="37846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[]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</a:p>
        </p:txBody>
      </p:sp>
      <p:sp>
        <p:nvSpPr>
          <p:cNvPr id="525507934" name="Text">
    </p:cNvPr>
          <p:cNvSpPr>
            <a:spLocks noGrp="1"/>
          </p:cNvSpPr>
          <p:nvPr/>
        </p:nvSpPr>
        <p:spPr>
          <a:xfrm rot="0">
            <a:off x="5308600" y="37846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52728286" name="Text">
    </p:cNvPr>
          <p:cNvSpPr>
            <a:spLocks noGrp="1"/>
          </p:cNvSpPr>
          <p:nvPr/>
        </p:nvSpPr>
        <p:spPr>
          <a:xfrm rot="0">
            <a:off x="88900" y="37846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8681412" name="Text">
    </p:cNvPr>
          <p:cNvSpPr>
            <a:spLocks noGrp="1"/>
          </p:cNvSpPr>
          <p:nvPr/>
        </p:nvSpPr>
        <p:spPr>
          <a:xfrm rot="0">
            <a:off x="711200" y="37846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연도 정확도 체크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물류비관리 &gt; 수송수단별 계획 vs 실적 물류비 현황, 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earch 이상 (IF_TS_TRANS_COST 배치 확인 및 실행)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</a:p>
        </p:txBody>
      </p:sp>
      <p:sp>
        <p:nvSpPr>
          <p:cNvPr id="1852604113" name="Text">
    </p:cNvPr>
          <p:cNvSpPr>
            <a:spLocks noGrp="1"/>
          </p:cNvSpPr>
          <p:nvPr/>
        </p:nvSpPr>
        <p:spPr>
          <a:xfrm rot="0">
            <a:off x="44831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709159983" name="Text">
    </p:cNvPr>
          <p:cNvSpPr>
            <a:spLocks noGrp="1"/>
          </p:cNvSpPr>
          <p:nvPr/>
        </p:nvSpPr>
        <p:spPr>
          <a:xfrm rot="0">
            <a:off x="48514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304379675" name="Text">
    </p:cNvPr>
          <p:cNvSpPr>
            <a:spLocks noGrp="1"/>
          </p:cNvSpPr>
          <p:nvPr/>
        </p:nvSpPr>
        <p:spPr>
          <a:xfrm rot="0">
            <a:off x="41148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834472140" name="Text">
    </p:cNvPr>
          <p:cNvSpPr>
            <a:spLocks noGrp="1"/>
          </p:cNvSpPr>
          <p:nvPr/>
        </p:nvSpPr>
        <p:spPr>
          <a:xfrm rot="0">
            <a:off x="660400" y="37846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7799388" name="Text">
    </p:cNvPr>
          <p:cNvSpPr>
            <a:spLocks noGrp="1"/>
          </p:cNvSpPr>
          <p:nvPr/>
        </p:nvSpPr>
        <p:spPr>
          <a:xfrm rot="0">
            <a:off x="5880100" y="37846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9220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56086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916290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685802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521147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238319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955325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233787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332384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876582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11357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75347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15207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792275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423855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822873002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376031853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SOIL&lt;-&gt;SABIC 연계간 발생하는 에러메세지 처리를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EQ 신규 생성</a:t>
            </a:r>
          </a:p>
        </p:txBody>
      </p:sp>
      <p:sp>
        <p:nvSpPr>
          <p:cNvPr id="263126319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2530966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86318533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ERPO 내자대금미지급현황전송, 외자대금미지급현황전송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I/F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SOIL&lt;-&gt;SABIC 연계간 발생하는 에러메세지 처리를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EQ 신규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로이터 국제 유가 인터페이스 실패로 인한 유가정보 DAT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A생성</a:t>
            </a:r>
          </a:p>
        </p:txBody>
      </p:sp>
      <p:sp>
        <p:nvSpPr>
          <p:cNvPr id="784743238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450830900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692184877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33576496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0333315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이여진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