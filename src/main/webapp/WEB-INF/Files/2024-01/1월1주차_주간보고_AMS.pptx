
<file path=[Content_Types].xml><?xml version="1.0" encoding="utf-8"?>
<Types xmlns="http://schemas.openxmlformats.org/package/2006/content-types">
  <Default ContentType="image/x-emf" Extension="emf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6"/>
    <p:sldId id="257" r:id="rId10"/>
    <p:sldId id="258" r:id="rId12"/>
    <p:sldId id="259" r:id="rId13"/>
    <p:sldId id="260" r:id="rId14"/>
    <p:sldId id="261" r:id="rId16"/>
    <p:sldId id="262" r:id="rId18"/>
    <p:sldId id="263" r:id="rId19"/>
    <p:sldId id="264" r:id="rId20"/>
    <p:sldId id="265" r:id="rId21"/>
    <p:sldId id="266" r:id="rId22"/>
    <p:sldId id="267" r:id="rId23"/>
    <p:sldId id="268" r:id="rId24"/>
    <p:sldId id="269" r:id="rId25"/>
    <p:sldId id="270" r:id="rId26"/>
    <p:sldId id="271" r:id="rId27"/>
    <p:sldId id="272" r:id="rId28"/>
    <p:sldId id="273" r:id="rId29"/>
    <p:sldId id="274" r:id="rId31"/>
    <p:sldId id="275" r:id="rId33"/>
    <p:sldId id="276" r:id="rId35"/>
  </p:sldIdLst>
  <p:sldSz cx="10160000" cy="69215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2.xml" Type="http://schemas.openxmlformats.org/officeDocument/2006/relationships/slide"/><Relationship Id="rId11" Target="notesSlides/notesSlide2.xml" Type="http://schemas.openxmlformats.org/officeDocument/2006/relationships/notesSlide"/><Relationship Id="rId12" Target="slides/slide3.xml" Type="http://schemas.openxmlformats.org/officeDocument/2006/relationships/slide"/><Relationship Id="rId13" Target="slides/slide4.xml" Type="http://schemas.openxmlformats.org/officeDocument/2006/relationships/slide"/><Relationship Id="rId14" Target="slides/slide5.xml" Type="http://schemas.openxmlformats.org/officeDocument/2006/relationships/slide"/><Relationship Id="rId15" Target="notesSlides/notesSlide3.xml" Type="http://schemas.openxmlformats.org/officeDocument/2006/relationships/notesSlide"/><Relationship Id="rId16" Target="slides/slide6.xml" Type="http://schemas.openxmlformats.org/officeDocument/2006/relationships/slide"/><Relationship Id="rId17" Target="notesSlides/notesSlide4.xml" Type="http://schemas.openxmlformats.org/officeDocument/2006/relationships/notesSlide"/><Relationship Id="rId18" Target="slides/slide7.xml" Type="http://schemas.openxmlformats.org/officeDocument/2006/relationships/slide"/><Relationship Id="rId19" Target="slides/slide8.xml" Type="http://schemas.openxmlformats.org/officeDocument/2006/relationships/slide"/><Relationship Id="rId2" Target="presProps.xml" Type="http://schemas.openxmlformats.org/officeDocument/2006/relationships/presProps"/><Relationship Id="rId20" Target="slides/slide9.xml" Type="http://schemas.openxmlformats.org/officeDocument/2006/relationships/slide"/><Relationship Id="rId21" Target="slides/slide10.xml" Type="http://schemas.openxmlformats.org/officeDocument/2006/relationships/slide"/><Relationship Id="rId22" Target="slides/slide11.xml" Type="http://schemas.openxmlformats.org/officeDocument/2006/relationships/slide"/><Relationship Id="rId23" Target="slides/slide12.xml" Type="http://schemas.openxmlformats.org/officeDocument/2006/relationships/slide"/><Relationship Id="rId24" Target="slides/slide13.xml" Type="http://schemas.openxmlformats.org/officeDocument/2006/relationships/slide"/><Relationship Id="rId25" Target="slides/slide14.xml" Type="http://schemas.openxmlformats.org/officeDocument/2006/relationships/slide"/><Relationship Id="rId26" Target="slides/slide15.xml" Type="http://schemas.openxmlformats.org/officeDocument/2006/relationships/slide"/><Relationship Id="rId27" Target="slides/slide16.xml" Type="http://schemas.openxmlformats.org/officeDocument/2006/relationships/slide"/><Relationship Id="rId28" Target="slides/slide17.xml" Type="http://schemas.openxmlformats.org/officeDocument/2006/relationships/slide"/><Relationship Id="rId29" Target="slides/slide18.xml" Type="http://schemas.openxmlformats.org/officeDocument/2006/relationships/slide"/><Relationship Id="rId3" Target="viewProps.xml" Type="http://schemas.openxmlformats.org/officeDocument/2006/relationships/viewProps"/><Relationship Id="rId30" Target="notesSlides/notesSlide5.xml" Type="http://schemas.openxmlformats.org/officeDocument/2006/relationships/notesSlide"/><Relationship Id="rId31" Target="slides/slide19.xml" Type="http://schemas.openxmlformats.org/officeDocument/2006/relationships/slide"/><Relationship Id="rId32" Target="notesSlides/notesSlide6.xml" Type="http://schemas.openxmlformats.org/officeDocument/2006/relationships/notesSlide"/><Relationship Id="rId33" Target="slides/slide20.xml" Type="http://schemas.openxmlformats.org/officeDocument/2006/relationships/slide"/><Relationship Id="rId34" Target="notesSlides/notesSlide7.xml" Type="http://schemas.openxmlformats.org/officeDocument/2006/relationships/notesSlide"/><Relationship Id="rId35" Target="slides/slide21.xml" Type="http://schemas.openxmlformats.org/officeDocument/2006/relationships/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notesMasters/notesMaster1.xml" Type="http://schemas.openxmlformats.org/officeDocument/2006/relationships/notesMaster"/><Relationship Id="rId8" Target="theme/theme2.xml" Type="http://schemas.openxmlformats.org/officeDocument/2006/relationships/theme"/><Relationship Id="rId9" Target="notesSlides/notesSlide1.xml" Type="http://schemas.openxmlformats.org/officeDocument/2006/relationships/notesSlide"/></Relationships>
</file>

<file path=ppt/notesMasters/_rels/notesMaster1.xml.rels><?xml version="1.0" encoding="UTF-8" standalone="no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4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5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6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7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notesSlide1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fld id="{AF56D908-C2A0-4594-8043-7B2A2764A612}" type="datetime1">
              <a:rPr lang="ko-KR" altLang="en-US" sz="1200" b="0">
                <a:solidFill>
                  <a:schemeClr val="tx1"/>
                </a:solidFill>
                <a:latin typeface="Times New Roman"/>
                <a:ea typeface="굴림"/>
              </a:rPr>
              <a:pPr lvl="0">
                <a:defRPr/>
              </a:pPr>
              <a:t>2023-04-11</a:t>
            </a:fld>
            <a:endParaRPr lang="en-US" altLang="ko-KR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r>
              <a:rPr lang="ko-KR" altLang="en-US" sz="1200" b="0">
                <a:solidFill>
                  <a:schemeClr val="tx1"/>
                </a:solidFill>
                <a:latin typeface="Times New Roman"/>
                <a:ea typeface="굴림"/>
              </a:rPr>
              <a:t>ITS GSR Proposed Layout 4Q</a:t>
            </a:r>
            <a:endParaRPr lang="en-US" altLang="ko-KR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fld id="{65D332B1-6798-497D-875F-C7FAE08D878A}" type="slidenum">
              <a:rPr lang="en-US" altLang="en-US" sz="1200" b="0">
                <a:solidFill>
                  <a:schemeClr val="tx1"/>
                </a:solidFill>
                <a:latin typeface="Times New Roman"/>
                <a:ea typeface="굴림"/>
              </a:rPr>
              <a:pPr lvl="0">
                <a:defRPr/>
              </a:pPr>
              <a:t>1</a:t>
            </a:fld>
            <a:endParaRPr lang="en-US" altLang="en-US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2788" y="746125"/>
            <a:ext cx="5373687" cy="3721100"/>
          </a:xfrm>
          <a:ln/>
        </p:spPr>
      </p:sp>
      <p:sp>
        <p:nvSpPr>
          <p:cNvPr id="1127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spcBef>
                <a:spcPct val="30000"/>
              </a:spcBef>
              <a:spcAft>
                <a:spcPct val="0"/>
              </a:spcAft>
              <a:defRPr/>
            </a:pPr>
            <a:endParaRPr lang="ko-KR" altLang="en-US"/>
          </a:p>
        </p:txBody>
      </p:sp>
    </p:spTree>
  </p:cSld>
</p:notes>
</file>

<file path=ppt/notesSlides/notesSlide2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ko-KR" altLang="en-US" smtClean="0"/>
              <a:pPr lvl="0">
                <a:defRPr/>
              </a:pPr>
              <a:t>1</a:t>
            </a:fld>
            <a:endParaRPr lang="ko-KR" altLang="en-US"/>
          </a:p>
        </p:txBody>
      </p:sp>
    </p:spTree>
  </p:cSld>
</p:notes>
</file>

<file path=ppt/notesSlides/notesSlide3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98500" y="741363"/>
            <a:ext cx="5340350" cy="3697287"/>
          </a:xfrm>
          <a:ln/>
        </p:spPr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30000"/>
              </a:spcBef>
              <a:spcAft>
                <a:spcPct val="0"/>
              </a:spcAft>
            </a:pPr>
            <a:endParaRPr lang="en-NZ" altLang="ko-KR" smtClean="0"/>
          </a:p>
        </p:txBody>
      </p:sp>
    </p:spTree>
  </p:cSld>
</p:notes>
</file>

<file path=ppt/notesSlides/notesSlide4.xml><?xml version="1.0" encoding="utf-8"?>
<p:notes xmlns:p="http://schemas.openxmlformats.org/presentationml/2006/main">
  <p:cSld>
    <p:spTree xmlns:dsp="http://schemas.microsoft.com/office/drawing/2008/diagram" xmlns:a="http://schemas.openxmlformats.org/drawingml/2006/main" xmlns:r="http://schemas.openxmlformats.org/officeDocument/2006/relationships" xmlns:c="http://schemas.openxmlformats.org/drawingml/2006/chart" xmlns:dgm="http://schemas.openxmlformats.org/drawingml/2006/diagram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Rot="1" noChangeAspect="1" noChangeArrowheads="1" noTextEdit="1"/>
          </p:cNvSpPr>
          <p:nvPr>
            <p:ph type="sldImg" idx="0"/>
          </p:nvPr>
        </p:nvSpPr>
        <p:spPr>
          <a:xfrm>
            <a:off x="714375" y="746125"/>
            <a:ext cx="5370513" cy="3719513"/>
          </a:xfrm>
          <a:ln/>
        </p:spPr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</p:notes>
</file>

<file path=ppt/notesSlides/notesSlide5.xml><?xml version="1.0" encoding="utf-8"?>
<p:notes xmlns:p="http://schemas.openxmlformats.org/presentationml/2006/main">
  <p:cSld>
    <p:spTree xmlns:dsp="http://schemas.microsoft.com/office/drawing/2008/diagram" xmlns:a="http://schemas.openxmlformats.org/drawingml/2006/main" xmlns:r="http://schemas.openxmlformats.org/officeDocument/2006/relationships" xmlns:c="http://schemas.openxmlformats.org/drawingml/2006/chart" xmlns:dgm="http://schemas.openxmlformats.org/drawingml/2006/diagram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Rot="1" noChangeAspect="1" noChangeArrowheads="1" noTextEdit="1"/>
          </p:cNvSpPr>
          <p:nvPr>
            <p:ph type="sldImg" idx="0"/>
          </p:nvPr>
        </p:nvSpPr>
        <p:spPr>
          <a:xfrm>
            <a:off x="698500" y="741363"/>
            <a:ext cx="5340350" cy="3697287"/>
          </a:xfrm>
          <a:ln/>
        </p:spPr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</p:notes>
</file>

<file path=ppt/notesSlides/notesSlide6.xml><?xml version="1.0" encoding="utf-8"?>
<p:notes xmlns:p="http://schemas.openxmlformats.org/presentationml/2006/main">
  <p:cSld>
    <p:spTree xmlns:dsp="http://schemas.microsoft.com/office/drawing/2008/diagram" xmlns:a="http://schemas.openxmlformats.org/drawingml/2006/main" xmlns:r="http://schemas.openxmlformats.org/officeDocument/2006/relationships" xmlns:c="http://schemas.openxmlformats.org/drawingml/2006/chart" xmlns:dgm="http://schemas.openxmlformats.org/drawingml/2006/diagram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Rot="1" noChangeAspect="1" noChangeArrowheads="1" noTextEdit="1"/>
          </p:cNvSpPr>
          <p:nvPr>
            <p:ph type="sldImg" idx="0"/>
          </p:nvPr>
        </p:nvSpPr>
        <p:spPr>
          <a:xfrm>
            <a:off x="698500" y="741363"/>
            <a:ext cx="5340350" cy="3697287"/>
          </a:xfrm>
          <a:ln/>
        </p:spPr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</p:notes>
</file>

<file path=ppt/notesSlides/notesSlide7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ko-KR" altLang="en-US" smtClean="0"/>
              <a:pPr lvl="0">
                <a:defRPr/>
              </a:pPr>
              <a:t>1</a:t>
            </a:fld>
            <a:endParaRPr lang="ko-KR" altLang="en-US"/>
          </a:p>
        </p:txBody>
      </p:sp>
    </p:spTree>
  </p:cSld>
</p:note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lIns="0" rIns="0" anchor="b"/>
          <a:lstStyle/>
          <a:p>
            <a:pPr lvl="0" algn="l" marL="372596" indent="-372596">
              <a:spcAft>
                <a:spcPct val="0"/>
              </a:spcAft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050" y="1599162"/>
            <a:ext cx="4372951" cy="2194576"/>
          </a:xfrm>
        </p:spPr>
        <p:txBody>
          <a:bodyPr lIns="45720" rIns="4572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marL="175431" indent="-175431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/>
              <a:t>마스터 텍스트 스타일을 편집합니다</a:t>
            </a:r>
          </a:p>
          <a:p>
            <a:pPr lvl="1" marL="526292" indent="-175431">
              <a:spcAft>
                <a:spcPct val="0"/>
              </a:spcAft>
              <a:defRPr/>
            </a:pPr>
            <a:r>
              <a:rPr lang="ko-KR" altLang="en-US"/>
              <a:t>둘째 수준</a:t>
            </a:r>
          </a:p>
          <a:p>
            <a:pPr lvl="2" marL="875601" indent="-173878">
              <a:spcAft>
                <a:spcPct val="0"/>
              </a:spcAft>
              <a:defRPr/>
            </a:pPr>
            <a:r>
              <a:rPr lang="ko-KR" altLang="en-US"/>
              <a:t>셋째 수준</a:t>
            </a:r>
          </a:p>
          <a:p>
            <a:pPr lvl="3" marL="1235776" indent="-184746">
              <a:spcAft>
                <a:spcPct val="0"/>
              </a:spcAft>
              <a:defRPr/>
            </a:pPr>
            <a:r>
              <a:rPr lang="ko-KR" altLang="en-US"/>
              <a:t>넷째 수준</a:t>
            </a:r>
          </a:p>
          <a:p>
            <a:pPr lvl="4" marL="1586638" indent="-175431">
              <a:spcAft>
                <a:spcPct val="0"/>
              </a:spcAft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33019" y="1599162"/>
            <a:ext cx="4372951" cy="2194576"/>
          </a:xfrm>
        </p:spPr>
        <p:txBody>
          <a:bodyPr lIns="45720" rIns="4572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marL="175431" indent="-175431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/>
              <a:t>마스터 텍스트 스타일을 편집합니다</a:t>
            </a:r>
          </a:p>
          <a:p>
            <a:pPr lvl="1" marL="526292" indent="-175431">
              <a:spcAft>
                <a:spcPct val="0"/>
              </a:spcAft>
              <a:defRPr/>
            </a:pPr>
            <a:r>
              <a:rPr lang="ko-KR" altLang="en-US"/>
              <a:t>둘째 수준</a:t>
            </a:r>
          </a:p>
          <a:p>
            <a:pPr lvl="2" marL="875601" indent="-173878">
              <a:spcAft>
                <a:spcPct val="0"/>
              </a:spcAft>
              <a:defRPr/>
            </a:pPr>
            <a:r>
              <a:rPr lang="ko-KR" altLang="en-US"/>
              <a:t>셋째 수준</a:t>
            </a:r>
          </a:p>
          <a:p>
            <a:pPr lvl="3" marL="1235776" indent="-184746">
              <a:spcAft>
                <a:spcPct val="0"/>
              </a:spcAft>
              <a:defRPr/>
            </a:pPr>
            <a:r>
              <a:rPr lang="ko-KR" altLang="en-US"/>
              <a:t>넷째 수준</a:t>
            </a:r>
          </a:p>
          <a:p>
            <a:pPr lvl="4" marL="1586638" indent="-175431">
              <a:spcAft>
                <a:spcPct val="0"/>
              </a:spcAft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sz="half" idx="3"/>
          </p:nvPr>
        </p:nvSpPr>
        <p:spPr>
          <a:xfrm>
            <a:off x="493781" y="3981637"/>
            <a:ext cx="4372951" cy="2194576"/>
          </a:xfrm>
        </p:spPr>
        <p:txBody>
          <a:bodyPr lIns="45720" rIns="4572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marL="175431" indent="-175431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/>
              <a:t>마스터 텍스트 스타일을 편집합니다</a:t>
            </a:r>
          </a:p>
          <a:p>
            <a:pPr lvl="1" marL="526292" indent="-175431">
              <a:spcAft>
                <a:spcPct val="0"/>
              </a:spcAft>
              <a:defRPr/>
            </a:pPr>
            <a:r>
              <a:rPr lang="ko-KR" altLang="en-US"/>
              <a:t>둘째 수준</a:t>
            </a:r>
          </a:p>
          <a:p>
            <a:pPr lvl="2" marL="875601" indent="-173878">
              <a:spcAft>
                <a:spcPct val="0"/>
              </a:spcAft>
              <a:defRPr/>
            </a:pPr>
            <a:r>
              <a:rPr lang="ko-KR" altLang="en-US"/>
              <a:t>셋째 수준</a:t>
            </a:r>
          </a:p>
          <a:p>
            <a:pPr lvl="3" marL="1235776" indent="-184746">
              <a:spcAft>
                <a:spcPct val="0"/>
              </a:spcAft>
              <a:defRPr/>
            </a:pPr>
            <a:r>
              <a:rPr lang="ko-KR" altLang="en-US"/>
              <a:t>넷째 수준</a:t>
            </a:r>
          </a:p>
          <a:p>
            <a:pPr lvl="4" marL="1586638" indent="-175431">
              <a:spcAft>
                <a:spcPct val="0"/>
              </a:spcAft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half" idx="4"/>
          </p:nvPr>
        </p:nvSpPr>
        <p:spPr>
          <a:xfrm>
            <a:off x="5031750" y="3981637"/>
            <a:ext cx="4372951" cy="2194576"/>
          </a:xfrm>
        </p:spPr>
        <p:txBody>
          <a:bodyPr lIns="45720" rIns="4572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marL="175431" indent="-175431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/>
              <a:t>마스터 텍스트 스타일을 편집합니다</a:t>
            </a:r>
          </a:p>
          <a:p>
            <a:pPr lvl="1" marL="526292" indent="-175431">
              <a:spcAft>
                <a:spcPct val="0"/>
              </a:spcAft>
              <a:defRPr/>
            </a:pPr>
            <a:r>
              <a:rPr lang="ko-KR" altLang="en-US"/>
              <a:t>둘째 수준</a:t>
            </a:r>
          </a:p>
          <a:p>
            <a:pPr lvl="2" marL="875601" indent="-173878">
              <a:spcAft>
                <a:spcPct val="0"/>
              </a:spcAft>
              <a:defRPr/>
            </a:pPr>
            <a:r>
              <a:rPr lang="ko-KR" altLang="en-US"/>
              <a:t>셋째 수준</a:t>
            </a:r>
          </a:p>
          <a:p>
            <a:pPr lvl="3" marL="1235776" indent="-184746">
              <a:spcAft>
                <a:spcPct val="0"/>
              </a:spcAft>
              <a:defRPr/>
            </a:pPr>
            <a:r>
              <a:rPr lang="ko-KR" altLang="en-US"/>
              <a:t>넷째 수준</a:t>
            </a:r>
          </a:p>
          <a:p>
            <a:pPr lvl="4" marL="1586638" indent="-175431">
              <a:spcAft>
                <a:spcPct val="0"/>
              </a:spcAft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10" name="날짜 개체 틀 3"/>
          <p:cNvSpPr>
            <a:spLocks noGrp="1"/>
          </p:cNvSpPr>
          <p:nvPr>
            <p:ph type="dt" sz="half" idx="10"/>
          </p:nvPr>
        </p:nvSpPr>
        <p:spPr>
          <a:xfrm>
            <a:off x="493650" y="6352034"/>
            <a:ext cx="2310957" cy="365046"/>
          </a:xfr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>
            <a:lvl1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 kumimoji="1" lang="ko-KR" altLang="en-US" sz="1200" b="0" i="0" baseline="0">
                <a:solidFill>
                  <a:schemeClr val="tx1"/>
                </a:solidFill>
                <a:ea typeface="바탕"/>
              </a:defRPr>
            </a:lvl1pPr>
          </a:lstStyle>
          <a:p>
            <a: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fld id="{D8D7A7C4-C82A-4D21-9AB0-F0C5A1D3EF09}" type="datetime1">
              <a:rPr kumimoji="1" lang="ko-KR" altLang="en-US" sz="1200" b="0" i="0" baseline="0">
                <a:solidFill>
                  <a:schemeClr val="tx1"/>
                </a:solidFill>
                <a:latin typeface="+mn-lt"/>
                <a:ea typeface="바탕"/>
                <a:cs typeface="+mn-cs"/>
              </a:rPr>
              <a:pPr marL="0" lvl="0" indent="0" algn="l" rtl="0" eaLnBrk="1" latinLnBrk="1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None/>
                <a:defRPr/>
              </a:pPr>
              <a:t>2023-12-27</a:t>
            </a:fld>
            <a:endParaRPr kumimoji="1" lang="ko-KR" altLang="en-US" sz="1200" b="0" i="0" baseline="0">
              <a:solidFill>
                <a:schemeClr val="tx1"/>
              </a:solidFill>
              <a:latin typeface="+mn-lt"/>
              <a:ea typeface="바탕"/>
              <a:cs typeface="+mn-cs"/>
            </a:endParaRPr>
          </a:p>
        </p:txBody>
      </p:sp>
      <p:sp>
        <p:nvSpPr>
          <p:cNvPr id="11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382318" y="6352034"/>
            <a:ext cx="3134767" cy="365046"/>
          </a:xfr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>
            <a:lvl1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 kumimoji="1" lang="ko-KR" altLang="en-US" sz="1200" b="0" i="0" baseline="0">
                <a:solidFill>
                  <a:schemeClr val="tx1"/>
                </a:solidFill>
                <a:ea typeface="바탕"/>
              </a:defRPr>
            </a:lvl1pPr>
          </a:lstStyle>
          <a:p>
            <a: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endParaRPr kumimoji="1" lang="ko-KR" altLang="en-US" sz="1200" b="0" i="0" baseline="0">
              <a:solidFill>
                <a:schemeClr val="tx1"/>
              </a:solidFill>
              <a:ea typeface="바탕"/>
            </a:endParaRPr>
          </a:p>
        </p:txBody>
      </p:sp>
      <p:sp>
        <p:nvSpPr>
          <p:cNvPr id="12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7094854" y="6352034"/>
            <a:ext cx="2310957" cy="365046"/>
          </a:xfr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>
            <a:lvl1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 kumimoji="1" lang="ko-KR" altLang="en-US" sz="1200" b="0" i="0" baseline="0">
                <a:solidFill>
                  <a:schemeClr val="tx1"/>
                </a:solidFill>
                <a:latin typeface="Arial"/>
                <a:ea typeface="Arial"/>
              </a:defRPr>
            </a:lvl1pPr>
          </a:lstStyle>
          <a:p>
            <a: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fld id="{9327EF7B-8B08-4053-A0CD-9D52558E44A8}" type="slidenum">
              <a:rPr kumimoji="1" lang="ko-KR" altLang="en-US" sz="1200" b="0" i="0" baseline="0">
                <a:solidFill>
                  <a:schemeClr val="tx1"/>
                </a:solidFill>
                <a:latin typeface="Arial"/>
                <a:ea typeface="Arial"/>
              </a:rPr>
              <a:pPr marL="0" lvl="0" indent="0" algn="l" rtl="0" eaLnBrk="1" latinLnBrk="1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None/>
                <a:defRPr/>
              </a:pPr>
              <a:t>‹#›</a:t>
            </a:fld>
            <a:endParaRPr kumimoji="1" lang="ko-KR" altLang="en-US" sz="1200" b="0" i="0" baseline="0">
              <a:solidFill>
                <a:schemeClr val="tx1"/>
              </a:solidFill>
              <a:latin typeface="Arial"/>
              <a:ea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13" Target="../media/image3.emf" Type="http://schemas.openxmlformats.org/officeDocument/2006/relationships/imag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223730" y="101530"/>
            <a:ext cx="9055507" cy="43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b" anchorCtr="0" compatLnSpc="1">
            <a:prstTxWarp prst="textNoShape">
              <a:avLst/>
            </a:prstTxWarp>
          </a:bodyPr>
          <a:lstStyle/>
          <a:p>
            <a:pPr lvl="0" algn="l" marL="372596" indent="-372596">
              <a:spcAft>
                <a:spcPct val="0"/>
              </a:spcAft>
            </a:pPr>
            <a:r>
              <a:rPr lang="en-US" altLang="ko-KR"/>
              <a:t>Header text</a:t>
            </a:r>
          </a:p>
        </p:txBody>
      </p:sp>
      <p:sp>
        <p:nvSpPr>
          <p:cNvPr id="1027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5062" y="836032"/>
            <a:ext cx="8911114" cy="52858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5720" tIns="45720" rIns="45720" bIns="45720" numCol="1" anchor="t" anchorCtr="0" compatLnSpc="1">
            <a:prstTxWarp prst="textNoShape">
              <a:avLst/>
            </a:prstTxWarp>
          </a:bodyPr>
          <a:lstStyle/>
          <a:p>
            <a:pPr lvl="0" marL="175431" indent="-175431">
              <a:spcBef>
                <a:spcPct val="0"/>
              </a:spcBef>
              <a:spcAft>
                <a:spcPct val="0"/>
              </a:spcAft>
            </a:pPr>
            <a:r>
              <a:rPr lang="en-US" altLang="ko-KR"/>
              <a:t>Level One Text</a:t>
            </a:r>
          </a:p>
          <a:p>
            <a:pPr lvl="1" marL="526292" indent="-175431">
              <a:spcAft>
                <a:spcPct val="0"/>
              </a:spcAft>
            </a:pPr>
            <a:r>
              <a:rPr lang="en-US" altLang="ko-KR"/>
              <a:t>Level Two Text</a:t>
            </a:r>
          </a:p>
          <a:p>
            <a:pPr lvl="2" marL="875601" indent="-173878">
              <a:spcAft>
                <a:spcPct val="0"/>
              </a:spcAft>
            </a:pPr>
            <a:r>
              <a:rPr lang="en-US" altLang="ko-KR"/>
              <a:t>Level Three Text</a:t>
            </a:r>
          </a:p>
          <a:p>
            <a:pPr lvl="3" marL="1235776" indent="-184746">
              <a:spcAft>
                <a:spcPct val="0"/>
              </a:spcAft>
            </a:pPr>
            <a:r>
              <a:rPr lang="en-US" altLang="ko-KR"/>
              <a:t>Level Four Text</a:t>
            </a:r>
          </a:p>
          <a:p>
            <a:pPr lvl="4" marL="1586638" indent="-175431">
              <a:spcAft>
                <a:spcPct val="0"/>
              </a:spcAft>
            </a:pPr>
            <a:r>
              <a:rPr lang="en-US" altLang="ko-KR"/>
              <a:t>Level Five Text</a:t>
            </a:r>
          </a:p>
        </p:txBody>
      </p:sp>
      <p:sp>
        <p:nvSpPr>
          <p:cNvPr id="1028" name="Line 10"/>
          <p:cNvSpPr>
            <a:spLocks noChangeShapeType="1"/>
          </p:cNvSpPr>
          <p:nvPr/>
        </p:nvSpPr>
        <p:spPr bwMode="auto">
          <a:xfrm>
            <a:off x="152327" y="609177"/>
            <a:ext cx="9406176" cy="0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4"/>
          </a:p>
        </p:txBody>
      </p:sp>
      <p:sp>
        <p:nvSpPr>
          <p:cNvPr id="1029" name="Line 27"/>
          <p:cNvSpPr>
            <a:spLocks noChangeShapeType="1"/>
          </p:cNvSpPr>
          <p:nvPr/>
        </p:nvSpPr>
        <p:spPr bwMode="auto">
          <a:xfrm flipV="1">
            <a:off x="598200" y="6610520"/>
            <a:ext cx="0" cy="21575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 sz="2714"/>
          </a:p>
        </p:txBody>
      </p: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049" y="6512166"/>
            <a:ext cx="852077" cy="3188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4" name="Rectangle 10"/>
          <p:cNvSpPr>
            <a:spLocks noChangeArrowheads="1"/>
          </p:cNvSpPr>
          <p:nvPr/>
        </p:nvSpPr>
        <p:spPr bwMode="auto">
          <a:xfrm>
            <a:off x="4687223" y="6558168"/>
            <a:ext cx="493476" cy="287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latinLnBrk="1" hangingPunct="1">
              <a:defRPr/>
            </a:pPr>
            <a:fld id="{A8DA2539-2289-4BBF-8B15-ACBAB22FB2D8}" type="slidenum">
              <a:rPr kumimoji="1" lang="en-US" altLang="ko-KR" sz="978" smtClean="0">
                <a:solidFill>
                  <a:srgbClr val="000000"/>
                </a:solidFill>
                <a:latin typeface="Arial" panose="020B0604020202020204" pitchFamily="34" charset="0"/>
                <a:ea typeface="아리따M"/>
                <a:cs typeface="아리따M"/>
              </a:rPr>
              <a:pPr algn="ctr" eaLnBrk="1" latinLnBrk="1" hangingPunct="1">
                <a:defRPr/>
              </a:pPr>
              <a:t>‹#›</a:t>
            </a:fld>
            <a:endParaRPr kumimoji="1" lang="en-US" altLang="ko-KR" sz="978">
              <a:solidFill>
                <a:srgbClr val="000000"/>
              </a:solidFill>
              <a:latin typeface="Arial" panose="020B0604020202020204" pitchFamily="34" charset="0"/>
              <a:ea typeface="아리따M"/>
              <a:cs typeface="아리따M"/>
            </a:endParaRPr>
          </a:p>
        </p:txBody>
      </p:sp>
      <p:sp>
        <p:nvSpPr>
          <p:cNvPr id="2" name="MSIPCMContentMarking" descr="{&quot;HashCode&quot;:1183346205,&quot;Placement&quot;:&quot;Footer&quot;,&quot;Top&quot;:517.622253,&quot;Left&quot;:0.0,&quot;SlideWidth&quot;:779,&quot;SlideHeight&quot;:539}">
            <a:extLst>
              <a:ext uri="{FF2B5EF4-FFF2-40B4-BE49-F238E27FC236}">
                <a16:creationId xmlns:a16="http://schemas.microsoft.com/office/drawing/2014/main" id="{06CD49F0-D643-4002-B42C-3477312F1EA3}"/>
              </a:ext>
            </a:extLst>
          </p:cNvPr>
          <p:cNvSpPr txBox="1"/>
          <p:nvPr userDrawn="1"/>
        </p:nvSpPr>
        <p:spPr>
          <a:xfrm>
            <a:off x="0" y="6573803"/>
            <a:ext cx="1757926" cy="279435"/>
          </a:xfrm>
          <a:prstGeom prst="rect">
            <a:avLst/>
          </a:prstGeom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altLang="ko-KR" sz="1100">
                <a:solidFill>
                  <a:srgbClr val="5F5F5F"/>
                </a:solidFill>
                <a:latin typeface="Calibri" panose="020F0502020204030204" pitchFamily="34" charset="0"/>
              </a:rPr>
              <a:t>S-OIL: Company Use Only</a:t>
            </a:r>
            <a:endParaRPr lang="ko-KR" altLang="en-US" sz="1100">
              <a:solidFill>
                <a:srgbClr val="5F5F5F"/>
              </a:solidFill>
              <a:latin typeface="Calibri" panose="020F050202020403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notesSlides/notesSlide1.xml" Type="http://schemas.openxmlformats.org/officeDocument/2006/relationships/notesSlide"/></Relationships>
</file>

<file path=ppt/slides/_rels/slide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6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/Relationships>
</file>

<file path=ppt/slides/_rels/slide7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8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/Relationships>
</file>

<file path=ppt/slides/_rels/slide19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/Relationships>
</file>

<file path=ppt/slides/_rels/slide20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/Relationships>
</file>

<file path=ppt/slides/_rels/slide2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showMasterSp="false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Box 7"/>
          <p:cNvSpPr txBox="1">
            <a:spLocks noChangeArrowheads="1"/>
          </p:cNvSpPr>
          <p:nvPr/>
        </p:nvSpPr>
        <p:spPr>
          <a:xfrm>
            <a:off x="2054393" y="2265519"/>
            <a:ext cx="5763041" cy="50435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altLang="ko-KR" b="0" kumimoji="1" lang="en-US" sz="2740">
                <a:solidFill>
                  <a:srgbClr val="000000"/>
                </a:solidFill>
                <a:latin typeface="HY견고딕"/>
                <a:ea typeface="HY견고딕"/>
              </a:rPr>
              <a:t>ITO </a:t>
            </a:r>
            <a:r>
              <a:rPr altLang="en-US" b="0" kumimoji="1" lang="ko-KR" sz="2740">
                <a:solidFill>
                  <a:srgbClr val="000000"/>
                </a:solidFill>
                <a:latin typeface="HY견고딕"/>
                <a:ea typeface="HY견고딕"/>
              </a:rPr>
              <a:t>운영 주간보고서 </a:t>
            </a:r>
            <a:r>
              <a:rPr altLang="ko-KR" b="0" kumimoji="1" lang="en-US" sz="2740">
                <a:solidFill>
                  <a:srgbClr val="000000"/>
                </a:solidFill>
                <a:latin typeface="HY견고딕"/>
                <a:ea typeface="HY견고딕"/>
              </a:rPr>
              <a:t>(AMS)</a:t>
            </a:r>
            <a:endParaRPr altLang="en-US" b="0" kumimoji="1" lang="ko-KR" sz="2740">
              <a:solidFill>
                <a:srgbClr val="000000"/>
              </a:solidFill>
              <a:latin typeface="HY견고딕"/>
              <a:ea typeface="HY견고딕"/>
            </a:endParaRPr>
          </a:p>
        </p:txBody>
      </p:sp>
      <p:pic>
        <p:nvPicPr>
          <p:cNvPr id="10243" name="Picture 2"/>
          <p:cNvPicPr>
            <a:picLocks noChangeArrowheads="1" noChangeAspect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499459" y="521072"/>
            <a:ext cx="1542506" cy="517276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descr="BD15156_" id="10244" name="Picture 4"/>
          <p:cNvPicPr>
            <a:picLocks noChangeArrowheads="1" noChangeAspect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285470" y="2832502"/>
            <a:ext cx="7322635" cy="86989"/>
          </a:xfrm>
          <a:prstGeom prst="rect">
            <a:avLst/>
          </a:prstGeom>
          <a:noFill/>
          <a:ln>
            <a:noFill/>
          </a:ln>
        </p:spPr>
      </p:pic>
      <p:sp>
        <p:nvSpPr>
          <p:cNvPr id="10245" name="Rectangle 3"/>
          <p:cNvSpPr txBox="1">
            <a:spLocks noChangeArrowheads="1"/>
          </p:cNvSpPr>
          <p:nvPr/>
        </p:nvSpPr>
        <p:spPr>
          <a:xfrm>
            <a:off x="3034575" y="4685685"/>
            <a:ext cx="3808889" cy="372811"/>
          </a:xfrm>
          <a:prstGeom prst="rect">
            <a:avLst/>
          </a:prstGeom>
          <a:noFill/>
          <a:ln>
            <a:noFill/>
          </a:ln>
        </p:spPr>
        <p:txBody>
          <a:bodyPr bIns="46758" lIns="93521" rIns="93521" tIns="18410"/>
          <a:lstStyle>
            <a:lvl1pPr defTabSz="860425" indent="-342900" marL="342900">
              <a:buChar char="•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1pPr>
            <a:lvl2pPr defTabSz="860425" indent="-285750" marL="74295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2pPr>
            <a:lvl3pPr defTabSz="860425" indent="-228600" marL="11430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3pPr>
            <a:lvl4pPr defTabSz="860425" indent="-228600" marL="160020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4pPr>
            <a:lvl5pPr defTabSz="860425" indent="-228600" marL="2057400">
              <a:spcBef>
                <a:spcPct val="20000"/>
              </a:spcBef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5pPr>
            <a:lvl6pPr defTabSz="860425" eaLnBrk="0" fontAlgn="base" hangingPunct="0" indent="-228600" marL="25146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6pPr>
            <a:lvl7pPr defTabSz="860425" eaLnBrk="0" fontAlgn="base" hangingPunct="0" indent="-228600" marL="29718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7pPr>
            <a:lvl8pPr defTabSz="860425" eaLnBrk="0" fontAlgn="base" hangingPunct="0" indent="-228600" marL="34290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8pPr>
            <a:lvl9pPr defTabSz="860425" eaLnBrk="0" fontAlgn="base" hangingPunct="0" indent="-228600" marL="38862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9pPr>
          </a:lstStyle>
          <a:p>
            <a:pPr algn="ctr" eaLnBrk="1" hangingPunct="1" latinLnBrk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Tx/>
              <a:buNone/>
              <a:defRPr/>
            </a:pPr>
            <a:r>
              <a:rPr b="true" lang="en-US" sz="1960">
                <a:latin typeface="맑은 고딕"/>
              </a:rPr>
              <a:t>[2023.12.26 ~ 2024.01.01]</a:t>
            </a:r>
            <a:endParaRPr altLang="ko-KR" kumimoji="0" lang="en-US" sz="1957">
              <a:latin typeface="맑은 고딕"/>
              <a:ea typeface="맑은 고딕"/>
              <a:cs typeface="+mn-cs"/>
            </a:endParaRPr>
          </a:p>
        </p:txBody>
      </p:sp>
      <p:sp>
        <p:nvSpPr>
          <p:cNvPr id="10246" name="TextBox 10"/>
          <p:cNvSpPr txBox="1">
            <a:spLocks noChangeArrowheads="1"/>
          </p:cNvSpPr>
          <p:nvPr/>
        </p:nvSpPr>
        <p:spPr>
          <a:xfrm>
            <a:off x="4171651" y="3559484"/>
            <a:ext cx="1530014" cy="45384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b="true" lang="en-US" sz="1960">
                <a:solidFill>
                  <a:srgbClr val="000000"/>
                </a:solidFill>
                <a:latin typeface="맑은 고딕"/>
              </a:rPr>
              <a:t>1월 1주차</a:t>
            </a:r>
            <a:endParaRPr altLang="en-US" kumimoji="1" lang="ko-KR" sz="2349">
              <a:solidFill>
                <a:srgbClr val="000000"/>
              </a:solidFill>
            </a:endParaRPr>
          </a:p>
        </p:txBody>
      </p:sp>
      <p:sp>
        <p:nvSpPr>
          <p:cNvPr id="9" name="Line 18"/>
          <p:cNvSpPr>
            <a:spLocks noChangeShapeType="1"/>
          </p:cNvSpPr>
          <p:nvPr/>
        </p:nvSpPr>
        <p:spPr bwMode="auto">
          <a:xfrm>
            <a:off x="0" y="1600200"/>
            <a:ext cx="9906000" cy="0"/>
          </a:xfrm>
          <a:prstGeom prst="line">
            <a:avLst/>
          </a:prstGeom>
          <a:noFill/>
          <a:ln w="9525">
            <a:solidFill>
              <a:srgbClr val="BBE0E3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>
              <a:spcBef>
                <a:spcPct val="0"/>
              </a:spcBef>
              <a:spcAft>
                <a:spcPct val="0"/>
              </a:spcAft>
            </a:pPr>
            <a:endParaRPr altLang="en-US" lang="ko-KR" sz="2716"/>
          </a:p>
        </p:txBody>
      </p:sp>
      <p:sp>
        <p:nvSpPr>
          <p:cNvPr id="10" name="Line 18"/>
          <p:cNvSpPr>
            <a:spLocks noChangeShapeType="1"/>
          </p:cNvSpPr>
          <p:nvPr/>
        </p:nvSpPr>
        <p:spPr bwMode="auto">
          <a:xfrm>
            <a:off x="0" y="5257800"/>
            <a:ext cx="9906000" cy="0"/>
          </a:xfrm>
          <a:prstGeom prst="line">
            <a:avLst/>
          </a:prstGeom>
          <a:noFill/>
          <a:ln w="9525">
            <a:solidFill>
              <a:srgbClr val="BBE0E3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>
              <a:spcBef>
                <a:spcPct val="0"/>
              </a:spcBef>
              <a:spcAft>
                <a:spcPct val="0"/>
              </a:spcAft>
            </a:pPr>
            <a:endParaRPr altLang="en-US" lang="ko-KR" sz="2716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6" name="표 3075"/>
          <p:cNvGraphicFramePr/>
          <p:nvPr>
            <p:extLst>
              <p:ext uri="{D42A27DB-BD31-4B8C-83A1-F6EECF244321}">
                <p14:modId xmlns:p14="http://schemas.microsoft.com/office/powerpoint/2010/main" val="259758088"/>
              </p:ext>
            </p:extLst>
          </p:nvPr>
        </p:nvGraphicFramePr>
        <p:xfrm>
          <a:off x="271440" y="1141189"/>
          <a:ext cx="9318451" cy="5164874"/>
        </p:xfrm>
        <a:graphic>
          <a:graphicData uri="http://schemas.openxmlformats.org/drawingml/2006/table">
            <a:tbl>
              <a:tblPr bandRow="1" firstRow="1"/>
              <a:tblGrid>
                <a:gridCol w="1320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53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50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3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9518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8572"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FF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일</a:t>
                      </a:r>
                      <a:endParaRPr altLang="en-US" b="0" dirty="0" i="0" kumimoji="1" lang="ko-KR" sz="900">
                        <a:solidFill>
                          <a:srgbClr val="FF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월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화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수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목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금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0000FF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토</a:t>
                      </a:r>
                      <a:endParaRPr altLang="en-US" b="0" dirty="0" i="0" kumimoji="1" lang="ko-KR" sz="900">
                        <a:solidFill>
                          <a:srgbClr val="0000FF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1392">
                <a:tc>
                  <a:txBody>
                    <a:bodyPr/>
                    <a:lstStyle/>
                    <a:p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</a:t>
                      </a:r>
                    </a:p>
                    <a:p>
                      <a:endParaRPr altLang="ko-KR" dirty="0" lang="en-US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r>
                        <a:rPr altLang="en-US" dirty="0" lang="ko-KR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신정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4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5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6" marT="45716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6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9176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7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11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13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52327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14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15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16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17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18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19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20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49146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21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22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23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24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25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26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27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14235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28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29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30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31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246" name="TextBox 3245"/>
          <p:cNvSpPr txBox="1"/>
          <p:nvPr/>
        </p:nvSpPr>
        <p:spPr>
          <a:xfrm>
            <a:off x="5639356" y="661884"/>
            <a:ext cx="661884" cy="363427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none">
            <a:noAutofit/>
          </a:bodyPr>
          <a:lstStyle/>
          <a:p>
            <a:pPr algn="r" defTabSz="75524200" eaLnBrk="0" hangingPunct="0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00000"/>
              <a:buFont typeface="Arial"/>
              <a:buChar char="◑"/>
              <a:defRPr/>
            </a:pPr>
            <a:r>
              <a:rPr altLang="en-US" b="0" baseline="0" i="0" kumimoji="1" lang="ko-KR" sz="90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반 차</a:t>
            </a:r>
          </a:p>
          <a:p>
            <a:pPr algn="r" defTabSz="75524200" eaLnBrk="0" hangingPunct="0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50000"/>
              <a:buFont typeface="Wingdings"/>
              <a:buChar char="l"/>
              <a:defRPr/>
            </a:pPr>
            <a:r>
              <a:rPr altLang="en-US" b="0" baseline="0" i="0" kumimoji="1" lang="ko-KR" sz="90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 1day</a:t>
            </a:r>
            <a:endParaRPr altLang="en-US" b="0" i="0" kumimoji="1" lang="ko-KR" sz="900">
              <a:solidFill>
                <a:srgbClr val="3333CC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7" name="TextBox 3246"/>
          <p:cNvSpPr txBox="1"/>
          <p:nvPr/>
        </p:nvSpPr>
        <p:spPr>
          <a:xfrm>
            <a:off x="226954" y="199994"/>
            <a:ext cx="9056616" cy="336468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ctr" bIns="45789" lIns="91577" rIns="91577" tIns="45789" vert="horz" wrap="square">
            <a:noAutofit/>
          </a:bodyPr>
          <a:lstStyle/>
          <a:p>
            <a:pPr algn="l" defTabSz="58846888" eaLnBrk="0" hangingPunct="0" indent="-385813" latinLnBrk="0" lvl="0" marL="38581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별첨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-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2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202</a:t>
            </a:r>
            <a:r>
              <a:rPr altLang="ko-KR" b="1" baseline="0" dirty="0" i="0" kumimoji="1" lang="en-US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4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 </a:t>
            </a:r>
            <a:r>
              <a:rPr altLang="ko-KR" b="1" baseline="0" dirty="0" i="0" kumimoji="1" lang="en-US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01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월 휴가계획서</a:t>
            </a:r>
            <a:endParaRPr altLang="en-US" b="1" dirty="0" i="0" kumimoji="1" lang="ko-KR" sz="160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8" name="TextBox 3247"/>
          <p:cNvSpPr txBox="1"/>
          <p:nvPr/>
        </p:nvSpPr>
        <p:spPr>
          <a:xfrm>
            <a:off x="6777363" y="666628"/>
            <a:ext cx="1447571" cy="355557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square">
            <a:noAutofit/>
          </a:bodyPr>
          <a:lstStyle/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Ø"/>
              <a:defRPr/>
            </a:pP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예비군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/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민방위 훈련 </a:t>
            </a:r>
          </a:p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ü"/>
              <a:defRPr/>
            </a:pP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교육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,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 내부회의 </a:t>
            </a:r>
            <a:endParaRPr altLang="en-US" b="0" dirty="0" i="0" kumimoji="1" lang="ko-KR" sz="90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2" name="TextBox 3251"/>
          <p:cNvSpPr txBox="1"/>
          <p:nvPr/>
        </p:nvSpPr>
        <p:spPr>
          <a:xfrm>
            <a:off x="7853525" y="661884"/>
            <a:ext cx="1676088" cy="355501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square">
            <a:noAutofit/>
          </a:bodyPr>
          <a:lstStyle/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v"/>
              <a:defRPr/>
            </a:pP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경조휴가</a:t>
            </a:r>
          </a:p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Arial"/>
              <a:buChar char="◇"/>
              <a:defRPr/>
            </a:pP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건강검진</a:t>
            </a:r>
            <a:endParaRPr altLang="en-US" b="0" i="0" kumimoji="1" lang="ko-KR" sz="90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3" name="TextBox 3252"/>
          <p:cNvSpPr txBox="1"/>
          <p:nvPr/>
        </p:nvSpPr>
        <p:spPr>
          <a:xfrm>
            <a:off x="722167" y="6401209"/>
            <a:ext cx="3085536" cy="223828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ctr" bIns="45720" lIns="91440" rIns="91440" tIns="45720" vert="horz" wrap="none">
            <a:noAutofit/>
          </a:bodyPr>
          <a:lstStyle/>
          <a:p>
            <a:pPr algn="r" defTabSz="75524200" eaLnBrk="0" hangingPunct="0" indent="0" latinLnBrk="0" lvl="0" marL="0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H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IT운영팀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R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생산IT지원팀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B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Baynex 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Q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Quintet</a:t>
            </a:r>
            <a:endParaRPr altLang="en-US" b="0" i="0" kumimoji="1" lang="ko-KR" sz="90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AutoShape 125"/>
          <p:cNvSpPr>
            <a:spLocks noChangeArrowheads="1"/>
          </p:cNvSpPr>
          <p:nvPr/>
        </p:nvSpPr>
        <p:spPr bwMode="auto">
          <a:xfrm>
            <a:off x="2486232" y="2518720"/>
            <a:ext cx="5711781" cy="391452"/>
          </a:xfrm>
          <a:prstGeom prst="roundRect">
            <a:avLst>
              <a:gd fmla="val 16667" name="adj"/>
            </a:avLst>
          </a:prstGeom>
          <a:solidFill>
            <a:schemeClr val="bg1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63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 lIns="176131" wrap="none"/>
          <a:lstStyle>
            <a:lvl1pPr defTabSz="762000" indent="-342900" marL="3429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762000" indent="-385763" marL="5651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76200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76200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76200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76200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76200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76200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76200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lvl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altLang="en-US" lang="ko-KR" sz="1566">
                <a:solidFill>
                  <a:schemeClr val="tx1"/>
                </a:solidFill>
              </a:rPr>
              <a:t>주간업무 실적 및 계획</a:t>
            </a:r>
          </a:p>
        </p:txBody>
      </p:sp>
      <p:sp>
        <p:nvSpPr>
          <p:cNvPr id="12291" name="Rectangle 3"/>
          <p:cNvSpPr>
            <a:spLocks noChangeArrowheads="1" noGrp="1"/>
          </p:cNvSpPr>
          <p:nvPr>
            <p:ph idx="4294967295" type="subTitle"/>
          </p:nvPr>
        </p:nvSpPr>
        <p:spPr>
          <a:xfrm>
            <a:off x="255577" y="297385"/>
            <a:ext cx="4927323" cy="372811"/>
          </a:xfrm>
        </p:spPr>
        <p:txBody>
          <a:bodyPr anchor="t" anchorCtr="0" bIns="46759" compatLnSpc="1" lIns="93521" numCol="1" rIns="93521" tIns="18410" vert="horz" wrap="square">
            <a:prstTxWarp prst="textNoShape">
              <a:avLst/>
            </a:prstTxWarp>
          </a:bodyPr>
          <a:lstStyle/>
          <a:p>
            <a:pPr defTabSz="894857" eaLnBrk="1" hangingPunct="1" indent="0" marL="0">
              <a:spcBef>
                <a:spcPct val="0"/>
              </a:spcBef>
              <a:spcAft>
                <a:spcPct val="0"/>
              </a:spcAft>
              <a:buNone/>
            </a:pPr>
            <a:r>
              <a:rPr altLang="en-US" b="1" lang="ko-KR" sz="1566">
                <a:latin charset="-127" panose="020B0503020000020004" pitchFamily="50" typeface="맑은 고딕"/>
                <a:ea charset="-127" panose="020B0503020000020004" pitchFamily="50" typeface="맑은 고딕"/>
              </a:rPr>
              <a:t>목차 </a:t>
            </a:r>
          </a:p>
        </p:txBody>
      </p:sp>
      <p:sp>
        <p:nvSpPr>
          <p:cNvPr id="12292" name="AutoShape 88"/>
          <p:cNvSpPr>
            <a:spLocks noChangeArrowheads="1"/>
          </p:cNvSpPr>
          <p:nvPr/>
        </p:nvSpPr>
        <p:spPr bwMode="auto">
          <a:xfrm>
            <a:off x="2487786" y="1943968"/>
            <a:ext cx="5711780" cy="391452"/>
          </a:xfrm>
          <a:prstGeom prst="roundRect">
            <a:avLst>
              <a:gd fmla="val 16667" name="adj"/>
            </a:avLst>
          </a:prstGeom>
          <a:solidFill>
            <a:schemeClr val="bg1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63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 lIns="176131" wrap="none"/>
          <a:lstStyle>
            <a:lvl1pPr defTabSz="762000" indent="-342900" marL="3429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762000" indent="-385763" marL="5651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76200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76200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76200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76200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76200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76200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76200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lvl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altLang="ko-KR" lang="en-US" sz="1566">
                <a:solidFill>
                  <a:schemeClr val="tx1"/>
                </a:solidFill>
              </a:rPr>
              <a:t>Summary</a:t>
            </a:r>
            <a:endParaRPr altLang="en-US" lang="ko-KR" sz="1566">
              <a:solidFill>
                <a:schemeClr val="tx1"/>
              </a:solidFill>
            </a:endParaRPr>
          </a:p>
        </p:txBody>
      </p:sp>
      <p:grpSp>
        <p:nvGrpSpPr>
          <p:cNvPr id="12293" name="Group 89"/>
          <p:cNvGrpSpPr>
            <a:grpSpLocks/>
          </p:cNvGrpSpPr>
          <p:nvPr/>
        </p:nvGrpSpPr>
        <p:grpSpPr bwMode="auto">
          <a:xfrm>
            <a:off x="2046626" y="2487652"/>
            <a:ext cx="539023" cy="487761"/>
            <a:chOff x="2225" y="1060"/>
            <a:chExt cx="294" cy="292"/>
          </a:xfrm>
        </p:grpSpPr>
        <p:grpSp>
          <p:nvGrpSpPr>
            <p:cNvPr id="12303" name="Group 90"/>
            <p:cNvGrpSpPr>
              <a:grpSpLocks/>
            </p:cNvGrpSpPr>
            <p:nvPr/>
          </p:nvGrpSpPr>
          <p:grpSpPr bwMode="auto">
            <a:xfrm>
              <a:off x="2225" y="1060"/>
              <a:ext cx="294" cy="292"/>
              <a:chOff x="-233" y="400"/>
              <a:chExt cx="669" cy="669"/>
            </a:xfrm>
          </p:grpSpPr>
          <p:grpSp>
            <p:nvGrpSpPr>
              <p:cNvPr id="12305" name="Group 91"/>
              <p:cNvGrpSpPr>
                <a:grpSpLocks/>
              </p:cNvGrpSpPr>
              <p:nvPr/>
            </p:nvGrpSpPr>
            <p:grpSpPr bwMode="auto">
              <a:xfrm>
                <a:off x="-233" y="400"/>
                <a:ext cx="669" cy="669"/>
                <a:chOff x="5297" y="1592"/>
                <a:chExt cx="669" cy="669"/>
              </a:xfrm>
            </p:grpSpPr>
            <p:sp>
              <p:nvSpPr>
                <p:cNvPr id="12307" name="Oval 92"/>
                <p:cNvSpPr>
                  <a:spLocks noChangeArrowheads="1"/>
                </p:cNvSpPr>
                <p:nvPr/>
              </p:nvSpPr>
              <p:spPr bwMode="auto">
                <a:xfrm>
                  <a:off x="5297" y="1592"/>
                  <a:ext cx="669" cy="669"/>
                </a:xfrm>
                <a:prstGeom prst="ellipse">
                  <a:avLst/>
                </a:prstGeom>
                <a:solidFill>
                  <a:srgbClr val="EAEEF6"/>
                </a:solidFill>
                <a:ln algn="ctr" w="6350">
                  <a:solidFill>
                    <a:srgbClr val="95AAD3"/>
                  </a:solidFill>
                  <a:round/>
                  <a:headEnd/>
                  <a:tailEnd/>
                </a:ln>
                <a:effectLst>
                  <a:outerShdw algn="ctr" dir="2700000" dist="35921" rotWithShape="0">
                    <a:schemeClr val="bg2"/>
                  </a:outerShdw>
                </a:effectLst>
              </p:spPr>
              <p:txBody>
                <a:bodyPr anchor="ctr" wrap="none"/>
                <a:lstStyle>
                  <a:lvl1pPr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1pPr>
                  <a:lvl2pPr indent="-285750" marL="74295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2pPr>
                  <a:lvl3pPr indent="-228600" marL="11430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3pPr>
                  <a:lvl4pPr indent="-228600" marL="16002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4pPr>
                  <a:lvl5pPr indent="-228600" marL="20574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5pPr>
                  <a:lvl6pPr eaLnBrk="0" fontAlgn="base" hangingPunct="0" indent="-228600" marL="25146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6pPr>
                  <a:lvl7pPr eaLnBrk="0" fontAlgn="base" hangingPunct="0" indent="-228600" marL="29718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7pPr>
                  <a:lvl8pPr eaLnBrk="0" fontAlgn="base" hangingPunct="0" indent="-228600" marL="34290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8pPr>
                  <a:lvl9pPr eaLnBrk="0" fontAlgn="base" hangingPunct="0" indent="-228600" marL="38862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9pPr>
                </a:lstStyle>
                <a:p>
                  <a:pPr algn="r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altLang="en-US" lang="ko-KR" sz="1566">
                    <a:latin charset="-127" panose="02030600000101010101" pitchFamily="18" typeface="새굴림"/>
                    <a:ea charset="-127" panose="02030600000101010101" pitchFamily="18" typeface="새굴림"/>
                  </a:endParaRPr>
                </a:p>
              </p:txBody>
            </p:sp>
            <p:sp>
              <p:nvSpPr>
                <p:cNvPr id="12308" name="Oval 93"/>
                <p:cNvSpPr>
                  <a:spLocks noChangeArrowheads="1"/>
                </p:cNvSpPr>
                <p:nvPr/>
              </p:nvSpPr>
              <p:spPr bwMode="auto">
                <a:xfrm>
                  <a:off x="5343" y="1615"/>
                  <a:ext cx="578" cy="580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95AAD3"/>
                    </a:gs>
                    <a:gs pos="100000">
                      <a:srgbClr val="405F9E"/>
                    </a:gs>
                  </a:gsLst>
                  <a:lin ang="5400000" scaled="1"/>
                </a:gradFill>
                <a:ln>
                  <a:noFill/>
                </a:ln>
                <a:effectLst>
                  <a:outerShdw algn="ctr" dir="2700000" dist="35921" rotWithShape="0">
                    <a:schemeClr val="bg2"/>
                  </a:outerShdw>
                </a:effectLst>
                <a:extLst>
                  <a:ext uri="{91240B29-F687-4F45-9708-019B960494DF}">
                    <a14:hiddenLine xmlns:a14="http://schemas.microsoft.com/office/drawing/2010/main" algn="ctr" w="635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 wrap="none"/>
                <a:lstStyle>
                  <a:lvl1pPr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1pPr>
                  <a:lvl2pPr indent="-285750" marL="74295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2pPr>
                  <a:lvl3pPr indent="-228600" marL="11430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3pPr>
                  <a:lvl4pPr indent="-228600" marL="16002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4pPr>
                  <a:lvl5pPr indent="-228600" marL="20574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5pPr>
                  <a:lvl6pPr eaLnBrk="0" fontAlgn="base" hangingPunct="0" indent="-228600" marL="25146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6pPr>
                  <a:lvl7pPr eaLnBrk="0" fontAlgn="base" hangingPunct="0" indent="-228600" marL="29718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7pPr>
                  <a:lvl8pPr eaLnBrk="0" fontAlgn="base" hangingPunct="0" indent="-228600" marL="34290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8pPr>
                  <a:lvl9pPr eaLnBrk="0" fontAlgn="base" hangingPunct="0" indent="-228600" marL="38862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9pPr>
                </a:lstStyle>
                <a:p>
                  <a:pPr algn="r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altLang="en-US" lang="ko-KR" sz="1566">
                    <a:latin charset="-127" panose="02030600000101010101" pitchFamily="18" typeface="새굴림"/>
                    <a:ea charset="-127" panose="02030600000101010101" pitchFamily="18" typeface="새굴림"/>
                  </a:endParaRPr>
                </a:p>
              </p:txBody>
            </p:sp>
          </p:grpSp>
          <p:sp>
            <p:nvSpPr>
              <p:cNvPr id="12306" name="Oval 94"/>
              <p:cNvSpPr>
                <a:spLocks noChangeArrowheads="1"/>
              </p:cNvSpPr>
              <p:nvPr/>
            </p:nvSpPr>
            <p:spPr bwMode="auto">
              <a:xfrm rot="-1800000">
                <a:off x="-142" y="464"/>
                <a:ext cx="307" cy="194"/>
              </a:xfrm>
              <a:prstGeom prst="ellipse">
                <a:avLst/>
              </a:prstGeom>
              <a:gradFill rotWithShape="1">
                <a:gsLst>
                  <a:gs pos="0">
                    <a:srgbClr val="EAEEF6"/>
                  </a:gs>
                  <a:gs pos="100000">
                    <a:srgbClr val="8299C8"/>
                  </a:gs>
                </a:gsLst>
                <a:lin ang="5400000" scaled="1"/>
              </a:gradFill>
              <a:ln>
                <a:noFill/>
              </a:ln>
              <a:effectLst>
                <a:outerShdw algn="ctr" dir="2700000" dist="35921" rotWithShape="0">
                  <a:schemeClr val="bg2"/>
                </a:outerShdw>
              </a:effectLst>
              <a:extLst>
                <a:ext uri="{91240B29-F687-4F45-9708-019B960494DF}">
                  <a14:hiddenLine xmlns:a14="http://schemas.microsoft.com/office/drawing/2010/main" algn="ctr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wrap="none"/>
              <a:lstStyle>
                <a:lvl1pPr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1pPr>
                <a:lvl2pPr indent="-285750" marL="74295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2pPr>
                <a:lvl3pPr indent="-228600" marL="11430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3pPr>
                <a:lvl4pPr indent="-228600" marL="16002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4pPr>
                <a:lvl5pPr indent="-228600" marL="20574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5pPr>
                <a:lvl6pPr eaLnBrk="0" fontAlgn="base" hangingPunct="0" indent="-228600" marL="25146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6pPr>
                <a:lvl7pPr eaLnBrk="0" fontAlgn="base" hangingPunct="0" indent="-228600" marL="29718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7pPr>
                <a:lvl8pPr eaLnBrk="0" fontAlgn="base" hangingPunct="0" indent="-228600" marL="34290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8pPr>
                <a:lvl9pPr eaLnBrk="0" fontAlgn="base" hangingPunct="0" indent="-228600" marL="38862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9pPr>
              </a:lstStyle>
              <a:p>
                <a:pPr algn="r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altLang="en-US" lang="ko-KR" sz="1566">
                  <a:latin charset="-127" panose="02030600000101010101" pitchFamily="18" typeface="새굴림"/>
                  <a:ea charset="-127" panose="02030600000101010101" pitchFamily="18" typeface="새굴림"/>
                </a:endParaRPr>
              </a:p>
            </p:txBody>
          </p:sp>
        </p:grpSp>
        <p:sp>
          <p:nvSpPr>
            <p:cNvPr id="12304" name="Text Box 95"/>
            <p:cNvSpPr txBox="1">
              <a:spLocks noChangeArrowheads="1"/>
            </p:cNvSpPr>
            <p:nvPr/>
          </p:nvSpPr>
          <p:spPr bwMode="auto">
            <a:xfrm>
              <a:off x="2293" y="1105"/>
              <a:ext cx="163" cy="185"/>
            </a:xfrm>
            <a:prstGeom prst="rect">
              <a:avLst/>
            </a:prstGeom>
            <a:noFill/>
            <a:ln>
              <a:noFill/>
            </a:ln>
            <a:effectLst>
              <a:outerShdw algn="ctr" dir="2700000" dist="35921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wrap="none">
              <a:spAutoFit/>
            </a:bodyPr>
            <a:lstStyle>
              <a:lvl1pPr defTabSz="762000" indent="-187325" marL="187325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defTabSz="762000"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defTabSz="762000"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defTabSz="762000"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defTabSz="762000"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defTabSz="762000"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defTabSz="762000"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defTabSz="762000"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defTabSz="762000"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altLang="ko-KR" lang="en-US" sz="1566">
                  <a:latin charset="-127" panose="02030600000101010101" pitchFamily="18" typeface="새굴림"/>
                  <a:ea charset="-127" panose="02030600000101010101" pitchFamily="18" typeface="새굴림"/>
                </a:rPr>
                <a:t>2</a:t>
              </a:r>
            </a:p>
          </p:txBody>
        </p:sp>
      </p:grpSp>
      <p:grpSp>
        <p:nvGrpSpPr>
          <p:cNvPr id="12294" name="Group 116"/>
          <p:cNvGrpSpPr>
            <a:grpSpLocks/>
          </p:cNvGrpSpPr>
          <p:nvPr/>
        </p:nvGrpSpPr>
        <p:grpSpPr bwMode="auto">
          <a:xfrm>
            <a:off x="2034199" y="1928435"/>
            <a:ext cx="563877" cy="487761"/>
            <a:chOff x="2225" y="1060"/>
            <a:chExt cx="294" cy="292"/>
          </a:xfrm>
        </p:grpSpPr>
        <p:grpSp>
          <p:nvGrpSpPr>
            <p:cNvPr id="12297" name="Group 117"/>
            <p:cNvGrpSpPr>
              <a:grpSpLocks/>
            </p:cNvGrpSpPr>
            <p:nvPr/>
          </p:nvGrpSpPr>
          <p:grpSpPr bwMode="auto">
            <a:xfrm>
              <a:off x="2225" y="1060"/>
              <a:ext cx="294" cy="292"/>
              <a:chOff x="-233" y="400"/>
              <a:chExt cx="669" cy="669"/>
            </a:xfrm>
          </p:grpSpPr>
          <p:grpSp>
            <p:nvGrpSpPr>
              <p:cNvPr id="12299" name="Group 118"/>
              <p:cNvGrpSpPr>
                <a:grpSpLocks/>
              </p:cNvGrpSpPr>
              <p:nvPr/>
            </p:nvGrpSpPr>
            <p:grpSpPr bwMode="auto">
              <a:xfrm>
                <a:off x="-233" y="400"/>
                <a:ext cx="669" cy="669"/>
                <a:chOff x="5297" y="1592"/>
                <a:chExt cx="669" cy="669"/>
              </a:xfrm>
            </p:grpSpPr>
            <p:sp>
              <p:nvSpPr>
                <p:cNvPr id="12301" name="Oval 119"/>
                <p:cNvSpPr>
                  <a:spLocks noChangeArrowheads="1"/>
                </p:cNvSpPr>
                <p:nvPr/>
              </p:nvSpPr>
              <p:spPr bwMode="auto">
                <a:xfrm>
                  <a:off x="5297" y="1592"/>
                  <a:ext cx="669" cy="669"/>
                </a:xfrm>
                <a:prstGeom prst="ellipse">
                  <a:avLst/>
                </a:prstGeom>
                <a:solidFill>
                  <a:srgbClr val="EAEEF6"/>
                </a:solidFill>
                <a:ln algn="ctr" w="6350">
                  <a:solidFill>
                    <a:srgbClr val="95AAD3"/>
                  </a:solidFill>
                  <a:round/>
                  <a:headEnd/>
                  <a:tailEnd/>
                </a:ln>
                <a:effectLst>
                  <a:outerShdw algn="ctr" dir="2700000" dist="35921" rotWithShape="0">
                    <a:schemeClr val="bg2"/>
                  </a:outerShdw>
                </a:effectLst>
              </p:spPr>
              <p:txBody>
                <a:bodyPr anchor="ctr" wrap="none"/>
                <a:lstStyle>
                  <a:lvl1pPr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1pPr>
                  <a:lvl2pPr indent="-285750" marL="74295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2pPr>
                  <a:lvl3pPr indent="-228600" marL="11430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3pPr>
                  <a:lvl4pPr indent="-228600" marL="16002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4pPr>
                  <a:lvl5pPr indent="-228600" marL="20574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5pPr>
                  <a:lvl6pPr eaLnBrk="0" fontAlgn="base" hangingPunct="0" indent="-228600" marL="25146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6pPr>
                  <a:lvl7pPr eaLnBrk="0" fontAlgn="base" hangingPunct="0" indent="-228600" marL="29718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7pPr>
                  <a:lvl8pPr eaLnBrk="0" fontAlgn="base" hangingPunct="0" indent="-228600" marL="34290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8pPr>
                  <a:lvl9pPr eaLnBrk="0" fontAlgn="base" hangingPunct="0" indent="-228600" marL="38862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9pPr>
                </a:lstStyle>
                <a:p>
                  <a:pPr algn="r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altLang="en-US" lang="ko-KR" sz="1566">
                    <a:latin charset="-127" panose="02030600000101010101" pitchFamily="18" typeface="새굴림"/>
                    <a:ea charset="-127" panose="02030600000101010101" pitchFamily="18" typeface="새굴림"/>
                  </a:endParaRPr>
                </a:p>
              </p:txBody>
            </p:sp>
            <p:sp>
              <p:nvSpPr>
                <p:cNvPr id="12302" name="Oval 120"/>
                <p:cNvSpPr>
                  <a:spLocks noChangeArrowheads="1"/>
                </p:cNvSpPr>
                <p:nvPr/>
              </p:nvSpPr>
              <p:spPr bwMode="auto">
                <a:xfrm>
                  <a:off x="5343" y="1615"/>
                  <a:ext cx="579" cy="580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95AAD3"/>
                    </a:gs>
                    <a:gs pos="100000">
                      <a:srgbClr val="405F9E"/>
                    </a:gs>
                  </a:gsLst>
                  <a:lin ang="5400000" scaled="1"/>
                </a:gradFill>
                <a:ln>
                  <a:noFill/>
                </a:ln>
                <a:effectLst>
                  <a:outerShdw algn="ctr" dir="2700000" dist="35921" rotWithShape="0">
                    <a:schemeClr val="bg2"/>
                  </a:outerShdw>
                </a:effectLst>
                <a:extLst>
                  <a:ext uri="{91240B29-F687-4F45-9708-019B960494DF}">
                    <a14:hiddenLine xmlns:a14="http://schemas.microsoft.com/office/drawing/2010/main" algn="ctr" w="635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 wrap="none"/>
                <a:lstStyle>
                  <a:lvl1pPr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1pPr>
                  <a:lvl2pPr indent="-285750" marL="74295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2pPr>
                  <a:lvl3pPr indent="-228600" marL="11430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3pPr>
                  <a:lvl4pPr indent="-228600" marL="16002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4pPr>
                  <a:lvl5pPr indent="-228600" marL="20574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5pPr>
                  <a:lvl6pPr eaLnBrk="0" fontAlgn="base" hangingPunct="0" indent="-228600" marL="25146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6pPr>
                  <a:lvl7pPr eaLnBrk="0" fontAlgn="base" hangingPunct="0" indent="-228600" marL="29718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7pPr>
                  <a:lvl8pPr eaLnBrk="0" fontAlgn="base" hangingPunct="0" indent="-228600" marL="34290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8pPr>
                  <a:lvl9pPr eaLnBrk="0" fontAlgn="base" hangingPunct="0" indent="-228600" marL="38862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9pPr>
                </a:lstStyle>
                <a:p>
                  <a:pPr algn="r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altLang="en-US" lang="ko-KR" sz="1566">
                    <a:latin charset="-127" panose="02030600000101010101" pitchFamily="18" typeface="새굴림"/>
                    <a:ea charset="-127" panose="02030600000101010101" pitchFamily="18" typeface="새굴림"/>
                  </a:endParaRPr>
                </a:p>
              </p:txBody>
            </p:sp>
          </p:grpSp>
          <p:sp>
            <p:nvSpPr>
              <p:cNvPr id="12300" name="Oval 121"/>
              <p:cNvSpPr>
                <a:spLocks noChangeArrowheads="1"/>
              </p:cNvSpPr>
              <p:nvPr/>
            </p:nvSpPr>
            <p:spPr bwMode="auto">
              <a:xfrm rot="-1800000">
                <a:off x="-143" y="464"/>
                <a:ext cx="308" cy="194"/>
              </a:xfrm>
              <a:prstGeom prst="ellipse">
                <a:avLst/>
              </a:prstGeom>
              <a:gradFill rotWithShape="1">
                <a:gsLst>
                  <a:gs pos="0">
                    <a:srgbClr val="EAEEF6"/>
                  </a:gs>
                  <a:gs pos="100000">
                    <a:srgbClr val="8299C8"/>
                  </a:gs>
                </a:gsLst>
                <a:lin ang="5400000" scaled="1"/>
              </a:gradFill>
              <a:ln>
                <a:noFill/>
              </a:ln>
              <a:effectLst>
                <a:outerShdw algn="ctr" dir="2700000" dist="35921" rotWithShape="0">
                  <a:schemeClr val="bg2"/>
                </a:outerShdw>
              </a:effectLst>
              <a:extLst>
                <a:ext uri="{91240B29-F687-4F45-9708-019B960494DF}">
                  <a14:hiddenLine xmlns:a14="http://schemas.microsoft.com/office/drawing/2010/main" algn="ctr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wrap="none"/>
              <a:lstStyle>
                <a:lvl1pPr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1pPr>
                <a:lvl2pPr indent="-285750" marL="74295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2pPr>
                <a:lvl3pPr indent="-228600" marL="11430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3pPr>
                <a:lvl4pPr indent="-228600" marL="16002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4pPr>
                <a:lvl5pPr indent="-228600" marL="20574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5pPr>
                <a:lvl6pPr eaLnBrk="0" fontAlgn="base" hangingPunct="0" indent="-228600" marL="25146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6pPr>
                <a:lvl7pPr eaLnBrk="0" fontAlgn="base" hangingPunct="0" indent="-228600" marL="29718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7pPr>
                <a:lvl8pPr eaLnBrk="0" fontAlgn="base" hangingPunct="0" indent="-228600" marL="34290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8pPr>
                <a:lvl9pPr eaLnBrk="0" fontAlgn="base" hangingPunct="0" indent="-228600" marL="38862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9pPr>
              </a:lstStyle>
              <a:p>
                <a:pPr algn="r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altLang="en-US" lang="ko-KR" sz="1566">
                  <a:latin charset="-127" panose="02030600000101010101" pitchFamily="18" typeface="새굴림"/>
                  <a:ea charset="-127" panose="02030600000101010101" pitchFamily="18" typeface="새굴림"/>
                </a:endParaRPr>
              </a:p>
            </p:txBody>
          </p:sp>
        </p:grpSp>
        <p:sp>
          <p:nvSpPr>
            <p:cNvPr id="12298" name="Text Box 122"/>
            <p:cNvSpPr txBox="1">
              <a:spLocks noChangeArrowheads="1"/>
            </p:cNvSpPr>
            <p:nvPr/>
          </p:nvSpPr>
          <p:spPr bwMode="auto">
            <a:xfrm>
              <a:off x="2295" y="1105"/>
              <a:ext cx="156" cy="185"/>
            </a:xfrm>
            <a:prstGeom prst="rect">
              <a:avLst/>
            </a:prstGeom>
            <a:noFill/>
            <a:ln>
              <a:noFill/>
            </a:ln>
            <a:effectLst>
              <a:outerShdw algn="ctr" dir="2700000" dist="35921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wrap="none">
              <a:spAutoFit/>
            </a:bodyPr>
            <a:lstStyle>
              <a:lvl1pPr defTabSz="762000" indent="-187325" marL="187325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defTabSz="762000"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defTabSz="762000"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defTabSz="762000"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defTabSz="762000"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defTabSz="762000"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defTabSz="762000"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defTabSz="762000"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defTabSz="762000"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altLang="ko-KR" lang="en-US" sz="1566">
                  <a:latin charset="-127" panose="02030600000101010101" pitchFamily="18" typeface="새굴림"/>
                  <a:ea charset="-127" panose="02030600000101010101" pitchFamily="18" typeface="새굴림"/>
                </a:rPr>
                <a:t>1</a:t>
              </a:r>
            </a:p>
          </p:txBody>
        </p:sp>
      </p:grpSp>
      <p:sp>
        <p:nvSpPr>
          <p:cNvPr id="12295" name="AutoShape 125"/>
          <p:cNvSpPr>
            <a:spLocks noChangeArrowheads="1"/>
          </p:cNvSpPr>
          <p:nvPr/>
        </p:nvSpPr>
        <p:spPr bwMode="auto">
          <a:xfrm>
            <a:off x="2492446" y="3130752"/>
            <a:ext cx="5711781" cy="391452"/>
          </a:xfrm>
          <a:prstGeom prst="roundRect">
            <a:avLst>
              <a:gd fmla="val 16667" name="adj"/>
            </a:avLst>
          </a:prstGeom>
          <a:solidFill>
            <a:schemeClr val="bg1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63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 lIns="176131" wrap="none"/>
          <a:lstStyle>
            <a:lvl1pPr defTabSz="762000" indent="-342900" marL="3429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762000" indent="-385763" marL="5651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76200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76200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76200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76200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76200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76200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76200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lvl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charset="2" panose="05000000000000000000" pitchFamily="2" typeface="Wingdings"/>
              <a:buChar char="v"/>
            </a:pPr>
            <a:r>
              <a:rPr altLang="en-US" kumimoji="1" lang="ko-KR" sz="1370">
                <a:solidFill>
                  <a:srgbClr val="000000"/>
                </a:solidFill>
              </a:rPr>
              <a:t>별첨 </a:t>
            </a:r>
            <a:r>
              <a:rPr altLang="ko-KR" kumimoji="1" lang="en-US" sz="1370">
                <a:solidFill>
                  <a:srgbClr val="000000"/>
                </a:solidFill>
              </a:rPr>
              <a:t>1] ERP </a:t>
            </a:r>
            <a:r>
              <a:rPr altLang="en-US" kumimoji="1" lang="ko-KR" sz="1370">
                <a:solidFill>
                  <a:srgbClr val="000000"/>
                </a:solidFill>
              </a:rPr>
              <a:t>사용자 계정 및 보안관리</a:t>
            </a:r>
          </a:p>
        </p:txBody>
      </p:sp>
      <p:sp>
        <p:nvSpPr>
          <p:cNvPr id="12296" name="AutoShape 125"/>
          <p:cNvSpPr>
            <a:spLocks noChangeArrowheads="1"/>
          </p:cNvSpPr>
          <p:nvPr/>
        </p:nvSpPr>
        <p:spPr bwMode="auto">
          <a:xfrm>
            <a:off x="2492446" y="3578125"/>
            <a:ext cx="5711781" cy="391452"/>
          </a:xfrm>
          <a:prstGeom prst="roundRect">
            <a:avLst>
              <a:gd fmla="val 16667" name="adj"/>
            </a:avLst>
          </a:prstGeom>
          <a:solidFill>
            <a:schemeClr val="bg1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63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 lIns="176131" wrap="none"/>
          <a:lstStyle>
            <a:lvl1pPr defTabSz="762000" indent="-342900" marL="3429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762000" indent="-385763" marL="5651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76200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76200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76200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76200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76200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76200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76200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lvl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charset="2" panose="05000000000000000000" pitchFamily="2" typeface="Wingdings"/>
              <a:buChar char="v"/>
            </a:pPr>
            <a:r>
              <a:rPr altLang="en-US" kumimoji="1" lang="ko-KR" sz="1370">
                <a:solidFill>
                  <a:srgbClr val="000000"/>
                </a:solidFill>
              </a:rPr>
              <a:t>별첨 </a:t>
            </a:r>
            <a:r>
              <a:rPr altLang="ko-KR" kumimoji="1" lang="en-US" sz="1370">
                <a:solidFill>
                  <a:srgbClr val="000000"/>
                </a:solidFill>
              </a:rPr>
              <a:t>2] </a:t>
            </a:r>
            <a:r>
              <a:rPr altLang="en-US" kumimoji="1" lang="ko-KR" sz="1370">
                <a:solidFill>
                  <a:srgbClr val="000000"/>
                </a:solidFill>
              </a:rPr>
              <a:t>휴가계획서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7232866" name="Text">
    </p:cNvPr>
          <p:cNvSpPr>
            <a:spLocks noGrp="1"/>
          </p:cNvSpPr>
          <p:nvPr/>
        </p:nvSpPr>
        <p:spPr>
          <a:xfrm rot="0">
            <a:off x="8674100" y="76200"/>
            <a:ext cx="762000" cy="508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8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80">
                <a:latin typeface="맑은 고딕"/>
                <a:ea typeface="맑은 고딕"/>
                <a:cs typeface="맑은 고딕"/>
              </a:rPr>
              <a:t>: 완료</a:t>
            </a:r>
            <a:br/>
            <a:r>
              <a:rPr lang="ko" sz="980">
                <a:latin typeface="맑은 고딕"/>
                <a:ea typeface="맑은 고딕"/>
                <a:cs typeface="맑은 고딕"/>
              </a:rPr>
              <a:t>:진행중</a:t>
            </a:r>
            <a:br/>
            <a:r>
              <a:rPr lang="ko" sz="980">
                <a:latin typeface="맑은 고딕"/>
                <a:ea typeface="맑은 고딕"/>
                <a:cs typeface="맑은 고딕"/>
              </a:rPr>
              <a:t>:미완료(문제)</a:t>
            </a:r>
          </a:p>
        </p:txBody>
      </p:sp>
      <p:sp>
        <p:nvSpPr>
          <p:cNvPr id="1360773030" name="Rectangle"/>
          <p:cNvSpPr>
            <a:spLocks noGrp="1"/>
          </p:cNvSpPr>
          <p:nvPr/>
        </p:nvSpPr>
        <p:spPr>
          <a:xfrm>
            <a:off x="8420100" y="50800"/>
            <a:ext cx="254000" cy="139700"/>
          </a:xfrm>
          <a:prstGeom prst="rect">
            <a:avLst/>
          </a:prstGeom>
          <a:solidFill>
            <a:srgbClr val="00FF00"/>
          </a:solidFill>
          <a:ln w="12700">
            <a:solidFill>
              <a:srgbClr val="FFFFFF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  <p:sp>
        <p:nvSpPr>
          <p:cNvPr id="1924598538" name="Rectangle"/>
          <p:cNvSpPr>
            <a:spLocks noGrp="1"/>
          </p:cNvSpPr>
          <p:nvPr/>
        </p:nvSpPr>
        <p:spPr>
          <a:xfrm>
            <a:off x="8420100" y="228600"/>
            <a:ext cx="254000" cy="139700"/>
          </a:xfrm>
          <a:prstGeom prst="rect">
            <a:avLst/>
          </a:prstGeom>
          <a:solidFill>
            <a:srgbClr val="FFFF00"/>
          </a:solidFill>
          <a:ln w="12700">
            <a:solidFill>
              <a:srgbClr val="FFFFFF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  <p:sp>
        <p:nvSpPr>
          <p:cNvPr id="1368832852" name="Rectangle"/>
          <p:cNvSpPr>
            <a:spLocks noGrp="1"/>
          </p:cNvSpPr>
          <p:nvPr/>
        </p:nvSpPr>
        <p:spPr>
          <a:xfrm>
            <a:off x="8420100" y="406400"/>
            <a:ext cx="254000" cy="139700"/>
          </a:xfrm>
          <a:prstGeom prst="rect">
            <a:avLst/>
          </a:prstGeom>
          <a:solidFill>
            <a:srgbClr val="FF0000"/>
          </a:solidFill>
          <a:ln w="12700">
            <a:solidFill>
              <a:srgbClr val="FFFFFF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  <p:sp>
        <p:nvSpPr>
          <p:cNvPr id="365207954" name="Text">
    </p:cNvPr>
          <p:cNvSpPr>
            <a:spLocks noGrp="1"/>
          </p:cNvSpPr>
          <p:nvPr/>
        </p:nvSpPr>
        <p:spPr>
          <a:xfrm rot="0">
            <a:off x="127000" y="190500"/>
            <a:ext cx="5181600" cy="381000"/>
          </a:xfrm>
          <a:prstGeom prst="rect">
            <a:avLst/>
          </a:prstGeom>
        </p:spPr>
        <p:txBody>
          <a:bodyPr anchor="b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2. Summary - ①Baynex</a:t>
            </a:r>
          </a:p>
        </p:txBody>
      </p:sp>
      <p:sp>
        <p:nvSpPr>
          <p:cNvPr id="422500867" name="Text">
    </p:cNvPr>
          <p:cNvSpPr>
            <a:spLocks noGrp="1"/>
          </p:cNvSpPr>
          <p:nvPr/>
        </p:nvSpPr>
        <p:spPr>
          <a:xfrm rot="0">
            <a:off x="190500" y="749300"/>
            <a:ext cx="2108200" cy="2159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l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393261943" name="Text">
    </p:cNvPr>
          <p:cNvSpPr>
            <a:spLocks noGrp="1"/>
          </p:cNvSpPr>
          <p:nvPr/>
        </p:nvSpPr>
        <p:spPr>
          <a:xfrm rot="0">
            <a:off x="165100" y="723900"/>
            <a:ext cx="2108200" cy="2159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l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 금주 업무 실적</a:t>
            </a:r>
          </a:p>
        </p:txBody>
      </p:sp>
      <p:sp>
        <p:nvSpPr>
          <p:cNvPr id="925048921" name="Text">
    </p:cNvPr>
          <p:cNvSpPr>
            <a:spLocks noGrp="1"/>
          </p:cNvSpPr>
          <p:nvPr/>
        </p:nvSpPr>
        <p:spPr>
          <a:xfrm rot="0">
            <a:off x="152400" y="977900"/>
            <a:ext cx="7366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123461406" name="Text">
    </p:cNvPr>
          <p:cNvSpPr>
            <a:spLocks noGrp="1"/>
          </p:cNvSpPr>
          <p:nvPr/>
        </p:nvSpPr>
        <p:spPr>
          <a:xfrm rot="0">
            <a:off x="889000" y="977900"/>
            <a:ext cx="46482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749742388" name="Text">
    </p:cNvPr>
          <p:cNvSpPr>
            <a:spLocks noGrp="1"/>
          </p:cNvSpPr>
          <p:nvPr/>
        </p:nvSpPr>
        <p:spPr>
          <a:xfrm rot="0">
            <a:off x="6108700" y="977900"/>
            <a:ext cx="7620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진행율</a:t>
            </a:r>
          </a:p>
        </p:txBody>
      </p:sp>
      <p:sp>
        <p:nvSpPr>
          <p:cNvPr id="1621285775" name="Text">
    </p:cNvPr>
          <p:cNvSpPr>
            <a:spLocks noGrp="1"/>
          </p:cNvSpPr>
          <p:nvPr/>
        </p:nvSpPr>
        <p:spPr>
          <a:xfrm rot="0">
            <a:off x="6870700" y="977900"/>
            <a:ext cx="2540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상</a:t>
            </a:r>
            <a:br/>
            <a:r>
              <a:rPr lang="ko" sz="1000">
                <a:latin typeface="맑은 고딕"/>
                <a:ea typeface="맑은 고딕"/>
                <a:cs typeface="맑은 고딕"/>
              </a:rPr>
              <a:t>태</a:t>
            </a:r>
          </a:p>
        </p:txBody>
      </p:sp>
      <p:sp>
        <p:nvSpPr>
          <p:cNvPr id="1319968298" name="Text">
    </p:cNvPr>
          <p:cNvSpPr>
            <a:spLocks noGrp="1"/>
          </p:cNvSpPr>
          <p:nvPr/>
        </p:nvSpPr>
        <p:spPr>
          <a:xfrm rot="0">
            <a:off x="7124700" y="977900"/>
            <a:ext cx="26543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비고</a:t>
            </a:r>
          </a:p>
        </p:txBody>
      </p:sp>
      <p:sp>
        <p:nvSpPr>
          <p:cNvPr id="391617486" name="Text">
    </p:cNvPr>
          <p:cNvSpPr>
            <a:spLocks noGrp="1"/>
          </p:cNvSpPr>
          <p:nvPr/>
        </p:nvSpPr>
        <p:spPr>
          <a:xfrm rot="0">
            <a:off x="5537200" y="977900"/>
            <a:ext cx="5715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683350339" name="Frame"/>
          <p:cNvSpPr>
            <a:spLocks noGrp="1"/>
          </p:cNvSpPr>
          <p:nvPr/>
        </p:nvSpPr>
        <p:spPr>
          <a:xfrm>
            <a:off x="25400" y="5854700"/>
            <a:ext cx="9855200" cy="11430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1588838776" name="Text">
    </p:cNvPr>
          <p:cNvSpPr>
            <a:spLocks noGrp="1"/>
          </p:cNvSpPr>
          <p:nvPr/>
        </p:nvSpPr>
        <p:spPr>
          <a:xfrm rot="0">
            <a:off x="152400" y="5880100"/>
            <a:ext cx="2476500" cy="228600"/>
          </a:xfrm>
          <a:prstGeom prst="rect">
            <a:avLst/>
          </a:prstGeom>
          <a:solidFill>
            <a:srgbClr val="CCFFCC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ERP 디버깅 권한신청 처리현황</a:t>
            </a:r>
          </a:p>
        </p:txBody>
      </p:sp>
      <p:sp>
        <p:nvSpPr>
          <p:cNvPr id="2026494154" name="Text">
    </p:cNvPr>
          <p:cNvSpPr>
            <a:spLocks noGrp="1"/>
          </p:cNvSpPr>
          <p:nvPr/>
        </p:nvSpPr>
        <p:spPr>
          <a:xfrm rot="0">
            <a:off x="6451600" y="6413500"/>
            <a:ext cx="1651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407956470" name="Text">
    </p:cNvPr>
          <p:cNvSpPr>
            <a:spLocks noGrp="1"/>
          </p:cNvSpPr>
          <p:nvPr/>
        </p:nvSpPr>
        <p:spPr>
          <a:xfrm rot="0">
            <a:off x="2057400" y="6413500"/>
            <a:ext cx="43942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94206665" name="Text">
    </p:cNvPr>
          <p:cNvSpPr>
            <a:spLocks noGrp="1"/>
          </p:cNvSpPr>
          <p:nvPr/>
        </p:nvSpPr>
        <p:spPr>
          <a:xfrm rot="0">
            <a:off x="101600" y="6413500"/>
            <a:ext cx="1143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62149341" name="Text">
    </p:cNvPr>
          <p:cNvSpPr>
            <a:spLocks noGrp="1"/>
          </p:cNvSpPr>
          <p:nvPr/>
        </p:nvSpPr>
        <p:spPr>
          <a:xfrm rot="0">
            <a:off x="101600" y="6172200"/>
            <a:ext cx="11430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Date</a:t>
            </a:r>
          </a:p>
        </p:txBody>
      </p:sp>
      <p:sp>
        <p:nvSpPr>
          <p:cNvPr id="1428945405" name="Text">
    </p:cNvPr>
          <p:cNvSpPr>
            <a:spLocks noGrp="1"/>
          </p:cNvSpPr>
          <p:nvPr/>
        </p:nvSpPr>
        <p:spPr>
          <a:xfrm rot="0">
            <a:off x="2057400" y="6172200"/>
            <a:ext cx="43942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Text (변경값)</a:t>
            </a:r>
          </a:p>
        </p:txBody>
      </p:sp>
      <p:sp>
        <p:nvSpPr>
          <p:cNvPr id="1541513899" name="Text">
    </p:cNvPr>
          <p:cNvSpPr>
            <a:spLocks noGrp="1"/>
          </p:cNvSpPr>
          <p:nvPr/>
        </p:nvSpPr>
        <p:spPr>
          <a:xfrm rot="0">
            <a:off x="6451600" y="6172200"/>
            <a:ext cx="16510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 권한신청서번호</a:t>
            </a:r>
          </a:p>
        </p:txBody>
      </p:sp>
      <p:sp>
        <p:nvSpPr>
          <p:cNvPr id="771795593" name="Text">
    </p:cNvPr>
          <p:cNvSpPr>
            <a:spLocks noGrp="1"/>
          </p:cNvSpPr>
          <p:nvPr/>
        </p:nvSpPr>
        <p:spPr>
          <a:xfrm rot="0">
            <a:off x="101600" y="6705600"/>
            <a:ext cx="1143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84668958" name="Text">
    </p:cNvPr>
          <p:cNvSpPr>
            <a:spLocks noGrp="1"/>
          </p:cNvSpPr>
          <p:nvPr/>
        </p:nvSpPr>
        <p:spPr>
          <a:xfrm rot="0">
            <a:off x="6451600" y="6705600"/>
            <a:ext cx="1651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411047228" name="Text">
    </p:cNvPr>
          <p:cNvSpPr>
            <a:spLocks noGrp="1"/>
          </p:cNvSpPr>
          <p:nvPr/>
        </p:nvSpPr>
        <p:spPr>
          <a:xfrm rot="0">
            <a:off x="2057400" y="6705600"/>
            <a:ext cx="43942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5665262" name="Text">
    </p:cNvPr>
          <p:cNvSpPr>
            <a:spLocks noGrp="1"/>
          </p:cNvSpPr>
          <p:nvPr/>
        </p:nvSpPr>
        <p:spPr>
          <a:xfrm rot="0">
            <a:off x="1244600" y="6705600"/>
            <a:ext cx="812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00935634" name="Text">
    </p:cNvPr>
          <p:cNvSpPr>
            <a:spLocks noGrp="1"/>
          </p:cNvSpPr>
          <p:nvPr/>
        </p:nvSpPr>
        <p:spPr>
          <a:xfrm rot="0">
            <a:off x="1244600" y="6413500"/>
            <a:ext cx="812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447351589" name="Text">
    </p:cNvPr>
          <p:cNvSpPr>
            <a:spLocks noGrp="1"/>
          </p:cNvSpPr>
          <p:nvPr/>
        </p:nvSpPr>
        <p:spPr>
          <a:xfrm rot="0">
            <a:off x="1244600" y="6172200"/>
            <a:ext cx="8128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User</a:t>
            </a:r>
          </a:p>
        </p:txBody>
      </p:sp>
      <p:sp>
        <p:nvSpPr>
          <p:cNvPr id="1420100590" name="Text">
    </p:cNvPr>
          <p:cNvSpPr>
            <a:spLocks noGrp="1"/>
          </p:cNvSpPr>
          <p:nvPr/>
        </p:nvSpPr>
        <p:spPr>
          <a:xfrm rot="0">
            <a:off x="8102600" y="6705600"/>
            <a:ext cx="1701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68850479" name="Text">
    </p:cNvPr>
          <p:cNvSpPr>
            <a:spLocks noGrp="1"/>
          </p:cNvSpPr>
          <p:nvPr/>
        </p:nvSpPr>
        <p:spPr>
          <a:xfrm rot="0">
            <a:off x="8102600" y="6172200"/>
            <a:ext cx="17018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구분(일반/긴급)</a:t>
            </a:r>
          </a:p>
        </p:txBody>
      </p:sp>
      <p:sp>
        <p:nvSpPr>
          <p:cNvPr id="37552896" name="Text">
    </p:cNvPr>
          <p:cNvSpPr>
            <a:spLocks noGrp="1"/>
          </p:cNvSpPr>
          <p:nvPr/>
        </p:nvSpPr>
        <p:spPr>
          <a:xfrm rot="0">
            <a:off x="8102600" y="6413500"/>
            <a:ext cx="1701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923089311" name="Frame"/>
          <p:cNvSpPr>
            <a:spLocks noGrp="1"/>
          </p:cNvSpPr>
          <p:nvPr/>
        </p:nvSpPr>
        <p:spPr>
          <a:xfrm>
            <a:off x="101600" y="2984500"/>
            <a:ext cx="9779000" cy="27051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241620054" name="Text">
    </p:cNvPr>
          <p:cNvSpPr>
            <a:spLocks noGrp="1"/>
          </p:cNvSpPr>
          <p:nvPr/>
        </p:nvSpPr>
        <p:spPr>
          <a:xfrm rot="0">
            <a:off x="165100" y="3048000"/>
            <a:ext cx="2108200" cy="2159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l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753616792" name="Text">
    </p:cNvPr>
          <p:cNvSpPr>
            <a:spLocks noGrp="1"/>
          </p:cNvSpPr>
          <p:nvPr/>
        </p:nvSpPr>
        <p:spPr>
          <a:xfrm rot="0">
            <a:off x="152400" y="3009900"/>
            <a:ext cx="2095500" cy="228600"/>
          </a:xfrm>
          <a:prstGeom prst="rect">
            <a:avLst/>
          </a:prstGeom>
          <a:solidFill>
            <a:srgbClr val="FF9900"/>
          </a:solidFill>
        </p:spPr>
        <p:txBody>
          <a:bodyPr anchor="ctr" bIns="0" lIns="0" rIns="0" rtlCol="0" tIns="0" wrap="square"/>
          <a:lstStyle/>
          <a:p>
            <a:pPr algn="l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 차주 업무 계획</a:t>
            </a:r>
          </a:p>
        </p:txBody>
      </p:sp>
      <p:sp>
        <p:nvSpPr>
          <p:cNvPr id="1185182726" name="Text">
    </p:cNvPr>
          <p:cNvSpPr>
            <a:spLocks noGrp="1"/>
          </p:cNvSpPr>
          <p:nvPr/>
        </p:nvSpPr>
        <p:spPr>
          <a:xfrm rot="0">
            <a:off x="165100" y="3263900"/>
            <a:ext cx="7366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887761846" name="Text">
    </p:cNvPr>
          <p:cNvSpPr>
            <a:spLocks noGrp="1"/>
          </p:cNvSpPr>
          <p:nvPr/>
        </p:nvSpPr>
        <p:spPr>
          <a:xfrm rot="0">
            <a:off x="901700" y="3263900"/>
            <a:ext cx="46482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11193113" name="Text">
    </p:cNvPr>
          <p:cNvSpPr>
            <a:spLocks noGrp="1"/>
          </p:cNvSpPr>
          <p:nvPr/>
        </p:nvSpPr>
        <p:spPr>
          <a:xfrm rot="0">
            <a:off x="5549900" y="3263900"/>
            <a:ext cx="5715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완료예정</a:t>
            </a:r>
          </a:p>
        </p:txBody>
      </p:sp>
      <p:sp>
        <p:nvSpPr>
          <p:cNvPr id="2058865812" name="Text">
    </p:cNvPr>
          <p:cNvSpPr>
            <a:spLocks noGrp="1"/>
          </p:cNvSpPr>
          <p:nvPr/>
        </p:nvSpPr>
        <p:spPr>
          <a:xfrm rot="0">
            <a:off x="6121400" y="3263900"/>
            <a:ext cx="36449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비고</a:t>
            </a:r>
          </a:p>
        </p:txBody>
      </p:sp>
      <p:sp>
        <p:nvSpPr>
          <p:cNvPr id="525763456" name="Frame"/>
          <p:cNvSpPr>
            <a:spLocks noGrp="1"/>
          </p:cNvSpPr>
          <p:nvPr/>
        </p:nvSpPr>
        <p:spPr>
          <a:xfrm>
            <a:off x="165100" y="4457700"/>
            <a:ext cx="9664700" cy="12319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2055519303" name="Text">
    </p:cNvPr>
          <p:cNvSpPr>
            <a:spLocks noGrp="1"/>
          </p:cNvSpPr>
          <p:nvPr/>
        </p:nvSpPr>
        <p:spPr>
          <a:xfrm rot="0">
            <a:off x="165100" y="4432300"/>
            <a:ext cx="736600" cy="1257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WEB</a:t>
            </a:r>
          </a:p>
        </p:txBody>
      </p:sp>
      <p:sp>
        <p:nvSpPr>
          <p:cNvPr id="1111627851" name="Text">
    </p:cNvPr>
          <p:cNvSpPr>
            <a:spLocks noGrp="1"/>
          </p:cNvSpPr>
          <p:nvPr/>
        </p:nvSpPr>
        <p:spPr>
          <a:xfrm rot="0">
            <a:off x="965200" y="4483100"/>
            <a:ext cx="4584700" cy="12065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[PRM] 주유소/충전소 PRM 거래처 마스터 신규 등록시 필수 계약 자동 체결요청 시스템 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[E-Approval] Defect Elimination Dashboard Renewal(신규 Portal 구축) 관련 전자결재 연동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작업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[LMS] Soft Skill 인증제도(Skillset) 시행에 따른 LMS 개발 요청의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[EAI] HCM 당일 시내출장 중식비 신청서 신규개발</a:t>
            </a:r>
          </a:p>
        </p:txBody>
      </p:sp>
      <p:sp>
        <p:nvSpPr>
          <p:cNvPr id="106283003" name="Text">
    </p:cNvPr>
          <p:cNvSpPr>
            <a:spLocks noGrp="1"/>
          </p:cNvSpPr>
          <p:nvPr/>
        </p:nvSpPr>
        <p:spPr>
          <a:xfrm rot="0">
            <a:off x="7239000" y="4483100"/>
            <a:ext cx="2552700" cy="12065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758412850" name="Text">
    </p:cNvPr>
          <p:cNvSpPr>
            <a:spLocks noGrp="1"/>
          </p:cNvSpPr>
          <p:nvPr/>
        </p:nvSpPr>
        <p:spPr>
          <a:xfrm rot="0">
            <a:off x="5549900" y="4483100"/>
            <a:ext cx="571500" cy="12065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</a:p>
        </p:txBody>
      </p:sp>
      <p:sp>
        <p:nvSpPr>
          <p:cNvPr id="1921880407" name="Text">
    </p:cNvPr>
          <p:cNvSpPr>
            <a:spLocks noGrp="1"/>
          </p:cNvSpPr>
          <p:nvPr/>
        </p:nvSpPr>
        <p:spPr>
          <a:xfrm rot="0">
            <a:off x="901700" y="4432300"/>
            <a:ext cx="4648200" cy="1257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51505677" name="Text">
    </p:cNvPr>
          <p:cNvSpPr>
            <a:spLocks noGrp="1"/>
          </p:cNvSpPr>
          <p:nvPr/>
        </p:nvSpPr>
        <p:spPr>
          <a:xfrm rot="0">
            <a:off x="6121400" y="4432300"/>
            <a:ext cx="3644900" cy="1257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99132810" name="Text">
    </p:cNvPr>
          <p:cNvSpPr>
            <a:spLocks noGrp="1"/>
          </p:cNvSpPr>
          <p:nvPr/>
        </p:nvSpPr>
        <p:spPr>
          <a:xfrm rot="0">
            <a:off x="5549900" y="4432300"/>
            <a:ext cx="571500" cy="1257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7907749" name="Frame"/>
          <p:cNvSpPr>
            <a:spLocks noGrp="1"/>
          </p:cNvSpPr>
          <p:nvPr/>
        </p:nvSpPr>
        <p:spPr>
          <a:xfrm>
            <a:off x="165100" y="3606800"/>
            <a:ext cx="9639300" cy="8255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458021601" name="Text">
    </p:cNvPr>
          <p:cNvSpPr>
            <a:spLocks noGrp="1"/>
          </p:cNvSpPr>
          <p:nvPr/>
        </p:nvSpPr>
        <p:spPr>
          <a:xfrm rot="0">
            <a:off x="165100" y="3606800"/>
            <a:ext cx="7366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</a:t>
            </a:r>
          </a:p>
        </p:txBody>
      </p:sp>
      <p:sp>
        <p:nvSpPr>
          <p:cNvPr id="1093749154" name="Text">
    </p:cNvPr>
          <p:cNvSpPr>
            <a:spLocks noGrp="1"/>
          </p:cNvSpPr>
          <p:nvPr/>
        </p:nvSpPr>
        <p:spPr>
          <a:xfrm rot="0">
            <a:off x="965200" y="3683000"/>
            <a:ext cx="4584700" cy="749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[CO] 구분회계기준 비용의 1차원가요소 data 산출 프로그램 생성(ZCPR1050)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[FI] 대주주 감사자료 생성-MRO 자재계정의 상대계정 리스트 테이블 저장(ZFIR7035,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ZFIT7035)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ZIMHCD 티코드에 전표기준 AP반제 기능추가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산업안전보건관리비 계상 관련 시스템 보완 요청</a:t>
            </a:r>
          </a:p>
        </p:txBody>
      </p:sp>
      <p:sp>
        <p:nvSpPr>
          <p:cNvPr id="1050967512" name="Text">
    </p:cNvPr>
          <p:cNvSpPr>
            <a:spLocks noGrp="1"/>
          </p:cNvSpPr>
          <p:nvPr/>
        </p:nvSpPr>
        <p:spPr>
          <a:xfrm rot="0">
            <a:off x="7239000" y="3683000"/>
            <a:ext cx="2552700" cy="749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343593717" name="Text">
    </p:cNvPr>
          <p:cNvSpPr>
            <a:spLocks noGrp="1"/>
          </p:cNvSpPr>
          <p:nvPr/>
        </p:nvSpPr>
        <p:spPr>
          <a:xfrm rot="0">
            <a:off x="5549900" y="3683000"/>
            <a:ext cx="571500" cy="749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</a:p>
        </p:txBody>
      </p:sp>
      <p:sp>
        <p:nvSpPr>
          <p:cNvPr id="1763477833" name="Text">
    </p:cNvPr>
          <p:cNvSpPr>
            <a:spLocks noGrp="1"/>
          </p:cNvSpPr>
          <p:nvPr/>
        </p:nvSpPr>
        <p:spPr>
          <a:xfrm rot="0">
            <a:off x="901700" y="3606800"/>
            <a:ext cx="46482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81673361" name="Text">
    </p:cNvPr>
          <p:cNvSpPr>
            <a:spLocks noGrp="1"/>
          </p:cNvSpPr>
          <p:nvPr/>
        </p:nvSpPr>
        <p:spPr>
          <a:xfrm rot="0">
            <a:off x="6121400" y="3606800"/>
            <a:ext cx="36449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73496737" name="Text">
    </p:cNvPr>
          <p:cNvSpPr>
            <a:spLocks noGrp="1"/>
          </p:cNvSpPr>
          <p:nvPr/>
        </p:nvSpPr>
        <p:spPr>
          <a:xfrm rot="0">
            <a:off x="5549900" y="3606800"/>
            <a:ext cx="5715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102641361" name="Frame"/>
          <p:cNvSpPr>
            <a:spLocks noGrp="1"/>
          </p:cNvSpPr>
          <p:nvPr/>
        </p:nvSpPr>
        <p:spPr>
          <a:xfrm>
            <a:off x="127000" y="1384300"/>
            <a:ext cx="9779000" cy="14605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1887980275" name="Frame"/>
          <p:cNvSpPr>
            <a:spLocks noGrp="1"/>
          </p:cNvSpPr>
          <p:nvPr/>
        </p:nvSpPr>
        <p:spPr>
          <a:xfrm>
            <a:off x="152400" y="2070100"/>
            <a:ext cx="9664700" cy="7747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265341530" name="Text">
    </p:cNvPr>
          <p:cNvSpPr>
            <a:spLocks noGrp="1"/>
          </p:cNvSpPr>
          <p:nvPr/>
        </p:nvSpPr>
        <p:spPr>
          <a:xfrm rot="0">
            <a:off x="152400" y="2044700"/>
            <a:ext cx="736600" cy="80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WEB</a:t>
            </a:r>
          </a:p>
        </p:txBody>
      </p:sp>
      <p:sp>
        <p:nvSpPr>
          <p:cNvPr id="1382316107" name="Text">
    </p:cNvPr>
          <p:cNvSpPr>
            <a:spLocks noGrp="1"/>
          </p:cNvSpPr>
          <p:nvPr/>
        </p:nvSpPr>
        <p:spPr>
          <a:xfrm rot="0">
            <a:off x="952500" y="2095500"/>
            <a:ext cx="4597400" cy="749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[PRM] 법인 경제성 시뮬레이션 메뉴추가 및 URL 연결요청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[RPA]  A11 '#1 회계지급전표 증빙대사' 작업 데이터정리 재수행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[LMS] 크롬 업데이트에 따른 LMS e-Learning 진도관리 기능제한에 따른 코드 재개발 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토	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[EAI] [LOPAS]ERP / EAI (SEM_SupriceTrans) 수정 요청</a:t>
            </a:r>
          </a:p>
        </p:txBody>
      </p:sp>
      <p:sp>
        <p:nvSpPr>
          <p:cNvPr id="826437020" name="Text">
    </p:cNvPr>
          <p:cNvSpPr>
            <a:spLocks noGrp="1"/>
          </p:cNvSpPr>
          <p:nvPr/>
        </p:nvSpPr>
        <p:spPr>
          <a:xfrm rot="0">
            <a:off x="7226300" y="2095500"/>
            <a:ext cx="2552700" cy="749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61830805" name="Text">
    </p:cNvPr>
          <p:cNvSpPr>
            <a:spLocks noGrp="1"/>
          </p:cNvSpPr>
          <p:nvPr/>
        </p:nvSpPr>
        <p:spPr>
          <a:xfrm rot="0">
            <a:off x="6108700" y="2044700"/>
            <a:ext cx="762000" cy="80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170196640" name="Text">
    </p:cNvPr>
          <p:cNvSpPr>
            <a:spLocks noGrp="1"/>
          </p:cNvSpPr>
          <p:nvPr/>
        </p:nvSpPr>
        <p:spPr>
          <a:xfrm rot="0">
            <a:off x="5537200" y="2095500"/>
            <a:ext cx="571500" cy="749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</a:p>
        </p:txBody>
      </p:sp>
      <p:sp>
        <p:nvSpPr>
          <p:cNvPr id="2071161231" name="Text">
    </p:cNvPr>
          <p:cNvSpPr>
            <a:spLocks noGrp="1"/>
          </p:cNvSpPr>
          <p:nvPr/>
        </p:nvSpPr>
        <p:spPr>
          <a:xfrm rot="0">
            <a:off x="889000" y="2044700"/>
            <a:ext cx="4648200" cy="80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09934576" name="Text">
    </p:cNvPr>
          <p:cNvSpPr>
            <a:spLocks noGrp="1"/>
          </p:cNvSpPr>
          <p:nvPr/>
        </p:nvSpPr>
        <p:spPr>
          <a:xfrm rot="0">
            <a:off x="7124700" y="2044700"/>
            <a:ext cx="2654300" cy="80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55490180" name="Text">
    </p:cNvPr>
          <p:cNvSpPr>
            <a:spLocks noGrp="1"/>
          </p:cNvSpPr>
          <p:nvPr/>
        </p:nvSpPr>
        <p:spPr>
          <a:xfrm rot="0">
            <a:off x="5537200" y="2044700"/>
            <a:ext cx="571500" cy="80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7630585" name="Rectangle"/>
          <p:cNvSpPr>
            <a:spLocks noGrp="1"/>
          </p:cNvSpPr>
          <p:nvPr/>
        </p:nvSpPr>
        <p:spPr>
          <a:xfrm>
            <a:off x="6870700" y="2044700"/>
            <a:ext cx="254000" cy="800100"/>
          </a:xfrm>
          <a:prstGeom prst="rect">
            <a:avLst/>
          </a:prstGeom>
          <a:solidFill>
            <a:srgbClr val="00FF00"/>
          </a:solidFill>
          <a:ln w="12700">
            <a:solidFill>
              <a:srgbClr val="000000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  <p:sp>
        <p:nvSpPr>
          <p:cNvPr id="1824460779" name="Frame"/>
          <p:cNvSpPr>
            <a:spLocks noGrp="1"/>
          </p:cNvSpPr>
          <p:nvPr/>
        </p:nvSpPr>
        <p:spPr>
          <a:xfrm>
            <a:off x="152400" y="1371600"/>
            <a:ext cx="9639300" cy="6731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1263048649" name="Text">
    </p:cNvPr>
          <p:cNvSpPr>
            <a:spLocks noGrp="1"/>
          </p:cNvSpPr>
          <p:nvPr/>
        </p:nvSpPr>
        <p:spPr>
          <a:xfrm rot="0">
            <a:off x="152400" y="1371600"/>
            <a:ext cx="7366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</a:t>
            </a:r>
          </a:p>
        </p:txBody>
      </p:sp>
      <p:sp>
        <p:nvSpPr>
          <p:cNvPr id="172582175" name="Text">
    </p:cNvPr>
          <p:cNvSpPr>
            <a:spLocks noGrp="1"/>
          </p:cNvSpPr>
          <p:nvPr/>
        </p:nvSpPr>
        <p:spPr>
          <a:xfrm rot="0">
            <a:off x="939800" y="1422400"/>
            <a:ext cx="4610100" cy="622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[FI] 구매 물류송장 CP 결재 요청 오류 원인 분석 및 해결(ZEAM7000)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[CO] PP(Polypropylene)제품별 원가내역 조회 및 저장 프로세스 분석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(ZCPR2030,ZCPR2040)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[SD] e-Biz. 가격조회 RFC 수정</a:t>
            </a:r>
          </a:p>
        </p:txBody>
      </p:sp>
      <p:sp>
        <p:nvSpPr>
          <p:cNvPr id="119761751" name="Text">
    </p:cNvPr>
          <p:cNvSpPr>
            <a:spLocks noGrp="1"/>
          </p:cNvSpPr>
          <p:nvPr/>
        </p:nvSpPr>
        <p:spPr>
          <a:xfrm rot="0">
            <a:off x="7226300" y="1447800"/>
            <a:ext cx="25527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326630415" name="Text">
    </p:cNvPr>
          <p:cNvSpPr>
            <a:spLocks noGrp="1"/>
          </p:cNvSpPr>
          <p:nvPr/>
        </p:nvSpPr>
        <p:spPr>
          <a:xfrm rot="0">
            <a:off x="6108700" y="1371600"/>
            <a:ext cx="7620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479119223" name="Text">
    </p:cNvPr>
          <p:cNvSpPr>
            <a:spLocks noGrp="1"/>
          </p:cNvSpPr>
          <p:nvPr/>
        </p:nvSpPr>
        <p:spPr>
          <a:xfrm rot="0">
            <a:off x="5537200" y="1447800"/>
            <a:ext cx="5715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</a:p>
        </p:txBody>
      </p:sp>
      <p:sp>
        <p:nvSpPr>
          <p:cNvPr id="1563306084" name="Text">
    </p:cNvPr>
          <p:cNvSpPr>
            <a:spLocks noGrp="1"/>
          </p:cNvSpPr>
          <p:nvPr/>
        </p:nvSpPr>
        <p:spPr>
          <a:xfrm rot="0">
            <a:off x="889000" y="1371600"/>
            <a:ext cx="46482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95469381" name="Text">
    </p:cNvPr>
          <p:cNvSpPr>
            <a:spLocks noGrp="1"/>
          </p:cNvSpPr>
          <p:nvPr/>
        </p:nvSpPr>
        <p:spPr>
          <a:xfrm rot="0">
            <a:off x="7124700" y="1371600"/>
            <a:ext cx="26543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44482791" name="Text">
    </p:cNvPr>
          <p:cNvSpPr>
            <a:spLocks noGrp="1"/>
          </p:cNvSpPr>
          <p:nvPr/>
        </p:nvSpPr>
        <p:spPr>
          <a:xfrm rot="0">
            <a:off x="5537200" y="1371600"/>
            <a:ext cx="5715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8931153" name="Rectangle"/>
          <p:cNvSpPr>
            <a:spLocks noGrp="1"/>
          </p:cNvSpPr>
          <p:nvPr/>
        </p:nvSpPr>
        <p:spPr>
          <a:xfrm>
            <a:off x="6870700" y="1371600"/>
            <a:ext cx="254000" cy="673100"/>
          </a:xfrm>
          <a:prstGeom prst="rect">
            <a:avLst/>
          </a:prstGeom>
          <a:solidFill>
            <a:srgbClr val="00FF00"/>
          </a:solidFill>
          <a:ln w="12700">
            <a:solidFill>
              <a:srgbClr val="000000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97"/>
          <p:cNvSpPr>
            <a:spLocks noChangeArrowheads="1"/>
          </p:cNvSpPr>
          <p:nvPr/>
        </p:nvSpPr>
        <p:spPr bwMode="auto">
          <a:xfrm>
            <a:off x="330140" y="744758"/>
            <a:ext cx="2288130" cy="212814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174">
                <a:solidFill>
                  <a:srgbClr val="000000"/>
                </a:solidFill>
              </a:rPr>
              <a:t>금주 업무 실적</a:t>
            </a:r>
            <a:endParaRPr altLang="ko-KR" kumimoji="1" lang="en-US" sz="1174">
              <a:solidFill>
                <a:srgbClr val="000000"/>
              </a:solidFill>
            </a:endParaRPr>
          </a:p>
        </p:txBody>
      </p:sp>
      <p:sp>
        <p:nvSpPr>
          <p:cNvPr id="7171" name="Rectangle 755"/>
          <p:cNvSpPr>
            <a:spLocks noChangeArrowheads="1"/>
          </p:cNvSpPr>
          <p:nvPr/>
        </p:nvSpPr>
        <p:spPr bwMode="auto">
          <a:xfrm>
            <a:off x="268005" y="296321"/>
            <a:ext cx="7667486" cy="3314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dir="2700000" dist="35921" rotWithShape="0">
                    <a:schemeClr val="bg2"/>
                  </a:outerShdw>
                </a:effectLst>
              </a14:hiddenEffects>
            </a:ext>
          </a:extLst>
        </p:spPr>
        <p:txBody>
          <a:bodyPr anchor="ctr" bIns="44805" lIns="89609" rIns="89609" tIns="44805">
            <a:spAutoFit/>
          </a:bodyPr>
          <a:lstStyle>
            <a:lvl1pPr defTabSz="957263" indent="-381000" marL="381000">
              <a:buChar char="•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1pPr>
            <a:lvl2pPr defTabSz="957263" indent="-285750" marL="74295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2pPr>
            <a:lvl3pPr defTabSz="957263" indent="-228600" marL="11430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3pPr>
            <a:lvl4pPr defTabSz="957263" indent="-228600" marL="160020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4pPr>
            <a:lvl5pPr defTabSz="957263" indent="-228600" marL="2057400">
              <a:spcBef>
                <a:spcPct val="20000"/>
              </a:spcBef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5pPr>
            <a:lvl6pPr defTabSz="957263" eaLnBrk="0" fontAlgn="base" hangingPunct="0" indent="-228600" marL="25146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6pPr>
            <a:lvl7pPr defTabSz="957263" eaLnBrk="0" fontAlgn="base" hangingPunct="0" indent="-228600" marL="29718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7pPr>
            <a:lvl8pPr defTabSz="957263" eaLnBrk="0" fontAlgn="base" hangingPunct="0" indent="-228600" marL="34290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8pPr>
            <a:lvl9pPr defTabSz="957263" eaLnBrk="0" fontAlgn="base" hangingPunct="0" indent="-228600" marL="38862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altLang="ko-KR" lang="en-US" sz="1566">
                <a:solidFill>
                  <a:srgbClr val="000000"/>
                </a:solidFill>
                <a:latin charset="-127" panose="020B0503020000020004" pitchFamily="50" typeface="맑은 고딕"/>
                <a:ea charset="-127" panose="020B0503020000020004" pitchFamily="50" typeface="맑은 고딕"/>
              </a:rPr>
              <a:t>2. Summary – </a:t>
            </a:r>
            <a:r>
              <a:rPr altLang="en-US" lang="ko-KR" sz="1566">
                <a:solidFill>
                  <a:srgbClr val="000000"/>
                </a:solidFill>
                <a:latin charset="-127" panose="020B0503020000020004" pitchFamily="50" typeface="맑은 고딕"/>
                <a:ea charset="-127" panose="020B0503020000020004" pitchFamily="50" typeface="맑은 고딕"/>
              </a:rPr>
              <a:t>②</a:t>
            </a:r>
            <a:r>
              <a:rPr altLang="ko-KR" lang="en-US" sz="1566">
                <a:latin charset="-127" panose="020B0503020000020004" pitchFamily="50" typeface="맑은 고딕"/>
                <a:ea charset="-127" panose="020B0503020000020004" pitchFamily="50" typeface="맑은 고딕"/>
              </a:rPr>
              <a:t>Quintet</a:t>
            </a:r>
            <a:endParaRPr altLang="en-US" lang="ko-KR" sz="1566">
              <a:latin charset="-127" panose="020B0503020000020004" pitchFamily="50" typeface="맑은 고딕"/>
              <a:ea charset="-127" panose="020B0503020000020004" pitchFamily="50" typeface="맑은 고딕"/>
            </a:endParaRPr>
          </a:p>
        </p:txBody>
      </p:sp>
      <p:sp>
        <p:nvSpPr>
          <p:cNvPr id="7172" name="Rectangle 1382"/>
          <p:cNvSpPr>
            <a:spLocks noChangeArrowheads="1"/>
          </p:cNvSpPr>
          <p:nvPr/>
        </p:nvSpPr>
        <p:spPr bwMode="auto">
          <a:xfrm>
            <a:off x="330140" y="5740430"/>
            <a:ext cx="2311430" cy="223687"/>
          </a:xfrm>
          <a:prstGeom prst="rect">
            <a:avLst/>
          </a:prstGeom>
          <a:solidFill>
            <a:srgbClr val="CCFFCC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ko-KR" kumimoji="1" lang="en-US" sz="1174">
                <a:solidFill>
                  <a:srgbClr val="000000"/>
                </a:solidFill>
              </a:rPr>
              <a:t>ISSUE</a:t>
            </a:r>
            <a:r>
              <a:rPr altLang="en-US" kumimoji="1" lang="ko-KR" sz="1174">
                <a:solidFill>
                  <a:srgbClr val="000000"/>
                </a:solidFill>
              </a:rPr>
              <a:t> 및 공지사항</a:t>
            </a:r>
            <a:endParaRPr altLang="ko-KR" kumimoji="1" lang="en-US" sz="1174">
              <a:solidFill>
                <a:srgbClr val="000000"/>
              </a:solidFill>
            </a:endParaRPr>
          </a:p>
        </p:txBody>
      </p:sp>
      <p:graphicFrame>
        <p:nvGraphicFramePr>
          <p:cNvPr id="20" name="Group 3691"/>
          <p:cNvGraphicFramePr>
            <a:graphicFrameLocks noGrp="1"/>
          </p:cNvGraphicFramePr>
          <p:nvPr/>
        </p:nvGraphicFramePr>
        <p:xfrm>
          <a:off x="468391" y="5964118"/>
          <a:ext cx="8809220" cy="568537"/>
        </p:xfrm>
        <a:graphic>
          <a:graphicData uri="http://schemas.openxmlformats.org/drawingml/2006/table">
            <a:tbl>
              <a:tblPr/>
              <a:tblGrid>
                <a:gridCol w="88092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68537"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charset="0" panose="020B0604020202020204" pitchFamily="34" typeface="Arial"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typeface="Arial"/>
                      </a:endParaRPr>
                    </a:p>
                  </a:txBody>
                  <a:tcPr anchor="ctr" horzOverflow="overflow" marB="45823" marL="88066" marR="88066" marT="4582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7179" name="Group 240"/>
          <p:cNvGrpSpPr>
            <a:grpSpLocks/>
          </p:cNvGrpSpPr>
          <p:nvPr/>
        </p:nvGrpSpPr>
        <p:grpSpPr bwMode="auto">
          <a:xfrm>
            <a:off x="8218216" y="73699"/>
            <a:ext cx="1059407" cy="591838"/>
            <a:chOff x="5222" y="377"/>
            <a:chExt cx="682" cy="381"/>
          </a:xfrm>
        </p:grpSpPr>
        <p:sp>
          <p:nvSpPr>
            <p:cNvPr id="7236" name="Rectangle 94"/>
            <p:cNvSpPr>
              <a:spLocks noChangeArrowheads="1"/>
            </p:cNvSpPr>
            <p:nvPr/>
          </p:nvSpPr>
          <p:spPr bwMode="auto">
            <a:xfrm>
              <a:off x="5222" y="406"/>
              <a:ext cx="144" cy="96"/>
            </a:xfrm>
            <a:prstGeom prst="rect">
              <a:avLst/>
            </a:prstGeom>
            <a:solidFill>
              <a:srgbClr val="00FF00"/>
            </a:solidFill>
            <a:ln>
              <a:noFill/>
            </a:ln>
            <a:effectLst>
              <a:prstShdw dir="2700000" dist="17961" prst="shdw17">
                <a:srgbClr val="009900"/>
              </a:prstShdw>
            </a:effectLst>
            <a:extLst>
              <a:ext uri="{91240B29-F687-4F45-9708-019B960494DF}">
                <a14:hiddenLine xmlns:a14="http://schemas.microsoft.com/office/drawing/2010/main" algn="ctr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lIns="0" rIns="0" wrap="none"/>
            <a:lstStyle>
              <a:lvl1pPr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r">
                <a:spcBef>
                  <a:spcPct val="0"/>
                </a:spcBef>
                <a:spcAft>
                  <a:spcPct val="0"/>
                </a:spcAft>
              </a:pPr>
              <a:endParaRPr altLang="en-US" b="0" lang="ko-KR" sz="783">
                <a:solidFill>
                  <a:srgbClr val="FF6600"/>
                </a:solidFill>
              </a:endParaRPr>
            </a:p>
          </p:txBody>
        </p:sp>
        <p:sp>
          <p:nvSpPr>
            <p:cNvPr id="7237" name="Rectangle 95"/>
            <p:cNvSpPr>
              <a:spLocks noChangeArrowheads="1"/>
            </p:cNvSpPr>
            <p:nvPr/>
          </p:nvSpPr>
          <p:spPr bwMode="auto">
            <a:xfrm>
              <a:off x="5222" y="518"/>
              <a:ext cx="144" cy="96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ffectLst>
              <a:prstShdw dir="2700000" dist="17961" prst="shdw17">
                <a:srgbClr val="999900"/>
              </a:prstShdw>
            </a:effectLst>
            <a:extLst>
              <a:ext uri="{91240B29-F687-4F45-9708-019B960494DF}">
                <a14:hiddenLine xmlns:a14="http://schemas.microsoft.com/office/drawing/2010/main" algn="ctr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lIns="0" rIns="0" wrap="none"/>
            <a:lstStyle>
              <a:lvl1pPr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r">
                <a:spcBef>
                  <a:spcPct val="0"/>
                </a:spcBef>
                <a:spcAft>
                  <a:spcPct val="0"/>
                </a:spcAft>
              </a:pPr>
              <a:endParaRPr altLang="en-US" b="0" lang="ko-KR" sz="783">
                <a:solidFill>
                  <a:srgbClr val="FF6600"/>
                </a:solidFill>
              </a:endParaRPr>
            </a:p>
          </p:txBody>
        </p:sp>
        <p:sp>
          <p:nvSpPr>
            <p:cNvPr id="7238" name="Rectangle 96"/>
            <p:cNvSpPr>
              <a:spLocks noChangeArrowheads="1"/>
            </p:cNvSpPr>
            <p:nvPr/>
          </p:nvSpPr>
          <p:spPr bwMode="auto">
            <a:xfrm>
              <a:off x="5222" y="622"/>
              <a:ext cx="144" cy="9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>
              <a:prstShdw dir="2700000" dist="17961" prst="shdw17">
                <a:srgbClr val="990000"/>
              </a:prstShdw>
            </a:effectLst>
            <a:extLst>
              <a:ext uri="{91240B29-F687-4F45-9708-019B960494DF}">
                <a14:hiddenLine xmlns:a14="http://schemas.microsoft.com/office/drawing/2010/main" algn="ctr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lIns="0" rIns="0" wrap="none"/>
            <a:lstStyle>
              <a:lvl1pPr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r">
                <a:spcBef>
                  <a:spcPct val="0"/>
                </a:spcBef>
                <a:spcAft>
                  <a:spcPct val="0"/>
                </a:spcAft>
              </a:pPr>
              <a:endParaRPr altLang="en-US" b="0" lang="ko-KR" sz="783">
                <a:solidFill>
                  <a:srgbClr val="FF6600"/>
                </a:solidFill>
              </a:endParaRPr>
            </a:p>
          </p:txBody>
        </p:sp>
        <p:sp>
          <p:nvSpPr>
            <p:cNvPr id="29" name="Text Box 97"/>
            <p:cNvSpPr txBox="1">
              <a:spLocks noChangeArrowheads="1"/>
            </p:cNvSpPr>
            <p:nvPr/>
          </p:nvSpPr>
          <p:spPr bwMode="auto">
            <a:xfrm>
              <a:off x="5395" y="377"/>
              <a:ext cx="207" cy="156"/>
            </a:xfrm>
            <a:prstGeom prst="rect">
              <a:avLst/>
            </a:prstGeom>
            <a:noFill/>
            <a:ln algn="ctr" w="9525">
              <a:noFill/>
              <a:miter lim="800000"/>
              <a:headEnd/>
              <a:tailEnd/>
            </a:ln>
            <a:effectLst>
              <a:prstShdw dir="2700000" dist="17961" prst="shdw17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lIns="0" rIns="0" wrap="none">
              <a:spAutoFit/>
            </a:bodyPr>
            <a:lstStyle/>
            <a:p>
              <a:pPr algn="ctr" defTabSz="842035" eaLnBrk="1" hangingPunct="1" indent="-177107" marL="177107">
                <a:spcBef>
                  <a:spcPct val="40000"/>
                </a:spcBef>
                <a:spcAft>
                  <a:spcPct val="0"/>
                </a:spcAft>
                <a:defRPr/>
              </a:pPr>
              <a:r>
                <a:rPr altLang="ko-KR" b="0" lang="en-US" sz="979">
                  <a:solidFill>
                    <a:srgbClr val="000000"/>
                  </a:solidFill>
                </a:rPr>
                <a:t>: </a:t>
              </a:r>
              <a:r>
                <a:rPr altLang="en-US" b="0" lang="ko-KR" sz="979">
                  <a:solidFill>
                    <a:srgbClr val="000000"/>
                  </a:solidFill>
                </a:rPr>
                <a:t>완료</a:t>
              </a:r>
              <a:endParaRPr altLang="ko-KR" b="0" lang="en-US" sz="979">
                <a:solidFill>
                  <a:srgbClr val="000000"/>
                </a:solidFill>
              </a:endParaRPr>
            </a:p>
          </p:txBody>
        </p:sp>
        <p:sp>
          <p:nvSpPr>
            <p:cNvPr id="30" name="Text Box 98"/>
            <p:cNvSpPr txBox="1">
              <a:spLocks noChangeArrowheads="1"/>
            </p:cNvSpPr>
            <p:nvPr/>
          </p:nvSpPr>
          <p:spPr bwMode="auto">
            <a:xfrm>
              <a:off x="5397" y="489"/>
              <a:ext cx="288" cy="156"/>
            </a:xfrm>
            <a:prstGeom prst="rect">
              <a:avLst/>
            </a:prstGeom>
            <a:noFill/>
            <a:ln algn="ctr" w="9525">
              <a:noFill/>
              <a:miter lim="800000"/>
              <a:headEnd/>
              <a:tailEnd/>
            </a:ln>
            <a:effectLst>
              <a:prstShdw dir="2700000" dist="17961" prst="shdw17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lIns="0" rIns="0" wrap="none">
              <a:spAutoFit/>
            </a:bodyPr>
            <a:lstStyle/>
            <a:p>
              <a:pPr algn="ctr" defTabSz="842035" eaLnBrk="1" hangingPunct="1" indent="-177107" marL="177107">
                <a:spcBef>
                  <a:spcPct val="40000"/>
                </a:spcBef>
                <a:spcAft>
                  <a:spcPct val="0"/>
                </a:spcAft>
                <a:defRPr/>
              </a:pPr>
              <a:r>
                <a:rPr altLang="ko-KR" b="0" lang="en-US" sz="979">
                  <a:solidFill>
                    <a:srgbClr val="000000"/>
                  </a:solidFill>
                </a:rPr>
                <a:t>: </a:t>
              </a:r>
              <a:r>
                <a:rPr altLang="en-US" b="0" lang="ko-KR" sz="979">
                  <a:solidFill>
                    <a:srgbClr val="000000"/>
                  </a:solidFill>
                </a:rPr>
                <a:t>진행중</a:t>
              </a:r>
              <a:endParaRPr altLang="ko-KR" b="0" lang="en-US" sz="979">
                <a:solidFill>
                  <a:srgbClr val="000000"/>
                </a:solidFill>
              </a:endParaRPr>
            </a:p>
          </p:txBody>
        </p:sp>
        <p:sp>
          <p:nvSpPr>
            <p:cNvPr id="31" name="Text Box 99"/>
            <p:cNvSpPr txBox="1">
              <a:spLocks noChangeArrowheads="1"/>
            </p:cNvSpPr>
            <p:nvPr/>
          </p:nvSpPr>
          <p:spPr bwMode="auto">
            <a:xfrm>
              <a:off x="5406" y="602"/>
              <a:ext cx="498" cy="156"/>
            </a:xfrm>
            <a:prstGeom prst="rect">
              <a:avLst/>
            </a:prstGeom>
            <a:noFill/>
            <a:ln algn="ctr" w="9525">
              <a:noFill/>
              <a:miter lim="800000"/>
              <a:headEnd/>
              <a:tailEnd/>
            </a:ln>
            <a:effectLst>
              <a:prstShdw dir="2700000" dist="17961" prst="shdw17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lIns="0" rIns="0" wrap="none">
              <a:spAutoFit/>
            </a:bodyPr>
            <a:lstStyle/>
            <a:p>
              <a:pPr algn="ctr" defTabSz="842035" eaLnBrk="1" hangingPunct="1" indent="-177107" marL="177107">
                <a:spcBef>
                  <a:spcPct val="40000"/>
                </a:spcBef>
                <a:spcAft>
                  <a:spcPct val="0"/>
                </a:spcAft>
                <a:defRPr/>
              </a:pPr>
              <a:r>
                <a:rPr altLang="ko-KR" b="0" lang="en-US" sz="979">
                  <a:solidFill>
                    <a:srgbClr val="000000"/>
                  </a:solidFill>
                </a:rPr>
                <a:t>: </a:t>
              </a:r>
              <a:r>
                <a:rPr altLang="en-US" b="0" lang="ko-KR" sz="979">
                  <a:solidFill>
                    <a:srgbClr val="000000"/>
                  </a:solidFill>
                </a:rPr>
                <a:t>미완료</a:t>
              </a:r>
              <a:r>
                <a:rPr altLang="ko-KR" b="0" lang="en-US" sz="979">
                  <a:solidFill>
                    <a:srgbClr val="000000"/>
                  </a:solidFill>
                </a:rPr>
                <a:t>(</a:t>
              </a:r>
              <a:r>
                <a:rPr altLang="en-US" b="0" lang="ko-KR" sz="979">
                  <a:solidFill>
                    <a:srgbClr val="000000"/>
                  </a:solidFill>
                </a:rPr>
                <a:t>문제</a:t>
              </a:r>
              <a:r>
                <a:rPr altLang="ko-KR" b="0" lang="en-US" sz="979">
                  <a:solidFill>
                    <a:srgbClr val="000000"/>
                  </a:solidFill>
                </a:rPr>
                <a:t>)</a:t>
              </a:r>
            </a:p>
          </p:txBody>
        </p:sp>
      </p:grpSp>
      <p:graphicFrame>
        <p:nvGraphicFramePr>
          <p:cNvPr id="15" name="Group 3690"/>
          <p:cNvGraphicFramePr>
            <a:graphicFrameLocks noGrp="1"/>
          </p:cNvGraphicFramePr>
          <p:nvPr/>
        </p:nvGraphicFramePr>
        <p:xfrm>
          <a:off x="479264" y="1043008"/>
          <a:ext cx="8798347" cy="2816279"/>
        </p:xfrm>
        <a:graphic>
          <a:graphicData uri="http://schemas.openxmlformats.org/drawingml/2006/table">
            <a:tbl>
              <a:tblPr/>
              <a:tblGrid>
                <a:gridCol w="8232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469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10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64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3861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19605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구분 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업무 내용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완료일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err="1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진행율</a:t>
                      </a: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상태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비고</a:t>
                      </a:r>
                      <a:endParaRPr altLang="ko-KR" b="0" baseline="0" cap="none" dirty="0" i="0" kumimoji="1" lang="en-US" normalizeH="0" smtClean="0" strike="noStrike" sz="11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33753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CRM/BI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err="1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키오스크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즉발카드 등록 연동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홈페이지 중복로그인 제한 개발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err="1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현대차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="0" baseline="0" dirty="0" err="1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인카페이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연동</a:t>
                      </a:r>
                      <a:r>
                        <a:rPr altLang="ko-KR" b="0" baseline="0" dirty="0" lang="en-US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_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테스트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마케팅 플랫폼 필드테스트 지원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err="1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상품권 제휴관련 성능저하 개선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786" marL="88066" marR="88066" marT="4578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786" marL="88066" marR="88066" marT="4578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50%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70%</a:t>
                      </a:r>
                    </a:p>
                  </a:txBody>
                  <a:tcPr anchor="ctr" horzOverflow="overflow" marB="45786" marL="88066" marR="88066" marT="45786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mtClean="0" strike="noStrike" sz="1000" u="none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921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VOC/PRM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VOC Summary </a:t>
                      </a:r>
                      <a:r>
                        <a:rPr altLang="en-US" b="0" baseline="0" cap="none" dirty="0" i="0" kern="1200" kumimoji="1" lang="ko-KR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발송 </a:t>
                      </a:r>
                      <a:r>
                        <a:rPr altLang="en-US" b="0" baseline="0" cap="none" dirty="0" err="1" i="0" kern="1200" kumimoji="1" lang="ko-KR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로직</a:t>
                      </a:r>
                      <a:r>
                        <a:rPr altLang="en-US" b="0" baseline="0" cap="none" dirty="0" i="0" kern="1200" kumimoji="1" lang="ko-KR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변경</a:t>
                      </a:r>
                    </a:p>
                  </a:txBody>
                  <a:tcPr anchor="ctr" horzOverflow="overflow" marB="45783" marL="88066" marR="88066" marT="4578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1/15</a:t>
                      </a:r>
                    </a:p>
                  </a:txBody>
                  <a:tcPr anchor="ctr" horzOverflow="overflow" marB="45783" marL="88066" marR="88066" marT="4578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</a:p>
                  </a:txBody>
                  <a:tcPr anchor="ctr" horzOverflow="overflow" marB="45786" marL="88066" marR="88066" marT="45786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mtClean="0" strike="noStrike" sz="1000" u="none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211" name="Rectangle 3082"/>
          <p:cNvSpPr>
            <a:spLocks noChangeArrowheads="1"/>
          </p:cNvSpPr>
          <p:nvPr/>
        </p:nvSpPr>
        <p:spPr bwMode="auto">
          <a:xfrm>
            <a:off x="330140" y="3950936"/>
            <a:ext cx="2311430" cy="245434"/>
          </a:xfrm>
          <a:prstGeom prst="rect">
            <a:avLst/>
          </a:prstGeom>
          <a:solidFill>
            <a:srgbClr val="FF9900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174">
                <a:solidFill>
                  <a:srgbClr val="000000"/>
                </a:solidFill>
              </a:rPr>
              <a:t>차주 업무 계획</a:t>
            </a:r>
            <a:endParaRPr altLang="ko-KR" kumimoji="1" lang="en-US" sz="1174">
              <a:solidFill>
                <a:srgbClr val="000000"/>
              </a:solidFill>
            </a:endParaRPr>
          </a:p>
        </p:txBody>
      </p:sp>
      <p:graphicFrame>
        <p:nvGraphicFramePr>
          <p:cNvPr id="16" name="Group 3690"/>
          <p:cNvGraphicFramePr>
            <a:graphicFrameLocks noGrp="1"/>
          </p:cNvGraphicFramePr>
          <p:nvPr/>
        </p:nvGraphicFramePr>
        <p:xfrm>
          <a:off x="479264" y="4249185"/>
          <a:ext cx="8798347" cy="1143651"/>
        </p:xfrm>
        <a:graphic>
          <a:graphicData uri="http://schemas.openxmlformats.org/drawingml/2006/table">
            <a:tbl>
              <a:tblPr/>
              <a:tblGrid>
                <a:gridCol w="8201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63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10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807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7202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구분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업무 내용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완료일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비고</a:t>
                      </a:r>
                      <a:endParaRPr altLang="ko-KR" b="0" baseline="0" cap="none" dirty="0" i="0" kumimoji="1" lang="en-US" normalizeH="0" smtClean="0" strike="noStrike" sz="11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8703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6004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VOC/PRM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ern="1200" kumimoji="0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37">
            <a:extLst>
              <a:ext uri="{FF2B5EF4-FFF2-40B4-BE49-F238E27FC236}">
                <a16:creationId xmlns:a16="http://schemas.microsoft.com/office/drawing/2014/main" id="{95DBC0E4-3FED-4168-A811-F22F73E27A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2179" y="296320"/>
            <a:ext cx="8761066" cy="3314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bIns="44805" lIns="89609" rIns="89609" tIns="44805">
            <a:spAutoFit/>
          </a:bodyPr>
          <a:lstStyle>
            <a:lvl1pPr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ko-KR" kumimoji="1" lang="en-US" sz="1566">
                <a:solidFill>
                  <a:srgbClr val="000000"/>
                </a:solidFill>
              </a:rPr>
              <a:t>3. </a:t>
            </a:r>
            <a:r>
              <a:rPr altLang="en-US" kumimoji="1" lang="ko-KR" sz="1566">
                <a:solidFill>
                  <a:srgbClr val="000000"/>
                </a:solidFill>
              </a:rPr>
              <a:t>주간업무 실적 및 계획</a:t>
            </a:r>
            <a:r>
              <a:rPr altLang="ko-KR" kumimoji="1" lang="en-US" sz="1566">
                <a:solidFill>
                  <a:srgbClr val="000000"/>
                </a:solidFill>
              </a:rPr>
              <a:t>(CP(IT Winner))</a:t>
            </a:r>
          </a:p>
        </p:txBody>
      </p:sp>
      <p:graphicFrame>
        <p:nvGraphicFramePr>
          <p:cNvPr id="7" name="Group 108">
            <a:extLst>
              <a:ext uri="{FF2B5EF4-FFF2-40B4-BE49-F238E27FC236}">
                <a16:creationId xmlns:a16="http://schemas.microsoft.com/office/drawing/2014/main" id="{D1918DE1-D523-480A-B775-91AD5D4C84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1939277"/>
              </p:ext>
            </p:extLst>
          </p:nvPr>
        </p:nvGraphicFramePr>
        <p:xfrm>
          <a:off x="255578" y="1117570"/>
          <a:ext cx="4846547" cy="2400406"/>
        </p:xfrm>
        <a:graphic>
          <a:graphicData uri="http://schemas.openxmlformats.org/drawingml/2006/table">
            <a:tbl>
              <a:tblPr/>
              <a:tblGrid>
                <a:gridCol w="5964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351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64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649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4684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  <a:endParaRPr altLang="ko-KR" b="1" baseline="0" cap="none" i="0" kumimoji="1" lang="en-US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1" baseline="0" cap="none" i="0" kumimoji="1" lang="ko-KR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진행율</a:t>
                      </a:r>
                      <a:endParaRPr altLang="ko-KR" b="1" baseline="0" cap="none" i="0" kumimoji="1" lang="en-US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완료일</a:t>
                      </a:r>
                      <a:endParaRPr altLang="ko-KR" b="1" baseline="0" cap="none" i="0" kumimoji="1" lang="en-US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92881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CP/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이영주</a:t>
                      </a:r>
                      <a:endParaRPr altLang="ko-KR" b="0" baseline="0" cap="none" dirty="0" i="0" kumimoji="1" lang="en-US" normalizeH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6" marL="88066" marR="88066" marT="45756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indent="-169863" marL="169863"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indent="-177800" marL="536575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indent="-177800" marL="8937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indent="-188913" marL="12620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indent="-177800" marL="1620838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177800" marL="20780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177800" marL="25352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177800" marL="29924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177800" marL="34496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더보기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메뉴 권한 중복 조회 이슈 수정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ERS 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규정관리지안지 누락 배치 재 실행 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ADOBE FLASH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종료에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따른 운영 반영 작업</a:t>
                      </a: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자원예약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본사 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20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년도 화상 전체 자료 작성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전직원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품질 만족도 조사 설문 생성 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유가 조회 권한 기능 변경 및 권한 추가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정유제품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Spread HSK 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누락 데이터 등록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안전수업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/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안전지킴이가이드북 메뉴 전환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유가 연동 배치 변경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(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범위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:3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일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-&gt;15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일로 변경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)</a:t>
                      </a:r>
                    </a:p>
                  </a:txBody>
                  <a:tcPr horzOverflow="overflow" marB="45772" marL="88066" marR="88066" marT="4577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indent="-177800" marL="536575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indent="-177800" marL="8937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indent="-188913" marL="12620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indent="-177800" marL="1620838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177800" marL="20780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177800" marL="25352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177800" marL="29924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177800" marL="34496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01/13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01/15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72" marL="88066" marR="88066" marT="4577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indent="-177800" marL="536575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indent="-177800" marL="8937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indent="-188913" marL="12620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indent="-177800" marL="1620838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177800" marL="20780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177800" marL="25352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177800" marL="29924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177800" marL="34496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01/13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01/15</a:t>
                      </a:r>
                    </a:p>
                  </a:txBody>
                  <a:tcPr horzOverflow="overflow" marB="45772" marL="88066" marR="88066" marT="4577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indent="-177800" marL="536575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indent="-177800" marL="8937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indent="-188913" marL="12620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indent="-177800" marL="1620838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177800" marL="20780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177800" marL="25352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177800" marL="29924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177800" marL="34496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72" marL="88066" marR="88066" marT="4577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Group 109">
            <a:extLst>
              <a:ext uri="{FF2B5EF4-FFF2-40B4-BE49-F238E27FC236}">
                <a16:creationId xmlns:a16="http://schemas.microsoft.com/office/drawing/2014/main" id="{7721BB07-7B10-4642-8619-4B25D434FC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6118837"/>
              </p:ext>
            </p:extLst>
          </p:nvPr>
        </p:nvGraphicFramePr>
        <p:xfrm>
          <a:off x="5176687" y="1117570"/>
          <a:ext cx="4399173" cy="1944545"/>
        </p:xfrm>
        <a:graphic>
          <a:graphicData uri="http://schemas.openxmlformats.org/drawingml/2006/table">
            <a:tbl>
              <a:tblPr/>
              <a:tblGrid>
                <a:gridCol w="6601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459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58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71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3976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</a:p>
                  </a:txBody>
                  <a:tcPr anchor="ctr" horzOverflow="overflow" marB="45729" marL="88066" marR="88066" marT="4572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29" marL="88066" marR="88066" marT="4572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729" marL="88066" marR="88066" marT="4572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anchor="ctr" horzOverflow="overflow" marB="45729" marL="88066" marR="88066" marT="4572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48287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i="0" kumimoji="1" lang="en-US" normalizeH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CP/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이영주</a:t>
                      </a:r>
                      <a:endParaRPr altLang="ko-KR" b="0" baseline="0" cap="none" i="0" kumimoji="1" lang="en-US" normalizeH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L="88066" marR="88066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>
                        <a:spcBef>
                          <a:spcPts val="35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>
                        <a:spcBef>
                          <a:spcPts val="35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>
                        <a:spcBef>
                          <a:spcPts val="35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>
                        <a:spcBef>
                          <a:spcPts val="35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228600" marL="251460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20603050405020304" pitchFamily="18" typeface="Times New Roman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228600" marL="297180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20603050405020304" pitchFamily="18" typeface="Times New Roman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228600" marL="342900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20603050405020304" pitchFamily="18" typeface="Times New Roman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228600" marL="388620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20603050405020304" pitchFamily="18" typeface="Times New Roman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CP 1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월 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2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회차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정기점검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(WAS/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배치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재기동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)</a:t>
                      </a: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rtl="0"/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ADOBE FLASH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종료에 따른 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HTML5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전환 </a:t>
                      </a: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rtl="0"/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  ( * 1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차 개발 완료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,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테스트 및 보완 예정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)</a:t>
                      </a:r>
                      <a:endParaRPr altLang="en-US" dirty="0" kern="1200" kumimoji="1" lang="ko-KR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817" marL="88066" marR="88066" marT="5358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endParaRPr altLang="ko-KR" b="0" baseline="0" cap="none" dirty="0" i="0" kern="1200" kumimoji="1" lang="en-US" noProof="0" normalizeH="0" smtClean="0" spc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817" marL="88066" marR="88066" marT="5358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01/20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01/29</a:t>
                      </a:r>
                    </a:p>
                  </a:txBody>
                  <a:tcPr horzOverflow="overflow" marB="45817" marL="88066" marR="88066" marT="5358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184" name="Rectangle 136">
            <a:extLst>
              <a:ext uri="{FF2B5EF4-FFF2-40B4-BE49-F238E27FC236}">
                <a16:creationId xmlns:a16="http://schemas.microsoft.com/office/drawing/2014/main" id="{546AF6F6-150A-4F5D-B79C-9EC68A793C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76687" y="760293"/>
            <a:ext cx="4399174" cy="310676"/>
          </a:xfrm>
          <a:prstGeom prst="rect">
            <a:avLst/>
          </a:prstGeom>
          <a:solidFill>
            <a:srgbClr val="C7CDFD"/>
          </a:solidFill>
          <a:ln algn="ctr" w="9525">
            <a:noFill/>
            <a:miter lim="800000"/>
            <a:headEnd/>
            <a:tailEnd/>
          </a:ln>
          <a:effectLst>
            <a:outerShdw algn="ctr" dir="2700000" dist="35921" rotWithShape="0">
              <a:schemeClr val="bg2"/>
            </a:outerShdw>
          </a:effectLst>
        </p:spPr>
        <p:txBody>
          <a:bodyPr anchor="ctr"/>
          <a:lstStyle/>
          <a:p>
            <a:pPr algn="ctr" defTabSz="789214" eaLnBrk="1" hangingPunct="1" indent="-242357" marL="242357">
              <a:spcBef>
                <a:spcPct val="0"/>
              </a:spcBef>
              <a:spcAft>
                <a:spcPct val="0"/>
              </a:spcAft>
              <a:defRPr/>
            </a:pPr>
            <a:r>
              <a:rPr altLang="en-US" kumimoji="1" lang="ko-KR" sz="1370">
                <a:solidFill>
                  <a:srgbClr val="000000"/>
                </a:solidFill>
              </a:rPr>
              <a:t>차주 업무 계획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  <p:sp>
        <p:nvSpPr>
          <p:cNvPr id="6185" name="Rectangle 136">
            <a:extLst>
              <a:ext uri="{FF2B5EF4-FFF2-40B4-BE49-F238E27FC236}">
                <a16:creationId xmlns:a16="http://schemas.microsoft.com/office/drawing/2014/main" id="{227A3DDD-F02B-4FC8-A75A-DDE02A45CE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577" y="744759"/>
            <a:ext cx="4846547" cy="310676"/>
          </a:xfrm>
          <a:prstGeom prst="rect">
            <a:avLst/>
          </a:prstGeom>
          <a:solidFill>
            <a:srgbClr val="C7CDFD"/>
          </a:solidFill>
          <a:ln algn="ctr" w="9525">
            <a:noFill/>
            <a:miter lim="800000"/>
            <a:headEnd/>
            <a:tailEnd/>
          </a:ln>
          <a:effectLst>
            <a:outerShdw algn="ctr" dir="2700000" dist="35921" rotWithShape="0">
              <a:schemeClr val="bg2"/>
            </a:outerShdw>
          </a:effectLst>
        </p:spPr>
        <p:txBody>
          <a:bodyPr anchor="ctr"/>
          <a:lstStyle/>
          <a:p>
            <a:pPr algn="ctr" defTabSz="789214" eaLnBrk="1" hangingPunct="1" indent="-242357" marL="242357">
              <a:spcBef>
                <a:spcPct val="0"/>
              </a:spcBef>
              <a:spcAft>
                <a:spcPct val="0"/>
              </a:spcAft>
              <a:defRPr/>
            </a:pPr>
            <a:r>
              <a:rPr altLang="en-US" kumimoji="1" lang="ko-KR" sz="1370">
                <a:solidFill>
                  <a:srgbClr val="000000"/>
                </a:solidFill>
              </a:rPr>
              <a:t>금주 업무 실적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900003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784974664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37769491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470530388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727231411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1273757203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624019702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181635367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679837034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015678223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391580688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588546742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544851347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287069422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672457444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</a:p>
        </p:txBody>
      </p:sp>
      <p:sp>
        <p:nvSpPr>
          <p:cNvPr id="1680446229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10/17</a:t>
            </a:r>
            <a:br/>
            <a:br/>
          </a:p>
        </p:txBody>
      </p:sp>
      <p:sp>
        <p:nvSpPr>
          <p:cNvPr id="177375070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구분회계기준 비용의 1차원가요소 data 산출 프로그램 생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성 (ZCPR1050)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PP(Polypropylene) 제품별 원가내역 조회 Report 개발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청(ZPCOR2030)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대주주 감사자료 생성-MRO 자재계정의 상대계정 리스트 테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이블 저장 (ZFIR7035, ZFIT7035)</a:t>
            </a:r>
          </a:p>
        </p:txBody>
      </p:sp>
      <p:sp>
        <p:nvSpPr>
          <p:cNvPr id="2116462732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FI/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CO/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강민경</a:t>
            </a:r>
          </a:p>
        </p:txBody>
      </p:sp>
      <p:sp>
        <p:nvSpPr>
          <p:cNvPr id="1626403616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FI/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CO/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강민경</a:t>
            </a:r>
          </a:p>
        </p:txBody>
      </p:sp>
      <p:sp>
        <p:nvSpPr>
          <p:cNvPr id="1223255312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공휴일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PP(Polypropylene)제품별 원가내역 조회 및 저장 프로세스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분석(ZCPR2030,ZCPR2040)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구매 물류송장 CP 결재 요청 오류 원인 분석 및 해결 (ZEA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M7000)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Off duty</a:t>
            </a:r>
          </a:p>
        </p:txBody>
      </p:sp>
      <p:sp>
        <p:nvSpPr>
          <p:cNvPr id="1457500964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</a:p>
        </p:txBody>
      </p:sp>
      <p:sp>
        <p:nvSpPr>
          <p:cNvPr id="494273467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</a:p>
        </p:txBody>
      </p:sp>
      <p:sp>
        <p:nvSpPr>
          <p:cNvPr id="2054724294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12/28</a:t>
            </a:r>
            <a:br/>
          </a:p>
        </p:txBody>
      </p:sp>
      <p:sp>
        <p:nvSpPr>
          <p:cNvPr id="2042278268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389849596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131874246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</a:p>
        </p:txBody>
      </p:sp>
      <p:sp>
        <p:nvSpPr>
          <p:cNvPr id="1090636360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12/20</a:t>
            </a:r>
            <a:br/>
          </a:p>
        </p:txBody>
      </p:sp>
      <p:sp>
        <p:nvSpPr>
          <p:cNvPr id="1838981701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외근신청현황(ZHRR2780) 수정 및 삭제 기능 추가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당일 시내출장 중식비 신청서 개발 요청</a:t>
            </a:r>
          </a:p>
        </p:txBody>
      </p:sp>
      <p:sp>
        <p:nvSpPr>
          <p:cNvPr id="83737729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Fiori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김예린</a:t>
            </a:r>
          </a:p>
        </p:txBody>
      </p:sp>
      <p:sp>
        <p:nvSpPr>
          <p:cNvPr id="1964229177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Fiori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김예린</a:t>
            </a:r>
          </a:p>
        </p:txBody>
      </p:sp>
      <p:sp>
        <p:nvSpPr>
          <p:cNvPr id="974067033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반반차(2시간) 연차휴가 신청 및 관리를 위한 시스템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요청(메뉴 별 개선)-오픈세팅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휴가사용조회(HCM)의 종류별 휴가 표기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당일 시내출장 중식비 신청서 개발 요청</a:t>
            </a:r>
          </a:p>
        </p:txBody>
      </p:sp>
      <p:sp>
        <p:nvSpPr>
          <p:cNvPr id="847845079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</a:p>
        </p:txBody>
      </p:sp>
      <p:sp>
        <p:nvSpPr>
          <p:cNvPr id="1534705075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0131</a:t>
            </a:r>
            <a:br/>
          </a:p>
        </p:txBody>
      </p:sp>
      <p:sp>
        <p:nvSpPr>
          <p:cNvPr id="814788335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12/20</a:t>
            </a:r>
            <a:br/>
          </a:p>
        </p:txBody>
      </p:sp>
      <p:sp>
        <p:nvSpPr>
          <p:cNvPr id="1920454777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37514830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916318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736283953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742353452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2097696678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692340694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1508496185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864689532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357832257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277364779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539598477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328428430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886603093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627282359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411490085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72699552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</a:p>
        </p:txBody>
      </p:sp>
      <p:sp>
        <p:nvSpPr>
          <p:cNvPr id="1736762664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12/20</a:t>
            </a:r>
            <a:br/>
          </a:p>
        </p:txBody>
      </p:sp>
      <p:sp>
        <p:nvSpPr>
          <p:cNvPr id="1966418316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SABIC 시스템 연동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산업안전보건관리비 계상 관련 시스템 보완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ZIMHCD 티코드에 전표기준 AP반제 기능추가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SAP의 ZIMBAD B/L List에 B/L금액필드 추가 요청</a:t>
            </a:r>
          </a:p>
        </p:txBody>
      </p:sp>
      <p:sp>
        <p:nvSpPr>
          <p:cNvPr id="1537538032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김원기</a:t>
            </a:r>
          </a:p>
        </p:txBody>
      </p:sp>
      <p:sp>
        <p:nvSpPr>
          <p:cNvPr id="1140336692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김원기</a:t>
            </a:r>
          </a:p>
        </p:txBody>
      </p:sp>
      <p:sp>
        <p:nvSpPr>
          <p:cNvPr id="51722438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SABIC 시스템 연동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산업안전보건관리비 계상 관련 시스템 보완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ZIMHCD 티코드에 전표기준 AP반제 기능추가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SAP의 ZIMBAD B/L List에 B/L금액필드 추가 요청</a:t>
            </a:r>
          </a:p>
        </p:txBody>
      </p:sp>
      <p:sp>
        <p:nvSpPr>
          <p:cNvPr id="1596987489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</a:p>
        </p:txBody>
      </p:sp>
      <p:sp>
        <p:nvSpPr>
          <p:cNvPr id="592932608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[보류]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</a:p>
        </p:txBody>
      </p:sp>
      <p:sp>
        <p:nvSpPr>
          <p:cNvPr id="569133782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12/20</a:t>
            </a:r>
            <a:br/>
          </a:p>
        </p:txBody>
      </p:sp>
      <p:sp>
        <p:nvSpPr>
          <p:cNvPr id="185959717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421440822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84386254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01/04</a:t>
            </a:r>
            <a:br/>
          </a:p>
        </p:txBody>
      </p:sp>
      <p:sp>
        <p:nvSpPr>
          <p:cNvPr id="267875443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</a:p>
        </p:txBody>
      </p:sp>
      <p:sp>
        <p:nvSpPr>
          <p:cNvPr id="686613509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정기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이관 /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ERP운영 마감업무 지원작업</a:t>
            </a:r>
          </a:p>
        </p:txBody>
      </p:sp>
      <p:sp>
        <p:nvSpPr>
          <p:cNvPr id="938682089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BC/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박남신</a:t>
            </a:r>
          </a:p>
        </p:txBody>
      </p:sp>
      <p:sp>
        <p:nvSpPr>
          <p:cNvPr id="179215748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BC/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박남신</a:t>
            </a:r>
          </a:p>
        </p:txBody>
      </p:sp>
      <p:sp>
        <p:nvSpPr>
          <p:cNvPr id="1045312590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정기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이관 /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ERP운영 신규 DMS서버 MaxDB 데이타파일 추가 및 AutoL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og 파일 삭제작업</a:t>
            </a:r>
          </a:p>
        </p:txBody>
      </p:sp>
      <p:sp>
        <p:nvSpPr>
          <p:cNvPr id="1909273422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  <a:br/>
          </a:p>
        </p:txBody>
      </p:sp>
      <p:sp>
        <p:nvSpPr>
          <p:cNvPr id="1604818928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  <a:br/>
          </a:p>
        </p:txBody>
      </p:sp>
      <p:sp>
        <p:nvSpPr>
          <p:cNvPr id="555447101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12/26</a:t>
            </a:r>
            <a:br/>
            <a:br/>
          </a:p>
        </p:txBody>
      </p:sp>
      <p:sp>
        <p:nvSpPr>
          <p:cNvPr id="1857609492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995949774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1471093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61460478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086001796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898604210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364946208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913955335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687847344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767163293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030788265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168230626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963345639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385953481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787297628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707089595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573988250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12/30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  <a:br/>
          </a:p>
        </p:txBody>
      </p:sp>
      <p:sp>
        <p:nvSpPr>
          <p:cNvPr id="1021270131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05/23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12/23</a:t>
            </a:r>
            <a:br/>
            <a:br/>
          </a:p>
        </p:txBody>
      </p:sp>
      <p:sp>
        <p:nvSpPr>
          <p:cNvPr id="2069876065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산업안전보건관리비 계상 관련 시스템 보완 요청* 구매요구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서 전송(ZMMT4040), 기성보고서 전송(ZMMT4060) 관련 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능 추가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자산취득 장기 미정산 누락 방지를 위한 시스템 개선* WBS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요소 약정 관리를 위한 PR생성, 삭제 RFC Function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자재 입고전표(반입증, 검수증) 등록 시 개선 요청* 엑셀 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로드 양식으로 자체검수 품목 입고(103) 및 기술검수증 전송</a:t>
            </a:r>
          </a:p>
        </p:txBody>
      </p:sp>
      <p:sp>
        <p:nvSpPr>
          <p:cNvPr id="504308087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오승룡</a:t>
            </a:r>
          </a:p>
        </p:txBody>
      </p:sp>
      <p:sp>
        <p:nvSpPr>
          <p:cNvPr id="247817633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오승룡</a:t>
            </a:r>
          </a:p>
        </p:txBody>
      </p:sp>
      <p:sp>
        <p:nvSpPr>
          <p:cNvPr id="1210034378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산업안전보건관리비 계상 관련 시스템 보완 요청* 구매요구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서 전송(ZMMT4040), 기성보고서 전송(ZMMT4060) 관련 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능 추가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자산취득 장기 미정산 누락 방지를 위한 시스템 개선* WBS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요소 약정 관리를 위한 PR생성, 삭제 RFC Function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자재 입고전표(반입증, 검수증) 등록 시 개선 요청* 엑셀 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로드 양식으로 자체검수 품목 입고(103) 및 기술검수증 전송</a:t>
            </a:r>
          </a:p>
        </p:txBody>
      </p:sp>
      <p:sp>
        <p:nvSpPr>
          <p:cNvPr id="1294880877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12/30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  <a:br/>
          </a:p>
        </p:txBody>
      </p:sp>
      <p:sp>
        <p:nvSpPr>
          <p:cNvPr id="718128166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</a:p>
        </p:txBody>
      </p:sp>
      <p:sp>
        <p:nvSpPr>
          <p:cNvPr id="260068531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05/23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12/23</a:t>
            </a:r>
            <a:br/>
            <a:br/>
          </a:p>
        </p:txBody>
      </p:sp>
      <p:sp>
        <p:nvSpPr>
          <p:cNvPr id="980218993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0562537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04576004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01/19</a:t>
            </a:r>
            <a:br/>
          </a:p>
        </p:txBody>
      </p:sp>
      <p:sp>
        <p:nvSpPr>
          <p:cNvPr id="1291755329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12/20</a:t>
            </a:r>
            <a:br/>
          </a:p>
        </p:txBody>
      </p:sp>
      <p:sp>
        <p:nvSpPr>
          <p:cNvPr id="300688851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POS기 전송 테스트 및 보완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[Lube E-Biz] 서블릿 HANG 현상 원인 파악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계정 생성 프로시저 api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인수인계 문서 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인수인계</a:t>
            </a:r>
          </a:p>
        </p:txBody>
      </p:sp>
      <p:sp>
        <p:nvSpPr>
          <p:cNvPr id="1742161081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e-Biz/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CCS/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Lube E-Biz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이여진</a:t>
            </a:r>
          </a:p>
        </p:txBody>
      </p:sp>
      <p:sp>
        <p:nvSpPr>
          <p:cNvPr id="352526361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e-Biz/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CCS/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Lube E-Biz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이여진</a:t>
            </a:r>
          </a:p>
        </p:txBody>
      </p:sp>
      <p:sp>
        <p:nvSpPr>
          <p:cNvPr id="767537519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POS기 전송 테스트 및 보완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[Lube E-Biz] 서블릿 HANG 현상 원인 파악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계정 생성 프로시저 api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인수인계 문서 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인수인계</a:t>
            </a:r>
          </a:p>
        </p:txBody>
      </p:sp>
      <p:sp>
        <p:nvSpPr>
          <p:cNvPr id="1569577910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01/19</a:t>
            </a:r>
            <a:br/>
          </a:p>
        </p:txBody>
      </p:sp>
      <p:sp>
        <p:nvSpPr>
          <p:cNvPr id="2272818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99%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99%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</a:p>
        </p:txBody>
      </p:sp>
      <p:sp>
        <p:nvSpPr>
          <p:cNvPr id="204293575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12/20</a:t>
            </a:r>
            <a:br/>
          </a:p>
        </p:txBody>
      </p:sp>
      <p:sp>
        <p:nvSpPr>
          <p:cNvPr id="1548335588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65058736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3957977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470390958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28492370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918743896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737798904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2070268865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35679467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597282780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205034877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314421125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326884877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129724561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587498629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547355879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301785307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01/18</a:t>
            </a:r>
            <a:br/>
          </a:p>
        </p:txBody>
      </p:sp>
      <p:sp>
        <p:nvSpPr>
          <p:cNvPr id="1734323193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12/22</a:t>
            </a:r>
            <a:br/>
          </a:p>
        </p:txBody>
      </p:sp>
      <p:sp>
        <p:nvSpPr>
          <p:cNvPr id="1618492219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인수인계</a:t>
            </a:r>
            <a:br/>
          </a:p>
        </p:txBody>
      </p:sp>
      <p:sp>
        <p:nvSpPr>
          <p:cNvPr id="1786762285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e-Biz/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CCS/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FLBIZ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이정민</a:t>
            </a:r>
          </a:p>
        </p:txBody>
      </p:sp>
      <p:sp>
        <p:nvSpPr>
          <p:cNvPr id="485690241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e-Biz/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CCS/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FLBIZ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이정민</a:t>
            </a:r>
          </a:p>
        </p:txBody>
      </p:sp>
      <p:sp>
        <p:nvSpPr>
          <p:cNvPr id="115964805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인수인계 및 환경설정(tomcat, eclipse 등)</a:t>
            </a:r>
            <a:br/>
          </a:p>
        </p:txBody>
      </p:sp>
      <p:sp>
        <p:nvSpPr>
          <p:cNvPr id="661203328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</a:p>
        </p:txBody>
      </p:sp>
      <p:sp>
        <p:nvSpPr>
          <p:cNvPr id="866344956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</a:p>
        </p:txBody>
      </p:sp>
      <p:sp>
        <p:nvSpPr>
          <p:cNvPr id="923329802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12/25</a:t>
            </a:r>
            <a:br/>
          </a:p>
        </p:txBody>
      </p:sp>
      <p:sp>
        <p:nvSpPr>
          <p:cNvPr id="2062587197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39449546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36936974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</a:p>
        </p:txBody>
      </p:sp>
      <p:sp>
        <p:nvSpPr>
          <p:cNvPr id="1293874440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12/18</a:t>
            </a:r>
            <a:br/>
          </a:p>
        </p:txBody>
      </p:sp>
      <p:sp>
        <p:nvSpPr>
          <p:cNvPr id="867813611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다면평가 평가자 추출 방식 개발 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HCM 문의 응대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생리휴가 매월 쿼터 자동 발생 요청</a:t>
            </a:r>
          </a:p>
        </p:txBody>
      </p:sp>
      <p:sp>
        <p:nvSpPr>
          <p:cNvPr id="2071758224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최연화</a:t>
            </a:r>
          </a:p>
        </p:txBody>
      </p:sp>
      <p:sp>
        <p:nvSpPr>
          <p:cNvPr id="902065126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최연화</a:t>
            </a:r>
          </a:p>
        </p:txBody>
      </p:sp>
      <p:sp>
        <p:nvSpPr>
          <p:cNvPr id="256405219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다면평가 평가자 추출 방식 개발 - 사용자 테스트 및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임원 퇴직추계액 계산 직책수당 누락 정정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HCM 문의 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해외출장명령서의 Cost Centor 변경</a:t>
            </a:r>
          </a:p>
        </p:txBody>
      </p:sp>
      <p:sp>
        <p:nvSpPr>
          <p:cNvPr id="1917518193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01/12</a:t>
            </a:r>
            <a:br/>
          </a:p>
        </p:txBody>
      </p:sp>
      <p:sp>
        <p:nvSpPr>
          <p:cNvPr id="1837386413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100%</a:t>
            </a:r>
            <a:br/>
          </a:p>
        </p:txBody>
      </p:sp>
      <p:sp>
        <p:nvSpPr>
          <p:cNvPr id="2064222112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12/22</a:t>
            </a:r>
            <a:br/>
          </a:p>
        </p:txBody>
      </p:sp>
      <p:sp>
        <p:nvSpPr>
          <p:cNvPr id="930791764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95980099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6710270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695368984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77351564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425967178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018945030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855735054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429184456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371208393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865289494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92053601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571121176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610288674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33967181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311754523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679317263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[보류]</a:t>
            </a:r>
            <a:br/>
            <a:br/>
            <a:br/>
          </a:p>
        </p:txBody>
      </p:sp>
      <p:sp>
        <p:nvSpPr>
          <p:cNvPr id="1115635962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07/03</a:t>
            </a:r>
            <a:br/>
            <a:br/>
            <a:br/>
          </a:p>
        </p:txBody>
      </p:sp>
      <p:sp>
        <p:nvSpPr>
          <p:cNvPr id="1600302750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ITSM-96689PRM 거래처 마스터 항목별 관리를 위한 ERP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마스터 분개처리 구조 보완 요청-7/3 RFC 구조 생성-7/4 조건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별 T코드 및 프로그램 코딩-7/5 처리결과 리턴 기능 추가</a:t>
            </a:r>
          </a:p>
        </p:txBody>
      </p:sp>
      <p:sp>
        <p:nvSpPr>
          <p:cNvPr id="1790705230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최진우</a:t>
            </a:r>
          </a:p>
        </p:txBody>
      </p:sp>
      <p:sp>
        <p:nvSpPr>
          <p:cNvPr id="1288503863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최진우</a:t>
            </a:r>
          </a:p>
        </p:txBody>
      </p:sp>
      <p:sp>
        <p:nvSpPr>
          <p:cNvPr id="1947071428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ITSM-93611 ZSDR7090 - 담보관리:채권대비 담보확보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액” 개선요청-6/2~ 변경 요청사항 반영- 8/29~8/30 요구사항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변경으로 로직수정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ITSM-96689PRM 거래처 마스터 항목별 관리를 위한 ERP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마스터 분개처리 구조 보완 요청-7/3 RFC 구조 생성-7/4 조건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별 T코드 및 프로그램 코딩-7/5 처리결과 리턴 기능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ITSM-104195e-Biz. 가격조회 RFC 수정-12/27 운영반영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[TD] ITSM-104863납품일 취소 불일치 수정요건</a:t>
            </a:r>
          </a:p>
        </p:txBody>
      </p:sp>
      <p:sp>
        <p:nvSpPr>
          <p:cNvPr id="1053930885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</a:p>
        </p:txBody>
      </p:sp>
      <p:sp>
        <p:nvSpPr>
          <p:cNvPr id="187524511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</a:p>
        </p:txBody>
      </p:sp>
      <p:sp>
        <p:nvSpPr>
          <p:cNvPr id="794100343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06/02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07/03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</a:p>
        </p:txBody>
      </p:sp>
      <p:sp>
        <p:nvSpPr>
          <p:cNvPr id="886921098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7115529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002732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921277200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085237850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653429917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873633172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354820194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778069286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651294665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719343833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52856307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72090994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788663676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22480349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821224154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897966272" name="Text">
    </p:cNvPr>
          <p:cNvSpPr>
            <a:spLocks noGrp="1"/>
          </p:cNvSpPr>
          <p:nvPr/>
        </p:nvSpPr>
        <p:spPr>
          <a:xfrm rot="0">
            <a:off x="9702800" y="1511300"/>
            <a:ext cx="368300" cy="3492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  <a:br/>
          </a:p>
        </p:txBody>
      </p:sp>
      <p:sp>
        <p:nvSpPr>
          <p:cNvPr id="173236961" name="Text">
    </p:cNvPr>
          <p:cNvSpPr>
            <a:spLocks noGrp="1"/>
          </p:cNvSpPr>
          <p:nvPr/>
        </p:nvSpPr>
        <p:spPr>
          <a:xfrm rot="0">
            <a:off x="9334500" y="1511300"/>
            <a:ext cx="368300" cy="3492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08/22</a:t>
            </a:r>
            <a:br/>
            <a:br/>
          </a:p>
        </p:txBody>
      </p:sp>
      <p:sp>
        <p:nvSpPr>
          <p:cNvPr id="1791559544" name="Text">
    </p:cNvPr>
          <p:cNvSpPr>
            <a:spLocks noGrp="1"/>
          </p:cNvSpPr>
          <p:nvPr/>
        </p:nvSpPr>
        <p:spPr>
          <a:xfrm rot="0">
            <a:off x="5930900" y="1511300"/>
            <a:ext cx="3403600" cy="34925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ITSM-96727 [OSPM] Application Secure Coding 취약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점 개선 요청 건</a:t>
            </a:r>
          </a:p>
        </p:txBody>
      </p:sp>
      <p:sp>
        <p:nvSpPr>
          <p:cNvPr id="1300946121" name="Text">
    </p:cNvPr>
          <p:cNvSpPr>
            <a:spLocks noGrp="1"/>
          </p:cNvSpPr>
          <p:nvPr/>
        </p:nvSpPr>
        <p:spPr>
          <a:xfrm rot="0">
            <a:off x="5308600" y="1511300"/>
            <a:ext cx="571500" cy="3492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OSPM/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고귀한</a:t>
            </a:r>
          </a:p>
        </p:txBody>
      </p:sp>
      <p:sp>
        <p:nvSpPr>
          <p:cNvPr id="1460905560" name="Text">
    </p:cNvPr>
          <p:cNvSpPr>
            <a:spLocks noGrp="1"/>
          </p:cNvSpPr>
          <p:nvPr/>
        </p:nvSpPr>
        <p:spPr>
          <a:xfrm rot="0">
            <a:off x="88900" y="1511300"/>
            <a:ext cx="571500" cy="3492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OSPM/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고귀한</a:t>
            </a:r>
          </a:p>
        </p:txBody>
      </p:sp>
      <p:sp>
        <p:nvSpPr>
          <p:cNvPr id="1179030065" name="Text">
    </p:cNvPr>
          <p:cNvSpPr>
            <a:spLocks noGrp="1"/>
          </p:cNvSpPr>
          <p:nvPr/>
        </p:nvSpPr>
        <p:spPr>
          <a:xfrm rot="0">
            <a:off x="711200" y="1511300"/>
            <a:ext cx="3403600" cy="34925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ITSM-96727 [OSPM] Application Secure Coding 취약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점 개선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ITSM-104689 협조문 B46-23-0303"선수금반환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요청"에 포함된 첨부파일 교체 요청의건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ITSM-104676 안전보건검토 결과서 내 보완서류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첨부 필요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ITSM-104747 품의서상 위약사항 점검내용 상세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보완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ITSM-104756 계열이탈 S/S 법적조치 제외 - 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상제일(2014165)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ITSM-104806 협조문 (D66-23-0266) 첨부문서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변경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ITSM-104782 결재 완료 문서의 첨부파일 수정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ITSM-104792 결재 완료된 전자결재 문서 첨부파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일 교체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ITSM-104843 결재 진행중인 문서 문구수정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ITSM-104653 협조문 (DH8-23-0204)사고 사례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전파 및 협조 요청 (의자 뒤로 젖혀 휴식 중 넘어짐) 문구 삭제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, 변경 및 첨부 추가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ITSM-104874 기승인 품의서 중 첨부 서류 교체</a:t>
            </a:r>
          </a:p>
        </p:txBody>
      </p:sp>
      <p:sp>
        <p:nvSpPr>
          <p:cNvPr id="1687600966" name="Text">
    </p:cNvPr>
          <p:cNvSpPr>
            <a:spLocks noGrp="1"/>
          </p:cNvSpPr>
          <p:nvPr/>
        </p:nvSpPr>
        <p:spPr>
          <a:xfrm rot="0">
            <a:off x="4483100" y="1511300"/>
            <a:ext cx="368300" cy="3492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</a:p>
        </p:txBody>
      </p:sp>
      <p:sp>
        <p:nvSpPr>
          <p:cNvPr id="2137086857" name="Text">
    </p:cNvPr>
          <p:cNvSpPr>
            <a:spLocks noGrp="1"/>
          </p:cNvSpPr>
          <p:nvPr/>
        </p:nvSpPr>
        <p:spPr>
          <a:xfrm rot="0">
            <a:off x="4851400" y="1511300"/>
            <a:ext cx="368300" cy="3492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</a:p>
        </p:txBody>
      </p:sp>
      <p:sp>
        <p:nvSpPr>
          <p:cNvPr id="889852763" name="Text">
    </p:cNvPr>
          <p:cNvSpPr>
            <a:spLocks noGrp="1"/>
          </p:cNvSpPr>
          <p:nvPr/>
        </p:nvSpPr>
        <p:spPr>
          <a:xfrm rot="0">
            <a:off x="4114800" y="1511300"/>
            <a:ext cx="368300" cy="3492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</a:p>
        </p:txBody>
      </p:sp>
      <p:sp>
        <p:nvSpPr>
          <p:cNvPr id="1194318033" name="Text">
    </p:cNvPr>
          <p:cNvSpPr>
            <a:spLocks noGrp="1"/>
          </p:cNvSpPr>
          <p:nvPr/>
        </p:nvSpPr>
        <p:spPr>
          <a:xfrm rot="0">
            <a:off x="660400" y="1511300"/>
            <a:ext cx="3454400" cy="3492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70287613" name="Text">
    </p:cNvPr>
          <p:cNvSpPr>
            <a:spLocks noGrp="1"/>
          </p:cNvSpPr>
          <p:nvPr/>
        </p:nvSpPr>
        <p:spPr>
          <a:xfrm rot="0">
            <a:off x="5880100" y="1511300"/>
            <a:ext cx="3454400" cy="3492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5272101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03798862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065316618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947237075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258287567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2003854277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860072704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639989395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5793479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950503746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517813089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466669394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340173606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920481967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394349940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</a:p>
        </p:txBody>
      </p:sp>
      <p:sp>
        <p:nvSpPr>
          <p:cNvPr id="472643551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06/01</a:t>
            </a:r>
            <a:br/>
            <a:br/>
          </a:p>
        </p:txBody>
      </p:sp>
      <p:sp>
        <p:nvSpPr>
          <p:cNvPr id="1028991215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개발 지원 및 인수인계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인수인계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RTS Dashboard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Secure Coding 취약점 개선 요청 건</a:t>
            </a:r>
            <a:br/>
          </a:p>
        </p:txBody>
      </p:sp>
      <p:sp>
        <p:nvSpPr>
          <p:cNvPr id="248238248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ePSMS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김상훈</a:t>
            </a:r>
          </a:p>
        </p:txBody>
      </p:sp>
      <p:sp>
        <p:nvSpPr>
          <p:cNvPr id="331138792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ePSMS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김상훈</a:t>
            </a:r>
          </a:p>
        </p:txBody>
      </p:sp>
      <p:sp>
        <p:nvSpPr>
          <p:cNvPr id="1357536847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개발 지원 및 인수인계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인수인계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RTS Dashboard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Secure Coding 취약점 개선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New RTDB 연동 테스트</a:t>
            </a:r>
            <a:br/>
          </a:p>
        </p:txBody>
      </p:sp>
      <p:sp>
        <p:nvSpPr>
          <p:cNvPr id="1156318957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</a:p>
        </p:txBody>
      </p:sp>
      <p:sp>
        <p:nvSpPr>
          <p:cNvPr id="343064648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</a:p>
        </p:txBody>
      </p:sp>
      <p:sp>
        <p:nvSpPr>
          <p:cNvPr id="1628229544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</a:p>
        </p:txBody>
      </p:sp>
      <p:sp>
        <p:nvSpPr>
          <p:cNvPr id="1670835680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06473745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59445540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03/31</a:t>
            </a:r>
            <a:br/>
          </a:p>
        </p:txBody>
      </p:sp>
      <p:sp>
        <p:nvSpPr>
          <p:cNvPr id="1122847392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</a:p>
        </p:txBody>
      </p:sp>
      <p:sp>
        <p:nvSpPr>
          <p:cNvPr id="381699824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주유소/충전소 PRM 거래처 마스터 신규 등록시 필수 계약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자동 체결요청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실수송 거리 측정데이타 erp 연동요청</a:t>
            </a:r>
          </a:p>
        </p:txBody>
      </p:sp>
      <p:sp>
        <p:nvSpPr>
          <p:cNvPr id="453300709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S-ERP/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BI-EDW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남대현</a:t>
            </a:r>
          </a:p>
        </p:txBody>
      </p:sp>
      <p:sp>
        <p:nvSpPr>
          <p:cNvPr id="57058365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S-ERP/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BI-EDW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남대현</a:t>
            </a:r>
          </a:p>
        </p:txBody>
      </p:sp>
      <p:sp>
        <p:nvSpPr>
          <p:cNvPr id="729175739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주유소/충전소 PRM 거래처 마스터 신규 등록시 필수 계약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자동 체결요청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실수송 거리 측정데이타 erp 연동요청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CP 전자결재 연동문서 PRM 첨부문서 파일 링크 연결 안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되는 오류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법인 경제성 시뮬레이션 메뉴추가 및 URL 연결요청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내수 수출거래처 PRM 마스터 등록 보완</a:t>
            </a:r>
          </a:p>
        </p:txBody>
      </p:sp>
      <p:sp>
        <p:nvSpPr>
          <p:cNvPr id="1066758883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</a:p>
        </p:txBody>
      </p:sp>
      <p:sp>
        <p:nvSpPr>
          <p:cNvPr id="44242701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95%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85%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</a:p>
        </p:txBody>
      </p:sp>
      <p:sp>
        <p:nvSpPr>
          <p:cNvPr id="886185000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12/26</a:t>
            </a:r>
            <a:br/>
          </a:p>
        </p:txBody>
      </p:sp>
      <p:sp>
        <p:nvSpPr>
          <p:cNvPr id="755521415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58282415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257214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26366441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750333936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542141719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2035880010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065380594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215006859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810918468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511713328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727126651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925857278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439418799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393661875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2131544354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553607922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  <a:br/>
          </a:p>
        </p:txBody>
      </p:sp>
      <p:sp>
        <p:nvSpPr>
          <p:cNvPr id="1095396681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br/>
          </a:p>
        </p:txBody>
      </p:sp>
      <p:sp>
        <p:nvSpPr>
          <p:cNvPr id="1617963910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JIRA 변경 관리 요청 업무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소스 내 naver 지도 api 소스 반영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공지사항 검색 기능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상차계획ㆍ배차계획 화면 가격그룹 항목 추가및 데이터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삭제</a:t>
            </a:r>
          </a:p>
        </p:txBody>
      </p:sp>
      <p:sp>
        <p:nvSpPr>
          <p:cNvPr id="2041363315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1960633608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1726934783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공지사항 검색 기능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naver api 반영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상차계획ㆍ배차계획 화면 가격그룹 항목 추가및 데이터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삭제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자동 배차 엔진 재가동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영업관리 지사 인원 추가</a:t>
            </a:r>
          </a:p>
        </p:txBody>
      </p:sp>
      <p:sp>
        <p:nvSpPr>
          <p:cNvPr id="119788991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</a:p>
        </p:txBody>
      </p:sp>
      <p:sp>
        <p:nvSpPr>
          <p:cNvPr id="466129163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68%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18%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85%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</a:p>
        </p:txBody>
      </p:sp>
      <p:sp>
        <p:nvSpPr>
          <p:cNvPr id="145736671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</a:p>
        </p:txBody>
      </p:sp>
      <p:sp>
        <p:nvSpPr>
          <p:cNvPr id="422010147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206549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96941393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01/19</a:t>
            </a:r>
            <a:br/>
            <a:br/>
          </a:p>
        </p:txBody>
      </p:sp>
      <p:sp>
        <p:nvSpPr>
          <p:cNvPr id="694740304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12/26</a:t>
            </a:r>
            <a:br/>
            <a:br/>
          </a:p>
        </p:txBody>
      </p:sp>
      <p:sp>
        <p:nvSpPr>
          <p:cNvPr id="168131355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이상관리 및 재수행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A11 -&gt; A360 '일일 사전점검' 작업 마이그레이션 및 테스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트, 수정</a:t>
            </a:r>
          </a:p>
        </p:txBody>
      </p:sp>
      <p:sp>
        <p:nvSpPr>
          <p:cNvPr id="232678283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전자계약/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PPS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박선미</a:t>
            </a:r>
          </a:p>
        </p:txBody>
      </p:sp>
      <p:sp>
        <p:nvSpPr>
          <p:cNvPr id="704091021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전자계약/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PPS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박선미</a:t>
            </a:r>
          </a:p>
        </p:txBody>
      </p:sp>
      <p:sp>
        <p:nvSpPr>
          <p:cNvPr id="1197187462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'Daily Report' 작업 모니터링 재수행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'CCS 사전점검' 작업 수행 PC 변경 시 환경변환으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로 인한 에러 보완 및 재수행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 A11 '#1 회계지급전표 증빙대사' 작업 데이터정리 재수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'사전점검' 수기발송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[PPS] DSV 와 PPS 간의 Data 연결을 위한 뷰테이블 공유 요정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전달 및 조율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A11 -&gt; A360 '일일 사전점검' 작업 마이그레이션 및 테스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트,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'#2 외화지급계좌 증빙대사' 작업 일부 수정 및 재수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행</a:t>
            </a:r>
          </a:p>
        </p:txBody>
      </p:sp>
      <p:sp>
        <p:nvSpPr>
          <p:cNvPr id="1722275797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  <a:br/>
          </a:p>
        </p:txBody>
      </p:sp>
      <p:sp>
        <p:nvSpPr>
          <p:cNvPr id="404431537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20%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  <a:br/>
          </a:p>
        </p:txBody>
      </p:sp>
      <p:sp>
        <p:nvSpPr>
          <p:cNvPr id="224768452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  <a:br/>
          </a:p>
        </p:txBody>
      </p:sp>
      <p:sp>
        <p:nvSpPr>
          <p:cNvPr id="396916351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340670496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420486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787334231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049070203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2103292189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186916863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03895555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851285298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115882685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331503504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131467570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878898081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131097285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500649748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475965515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512509660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</a:p>
        </p:txBody>
      </p:sp>
      <p:sp>
        <p:nvSpPr>
          <p:cNvPr id="1324300310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11/20</a:t>
            </a:r>
            <a:br/>
            <a:br/>
          </a:p>
        </p:txBody>
      </p:sp>
      <p:sp>
        <p:nvSpPr>
          <p:cNvPr id="119288422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[TPMS] Application Secure Coding 취약점 개선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산업안전보건관리비 계상 관련 시스템 보완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Soft Skill 인증제도(Skillset) 시행에 따른 LMS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개발 요청의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Defect Elimination Dashboard Renewal(신규 Po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rtal 구축) 관련 전자결재 연동 작업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보너스카드 서비스 중단유예 / 매출비율 기준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신청서 format 변경</a:t>
            </a:r>
          </a:p>
        </p:txBody>
      </p:sp>
      <p:sp>
        <p:nvSpPr>
          <p:cNvPr id="1860820542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TPMS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배영식</a:t>
            </a:r>
          </a:p>
        </p:txBody>
      </p:sp>
      <p:sp>
        <p:nvSpPr>
          <p:cNvPr id="313515929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TPMS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배영식</a:t>
            </a:r>
          </a:p>
        </p:txBody>
      </p:sp>
      <p:sp>
        <p:nvSpPr>
          <p:cNvPr id="632781394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[TPMS] Application Secure Coding 취약점 개선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산업안전보건관리비 계상 관련 시스템 보완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Soft Skill 인증제도(Skillset) 시행에 따른 LMS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개발 요청의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Defect Elimination Dashboard Renewal(신규 Po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rtal 구축) 관련 전자결재 연동 작업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보너스카드 서비스 중단유예 / 매출비율 기준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신청서 format 변경</a:t>
            </a:r>
          </a:p>
        </p:txBody>
      </p:sp>
      <p:sp>
        <p:nvSpPr>
          <p:cNvPr id="1138684800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</a:p>
        </p:txBody>
      </p:sp>
      <p:sp>
        <p:nvSpPr>
          <p:cNvPr id="1667685867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40%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br/>
          </a:p>
        </p:txBody>
      </p:sp>
      <p:sp>
        <p:nvSpPr>
          <p:cNvPr id="257529097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11/20</a:t>
            </a:r>
            <a:br/>
            <a:br/>
          </a:p>
        </p:txBody>
      </p:sp>
      <p:sp>
        <p:nvSpPr>
          <p:cNvPr id="295836506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34697757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79613641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br/>
          </a:p>
        </p:txBody>
      </p:sp>
      <p:sp>
        <p:nvSpPr>
          <p:cNvPr id="859476508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10/23</a:t>
            </a:r>
            <a:br/>
            <a:br/>
          </a:p>
        </p:txBody>
      </p:sp>
      <p:sp>
        <p:nvSpPr>
          <p:cNvPr id="851650538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Soft Skill 인증제도(Skillset) 시행에 따른 LMS 개발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요청의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[ERM] ERM IT 시스템 BCP매뉴얼 등록 및 관리화면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크롬 업데이트에 따른 LMS e-Learning 진도관리 기능제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한에 따른 코드 재개발 검토</a:t>
            </a:r>
          </a:p>
        </p:txBody>
      </p:sp>
      <p:sp>
        <p:nvSpPr>
          <p:cNvPr id="852981247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순현국</a:t>
            </a:r>
          </a:p>
        </p:txBody>
      </p:sp>
      <p:sp>
        <p:nvSpPr>
          <p:cNvPr id="124552580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순현국</a:t>
            </a:r>
          </a:p>
        </p:txBody>
      </p:sp>
      <p:sp>
        <p:nvSpPr>
          <p:cNvPr id="1612799239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Soft Skill 인증제도(Skillset) 시행에 따른 LMS 개발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요청의 건(assessment 요청관련 기능 추가요청, 사내평가/사외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평가관련 메일발송 기능 추가)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크롬 업데이트에 따른 LMS e-Learning 진도관리 기능제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한에 따른 코드 재개발 검토	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[ERM] ERM IT 시스템 BCP매뉴얼 등록 및 관리화면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[ERS] 20231226_HSSE부문 부서동기화 오류로 INSERT</a:t>
            </a:r>
          </a:p>
        </p:txBody>
      </p:sp>
      <p:sp>
        <p:nvSpPr>
          <p:cNvPr id="1266076318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12/26</a:t>
            </a:r>
            <a:br/>
          </a:p>
        </p:txBody>
      </p:sp>
      <p:sp>
        <p:nvSpPr>
          <p:cNvPr id="1107768962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12/26</a:t>
            </a:r>
            <a:br/>
          </a:p>
        </p:txBody>
      </p:sp>
      <p:sp>
        <p:nvSpPr>
          <p:cNvPr id="556063715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08/22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12/26</a:t>
            </a:r>
            <a:br/>
          </a:p>
        </p:txBody>
      </p:sp>
      <p:sp>
        <p:nvSpPr>
          <p:cNvPr id="1258779557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20154721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2951838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257033884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981866559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329086068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99237532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699299469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593740903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757503457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045526023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590105513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508683095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21758945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481718390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560674634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281100518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</a:p>
        </p:txBody>
      </p:sp>
      <p:sp>
        <p:nvSpPr>
          <p:cNvPr id="1144166752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br/>
          </a:p>
        </p:txBody>
      </p:sp>
      <p:sp>
        <p:nvSpPr>
          <p:cNvPr id="1806201936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[WMS] Application Secure Coding 취약점 개선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사이버 보안 컴플라이언스 조치 권고 사항 처리 요청 (C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ISO에서 메일이 오면 작업진행)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사이버 보안 컴플라이언스 조치 권고 사항 처리 요청(CIS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O에서 메일이 오면 작업진행)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SP062 과도한 상품권 대금 결제 시나리오 로직 분석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</a:t>
            </a:r>
          </a:p>
        </p:txBody>
      </p:sp>
      <p:sp>
        <p:nvSpPr>
          <p:cNvPr id="105456702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WMS/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EWS/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이병준</a:t>
            </a:r>
          </a:p>
        </p:txBody>
      </p:sp>
      <p:sp>
        <p:nvSpPr>
          <p:cNvPr id="711853355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WMS/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EWS/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이병준</a:t>
            </a:r>
          </a:p>
        </p:txBody>
      </p:sp>
      <p:sp>
        <p:nvSpPr>
          <p:cNvPr id="2059890847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[WMS] Application Secure Coding 취약점 개선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재고이전등록 오류 확인 및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외부 감사 IT Dependency 자료요청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지류상품권 모바일 전환 데이터 확인 요청</a:t>
            </a:r>
          </a:p>
        </p:txBody>
      </p:sp>
      <p:sp>
        <p:nvSpPr>
          <p:cNvPr id="1390776675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</a:p>
        </p:txBody>
      </p:sp>
      <p:sp>
        <p:nvSpPr>
          <p:cNvPr id="490878933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65%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</a:p>
        </p:txBody>
      </p:sp>
      <p:sp>
        <p:nvSpPr>
          <p:cNvPr id="1205808651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12/26</a:t>
            </a:r>
            <a:br/>
          </a:p>
        </p:txBody>
      </p:sp>
      <p:sp>
        <p:nvSpPr>
          <p:cNvPr id="106823143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26707654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950181013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  <a:br/>
            <a:br/>
          </a:p>
        </p:txBody>
      </p:sp>
      <p:sp>
        <p:nvSpPr>
          <p:cNvPr id="1252827503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12/07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br/>
            <a:br/>
          </a:p>
        </p:txBody>
      </p:sp>
      <p:sp>
        <p:nvSpPr>
          <p:cNvPr id="603442968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[RMS] 기능 문의 및 피드백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송유관 입고계획 관리 &gt; PDF upload, 'PDF' 양식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으로 인한 업로드 에러 ( 1. PDF 내 발행번호를 읽지 못함 / 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. 저유소명 불일치 / 3. 셀병합 및 가운데 정렬로 인한 값 오배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치 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송유관 입고계획 관리 &gt; PDF upload, 'PDF' 양식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으로 인한 업로드 에러 조치 기간 내 'PDF' 업로드 및 수정 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포</a:t>
            </a:r>
          </a:p>
        </p:txBody>
      </p:sp>
      <p:sp>
        <p:nvSpPr>
          <p:cNvPr id="863828618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LOPAS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이지은</a:t>
            </a:r>
          </a:p>
        </p:txBody>
      </p:sp>
      <p:sp>
        <p:nvSpPr>
          <p:cNvPr id="745155518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LOPAS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이지은</a:t>
            </a:r>
          </a:p>
        </p:txBody>
      </p:sp>
      <p:sp>
        <p:nvSpPr>
          <p:cNvPr id="56770693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[RMS] 기능 문의 및 피드백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송유관 입고계획 관리 &gt; PDF upload, 'PDF' 양식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으로 인한 업로드 에러 ( 1. PDF 내 발행번호를 읽지 못함 / 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. 저유소명 불일치 / 3. 셀병합 및 가운데 정렬로 인한 값 오배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치 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송유관 입고계획 관리 &gt; PDF upload, 'PDF' 양식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으로 인한 업로드 에러 조치 기간 내 'PDF' 업로드 및 수정 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포</a:t>
            </a:r>
          </a:p>
        </p:txBody>
      </p:sp>
      <p:sp>
        <p:nvSpPr>
          <p:cNvPr id="510705918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  <a:br/>
            <a:br/>
          </a:p>
        </p:txBody>
      </p:sp>
      <p:sp>
        <p:nvSpPr>
          <p:cNvPr id="1250742544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65%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  <a:br/>
            <a:br/>
          </a:p>
        </p:txBody>
      </p:sp>
      <p:sp>
        <p:nvSpPr>
          <p:cNvPr id="927343652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12/07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12/26</a:t>
            </a:r>
            <a:br/>
            <a:br/>
            <a:br/>
          </a:p>
        </p:txBody>
      </p:sp>
      <p:sp>
        <p:nvSpPr>
          <p:cNvPr id="640756769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46376233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127523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345459933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996682314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988242729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438256511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2070233777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9209709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713996677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677568970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844897742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457159709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824191316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057847105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844297475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94273791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</a:p>
        </p:txBody>
      </p:sp>
      <p:sp>
        <p:nvSpPr>
          <p:cNvPr id="1003389776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</a:p>
        </p:txBody>
      </p:sp>
      <p:sp>
        <p:nvSpPr>
          <p:cNvPr id="1873628183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11월 Monthly Accountability Report 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산업안전보건관리비 계상 관련 시스템 보완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저유소 PM 관련 작업의뢰서 전자결재(T-Code : IW21) 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선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PRM 영업시설물 지원 시스템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HCM 당일 시내출장 중식비 신청서 신규개발</a:t>
            </a:r>
          </a:p>
        </p:txBody>
      </p:sp>
      <p:sp>
        <p:nvSpPr>
          <p:cNvPr id="1865999174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EIS/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EAI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황보람</a:t>
            </a:r>
          </a:p>
        </p:txBody>
      </p:sp>
      <p:sp>
        <p:nvSpPr>
          <p:cNvPr id="1191963847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EIS/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EAI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황보람</a:t>
            </a:r>
          </a:p>
        </p:txBody>
      </p:sp>
      <p:sp>
        <p:nvSpPr>
          <p:cNvPr id="143663989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11월 Monthly Accountability Report 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산업안전보건관리비 계상 관련 시스템 보완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LOPAS 재고현황 자료 I/F 기준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저유소 PM 관련 작업의뢰서 전자결재(T-Code : IW21) 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선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PRM 영업시설물 지원 시스템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[LOPAS]ERP / EAI (SEM_SupriceTrans) 수정 요청</a:t>
            </a:r>
          </a:p>
        </p:txBody>
      </p:sp>
      <p:sp>
        <p:nvSpPr>
          <p:cNvPr id="232262532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</a:p>
        </p:txBody>
      </p:sp>
      <p:sp>
        <p:nvSpPr>
          <p:cNvPr id="626195370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</a:p>
        </p:txBody>
      </p:sp>
      <p:sp>
        <p:nvSpPr>
          <p:cNvPr id="1034376723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12/07</a:t>
            </a:r>
            <a:br/>
          </a:p>
        </p:txBody>
      </p:sp>
      <p:sp>
        <p:nvSpPr>
          <p:cNvPr id="874860889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37184626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505" name="Group 97"/>
          <p:cNvGraphicFramePr>
            <a:graphicFrameLocks noGrp="1"/>
          </p:cNvGraphicFramePr>
          <p:nvPr/>
        </p:nvGraphicFramePr>
        <p:xfrm>
          <a:off x="255577" y="1105143"/>
          <a:ext cx="4771985" cy="3535492"/>
        </p:xfrm>
        <a:graphic>
          <a:graphicData uri="http://schemas.openxmlformats.org/drawingml/2006/table">
            <a:tbl>
              <a:tblPr/>
              <a:tblGrid>
                <a:gridCol w="5219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588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73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5077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494" marL="88055" marR="88055" marT="45494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494" marL="88055" marR="88055" marT="45494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494" marL="88055" marR="88055" marT="4549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horzOverflow="overflow" marB="45494" marL="88055" marR="88055" marT="45494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err="1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진행율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494" marL="88055" marR="88055" marT="45494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922">
                <a:tc rowSpan="7">
                  <a:txBody>
                    <a:bodyPr/>
                    <a:lstStyle>
                      <a:lvl1pPr algn="l"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algn="l"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algn="l"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algn="l"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algn="l"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Market.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박치영</a:t>
                      </a:r>
                    </a:p>
                  </a:txBody>
                  <a:tcPr horzOverflow="overflow" marB="45527" marL="81282" marR="81282" marT="4552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전화번호로 포인트 적립 적용 조회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73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현대차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G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카페이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연동 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(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주유소연동추가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_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현대서버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)</a:t>
                      </a: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489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주유소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금결원전송관련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수정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158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플랫폼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테스트 대응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,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수정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993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부정적립관련 대응 조치 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993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키오스크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즉발카드 등록 개발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40%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9932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526" marL="83067" marR="83067" marT="4652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모바일상품권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제휴 성능 저하문제 수정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70%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0568">
                <a:tc rowSpan="7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IF.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이승범</a:t>
                      </a:r>
                    </a:p>
                  </a:txBody>
                  <a:tcPr horzOverflow="overflow" marB="45527" marL="81282" marR="81282" marT="4552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금결원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거래 전문 수정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02/03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미정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8773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680" marL="83077" marR="83077" marT="4668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쿠폰 전문 수정 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(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사용가능상품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)</a:t>
                      </a: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02/16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미정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</a:t>
                      </a:r>
                      <a:r>
                        <a:rPr altLang="ko-KR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523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현대차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G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카페이 연동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+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제네시스앱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연동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09/21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01/29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5247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680" marL="83077" marR="83077" marT="4668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국민카드 배치 서버 변경으로 인한 연계 테스트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12/21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01/22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5529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 쿠폰 발행 점검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02/28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056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롯데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멤버스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데이터 정합성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,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후속 조치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01/22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0569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525" marL="83067" marR="83067" marT="4652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8274" name="Rectangle 137"/>
          <p:cNvSpPr>
            <a:spLocks noChangeArrowheads="1"/>
          </p:cNvSpPr>
          <p:nvPr/>
        </p:nvSpPr>
        <p:spPr bwMode="auto">
          <a:xfrm>
            <a:off x="302179" y="302534"/>
            <a:ext cx="8761066" cy="3314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dir="2700000" dist="35921" rotWithShape="0">
                    <a:schemeClr val="bg2"/>
                  </a:outerShdw>
                </a:effectLst>
              </a14:hiddenEffects>
            </a:ext>
          </a:extLst>
        </p:spPr>
        <p:txBody>
          <a:bodyPr anchor="ctr" bIns="44805" lIns="89609" rIns="89609" tIns="44805">
            <a:spAutoFit/>
          </a:bodyPr>
          <a:lstStyle>
            <a:lvl1pPr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ko-KR" kumimoji="1" lang="en-US" sz="1566">
                <a:solidFill>
                  <a:srgbClr val="000000"/>
                </a:solidFill>
              </a:rPr>
              <a:t>3. </a:t>
            </a:r>
            <a:r>
              <a:rPr altLang="en-US" kumimoji="1" lang="ko-KR" sz="1566">
                <a:solidFill>
                  <a:srgbClr val="000000"/>
                </a:solidFill>
              </a:rPr>
              <a:t>주간업무 실적 및 계획</a:t>
            </a:r>
            <a:r>
              <a:rPr altLang="ko-KR" kumimoji="1" lang="en-US" sz="1566">
                <a:solidFill>
                  <a:srgbClr val="000000"/>
                </a:solidFill>
              </a:rPr>
              <a:t>(</a:t>
            </a:r>
            <a:r>
              <a:rPr altLang="en-US" lang="ko-KR" sz="1566">
                <a:solidFill>
                  <a:srgbClr val="000000"/>
                </a:solidFill>
              </a:rPr>
              <a:t>②</a:t>
            </a:r>
            <a:r>
              <a:rPr altLang="ko-KR" kumimoji="1" lang="en-US" sz="1566">
                <a:solidFill>
                  <a:srgbClr val="000000"/>
                </a:solidFill>
              </a:rPr>
              <a:t>Quintet - CRM)</a:t>
            </a:r>
          </a:p>
        </p:txBody>
      </p:sp>
      <p:sp>
        <p:nvSpPr>
          <p:cNvPr id="8275" name="Rectangle 135"/>
          <p:cNvSpPr>
            <a:spLocks noChangeArrowheads="1"/>
          </p:cNvSpPr>
          <p:nvPr/>
        </p:nvSpPr>
        <p:spPr bwMode="auto">
          <a:xfrm>
            <a:off x="255577" y="752526"/>
            <a:ext cx="4771985" cy="298249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370">
                <a:solidFill>
                  <a:srgbClr val="000000"/>
                </a:solidFill>
              </a:rPr>
              <a:t>금주 업무 실적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  <p:graphicFrame>
        <p:nvGraphicFramePr>
          <p:cNvPr id="7" name="Group 9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426789"/>
              </p:ext>
            </p:extLst>
          </p:nvPr>
        </p:nvGraphicFramePr>
        <p:xfrm>
          <a:off x="5102125" y="1048417"/>
          <a:ext cx="4473736" cy="3871829"/>
        </p:xfrm>
        <a:graphic>
          <a:graphicData uri="http://schemas.openxmlformats.org/drawingml/2006/table">
            <a:tbl>
              <a:tblPr/>
              <a:tblGrid>
                <a:gridCol w="6685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613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0165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49" marL="88066" marR="88066" marT="4574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49" marL="88066" marR="88066" marT="4574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749" marL="88066" marR="88066" marT="4574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horzOverflow="overflow" marB="45749" marL="88066" marR="88066" marT="4574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1896">
                <a:tc rowSpan="5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Market.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박치영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3" marL="81291" marR="81291" marT="4574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법인 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1896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70" marL="83077" marR="83077" marT="4677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거래내역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(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신규 결제 수단 정의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)</a:t>
                      </a: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1896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chemeClr val="bg1">
                              <a:lumMod val="85000"/>
                            </a:schemeClr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ko-KR" b="0" baseline="0" dirty="0" err="1" lang="en-US" smtClean="0" sz="800">
                          <a:solidFill>
                            <a:schemeClr val="bg1">
                              <a:lumMod val="85000"/>
                            </a:schemeClr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Pb</a:t>
                      </a:r>
                      <a:r>
                        <a:rPr altLang="en-US" b="0" baseline="0" dirty="0" lang="ko-KR" smtClean="0" sz="800">
                          <a:solidFill>
                            <a:schemeClr val="bg1">
                              <a:lumMod val="85000"/>
                            </a:schemeClr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상품적립</a:t>
                      </a:r>
                      <a:endParaRPr altLang="ko-KR" b="0" baseline="0" dirty="0" lang="en-US" smtClean="0" sz="800">
                        <a:solidFill>
                          <a:schemeClr val="bg1">
                            <a:lumMod val="85000"/>
                          </a:schemeClr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dirty="0" kern="120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37" marL="81291" marR="81291" marT="4573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dirty="0" kern="120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37" marL="81291" marR="81291" marT="4573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1896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-171450" latinLnBrk="1" lvl="0" marL="17145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사후적립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PRM,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전자결재 연동개발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5434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70" marL="83077" marR="83077" marT="4677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App push</a:t>
                      </a: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dirty="0" kern="120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37" marL="81291" marR="81291" marT="4573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dirty="0" kern="120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37" marL="81291" marR="81291" marT="4573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0934">
                <a:tc rowSpan="8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IF.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이승범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3" marL="81291" marR="81291" marT="4574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금결원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전문 수정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41" marL="81282" marR="81282" marT="456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02/03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9" marL="81282" marR="81282" marT="4562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미정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9" marL="81282" marR="81282" marT="4562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0848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66" marL="83077" marR="83077" marT="4676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쿠폰 전문 수정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5" marL="81282" marR="81282" marT="456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02/16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미정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0784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66" marL="83077" marR="83077" marT="4676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현대차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G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카페이 연동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+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제네시스앱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연동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09/21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01/29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0784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국민카드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배치 서버 변경으로 인한 연계 테스트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12/21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01/22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824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 쿠폰 발행 점검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02/28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824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롯데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멤버스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데이터 정합성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,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후속 조치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01/22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824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5" marL="81282" marR="81282" marT="456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0555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66" marL="83077" marR="83077" marT="4676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5" marL="81282" marR="81282" marT="456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8336" name="Rectangle 136"/>
          <p:cNvSpPr>
            <a:spLocks noChangeArrowheads="1"/>
          </p:cNvSpPr>
          <p:nvPr/>
        </p:nvSpPr>
        <p:spPr bwMode="auto">
          <a:xfrm>
            <a:off x="5092804" y="744759"/>
            <a:ext cx="4473736" cy="310676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370">
                <a:solidFill>
                  <a:srgbClr val="000000"/>
                </a:solidFill>
              </a:rPr>
              <a:t>차주 업무 계획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505" name="Group 97"/>
          <p:cNvGraphicFramePr>
            <a:graphicFrameLocks noGrp="1"/>
          </p:cNvGraphicFramePr>
          <p:nvPr/>
        </p:nvGraphicFramePr>
        <p:xfrm>
          <a:off x="264898" y="1097377"/>
          <a:ext cx="4771985" cy="5727215"/>
        </p:xfrm>
        <a:graphic>
          <a:graphicData uri="http://schemas.openxmlformats.org/drawingml/2006/table">
            <a:tbl>
              <a:tblPr/>
              <a:tblGrid>
                <a:gridCol w="6556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61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02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45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53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1374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5" marL="88075" marR="88075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55" marL="88075" marR="88075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755" marL="88075" marR="88075" marT="4575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horzOverflow="overflow" marB="45755" marL="88075" marR="88075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err="1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진행율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완료일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5" marL="88075" marR="88075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0977">
                <a:tc rowSpan="5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홈페이지</a:t>
                      </a: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김재희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3" marL="88075" marR="88075" marT="4575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법인 하위 카드 등록 </a:t>
                      </a:r>
                    </a:p>
                  </a:txBody>
                  <a:tcPr horzOverflow="overflow" marB="45727" marL="81298" marR="81298" marT="4572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12/24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3" marL="81298" marR="81298" marT="4573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12/31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06" marL="81298" marR="81298" marT="4580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47" marL="81301" marR="81301" marT="4574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097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프로모션 기간내 가입자 정보 제공 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5" marL="81298" marR="81298" marT="4573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1/13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47" marL="81301" marR="81301" marT="4574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097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모바일주유권 문자 발송 </a:t>
                      </a:r>
                    </a:p>
                  </a:txBody>
                  <a:tcPr horzOverflow="overflow" marB="45736" marL="81298" marR="81298" marT="4573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3" marL="81298" marR="81298" marT="4574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1/15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47" marL="81301" marR="81301" marT="4574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0950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7" marL="90003" marR="90003" marT="4675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모의해킹 중복로그인 제한 개발 및 운영 이관 </a:t>
                      </a:r>
                    </a:p>
                  </a:txBody>
                  <a:tcPr horzOverflow="overflow" marB="45751" marL="81298" marR="81298" marT="4575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11/02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1/12</a:t>
                      </a:r>
                    </a:p>
                  </a:txBody>
                  <a:tcPr horzOverflow="overflow" marB="45773" marL="81301" marR="81301" marT="4577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52" marL="81301" marR="81301" marT="457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0179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61" marL="90003" marR="90003" marT="4676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믿음가득주유소 화면 오류 확인 및 수정 요청</a:t>
                      </a:r>
                      <a:endParaRPr altLang="ko-KR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1" marL="81298" marR="81298" marT="4575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3" marL="81301" marR="81301" marT="4577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50%</a:t>
                      </a:r>
                    </a:p>
                  </a:txBody>
                  <a:tcPr horzOverflow="overflow" marB="45752" marL="81301" marR="81301" marT="457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0913">
                <a:tc rowSpan="7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VOC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강길제</a:t>
                      </a: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3" marL="88075" marR="88075" marT="45753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</a:t>
                      </a:r>
                      <a:r>
                        <a:rPr altLang="en-US" b="0" baseline="0" cap="none" dirty="0" err="1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감사인원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</a:t>
                      </a: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VOC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관리자 권한 부여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1/8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1/11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091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Summary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발송 </a:t>
                      </a:r>
                      <a:r>
                        <a:rPr altLang="en-US" b="0" baseline="0" cap="none" dirty="0" err="1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로직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변경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1/14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1/15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091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배치 스케줄러 개선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8" marL="81301" marR="81301" marT="4575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1/13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9" marL="81301" marR="81301" marT="4575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1/13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9" marL="81301" marR="81301" marT="4575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091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검색 </a:t>
                      </a:r>
                      <a:r>
                        <a:rPr altLang="en-US" b="0" baseline="0" cap="none" dirty="0" err="1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로직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개선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9" marL="81294" marR="81294" marT="4578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90" marL="81294" marR="81294" marT="4579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90" marL="81294" marR="81294" marT="4579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091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087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438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0829">
                <a:tc rowSpan="1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 BI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석주연</a:t>
                      </a:r>
                    </a:p>
                  </a:txBody>
                  <a:tcPr horzOverflow="overflow" marB="45753" marL="88075" marR="88075" marT="45753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보너스카드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매출비율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사입량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반영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1/12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itchFamily="50" typeface="맑은 고딕"/>
                          <a:ea charset="-127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itchFamily="50" typeface="맑은 고딕"/>
                        <a:ea charset="-127" pitchFamily="50" typeface="맑은 고딕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0829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‘20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년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월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남선석유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리드코프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매출비율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반영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1/12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1/12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itchFamily="50" typeface="맑은 고딕"/>
                          <a:ea charset="-127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itchFamily="50" typeface="맑은 고딕"/>
                        <a:ea charset="-127" pitchFamily="50" typeface="맑은 고딕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735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’20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년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월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UNDEFINED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유치실적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데이터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itchFamily="50" typeface="맑은 고딕"/>
                          <a:ea charset="-127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itchFamily="50" typeface="맑은 고딕"/>
                        <a:ea charset="-127" pitchFamily="50" typeface="맑은 고딕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7744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신규회원 분석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BI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엑셀 파일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1085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과다적립금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관련 문의 응대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10857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5" marL="90010" marR="90010" marT="46755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중단대상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거래처 및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과다적립금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재산정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개발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1/14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1/19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10829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3" marL="90010" marR="90010" marT="46753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10829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46" marL="90010" marR="90010" marT="46746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10857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46" marL="90010" marR="90010" marT="46746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210829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49" marL="90010" marR="90010" marT="46749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330140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4" marL="90010" marR="90010" marT="46754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</a:tbl>
          </a:graphicData>
        </a:graphic>
      </p:graphicFrame>
      <p:sp>
        <p:nvSpPr>
          <p:cNvPr id="9339" name="Rectangle 137"/>
          <p:cNvSpPr>
            <a:spLocks noChangeArrowheads="1"/>
          </p:cNvSpPr>
          <p:nvPr/>
        </p:nvSpPr>
        <p:spPr bwMode="auto">
          <a:xfrm>
            <a:off x="302179" y="302534"/>
            <a:ext cx="8761066" cy="3314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dir="2700000" dist="35921" rotWithShape="0">
                    <a:schemeClr val="bg2"/>
                  </a:outerShdw>
                </a:effectLst>
              </a14:hiddenEffects>
            </a:ext>
          </a:extLst>
        </p:spPr>
        <p:txBody>
          <a:bodyPr anchor="ctr" bIns="44805" lIns="89609" rIns="89609" tIns="44805">
            <a:spAutoFit/>
          </a:bodyPr>
          <a:lstStyle>
            <a:lvl1pPr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ko-KR" kumimoji="1" lang="en-US" sz="1566">
                <a:solidFill>
                  <a:srgbClr val="000000"/>
                </a:solidFill>
              </a:rPr>
              <a:t>3. </a:t>
            </a:r>
            <a:r>
              <a:rPr altLang="en-US" kumimoji="1" lang="ko-KR" sz="1566">
                <a:solidFill>
                  <a:srgbClr val="000000"/>
                </a:solidFill>
              </a:rPr>
              <a:t>주간업무 실적 및 계획</a:t>
            </a:r>
            <a:r>
              <a:rPr altLang="ko-KR" kumimoji="1" lang="en-US" sz="1566">
                <a:solidFill>
                  <a:srgbClr val="000000"/>
                </a:solidFill>
              </a:rPr>
              <a:t>(</a:t>
            </a:r>
            <a:r>
              <a:rPr altLang="en-US" lang="ko-KR" sz="1566">
                <a:solidFill>
                  <a:srgbClr val="000000"/>
                </a:solidFill>
              </a:rPr>
              <a:t>②</a:t>
            </a:r>
            <a:r>
              <a:rPr altLang="ko-KR" kumimoji="1" lang="en-US" sz="1566">
                <a:solidFill>
                  <a:srgbClr val="000000"/>
                </a:solidFill>
              </a:rPr>
              <a:t>Quintet - CRM)</a:t>
            </a:r>
          </a:p>
        </p:txBody>
      </p:sp>
      <p:sp>
        <p:nvSpPr>
          <p:cNvPr id="9340" name="Rectangle 135"/>
          <p:cNvSpPr>
            <a:spLocks noChangeArrowheads="1"/>
          </p:cNvSpPr>
          <p:nvPr/>
        </p:nvSpPr>
        <p:spPr bwMode="auto">
          <a:xfrm>
            <a:off x="246257" y="750972"/>
            <a:ext cx="4771985" cy="298249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370">
                <a:solidFill>
                  <a:srgbClr val="000000"/>
                </a:solidFill>
              </a:rPr>
              <a:t>금주 업무 실적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  <p:graphicFrame>
        <p:nvGraphicFramePr>
          <p:cNvPr id="7" name="Group 97"/>
          <p:cNvGraphicFramePr>
            <a:graphicFrameLocks noGrp="1"/>
          </p:cNvGraphicFramePr>
          <p:nvPr/>
        </p:nvGraphicFramePr>
        <p:xfrm>
          <a:off x="5111445" y="1108250"/>
          <a:ext cx="4473736" cy="4374258"/>
        </p:xfrm>
        <a:graphic>
          <a:graphicData uri="http://schemas.openxmlformats.org/drawingml/2006/table">
            <a:tbl>
              <a:tblPr/>
              <a:tblGrid>
                <a:gridCol w="6685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613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4752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5" marL="88066" marR="88066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55" marL="88066" marR="88066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755" marL="88066" marR="88066" marT="4575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horzOverflow="overflow" marB="45755" marL="88066" marR="88066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1029">
                <a:tc rowSpan="5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홈페이지</a:t>
                      </a: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김재희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latinLnBrk="1"/>
                      <a:endParaRPr altLang="en-US" dirty="0" lang="ko-KR" sz="900"/>
                    </a:p>
                  </a:txBody>
                  <a:tcPr horzOverflow="overflow" marB="45753" marL="88066" marR="88066" marT="45753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보너스카드홈페이지 카드 안내 페이지 수정</a:t>
                      </a:r>
                    </a:p>
                  </a:txBody>
                  <a:tcPr horzOverflow="overflow" marB="45735" marL="81298" marR="81298" marT="4573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9/17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미정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1019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믿음가득주유소 화면 테스트 및 운영 이관</a:t>
                      </a:r>
                      <a:endParaRPr altLang="ko-KR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1" marL="81298" marR="81298" marT="4575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3" marL="81301" marR="81301" marT="4577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095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5" marL="81298" marR="81298" marT="4573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095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6" marL="81298" marR="81298" marT="4573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3" marL="81298" marR="81298" marT="4574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094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5" marL="81298" marR="81298" marT="4573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0987">
                <a:tc rowSpan="6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VOC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강길제</a:t>
                      </a: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3" marL="88066" marR="88066" marT="4575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분류 개선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3" marL="81301" marR="81301" marT="4576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4" marL="81301" marR="81301" marT="4576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4" marL="81301" marR="81301" marT="4576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098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검색 </a:t>
                      </a:r>
                      <a:r>
                        <a:rPr altLang="en-US" b="0" baseline="0" cap="none" dirty="0" err="1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로직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개선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9" marL="81294" marR="81294" marT="4578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90" marL="81294" marR="81294" marT="4579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90" marL="81294" marR="81294" marT="4579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099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3" marL="81301" marR="81301" marT="4577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4" marL="81301" marR="81301" marT="4577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4" marL="81301" marR="81301" marT="4577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098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5" marL="81301" marR="81301" marT="4577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6" marL="81301" marR="81301" marT="4577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6" marL="81301" marR="81301" marT="4577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098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5" marL="81301" marR="81301" marT="4577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6" marL="81301" marR="81301" marT="4577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6" marL="81301" marR="81301" marT="4577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088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2" marL="81294" marR="81294" marT="4578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3" marL="81294" marR="81294" marT="4578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3" marL="81294" marR="81294" marT="4578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0879">
                <a:tc rowSpan="8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 BI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석주연</a:t>
                      </a:r>
                    </a:p>
                  </a:txBody>
                  <a:tcPr horzOverflow="overflow" marB="45753" marL="88066" marR="88066" marT="4575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과다적립금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산정식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수정 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12/28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088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포인트 적립 사용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ERP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보고용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‘20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년도 데이터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088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’20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년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중단대상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거래처 대상 리스트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258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이벤트 기간 중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신규회원의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주유데이터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088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중단대상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거래처 및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과다적립금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재산정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개발 및 검증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1/14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1/19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1089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10893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0" marL="90000" marR="90000" marT="46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10893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4" marL="90000" marR="90000" marT="4675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  <p:sp>
        <p:nvSpPr>
          <p:cNvPr id="9423" name="Rectangle 136"/>
          <p:cNvSpPr>
            <a:spLocks noChangeArrowheads="1"/>
          </p:cNvSpPr>
          <p:nvPr/>
        </p:nvSpPr>
        <p:spPr bwMode="auto">
          <a:xfrm>
            <a:off x="5092804" y="750972"/>
            <a:ext cx="4473736" cy="310676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370">
                <a:solidFill>
                  <a:srgbClr val="000000"/>
                </a:solidFill>
              </a:rPr>
              <a:t>차주 업무 계획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6" name="표 3075"/>
          <p:cNvGraphicFramePr/>
          <p:nvPr>
            <p:extLst>
              <p:ext uri="{D42A27DB-BD31-4B8C-83A1-F6EECF244321}">
                <p14:modId xmlns:p14="http://schemas.microsoft.com/office/powerpoint/2010/main" val="259758088"/>
              </p:ext>
            </p:extLst>
          </p:nvPr>
        </p:nvGraphicFramePr>
        <p:xfrm>
          <a:off x="271440" y="1141189"/>
          <a:ext cx="9318451" cy="5164874"/>
        </p:xfrm>
        <a:graphic>
          <a:graphicData uri="http://schemas.openxmlformats.org/drawingml/2006/table">
            <a:tbl>
              <a:tblPr bandRow="1" firstRow="1"/>
              <a:tblGrid>
                <a:gridCol w="1320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53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50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3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9518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8572"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FF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일</a:t>
                      </a:r>
                      <a:endParaRPr altLang="en-US" b="0" dirty="0" i="0" kumimoji="1" lang="ko-KR" sz="900">
                        <a:solidFill>
                          <a:srgbClr val="FF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월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화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수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목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금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0000FF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토</a:t>
                      </a:r>
                      <a:endParaRPr altLang="en-US" b="0" dirty="0" i="0" kumimoji="1" lang="ko-KR" sz="900">
                        <a:solidFill>
                          <a:srgbClr val="0000FF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1392">
                <a:tc>
                  <a:txBody>
                    <a:bodyPr/>
                    <a:lstStyle/>
                    <a:p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</a:t>
                      </a:r>
                    </a:p>
                    <a:p>
                      <a:endParaRPr altLang="ko-KR" dirty="0" lang="en-US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r>
                        <a:rPr altLang="en-US" dirty="0" lang="ko-KR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신정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고귀한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4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5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6" marT="45716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6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9176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7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최연화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11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◐ 순현국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김예린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강민경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13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52327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14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15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16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17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18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19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이여진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20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49146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21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22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23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24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25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26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이재원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최진우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27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14235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28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29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최연화</a:t>
                      </a: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30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31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246" name="TextBox 3245"/>
          <p:cNvSpPr txBox="1"/>
          <p:nvPr/>
        </p:nvSpPr>
        <p:spPr>
          <a:xfrm>
            <a:off x="5639356" y="661884"/>
            <a:ext cx="661884" cy="363427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none">
            <a:noAutofit/>
          </a:bodyPr>
          <a:lstStyle/>
          <a:p>
            <a:pPr algn="r" defTabSz="75524200" eaLnBrk="0" hangingPunct="0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00000"/>
              <a:buFont typeface="Arial"/>
              <a:buChar char="◑"/>
              <a:defRPr/>
            </a:pPr>
            <a:r>
              <a:rPr altLang="en-US" b="0" baseline="0" i="0" kumimoji="1" lang="ko-KR" sz="90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반 차</a:t>
            </a:r>
          </a:p>
          <a:p>
            <a:pPr algn="r" defTabSz="75524200" eaLnBrk="0" hangingPunct="0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50000"/>
              <a:buFont typeface="Wingdings"/>
              <a:buChar char="l"/>
              <a:defRPr/>
            </a:pPr>
            <a:r>
              <a:rPr altLang="en-US" b="0" baseline="0" i="0" kumimoji="1" lang="ko-KR" sz="90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 1day</a:t>
            </a:r>
            <a:endParaRPr altLang="en-US" b="0" i="0" kumimoji="1" lang="ko-KR" sz="900">
              <a:solidFill>
                <a:srgbClr val="3333CC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7" name="TextBox 3246"/>
          <p:cNvSpPr txBox="1"/>
          <p:nvPr/>
        </p:nvSpPr>
        <p:spPr>
          <a:xfrm>
            <a:off x="226954" y="199994"/>
            <a:ext cx="9056616" cy="336468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ctr" bIns="45789" lIns="91577" rIns="91577" tIns="45789" vert="horz" wrap="square">
            <a:noAutofit/>
          </a:bodyPr>
          <a:lstStyle/>
          <a:p>
            <a:pPr algn="l" defTabSz="58846888" eaLnBrk="0" hangingPunct="0" indent="-385813" latinLnBrk="0" lvl="0" marL="38581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별첨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-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2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202</a:t>
            </a:r>
            <a:r>
              <a:rPr altLang="ko-KR" b="1" baseline="0" dirty="0" i="0" kumimoji="1" lang="en-US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4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 </a:t>
            </a:r>
            <a:r>
              <a:rPr altLang="ko-KR" b="1" baseline="0" dirty="0" i="0" kumimoji="1" lang="en-US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01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월 휴가계획서</a:t>
            </a:r>
            <a:endParaRPr altLang="en-US" b="1" dirty="0" i="0" kumimoji="1" lang="ko-KR" sz="160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8" name="TextBox 3247"/>
          <p:cNvSpPr txBox="1"/>
          <p:nvPr/>
        </p:nvSpPr>
        <p:spPr>
          <a:xfrm>
            <a:off x="6777363" y="666628"/>
            <a:ext cx="1447571" cy="355557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square">
            <a:noAutofit/>
          </a:bodyPr>
          <a:lstStyle/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Ø"/>
              <a:defRPr/>
            </a:pP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예비군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/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민방위 훈련 </a:t>
            </a:r>
          </a:p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ü"/>
              <a:defRPr/>
            </a:pP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교육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,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 내부회의 </a:t>
            </a:r>
            <a:endParaRPr altLang="en-US" b="0" dirty="0" i="0" kumimoji="1" lang="ko-KR" sz="90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2" name="TextBox 3251"/>
          <p:cNvSpPr txBox="1"/>
          <p:nvPr/>
        </p:nvSpPr>
        <p:spPr>
          <a:xfrm>
            <a:off x="7853525" y="661884"/>
            <a:ext cx="1676088" cy="355501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square">
            <a:noAutofit/>
          </a:bodyPr>
          <a:lstStyle/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v"/>
              <a:defRPr/>
            </a:pP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경조휴가</a:t>
            </a:r>
          </a:p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Arial"/>
              <a:buChar char="◇"/>
              <a:defRPr/>
            </a:pP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건강검진</a:t>
            </a:r>
            <a:endParaRPr altLang="en-US" b="0" i="0" kumimoji="1" lang="ko-KR" sz="90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3" name="TextBox 3252"/>
          <p:cNvSpPr txBox="1"/>
          <p:nvPr/>
        </p:nvSpPr>
        <p:spPr>
          <a:xfrm>
            <a:off x="722167" y="6401209"/>
            <a:ext cx="3085536" cy="223828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ctr" bIns="45720" lIns="91440" rIns="91440" tIns="45720" vert="horz" wrap="none">
            <a:noAutofit/>
          </a:bodyPr>
          <a:lstStyle/>
          <a:p>
            <a:pPr algn="r" defTabSz="75524200" eaLnBrk="0" hangingPunct="0" indent="0" latinLnBrk="0" lvl="0" marL="0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H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IT운영팀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R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생산IT지원팀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B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Baynex 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Q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Quintet</a:t>
            </a:r>
            <a:endParaRPr altLang="en-US" b="0" i="0" kumimoji="1" lang="ko-KR" sz="90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showMasterSp="false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