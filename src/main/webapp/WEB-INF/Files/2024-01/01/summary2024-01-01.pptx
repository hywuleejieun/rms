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232866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360773030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4598538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8832852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207954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422500867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93261943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925048921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23461406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49742388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621285775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319968298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391617486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83350339" name="Frame"/>
          <p:cNvSpPr>
            <a:spLocks noGrp="1"/>
          </p:cNvSpPr>
          <p:nvPr/>
        </p:nvSpPr>
        <p:spPr>
          <a:xfrm>
            <a:off x="25400" y="58547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588838776" name="Text">
    </p:cNvPr>
          <p:cNvSpPr>
            <a:spLocks noGrp="1"/>
          </p:cNvSpPr>
          <p:nvPr/>
        </p:nvSpPr>
        <p:spPr>
          <a:xfrm rot="0">
            <a:off x="152400" y="58801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2026494154" name="Text">
    </p:cNvPr>
          <p:cNvSpPr>
            <a:spLocks noGrp="1"/>
          </p:cNvSpPr>
          <p:nvPr/>
        </p:nvSpPr>
        <p:spPr>
          <a:xfrm rot="0">
            <a:off x="6451600" y="64135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07956470" name="Text">
    </p:cNvPr>
          <p:cNvSpPr>
            <a:spLocks noGrp="1"/>
          </p:cNvSpPr>
          <p:nvPr/>
        </p:nvSpPr>
        <p:spPr>
          <a:xfrm rot="0">
            <a:off x="2057400" y="64135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94206665" name="Text">
    </p:cNvPr>
          <p:cNvSpPr>
            <a:spLocks noGrp="1"/>
          </p:cNvSpPr>
          <p:nvPr/>
        </p:nvSpPr>
        <p:spPr>
          <a:xfrm rot="0">
            <a:off x="101600" y="64135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62149341" name="Text">
    </p:cNvPr>
          <p:cNvSpPr>
            <a:spLocks noGrp="1"/>
          </p:cNvSpPr>
          <p:nvPr/>
        </p:nvSpPr>
        <p:spPr>
          <a:xfrm rot="0">
            <a:off x="101600" y="61722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428945405" name="Text">
    </p:cNvPr>
          <p:cNvSpPr>
            <a:spLocks noGrp="1"/>
          </p:cNvSpPr>
          <p:nvPr/>
        </p:nvSpPr>
        <p:spPr>
          <a:xfrm rot="0">
            <a:off x="2057400" y="61722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541513899" name="Text">
    </p:cNvPr>
          <p:cNvSpPr>
            <a:spLocks noGrp="1"/>
          </p:cNvSpPr>
          <p:nvPr/>
        </p:nvSpPr>
        <p:spPr>
          <a:xfrm rot="0">
            <a:off x="6451600" y="61722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771795593" name="Text">
    </p:cNvPr>
          <p:cNvSpPr>
            <a:spLocks noGrp="1"/>
          </p:cNvSpPr>
          <p:nvPr/>
        </p:nvSpPr>
        <p:spPr>
          <a:xfrm rot="0">
            <a:off x="101600" y="67056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84668958" name="Text">
    </p:cNvPr>
          <p:cNvSpPr>
            <a:spLocks noGrp="1"/>
          </p:cNvSpPr>
          <p:nvPr/>
        </p:nvSpPr>
        <p:spPr>
          <a:xfrm rot="0">
            <a:off x="6451600" y="67056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11047228" name="Text">
    </p:cNvPr>
          <p:cNvSpPr>
            <a:spLocks noGrp="1"/>
          </p:cNvSpPr>
          <p:nvPr/>
        </p:nvSpPr>
        <p:spPr>
          <a:xfrm rot="0">
            <a:off x="2057400" y="67056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5665262" name="Text">
    </p:cNvPr>
          <p:cNvSpPr>
            <a:spLocks noGrp="1"/>
          </p:cNvSpPr>
          <p:nvPr/>
        </p:nvSpPr>
        <p:spPr>
          <a:xfrm rot="0">
            <a:off x="1244600" y="67056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0935634" name="Text">
    </p:cNvPr>
          <p:cNvSpPr>
            <a:spLocks noGrp="1"/>
          </p:cNvSpPr>
          <p:nvPr/>
        </p:nvSpPr>
        <p:spPr>
          <a:xfrm rot="0">
            <a:off x="1244600" y="64135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47351589" name="Text">
    </p:cNvPr>
          <p:cNvSpPr>
            <a:spLocks noGrp="1"/>
          </p:cNvSpPr>
          <p:nvPr/>
        </p:nvSpPr>
        <p:spPr>
          <a:xfrm rot="0">
            <a:off x="1244600" y="61722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420100590" name="Text">
    </p:cNvPr>
          <p:cNvSpPr>
            <a:spLocks noGrp="1"/>
          </p:cNvSpPr>
          <p:nvPr/>
        </p:nvSpPr>
        <p:spPr>
          <a:xfrm rot="0">
            <a:off x="8102600" y="67056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68850479" name="Text">
    </p:cNvPr>
          <p:cNvSpPr>
            <a:spLocks noGrp="1"/>
          </p:cNvSpPr>
          <p:nvPr/>
        </p:nvSpPr>
        <p:spPr>
          <a:xfrm rot="0">
            <a:off x="8102600" y="61722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37552896" name="Text">
    </p:cNvPr>
          <p:cNvSpPr>
            <a:spLocks noGrp="1"/>
          </p:cNvSpPr>
          <p:nvPr/>
        </p:nvSpPr>
        <p:spPr>
          <a:xfrm rot="0">
            <a:off x="8102600" y="64135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23089311" name="Frame"/>
          <p:cNvSpPr>
            <a:spLocks noGrp="1"/>
          </p:cNvSpPr>
          <p:nvPr/>
        </p:nvSpPr>
        <p:spPr>
          <a:xfrm>
            <a:off x="101600" y="2984500"/>
            <a:ext cx="9779000" cy="2705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41620054" name="Text">
    </p:cNvPr>
          <p:cNvSpPr>
            <a:spLocks noGrp="1"/>
          </p:cNvSpPr>
          <p:nvPr/>
        </p:nvSpPr>
        <p:spPr>
          <a:xfrm rot="0">
            <a:off x="165100" y="30480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53616792" name="Text">
    </p:cNvPr>
          <p:cNvSpPr>
            <a:spLocks noGrp="1"/>
          </p:cNvSpPr>
          <p:nvPr/>
        </p:nvSpPr>
        <p:spPr>
          <a:xfrm rot="0">
            <a:off x="152400" y="30099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185182726" name="Text">
    </p:cNvPr>
          <p:cNvSpPr>
            <a:spLocks noGrp="1"/>
          </p:cNvSpPr>
          <p:nvPr/>
        </p:nvSpPr>
        <p:spPr>
          <a:xfrm rot="0">
            <a:off x="165100" y="32639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887761846" name="Text">
    </p:cNvPr>
          <p:cNvSpPr>
            <a:spLocks noGrp="1"/>
          </p:cNvSpPr>
          <p:nvPr/>
        </p:nvSpPr>
        <p:spPr>
          <a:xfrm rot="0">
            <a:off x="901700" y="32639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1193113" name="Text">
    </p:cNvPr>
          <p:cNvSpPr>
            <a:spLocks noGrp="1"/>
          </p:cNvSpPr>
          <p:nvPr/>
        </p:nvSpPr>
        <p:spPr>
          <a:xfrm rot="0">
            <a:off x="5549900" y="32639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2058865812" name="Text">
    </p:cNvPr>
          <p:cNvSpPr>
            <a:spLocks noGrp="1"/>
          </p:cNvSpPr>
          <p:nvPr/>
        </p:nvSpPr>
        <p:spPr>
          <a:xfrm rot="0">
            <a:off x="6121400" y="32639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525763456" name="Frame"/>
          <p:cNvSpPr>
            <a:spLocks noGrp="1"/>
          </p:cNvSpPr>
          <p:nvPr/>
        </p:nvSpPr>
        <p:spPr>
          <a:xfrm>
            <a:off x="165100" y="4457700"/>
            <a:ext cx="9664700" cy="12319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055519303" name="Text">
    </p:cNvPr>
          <p:cNvSpPr>
            <a:spLocks noGrp="1"/>
          </p:cNvSpPr>
          <p:nvPr/>
        </p:nvSpPr>
        <p:spPr>
          <a:xfrm rot="0">
            <a:off x="165100" y="4432300"/>
            <a:ext cx="7366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111627851" name="Text">
    </p:cNvPr>
          <p:cNvSpPr>
            <a:spLocks noGrp="1"/>
          </p:cNvSpPr>
          <p:nvPr/>
        </p:nvSpPr>
        <p:spPr>
          <a:xfrm rot="0">
            <a:off x="965200" y="4483100"/>
            <a:ext cx="4584700" cy="1206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주유소/충전소 PRM 거래처 마스터 신규 등록시 필수 계약 자동 체결요청 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Defect Elimination Dashboard Renewal(신규 Portal 구축) 관련 전자결재 연동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Soft Skill 인증제도(Skillset) 시행에 따른 LMS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HCM 당일 시내출장 중식비 신청서 신규개발</a:t>
            </a:r>
          </a:p>
        </p:txBody>
      </p:sp>
      <p:sp>
        <p:nvSpPr>
          <p:cNvPr id="106283003" name="Text">
    </p:cNvPr>
          <p:cNvSpPr>
            <a:spLocks noGrp="1"/>
          </p:cNvSpPr>
          <p:nvPr/>
        </p:nvSpPr>
        <p:spPr>
          <a:xfrm rot="0">
            <a:off x="7239000" y="4483100"/>
            <a:ext cx="2552700" cy="1206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758412850" name="Text">
    </p:cNvPr>
          <p:cNvSpPr>
            <a:spLocks noGrp="1"/>
          </p:cNvSpPr>
          <p:nvPr/>
        </p:nvSpPr>
        <p:spPr>
          <a:xfrm rot="0">
            <a:off x="5549900" y="4483100"/>
            <a:ext cx="571500" cy="1206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</a:p>
        </p:txBody>
      </p:sp>
      <p:sp>
        <p:nvSpPr>
          <p:cNvPr id="1921880407" name="Text">
    </p:cNvPr>
          <p:cNvSpPr>
            <a:spLocks noGrp="1"/>
          </p:cNvSpPr>
          <p:nvPr/>
        </p:nvSpPr>
        <p:spPr>
          <a:xfrm rot="0">
            <a:off x="901700" y="4432300"/>
            <a:ext cx="46482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51505677" name="Text">
    </p:cNvPr>
          <p:cNvSpPr>
            <a:spLocks noGrp="1"/>
          </p:cNvSpPr>
          <p:nvPr/>
        </p:nvSpPr>
        <p:spPr>
          <a:xfrm rot="0">
            <a:off x="6121400" y="4432300"/>
            <a:ext cx="36449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9132810" name="Text">
    </p:cNvPr>
          <p:cNvSpPr>
            <a:spLocks noGrp="1"/>
          </p:cNvSpPr>
          <p:nvPr/>
        </p:nvSpPr>
        <p:spPr>
          <a:xfrm rot="0">
            <a:off x="5549900" y="4432300"/>
            <a:ext cx="5715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7907749" name="Frame"/>
          <p:cNvSpPr>
            <a:spLocks noGrp="1"/>
          </p:cNvSpPr>
          <p:nvPr/>
        </p:nvSpPr>
        <p:spPr>
          <a:xfrm>
            <a:off x="165100" y="3606800"/>
            <a:ext cx="9639300" cy="82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458021601" name="Text">
    </p:cNvPr>
          <p:cNvSpPr>
            <a:spLocks noGrp="1"/>
          </p:cNvSpPr>
          <p:nvPr/>
        </p:nvSpPr>
        <p:spPr>
          <a:xfrm rot="0">
            <a:off x="165100" y="36068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093749154" name="Text">
    </p:cNvPr>
          <p:cNvSpPr>
            <a:spLocks noGrp="1"/>
          </p:cNvSpPr>
          <p:nvPr/>
        </p:nvSpPr>
        <p:spPr>
          <a:xfrm rot="0">
            <a:off x="965200" y="3683000"/>
            <a:ext cx="4584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대주주 감사자료 생성-MRO 자재계정의 상대계정 리스트 테이블 저장(ZFIR7035,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ZFIT7035)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ZIMHCD 티코드에 전표기준 AP반제 기능추가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산업안전보건관리비 계상 관련 시스템 보완 요청</a:t>
            </a:r>
          </a:p>
        </p:txBody>
      </p:sp>
      <p:sp>
        <p:nvSpPr>
          <p:cNvPr id="1050967512" name="Text">
    </p:cNvPr>
          <p:cNvSpPr>
            <a:spLocks noGrp="1"/>
          </p:cNvSpPr>
          <p:nvPr/>
        </p:nvSpPr>
        <p:spPr>
          <a:xfrm rot="0">
            <a:off x="7239000" y="36830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343593717" name="Text">
    </p:cNvPr>
          <p:cNvSpPr>
            <a:spLocks noGrp="1"/>
          </p:cNvSpPr>
          <p:nvPr/>
        </p:nvSpPr>
        <p:spPr>
          <a:xfrm rot="0">
            <a:off x="5549900" y="36830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</a:p>
        </p:txBody>
      </p:sp>
      <p:sp>
        <p:nvSpPr>
          <p:cNvPr id="1763477833" name="Text">
    </p:cNvPr>
          <p:cNvSpPr>
            <a:spLocks noGrp="1"/>
          </p:cNvSpPr>
          <p:nvPr/>
        </p:nvSpPr>
        <p:spPr>
          <a:xfrm rot="0">
            <a:off x="901700" y="36068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81673361" name="Text">
    </p:cNvPr>
          <p:cNvSpPr>
            <a:spLocks noGrp="1"/>
          </p:cNvSpPr>
          <p:nvPr/>
        </p:nvSpPr>
        <p:spPr>
          <a:xfrm rot="0">
            <a:off x="6121400" y="36068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73496737" name="Text">
    </p:cNvPr>
          <p:cNvSpPr>
            <a:spLocks noGrp="1"/>
          </p:cNvSpPr>
          <p:nvPr/>
        </p:nvSpPr>
        <p:spPr>
          <a:xfrm rot="0">
            <a:off x="5549900" y="36068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02641361" name="Frame"/>
          <p:cNvSpPr>
            <a:spLocks noGrp="1"/>
          </p:cNvSpPr>
          <p:nvPr/>
        </p:nvSpPr>
        <p:spPr>
          <a:xfrm>
            <a:off x="127000" y="1384300"/>
            <a:ext cx="9779000" cy="1460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887980275" name="Frame"/>
          <p:cNvSpPr>
            <a:spLocks noGrp="1"/>
          </p:cNvSpPr>
          <p:nvPr/>
        </p:nvSpPr>
        <p:spPr>
          <a:xfrm>
            <a:off x="152400" y="2070100"/>
            <a:ext cx="9664700" cy="7747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65341530" name="Text">
    </p:cNvPr>
          <p:cNvSpPr>
            <a:spLocks noGrp="1"/>
          </p:cNvSpPr>
          <p:nvPr/>
        </p:nvSpPr>
        <p:spPr>
          <a:xfrm rot="0">
            <a:off x="152400" y="2044700"/>
            <a:ext cx="7366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382316107" name="Text">
    </p:cNvPr>
          <p:cNvSpPr>
            <a:spLocks noGrp="1"/>
          </p:cNvSpPr>
          <p:nvPr/>
        </p:nvSpPr>
        <p:spPr>
          <a:xfrm rot="0">
            <a:off x="952500" y="2095500"/>
            <a:ext cx="45974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법인 경제성 시뮬레이션 메뉴추가 및 URL 연결요청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[RPA]  A11 '#1 회계지급전표 증빙대사' 작업 데이터정리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크롬 업데이트에 따른 LMS e-Learning 진도관리 기능제한에 따른 코드 재개발 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토	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[LOPAS]ERP / EAI (SEM_SupriceTrans) 수정 요청</a:t>
            </a:r>
          </a:p>
        </p:txBody>
      </p:sp>
      <p:sp>
        <p:nvSpPr>
          <p:cNvPr id="826437020" name="Text">
    </p:cNvPr>
          <p:cNvSpPr>
            <a:spLocks noGrp="1"/>
          </p:cNvSpPr>
          <p:nvPr/>
        </p:nvSpPr>
        <p:spPr>
          <a:xfrm rot="0">
            <a:off x="7226300" y="20955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61830805" name="Text">
    </p:cNvPr>
          <p:cNvSpPr>
            <a:spLocks noGrp="1"/>
          </p:cNvSpPr>
          <p:nvPr/>
        </p:nvSpPr>
        <p:spPr>
          <a:xfrm rot="0">
            <a:off x="6108700" y="2044700"/>
            <a:ext cx="7620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70196640" name="Text">
    </p:cNvPr>
          <p:cNvSpPr>
            <a:spLocks noGrp="1"/>
          </p:cNvSpPr>
          <p:nvPr/>
        </p:nvSpPr>
        <p:spPr>
          <a:xfrm rot="0">
            <a:off x="5537200" y="20955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</a:p>
        </p:txBody>
      </p:sp>
      <p:sp>
        <p:nvSpPr>
          <p:cNvPr id="2071161231" name="Text">
    </p:cNvPr>
          <p:cNvSpPr>
            <a:spLocks noGrp="1"/>
          </p:cNvSpPr>
          <p:nvPr/>
        </p:nvSpPr>
        <p:spPr>
          <a:xfrm rot="0">
            <a:off x="889000" y="2044700"/>
            <a:ext cx="46482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09934576" name="Text">
    </p:cNvPr>
          <p:cNvSpPr>
            <a:spLocks noGrp="1"/>
          </p:cNvSpPr>
          <p:nvPr/>
        </p:nvSpPr>
        <p:spPr>
          <a:xfrm rot="0">
            <a:off x="7124700" y="2044700"/>
            <a:ext cx="26543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55490180" name="Text">
    </p:cNvPr>
          <p:cNvSpPr>
            <a:spLocks noGrp="1"/>
          </p:cNvSpPr>
          <p:nvPr/>
        </p:nvSpPr>
        <p:spPr>
          <a:xfrm rot="0">
            <a:off x="5537200" y="2044700"/>
            <a:ext cx="5715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7630585" name="Rectangle"/>
          <p:cNvSpPr>
            <a:spLocks noGrp="1"/>
          </p:cNvSpPr>
          <p:nvPr/>
        </p:nvSpPr>
        <p:spPr>
          <a:xfrm>
            <a:off x="6870700" y="2044700"/>
            <a:ext cx="254000" cy="800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4460779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263048649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72582175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구매 물류송장 CP 결재 요청 오류 원인 분석 및 해결(ZEAM7000)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[CO] PP(Polypropylene)제품별 원가내역 조회 및 저장 프로세스 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(ZCPR2030,ZCPR2040)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e-Biz. 가격조회 RFC 수정</a:t>
            </a:r>
          </a:p>
        </p:txBody>
      </p:sp>
      <p:sp>
        <p:nvSpPr>
          <p:cNvPr id="119761751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326630415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479119223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</a:p>
        </p:txBody>
      </p:sp>
      <p:sp>
        <p:nvSpPr>
          <p:cNvPr id="1563306084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95469381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44482791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8931153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