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00273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2127720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8523785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65342991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7363317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35482019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7806928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5129466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1934383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285630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209099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8866367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248034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2122415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97966272" name="Text">
    </p:cNvPr>
          <p:cNvSpPr>
            <a:spLocks noGrp="1"/>
          </p:cNvSpPr>
          <p:nvPr/>
        </p:nvSpPr>
        <p:spPr>
          <a:xfrm rot="0">
            <a:off x="97028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</a:p>
        </p:txBody>
      </p:sp>
      <p:sp>
        <p:nvSpPr>
          <p:cNvPr id="173236961" name="Text">
    </p:cNvPr>
          <p:cNvSpPr>
            <a:spLocks noGrp="1"/>
          </p:cNvSpPr>
          <p:nvPr/>
        </p:nvSpPr>
        <p:spPr>
          <a:xfrm rot="0">
            <a:off x="93345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</a:p>
        </p:txBody>
      </p:sp>
      <p:sp>
        <p:nvSpPr>
          <p:cNvPr id="1791559544" name="Text">
    </p:cNvPr>
          <p:cNvSpPr>
            <a:spLocks noGrp="1"/>
          </p:cNvSpPr>
          <p:nvPr/>
        </p:nvSpPr>
        <p:spPr>
          <a:xfrm rot="0">
            <a:off x="5930900" y="1511300"/>
            <a:ext cx="3403600" cy="3492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ITSM-96727 [OSPM] Application Secure Coding 취약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 개선 요청 건</a:t>
            </a:r>
          </a:p>
        </p:txBody>
      </p:sp>
      <p:sp>
        <p:nvSpPr>
          <p:cNvPr id="1300946121" name="Text">
    </p:cNvPr>
          <p:cNvSpPr>
            <a:spLocks noGrp="1"/>
          </p:cNvSpPr>
          <p:nvPr/>
        </p:nvSpPr>
        <p:spPr>
          <a:xfrm rot="0">
            <a:off x="5308600" y="1511300"/>
            <a:ext cx="5715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고귀한</a:t>
            </a:r>
          </a:p>
        </p:txBody>
      </p:sp>
      <p:sp>
        <p:nvSpPr>
          <p:cNvPr id="1460905560" name="Text">
    </p:cNvPr>
          <p:cNvSpPr>
            <a:spLocks noGrp="1"/>
          </p:cNvSpPr>
          <p:nvPr/>
        </p:nvSpPr>
        <p:spPr>
          <a:xfrm rot="0">
            <a:off x="88900" y="1511300"/>
            <a:ext cx="5715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고귀한</a:t>
            </a:r>
          </a:p>
        </p:txBody>
      </p:sp>
      <p:sp>
        <p:nvSpPr>
          <p:cNvPr id="1179030065" name="Text">
    </p:cNvPr>
          <p:cNvSpPr>
            <a:spLocks noGrp="1"/>
          </p:cNvSpPr>
          <p:nvPr/>
        </p:nvSpPr>
        <p:spPr>
          <a:xfrm rot="0">
            <a:off x="711200" y="1511300"/>
            <a:ext cx="3403600" cy="3492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ITSM-96727 [OSPM] Application Secure Coding 취약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ITSM-104689 협조문 B46-23-0303"선수금반환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요청"에 포함된 첨부파일 교체 요청의건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ITSM-104676 안전보건검토 결과서 내 보완서류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첨부 필요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ITSM-104747 품의서상 위약사항 점검내용 상세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ITSM-104756 계열이탈 S/S 법적조치 제외 - 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상제일(2014165)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ITSM-104806 협조문 (D66-23-0266) 첨부문서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ITSM-104782 결재 완료 문서의 첨부파일 수정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ITSM-104792 결재 완료된 전자결재 문서 첨부파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일 교체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ITSM-104843 결재 진행중인 문서 문구수정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ITSM-104653 협조문 (DH8-23-0204)사고 사례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전파 및 협조 요청 (의자 뒤로 젖혀 휴식 중 넘어짐) 문구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변경 및 첨부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ITSM-104874 기승인 품의서 중 첨부 서류 교체</a:t>
            </a:r>
          </a:p>
        </p:txBody>
      </p:sp>
      <p:sp>
        <p:nvSpPr>
          <p:cNvPr id="1687600966" name="Text">
    </p:cNvPr>
          <p:cNvSpPr>
            <a:spLocks noGrp="1"/>
          </p:cNvSpPr>
          <p:nvPr/>
        </p:nvSpPr>
        <p:spPr>
          <a:xfrm rot="0">
            <a:off x="44831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2137086857" name="Text">
    </p:cNvPr>
          <p:cNvSpPr>
            <a:spLocks noGrp="1"/>
          </p:cNvSpPr>
          <p:nvPr/>
        </p:nvSpPr>
        <p:spPr>
          <a:xfrm rot="0">
            <a:off x="48514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889852763" name="Text">
    </p:cNvPr>
          <p:cNvSpPr>
            <a:spLocks noGrp="1"/>
          </p:cNvSpPr>
          <p:nvPr/>
        </p:nvSpPr>
        <p:spPr>
          <a:xfrm rot="0">
            <a:off x="41148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1194318033" name="Text">
    </p:cNvPr>
          <p:cNvSpPr>
            <a:spLocks noGrp="1"/>
          </p:cNvSpPr>
          <p:nvPr/>
        </p:nvSpPr>
        <p:spPr>
          <a:xfrm rot="0">
            <a:off x="660400" y="1511300"/>
            <a:ext cx="34544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70287613" name="Text">
    </p:cNvPr>
          <p:cNvSpPr>
            <a:spLocks noGrp="1"/>
          </p:cNvSpPr>
          <p:nvPr/>
        </p:nvSpPr>
        <p:spPr>
          <a:xfrm rot="0">
            <a:off x="5880100" y="1511300"/>
            <a:ext cx="34544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27210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379886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6531661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4723707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5828756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00385427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6007270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3998939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79347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5050374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1781308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6666939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4017360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2048196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9434994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</a:p>
        </p:txBody>
      </p:sp>
      <p:sp>
        <p:nvSpPr>
          <p:cNvPr id="47264355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06/01</a:t>
            </a:r>
            <a:br/>
            <a:br/>
          </a:p>
        </p:txBody>
      </p:sp>
      <p:sp>
        <p:nvSpPr>
          <p:cNvPr id="102899121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개발 지원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RTS Dashboard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Secure Coding 취약점 개선 요청 건</a:t>
            </a:r>
            <a:br/>
          </a:p>
        </p:txBody>
      </p:sp>
      <p:sp>
        <p:nvSpPr>
          <p:cNvPr id="24823824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33113879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35753684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개발 지원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New RTDB 연동 테스트</a:t>
            </a:r>
            <a:br/>
          </a:p>
        </p:txBody>
      </p:sp>
      <p:sp>
        <p:nvSpPr>
          <p:cNvPr id="115631895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34306464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</a:p>
        </p:txBody>
      </p:sp>
      <p:sp>
        <p:nvSpPr>
          <p:cNvPr id="162822954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</a:p>
        </p:txBody>
      </p:sp>
      <p:sp>
        <p:nvSpPr>
          <p:cNvPr id="167083568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0647374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59445540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</a:p>
        </p:txBody>
      </p:sp>
      <p:sp>
        <p:nvSpPr>
          <p:cNvPr id="112284739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</a:p>
        </p:txBody>
      </p:sp>
      <p:sp>
        <p:nvSpPr>
          <p:cNvPr id="38169982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주유소/충전소 PRM 거래처 마스터 신규 등록시 필수 계약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자동 체결요청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</a:p>
        </p:txBody>
      </p:sp>
      <p:sp>
        <p:nvSpPr>
          <p:cNvPr id="45330070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5705836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72917573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주유소/충전소 PRM 거래처 마스터 신규 등록시 필수 계약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자동 체결요청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CP 전자결재 연동문서 PRM 첨부문서 파일 링크 연결 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되는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법인 경제성 시뮬레이션 메뉴추가 및 URL 연결요청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내수 수출거래처 PRM 마스터 등록 보완</a:t>
            </a:r>
          </a:p>
        </p:txBody>
      </p:sp>
      <p:sp>
        <p:nvSpPr>
          <p:cNvPr id="106675888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4424270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88618500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</a:p>
        </p:txBody>
      </p:sp>
      <p:sp>
        <p:nvSpPr>
          <p:cNvPr id="75552141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828241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25721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636644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5033393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4214171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3588001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06538059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1500685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1091846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1171332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2712665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2585727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3941879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9366187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13154435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5360792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</a:p>
        </p:txBody>
      </p:sp>
      <p:sp>
        <p:nvSpPr>
          <p:cNvPr id="109539668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</a:p>
        </p:txBody>
      </p:sp>
      <p:sp>
        <p:nvSpPr>
          <p:cNvPr id="161796391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소스 내 naver 지도 api 소스 반영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상차계획ㆍ배차계획 화면 가격그룹 항목 추가및 데이터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삭제</a:t>
            </a:r>
          </a:p>
        </p:txBody>
      </p:sp>
      <p:sp>
        <p:nvSpPr>
          <p:cNvPr id="204136331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96063360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72693478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naver api 반영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상차계획ㆍ배차계획 화면 가격그룹 항목 추가및 데이터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자동 배차 엔진 재가동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영업관리 지사 인원 추가</a:t>
            </a:r>
          </a:p>
        </p:txBody>
      </p:sp>
      <p:sp>
        <p:nvSpPr>
          <p:cNvPr id="11978899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46612916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68%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18%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14573667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42201014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20654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9694139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</a:p>
        </p:txBody>
      </p:sp>
      <p:sp>
        <p:nvSpPr>
          <p:cNvPr id="69474030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</a:p>
        </p:txBody>
      </p:sp>
      <p:sp>
        <p:nvSpPr>
          <p:cNvPr id="16813135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'일일 사전점검' 작업 마이그레이션 및 테스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트, 수정</a:t>
            </a:r>
          </a:p>
        </p:txBody>
      </p:sp>
      <p:sp>
        <p:nvSpPr>
          <p:cNvPr id="23267828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70409102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19718746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'Daily Report' 작업 모니터링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'CCS 사전점검' 작업 수행 PC 변경 시 환경변환으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로 인한 에러 보완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 A11 '#1 회계지급전표 증빙대사' 작업 데이터정리 재수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'사전점검' 수기발송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[PPS] DSV 와 PPS 간의 Data 연결을 위한 뷰테이블 공유 요정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전달 및 조율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'일일 사전점검' 작업 마이그레이션 및 테스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트,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'#2 외화지급계좌 증빙대사' 작업 일부 수정 및 재수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행</a:t>
            </a:r>
          </a:p>
        </p:txBody>
      </p:sp>
      <p:sp>
        <p:nvSpPr>
          <p:cNvPr id="172227579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</a:p>
        </p:txBody>
      </p:sp>
      <p:sp>
        <p:nvSpPr>
          <p:cNvPr id="40443153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</a:p>
        </p:txBody>
      </p:sp>
      <p:sp>
        <p:nvSpPr>
          <p:cNvPr id="22476845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</a:p>
        </p:txBody>
      </p:sp>
      <p:sp>
        <p:nvSpPr>
          <p:cNvPr id="39691635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4067049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42048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8733423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4907020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10329218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8691686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0389555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5128529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1588268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3150350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3146757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7889808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3109728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0064974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7596551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1250966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</a:p>
        </p:txBody>
      </p:sp>
      <p:sp>
        <p:nvSpPr>
          <p:cNvPr id="132430031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</a:p>
        </p:txBody>
      </p:sp>
      <p:sp>
        <p:nvSpPr>
          <p:cNvPr id="11928842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Defect Elimination Dashboard Renewal(신규 Po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rtal 구축)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보너스카드 서비스 중단유예 / 매출비율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신청서 format 변경</a:t>
            </a:r>
          </a:p>
        </p:txBody>
      </p:sp>
      <p:sp>
        <p:nvSpPr>
          <p:cNvPr id="186082054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31351592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63278139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Defect Elimination Dashboard Renewal(신규 Po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rtal 구축)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보너스카드 서비스 중단유예 / 매출비율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신청서 format 변경</a:t>
            </a:r>
          </a:p>
        </p:txBody>
      </p:sp>
      <p:sp>
        <p:nvSpPr>
          <p:cNvPr id="113868480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</a:p>
        </p:txBody>
      </p:sp>
      <p:sp>
        <p:nvSpPr>
          <p:cNvPr id="166768586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</a:p>
        </p:txBody>
      </p:sp>
      <p:sp>
        <p:nvSpPr>
          <p:cNvPr id="25752909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</a:p>
        </p:txBody>
      </p:sp>
      <p:sp>
        <p:nvSpPr>
          <p:cNvPr id="29583650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3469775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7961364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85947650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</a:p>
        </p:txBody>
      </p:sp>
      <p:sp>
        <p:nvSpPr>
          <p:cNvPr id="85165053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크롬 업데이트에 따른 LMS e-Learning 진도관리 기능제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한에 따른 코드 재개발 검토</a:t>
            </a:r>
          </a:p>
        </p:txBody>
      </p:sp>
      <p:sp>
        <p:nvSpPr>
          <p:cNvPr id="85298124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2455258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61279923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건(assessment 요청관련 기능 추가요청, 사내평가/사외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평가관련 메일발송 기능 추가)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크롬 업데이트에 따른 LMS e-Learning 진도관리 기능제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한에 따른 코드 재개발 검토	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20231226_HSSE부문 부서동기화 오류로 INSERT</a:t>
            </a:r>
          </a:p>
        </p:txBody>
      </p:sp>
      <p:sp>
        <p:nvSpPr>
          <p:cNvPr id="126607631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</a:p>
        </p:txBody>
      </p:sp>
      <p:sp>
        <p:nvSpPr>
          <p:cNvPr id="110776896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</a:p>
        </p:txBody>
      </p:sp>
      <p:sp>
        <p:nvSpPr>
          <p:cNvPr id="55606371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</a:p>
        </p:txBody>
      </p:sp>
      <p:sp>
        <p:nvSpPr>
          <p:cNvPr id="125877955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2015472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95183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5703388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8186655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2908606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923753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9929946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9374090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5750345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4552602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9010551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0868309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175894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8171839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6067463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8110051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</a:p>
        </p:txBody>
      </p:sp>
      <p:sp>
        <p:nvSpPr>
          <p:cNvPr id="114416675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</a:p>
        </p:txBody>
      </p:sp>
      <p:sp>
        <p:nvSpPr>
          <p:cNvPr id="180620193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조치 권고 사항 처리 요청 (C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ISO에서 메일이 오면 작업진행)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조치 권고 사항 처리 요청(CIS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O에서 메일이 오면 작업진행)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SP062 과도한 상품권 대금 결제 시나리오 로직 분석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</a:p>
        </p:txBody>
      </p:sp>
      <p:sp>
        <p:nvSpPr>
          <p:cNvPr id="10545670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71185335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205989084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재고이전등록 오류 확인 및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외부 감사 IT Dependency 자료요청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지류상품권 모바일 전환 데이터 확인 요청</a:t>
            </a:r>
          </a:p>
        </p:txBody>
      </p:sp>
      <p:sp>
        <p:nvSpPr>
          <p:cNvPr id="139077667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49087893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120580865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</a:p>
        </p:txBody>
      </p:sp>
      <p:sp>
        <p:nvSpPr>
          <p:cNvPr id="10682314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2670765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5018101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br/>
          </a:p>
        </p:txBody>
      </p:sp>
      <p:sp>
        <p:nvSpPr>
          <p:cNvPr id="125282750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  <a:br/>
          </a:p>
        </p:txBody>
      </p:sp>
      <p:sp>
        <p:nvSpPr>
          <p:cNvPr id="60344296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( 1. PDF 내 발행번호를 읽지 못함 / 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 저유소명 불일치 / 3. 셀병합 및 가운데 정렬로 인한 값 오배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치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조치 기간 내 'PDF' 업로드 및 수정 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</a:t>
            </a:r>
          </a:p>
        </p:txBody>
      </p:sp>
      <p:sp>
        <p:nvSpPr>
          <p:cNvPr id="863828618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74515551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5677069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( 1. PDF 내 발행번호를 읽지 못함 / 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 저유소명 불일치 / 3. 셀병합 및 가운데 정렬로 인한 값 오배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치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조치 기간 내 'PDF' 업로드 및 수정 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</a:t>
            </a:r>
          </a:p>
        </p:txBody>
      </p:sp>
      <p:sp>
        <p:nvSpPr>
          <p:cNvPr id="51070591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br/>
          </a:p>
        </p:txBody>
      </p:sp>
      <p:sp>
        <p:nvSpPr>
          <p:cNvPr id="125074254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65%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br/>
          </a:p>
        </p:txBody>
      </p:sp>
      <p:sp>
        <p:nvSpPr>
          <p:cNvPr id="92734365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br/>
          </a:p>
        </p:txBody>
      </p:sp>
      <p:sp>
        <p:nvSpPr>
          <p:cNvPr id="64075676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4637623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12752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4545993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9668231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8824272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3825651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07023377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20970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1399667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7756897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4489774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5715970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2419131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5784710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4429747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427379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100338977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</a:p>
        </p:txBody>
      </p:sp>
      <p:sp>
        <p:nvSpPr>
          <p:cNvPr id="187362818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11월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HCM 당일 시내출장 중식비 신청서 신규개발</a:t>
            </a:r>
          </a:p>
        </p:txBody>
      </p:sp>
      <p:sp>
        <p:nvSpPr>
          <p:cNvPr id="186599917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19196384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4366398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11월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LOPAS 재고현황 자료 I/F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[LOPAS]ERP / EAI (SEM_SupriceTrans) 수정 요청</a:t>
            </a:r>
          </a:p>
        </p:txBody>
      </p:sp>
      <p:sp>
        <p:nvSpPr>
          <p:cNvPr id="23226253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62619537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103437672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</a:p>
        </p:txBody>
      </p:sp>
      <p:sp>
        <p:nvSpPr>
          <p:cNvPr id="87486088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718462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