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1"/>
    <p:sldId id="275" r:id="rId33"/>
    <p:sldId id="276" r:id="rId35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slides/slide18.xml" Type="http://schemas.openxmlformats.org/officeDocument/2006/relationships/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slides/slide19.xml" Type="http://schemas.openxmlformats.org/officeDocument/2006/relationships/slide"/><Relationship Id="rId32" Target="notesSlides/notesSlide6.xml" Type="http://schemas.openxmlformats.org/officeDocument/2006/relationships/notesSlide"/><Relationship Id="rId33" Target="slides/slide20.xml" Type="http://schemas.openxmlformats.org/officeDocument/2006/relationships/slide"/><Relationship Id="rId34" Target="notesSlides/notesSlide7.xml" Type="http://schemas.openxmlformats.org/officeDocument/2006/relationships/notesSlide"/><Relationship Id="rId35" Target="slides/slide21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2023-12-27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[2024.01.09 ~ 2024.01.15]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1월 3주차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59758088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신정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01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080588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0260279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944302285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00549334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975687161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587943613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59389988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94506827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66054853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41426547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2088055248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213502397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448508918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46671716" name="Frame"/>
          <p:cNvSpPr>
            <a:spLocks noGrp="1"/>
          </p:cNvSpPr>
          <p:nvPr/>
        </p:nvSpPr>
        <p:spPr>
          <a:xfrm>
            <a:off x="25400" y="56769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534831180" name="Text">
    </p:cNvPr>
          <p:cNvSpPr>
            <a:spLocks noGrp="1"/>
          </p:cNvSpPr>
          <p:nvPr/>
        </p:nvSpPr>
        <p:spPr>
          <a:xfrm rot="0">
            <a:off x="152400" y="57023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933918582" name="Text">
    </p:cNvPr>
          <p:cNvSpPr>
            <a:spLocks noGrp="1"/>
          </p:cNvSpPr>
          <p:nvPr/>
        </p:nvSpPr>
        <p:spPr>
          <a:xfrm rot="0">
            <a:off x="6451600" y="62357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74936555" name="Text">
    </p:cNvPr>
          <p:cNvSpPr>
            <a:spLocks noGrp="1"/>
          </p:cNvSpPr>
          <p:nvPr/>
        </p:nvSpPr>
        <p:spPr>
          <a:xfrm rot="0">
            <a:off x="2057400" y="62357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540504" name="Text">
    </p:cNvPr>
          <p:cNvSpPr>
            <a:spLocks noGrp="1"/>
          </p:cNvSpPr>
          <p:nvPr/>
        </p:nvSpPr>
        <p:spPr>
          <a:xfrm rot="0">
            <a:off x="101600" y="62357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2325309" name="Text">
    </p:cNvPr>
          <p:cNvSpPr>
            <a:spLocks noGrp="1"/>
          </p:cNvSpPr>
          <p:nvPr/>
        </p:nvSpPr>
        <p:spPr>
          <a:xfrm rot="0">
            <a:off x="101600" y="59944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252124380" name="Text">
    </p:cNvPr>
          <p:cNvSpPr>
            <a:spLocks noGrp="1"/>
          </p:cNvSpPr>
          <p:nvPr/>
        </p:nvSpPr>
        <p:spPr>
          <a:xfrm rot="0">
            <a:off x="2057400" y="59944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304899139" name="Text">
    </p:cNvPr>
          <p:cNvSpPr>
            <a:spLocks noGrp="1"/>
          </p:cNvSpPr>
          <p:nvPr/>
        </p:nvSpPr>
        <p:spPr>
          <a:xfrm rot="0">
            <a:off x="6451600" y="59944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665180043" name="Text">
    </p:cNvPr>
          <p:cNvSpPr>
            <a:spLocks noGrp="1"/>
          </p:cNvSpPr>
          <p:nvPr/>
        </p:nvSpPr>
        <p:spPr>
          <a:xfrm rot="0">
            <a:off x="101600" y="65278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068321" name="Text">
    </p:cNvPr>
          <p:cNvSpPr>
            <a:spLocks noGrp="1"/>
          </p:cNvSpPr>
          <p:nvPr/>
        </p:nvSpPr>
        <p:spPr>
          <a:xfrm rot="0">
            <a:off x="6451600" y="65278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7845606" name="Text">
    </p:cNvPr>
          <p:cNvSpPr>
            <a:spLocks noGrp="1"/>
          </p:cNvSpPr>
          <p:nvPr/>
        </p:nvSpPr>
        <p:spPr>
          <a:xfrm rot="0">
            <a:off x="2057400" y="65278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30616820" name="Text">
    </p:cNvPr>
          <p:cNvSpPr>
            <a:spLocks noGrp="1"/>
          </p:cNvSpPr>
          <p:nvPr/>
        </p:nvSpPr>
        <p:spPr>
          <a:xfrm rot="0">
            <a:off x="1244600" y="65278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55425823" name="Text">
    </p:cNvPr>
          <p:cNvSpPr>
            <a:spLocks noGrp="1"/>
          </p:cNvSpPr>
          <p:nvPr/>
        </p:nvSpPr>
        <p:spPr>
          <a:xfrm rot="0">
            <a:off x="1244600" y="62357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21229860" name="Text">
    </p:cNvPr>
          <p:cNvSpPr>
            <a:spLocks noGrp="1"/>
          </p:cNvSpPr>
          <p:nvPr/>
        </p:nvSpPr>
        <p:spPr>
          <a:xfrm rot="0">
            <a:off x="1244600" y="59944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877212520" name="Text">
    </p:cNvPr>
          <p:cNvSpPr>
            <a:spLocks noGrp="1"/>
          </p:cNvSpPr>
          <p:nvPr/>
        </p:nvSpPr>
        <p:spPr>
          <a:xfrm rot="0">
            <a:off x="8102600" y="65278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5470293" name="Text">
    </p:cNvPr>
          <p:cNvSpPr>
            <a:spLocks noGrp="1"/>
          </p:cNvSpPr>
          <p:nvPr/>
        </p:nvSpPr>
        <p:spPr>
          <a:xfrm rot="0">
            <a:off x="8102600" y="59944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660501167" name="Text">
    </p:cNvPr>
          <p:cNvSpPr>
            <a:spLocks noGrp="1"/>
          </p:cNvSpPr>
          <p:nvPr/>
        </p:nvSpPr>
        <p:spPr>
          <a:xfrm rot="0">
            <a:off x="8102600" y="62357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4265973" name="Frame"/>
          <p:cNvSpPr>
            <a:spLocks noGrp="1"/>
          </p:cNvSpPr>
          <p:nvPr/>
        </p:nvSpPr>
        <p:spPr>
          <a:xfrm>
            <a:off x="101600" y="2959100"/>
            <a:ext cx="9779000" cy="2552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650068836" name="Text">
    </p:cNvPr>
          <p:cNvSpPr>
            <a:spLocks noGrp="1"/>
          </p:cNvSpPr>
          <p:nvPr/>
        </p:nvSpPr>
        <p:spPr>
          <a:xfrm rot="0">
            <a:off x="165100" y="3022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20413888" name="Text">
    </p:cNvPr>
          <p:cNvSpPr>
            <a:spLocks noGrp="1"/>
          </p:cNvSpPr>
          <p:nvPr/>
        </p:nvSpPr>
        <p:spPr>
          <a:xfrm rot="0">
            <a:off x="152400" y="2984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295788794" name="Text">
    </p:cNvPr>
          <p:cNvSpPr>
            <a:spLocks noGrp="1"/>
          </p:cNvSpPr>
          <p:nvPr/>
        </p:nvSpPr>
        <p:spPr>
          <a:xfrm rot="0">
            <a:off x="165100" y="3238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255064762" name="Text">
    </p:cNvPr>
          <p:cNvSpPr>
            <a:spLocks noGrp="1"/>
          </p:cNvSpPr>
          <p:nvPr/>
        </p:nvSpPr>
        <p:spPr>
          <a:xfrm rot="0">
            <a:off x="901700" y="3238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18365866" name="Text">
    </p:cNvPr>
          <p:cNvSpPr>
            <a:spLocks noGrp="1"/>
          </p:cNvSpPr>
          <p:nvPr/>
        </p:nvSpPr>
        <p:spPr>
          <a:xfrm rot="0">
            <a:off x="5549900" y="3238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158503693" name="Text">
    </p:cNvPr>
          <p:cNvSpPr>
            <a:spLocks noGrp="1"/>
          </p:cNvSpPr>
          <p:nvPr/>
        </p:nvSpPr>
        <p:spPr>
          <a:xfrm rot="0">
            <a:off x="6121400" y="3238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774896300" name="Frame"/>
          <p:cNvSpPr>
            <a:spLocks noGrp="1"/>
          </p:cNvSpPr>
          <p:nvPr/>
        </p:nvSpPr>
        <p:spPr>
          <a:xfrm>
            <a:off x="165100" y="4279900"/>
            <a:ext cx="9664700" cy="12319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427973691" name="Text">
    </p:cNvPr>
          <p:cNvSpPr>
            <a:spLocks noGrp="1"/>
          </p:cNvSpPr>
          <p:nvPr/>
        </p:nvSpPr>
        <p:spPr>
          <a:xfrm rot="0">
            <a:off x="165100" y="4254500"/>
            <a:ext cx="7366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129020851" name="Text">
    </p:cNvPr>
          <p:cNvSpPr>
            <a:spLocks noGrp="1"/>
          </p:cNvSpPr>
          <p:nvPr/>
        </p:nvSpPr>
        <p:spPr>
          <a:xfrm rot="0">
            <a:off x="965200" y="4305300"/>
            <a:ext cx="4584700" cy="1206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주유소/충전소 PRM 거래처 마스터 신규 등록시 필수 계약 자동 체결요청 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Defect Elimination Dashboard Renewal(신규 Portal 구축) 관련 전자결재 연동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Soft Skill 인증제도(Skillset) 시행에 따른 LMS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HCM 당일 시내출장 중식비 신청서 신규개발</a:t>
            </a:r>
          </a:p>
        </p:txBody>
      </p:sp>
      <p:sp>
        <p:nvSpPr>
          <p:cNvPr id="1820435938" name="Text">
    </p:cNvPr>
          <p:cNvSpPr>
            <a:spLocks noGrp="1"/>
          </p:cNvSpPr>
          <p:nvPr/>
        </p:nvSpPr>
        <p:spPr>
          <a:xfrm rot="0">
            <a:off x="7239000" y="4305300"/>
            <a:ext cx="2552700" cy="1206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406264186" name="Text">
    </p:cNvPr>
          <p:cNvSpPr>
            <a:spLocks noGrp="1"/>
          </p:cNvSpPr>
          <p:nvPr/>
        </p:nvSpPr>
        <p:spPr>
          <a:xfrm rot="0">
            <a:off x="5549900" y="4305300"/>
            <a:ext cx="571500" cy="1206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</a:p>
        </p:txBody>
      </p:sp>
      <p:sp>
        <p:nvSpPr>
          <p:cNvPr id="1874930629" name="Text">
    </p:cNvPr>
          <p:cNvSpPr>
            <a:spLocks noGrp="1"/>
          </p:cNvSpPr>
          <p:nvPr/>
        </p:nvSpPr>
        <p:spPr>
          <a:xfrm rot="0">
            <a:off x="901700" y="4254500"/>
            <a:ext cx="46482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04841835" name="Text">
    </p:cNvPr>
          <p:cNvSpPr>
            <a:spLocks noGrp="1"/>
          </p:cNvSpPr>
          <p:nvPr/>
        </p:nvSpPr>
        <p:spPr>
          <a:xfrm rot="0">
            <a:off x="6121400" y="4254500"/>
            <a:ext cx="36449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0661971" name="Text">
    </p:cNvPr>
          <p:cNvSpPr>
            <a:spLocks noGrp="1"/>
          </p:cNvSpPr>
          <p:nvPr/>
        </p:nvSpPr>
        <p:spPr>
          <a:xfrm rot="0">
            <a:off x="5549900" y="4254500"/>
            <a:ext cx="5715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44044108" name="Frame"/>
          <p:cNvSpPr>
            <a:spLocks noGrp="1"/>
          </p:cNvSpPr>
          <p:nvPr/>
        </p:nvSpPr>
        <p:spPr>
          <a:xfrm>
            <a:off x="165100" y="35814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744431310" name="Text">
    </p:cNvPr>
          <p:cNvSpPr>
            <a:spLocks noGrp="1"/>
          </p:cNvSpPr>
          <p:nvPr/>
        </p:nvSpPr>
        <p:spPr>
          <a:xfrm rot="0">
            <a:off x="165100" y="35814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545776131" name="Text">
    </p:cNvPr>
          <p:cNvSpPr>
            <a:spLocks noGrp="1"/>
          </p:cNvSpPr>
          <p:nvPr/>
        </p:nvSpPr>
        <p:spPr>
          <a:xfrm rot="0">
            <a:off x="965200" y="36576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대주주 감사자료 생성-MRO 자재계정의 상대계정 리스트 테이블 저장(ZFIR7035,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산업안전보건관리비 계상 관련 시스템 보완 요청</a:t>
            </a:r>
          </a:p>
        </p:txBody>
      </p:sp>
      <p:sp>
        <p:nvSpPr>
          <p:cNvPr id="899954728" name="Text">
    </p:cNvPr>
          <p:cNvSpPr>
            <a:spLocks noGrp="1"/>
          </p:cNvSpPr>
          <p:nvPr/>
        </p:nvSpPr>
        <p:spPr>
          <a:xfrm rot="0">
            <a:off x="7239000" y="36576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269184811" name="Text">
    </p:cNvPr>
          <p:cNvSpPr>
            <a:spLocks noGrp="1"/>
          </p:cNvSpPr>
          <p:nvPr/>
        </p:nvSpPr>
        <p:spPr>
          <a:xfrm rot="0">
            <a:off x="5549900" y="36576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</a:p>
        </p:txBody>
      </p:sp>
      <p:sp>
        <p:nvSpPr>
          <p:cNvPr id="534505471" name="Text">
    </p:cNvPr>
          <p:cNvSpPr>
            <a:spLocks noGrp="1"/>
          </p:cNvSpPr>
          <p:nvPr/>
        </p:nvSpPr>
        <p:spPr>
          <a:xfrm rot="0">
            <a:off x="901700" y="35814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74813" name="Text">
    </p:cNvPr>
          <p:cNvSpPr>
            <a:spLocks noGrp="1"/>
          </p:cNvSpPr>
          <p:nvPr/>
        </p:nvSpPr>
        <p:spPr>
          <a:xfrm rot="0">
            <a:off x="6121400" y="35814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7810599" name="Text">
    </p:cNvPr>
          <p:cNvSpPr>
            <a:spLocks noGrp="1"/>
          </p:cNvSpPr>
          <p:nvPr/>
        </p:nvSpPr>
        <p:spPr>
          <a:xfrm rot="0">
            <a:off x="5549900" y="35814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57525865" name="Frame"/>
          <p:cNvSpPr>
            <a:spLocks noGrp="1"/>
          </p:cNvSpPr>
          <p:nvPr/>
        </p:nvSpPr>
        <p:spPr>
          <a:xfrm>
            <a:off x="127000" y="1384300"/>
            <a:ext cx="9779000" cy="1435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781418079" name="Frame"/>
          <p:cNvSpPr>
            <a:spLocks noGrp="1"/>
          </p:cNvSpPr>
          <p:nvPr/>
        </p:nvSpPr>
        <p:spPr>
          <a:xfrm>
            <a:off x="152400" y="21971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840107537" name="Text">
    </p:cNvPr>
          <p:cNvSpPr>
            <a:spLocks noGrp="1"/>
          </p:cNvSpPr>
          <p:nvPr/>
        </p:nvSpPr>
        <p:spPr>
          <a:xfrm rot="0">
            <a:off x="152400" y="2171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848575320" name="Text">
    </p:cNvPr>
          <p:cNvSpPr>
            <a:spLocks noGrp="1"/>
          </p:cNvSpPr>
          <p:nvPr/>
        </p:nvSpPr>
        <p:spPr>
          <a:xfrm rot="0">
            <a:off x="952500" y="22225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[Mobile] ebiz 권한 요청 팝업 화면 이미지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A11 '#4 외화송금' 작업 파일첨부 작업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SABIC 에러 확인 및 로그 전달, 큐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[ERM] ERM 시스템상 2023.4Q Risk assessment data 수정 요청 (R297 관련)</a:t>
            </a:r>
          </a:p>
        </p:txBody>
      </p:sp>
      <p:sp>
        <p:nvSpPr>
          <p:cNvPr id="1622313395" name="Text">
    </p:cNvPr>
          <p:cNvSpPr>
            <a:spLocks noGrp="1"/>
          </p:cNvSpPr>
          <p:nvPr/>
        </p:nvSpPr>
        <p:spPr>
          <a:xfrm rot="0">
            <a:off x="7226300" y="22225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432777340" name="Text">
    </p:cNvPr>
          <p:cNvSpPr>
            <a:spLocks noGrp="1"/>
          </p:cNvSpPr>
          <p:nvPr/>
        </p:nvSpPr>
        <p:spPr>
          <a:xfrm rot="0">
            <a:off x="6108700" y="2171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2138035535" name="Text">
    </p:cNvPr>
          <p:cNvSpPr>
            <a:spLocks noGrp="1"/>
          </p:cNvSpPr>
          <p:nvPr/>
        </p:nvSpPr>
        <p:spPr>
          <a:xfrm rot="0">
            <a:off x="5537200" y="22225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</a:p>
        </p:txBody>
      </p:sp>
      <p:sp>
        <p:nvSpPr>
          <p:cNvPr id="1815244545" name="Text">
    </p:cNvPr>
          <p:cNvSpPr>
            <a:spLocks noGrp="1"/>
          </p:cNvSpPr>
          <p:nvPr/>
        </p:nvSpPr>
        <p:spPr>
          <a:xfrm rot="0">
            <a:off x="889000" y="2171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4813221" name="Text">
    </p:cNvPr>
          <p:cNvSpPr>
            <a:spLocks noGrp="1"/>
          </p:cNvSpPr>
          <p:nvPr/>
        </p:nvSpPr>
        <p:spPr>
          <a:xfrm rot="0">
            <a:off x="7124700" y="2171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16741340" name="Text">
    </p:cNvPr>
          <p:cNvSpPr>
            <a:spLocks noGrp="1"/>
          </p:cNvSpPr>
          <p:nvPr/>
        </p:nvSpPr>
        <p:spPr>
          <a:xfrm rot="0">
            <a:off x="5537200" y="2171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46340859" name="Rectangle"/>
          <p:cNvSpPr>
            <a:spLocks noGrp="1"/>
          </p:cNvSpPr>
          <p:nvPr/>
        </p:nvSpPr>
        <p:spPr>
          <a:xfrm>
            <a:off x="6870700" y="2171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6008160" name="Frame"/>
          <p:cNvSpPr>
            <a:spLocks noGrp="1"/>
          </p:cNvSpPr>
          <p:nvPr/>
        </p:nvSpPr>
        <p:spPr>
          <a:xfrm>
            <a:off x="152400" y="1371600"/>
            <a:ext cx="9639300" cy="800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415037418" name="Text">
    </p:cNvPr>
          <p:cNvSpPr>
            <a:spLocks noGrp="1"/>
          </p:cNvSpPr>
          <p:nvPr/>
        </p:nvSpPr>
        <p:spPr>
          <a:xfrm rot="0">
            <a:off x="152400" y="13716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2098376628" name="Text">
    </p:cNvPr>
          <p:cNvSpPr>
            <a:spLocks noGrp="1"/>
          </p:cNvSpPr>
          <p:nvPr/>
        </p:nvSpPr>
        <p:spPr>
          <a:xfrm rot="0">
            <a:off x="939800" y="1422400"/>
            <a:ext cx="46101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키 변경, 키 변경에 따른 로직 변경(ZCOT7051)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시험장비 비활성화 일자 변경시 오류 수정(ZFIM9900, ZFIR9900)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신규 자재번호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씨앤에스 운송계획지점(6600)에 대해 성남판교출하 배차분 삭제시 배차자동전송취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소</a:t>
            </a:r>
          </a:p>
        </p:txBody>
      </p:sp>
      <p:sp>
        <p:nvSpPr>
          <p:cNvPr id="1988650682" name="Text">
    </p:cNvPr>
          <p:cNvSpPr>
            <a:spLocks noGrp="1"/>
          </p:cNvSpPr>
          <p:nvPr/>
        </p:nvSpPr>
        <p:spPr>
          <a:xfrm rot="0">
            <a:off x="7226300" y="1447800"/>
            <a:ext cx="2552700" cy="723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736490918" name="Text">
    </p:cNvPr>
          <p:cNvSpPr>
            <a:spLocks noGrp="1"/>
          </p:cNvSpPr>
          <p:nvPr/>
        </p:nvSpPr>
        <p:spPr>
          <a:xfrm rot="0">
            <a:off x="6108700" y="1371600"/>
            <a:ext cx="7620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096235425" name="Text">
    </p:cNvPr>
          <p:cNvSpPr>
            <a:spLocks noGrp="1"/>
          </p:cNvSpPr>
          <p:nvPr/>
        </p:nvSpPr>
        <p:spPr>
          <a:xfrm rot="0">
            <a:off x="5537200" y="1447800"/>
            <a:ext cx="571500" cy="723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</a:p>
        </p:txBody>
      </p:sp>
      <p:sp>
        <p:nvSpPr>
          <p:cNvPr id="701514032" name="Text">
    </p:cNvPr>
          <p:cNvSpPr>
            <a:spLocks noGrp="1"/>
          </p:cNvSpPr>
          <p:nvPr/>
        </p:nvSpPr>
        <p:spPr>
          <a:xfrm rot="0">
            <a:off x="889000" y="13716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75549446" name="Text">
    </p:cNvPr>
          <p:cNvSpPr>
            <a:spLocks noGrp="1"/>
          </p:cNvSpPr>
          <p:nvPr/>
        </p:nvSpPr>
        <p:spPr>
          <a:xfrm rot="0">
            <a:off x="7124700" y="1371600"/>
            <a:ext cx="26543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4013550" name="Text">
    </p:cNvPr>
          <p:cNvSpPr>
            <a:spLocks noGrp="1"/>
          </p:cNvSpPr>
          <p:nvPr/>
        </p:nvSpPr>
        <p:spPr>
          <a:xfrm rot="0">
            <a:off x="5537200" y="13716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26761596" name="Rectangle"/>
          <p:cNvSpPr>
            <a:spLocks noGrp="1"/>
          </p:cNvSpPr>
          <p:nvPr/>
        </p:nvSpPr>
        <p:spPr>
          <a:xfrm>
            <a:off x="6870700" y="1371600"/>
            <a:ext cx="254000" cy="800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49657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9263548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5744417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801123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4012093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12697141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8179779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8621800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2266859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4922967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9882431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4238066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0414070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6619728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3115431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156827387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</a:p>
        </p:txBody>
      </p:sp>
      <p:sp>
        <p:nvSpPr>
          <p:cNvPr id="121977474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(ZFIR7035, ZFIT7035)</a:t>
            </a:r>
          </a:p>
        </p:txBody>
      </p:sp>
      <p:sp>
        <p:nvSpPr>
          <p:cNvPr id="100834411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83900047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54995490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전자결재 CP전송 프로세스 중 첨부문서 첨부 URL 오류 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분석(ZEAM8000, ZEAM8010)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키필드값 변경후 승인요청 취소시 프로세스 로직 수정(ZEA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M1111 )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키 변경, 키변경에 따른 로직 변경(ZCOT7051)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시험장비 비활성화 일자 변경시 오류 수정(ZFIM9900, ZF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IR9900)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연차 휴가</a:t>
            </a:r>
          </a:p>
        </p:txBody>
      </p:sp>
      <p:sp>
        <p:nvSpPr>
          <p:cNvPr id="125526754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64214291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9094588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41282609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871466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927070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28236415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137164785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당일 시내출장 중식비 신청서 개발 요청</a:t>
            </a:r>
          </a:p>
        </p:txBody>
      </p:sp>
      <p:sp>
        <p:nvSpPr>
          <p:cNvPr id="130001851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63144135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43617187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출장비 추가정산을 위한 해외출장비신청서 추가 생성처리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의료비/학자금 승인 완료 후 지급 보류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당일 시내출장 중식비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 평가 관련 기능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국내/외 출장비 정산서 예산 사용년도 로직 개선</a:t>
            </a:r>
          </a:p>
        </p:txBody>
      </p:sp>
      <p:sp>
        <p:nvSpPr>
          <p:cNvPr id="16753291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</a:p>
        </p:txBody>
      </p:sp>
      <p:sp>
        <p:nvSpPr>
          <p:cNvPr id="56220959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0109</a:t>
            </a:r>
            <a:br/>
          </a:p>
        </p:txBody>
      </p:sp>
      <p:sp>
        <p:nvSpPr>
          <p:cNvPr id="78424818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</a:p>
        </p:txBody>
      </p:sp>
      <p:sp>
        <p:nvSpPr>
          <p:cNvPr id="71013372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9155860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45980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2294317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5587221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220483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7692196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874390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4540973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8031255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7802683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0194162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1247762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6134262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863756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7532878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4241529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91952551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</a:p>
        </p:txBody>
      </p:sp>
      <p:sp>
        <p:nvSpPr>
          <p:cNvPr id="109154081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윤활유 첨가제 입고 취소 일자 반영 요처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</a:p>
        </p:txBody>
      </p:sp>
      <p:sp>
        <p:nvSpPr>
          <p:cNvPr id="153537063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206894898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15050278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윤활유 첨가제 입고 취소 일자 반영 요처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자재번호 생성</a:t>
            </a:r>
          </a:p>
        </p:txBody>
      </p:sp>
      <p:sp>
        <p:nvSpPr>
          <p:cNvPr id="203181612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103915329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</a:p>
        </p:txBody>
      </p:sp>
      <p:sp>
        <p:nvSpPr>
          <p:cNvPr id="126510863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</a:p>
        </p:txBody>
      </p:sp>
      <p:sp>
        <p:nvSpPr>
          <p:cNvPr id="36241182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8593379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724820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</a:p>
        </p:txBody>
      </p:sp>
      <p:sp>
        <p:nvSpPr>
          <p:cNvPr id="5985061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</a:p>
        </p:txBody>
      </p:sp>
      <p:sp>
        <p:nvSpPr>
          <p:cNvPr id="150022365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53400068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56300725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72863512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‘23년 Final 운영평가용 내부통제 관련 증빙자료 취합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PW정책 관련 파라미터 설정 내역 확인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‘23년 4분기 계정 유효성 검증 대상서버 확인정리 및 전달</a:t>
            </a:r>
          </a:p>
        </p:txBody>
      </p:sp>
      <p:sp>
        <p:nvSpPr>
          <p:cNvPr id="77630001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26937789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119432448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</a:p>
        </p:txBody>
      </p:sp>
      <p:sp>
        <p:nvSpPr>
          <p:cNvPr id="48114216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2380953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62933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0965055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6946836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1619364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2925650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0670137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9005420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1333792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4236982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1290922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7162456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0440847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0025508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3601007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3275626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8560986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61168323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27611174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3827627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43297113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92632606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7247376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18688486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48391123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2977458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6005908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</a:p>
        </p:txBody>
      </p:sp>
      <p:sp>
        <p:nvSpPr>
          <p:cNvPr id="169367232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70135510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 문서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ebiz/flbiz 인수인계</a:t>
            </a:r>
          </a:p>
        </p:txBody>
      </p:sp>
      <p:sp>
        <p:nvSpPr>
          <p:cNvPr id="10510181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136438511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77607829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 문서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ebiz/flbiz 인수인계</a:t>
            </a:r>
          </a:p>
        </p:txBody>
      </p:sp>
      <p:sp>
        <p:nvSpPr>
          <p:cNvPr id="177705693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</a:p>
        </p:txBody>
      </p:sp>
      <p:sp>
        <p:nvSpPr>
          <p:cNvPr id="192074855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89782865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19931107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6298108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29276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169703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443276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2845126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0185322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13611700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2842733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007581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6482072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642987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3274903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4337359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747081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933405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6395849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204447810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</a:p>
        </p:txBody>
      </p:sp>
      <p:sp>
        <p:nvSpPr>
          <p:cNvPr id="49796633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생리휴가 매월 쿼터 자동 발생 요청</a:t>
            </a:r>
          </a:p>
        </p:txBody>
      </p:sp>
      <p:sp>
        <p:nvSpPr>
          <p:cNvPr id="162304713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38793115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20632288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다면평가 평가자 추출 방식 개발 - 사용자 테스트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특근확인서(HCM/CP) 휴게시간 및 특근시간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다면평가(업무협력) - 피평가자 신청 대상 조회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휴가단위 변경 요청 (소숫점 둘째자리까지 요청)</a:t>
            </a:r>
          </a:p>
        </p:txBody>
      </p:sp>
      <p:sp>
        <p:nvSpPr>
          <p:cNvPr id="166794650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185421547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</a:p>
        </p:txBody>
      </p:sp>
      <p:sp>
        <p:nvSpPr>
          <p:cNvPr id="6023451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</a:p>
        </p:txBody>
      </p:sp>
      <p:sp>
        <p:nvSpPr>
          <p:cNvPr id="185916556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4033632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97367081" name="Text">
    </p:cNvPr>
          <p:cNvSpPr>
            <a:spLocks noGrp="1"/>
          </p:cNvSpPr>
          <p:nvPr/>
        </p:nvSpPr>
        <p:spPr>
          <a:xfrm rot="0">
            <a:off x="9702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  <a:br/>
          </a:p>
        </p:txBody>
      </p:sp>
      <p:sp>
        <p:nvSpPr>
          <p:cNvPr id="651235320" name="Text">
    </p:cNvPr>
          <p:cNvSpPr>
            <a:spLocks noGrp="1"/>
          </p:cNvSpPr>
          <p:nvPr/>
        </p:nvSpPr>
        <p:spPr>
          <a:xfrm rot="0">
            <a:off x="93345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</a:p>
        </p:txBody>
      </p:sp>
      <p:sp>
        <p:nvSpPr>
          <p:cNvPr id="1275574847" name="Text">
    </p:cNvPr>
          <p:cNvSpPr>
            <a:spLocks noGrp="1"/>
          </p:cNvSpPr>
          <p:nvPr/>
        </p:nvSpPr>
        <p:spPr>
          <a:xfrm rot="0">
            <a:off x="5930900" y="37719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</a:p>
        </p:txBody>
      </p:sp>
      <p:sp>
        <p:nvSpPr>
          <p:cNvPr id="1782094030" name="Text">
    </p:cNvPr>
          <p:cNvSpPr>
            <a:spLocks noGrp="1"/>
          </p:cNvSpPr>
          <p:nvPr/>
        </p:nvSpPr>
        <p:spPr>
          <a:xfrm rot="0">
            <a:off x="53086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592299984" name="Text">
    </p:cNvPr>
          <p:cNvSpPr>
            <a:spLocks noGrp="1"/>
          </p:cNvSpPr>
          <p:nvPr/>
        </p:nvSpPr>
        <p:spPr>
          <a:xfrm rot="0">
            <a:off x="889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885928250" name="Text">
    </p:cNvPr>
          <p:cNvSpPr>
            <a:spLocks noGrp="1"/>
          </p:cNvSpPr>
          <p:nvPr/>
        </p:nvSpPr>
        <p:spPr>
          <a:xfrm rot="0">
            <a:off x="711200" y="37719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ITSM-93611 ZSDR7090 - 담보관리:채권대비 담보확보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액” 개선요청-6/2~ 변경 요청사항 반영- 8/29~8/30 요구사항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변경으로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ITSM-105439당사 NH알뜰 가격소급 정산시 중부권/남부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권 분리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ITSM-105166SAP 거래처별 가격 확인(입력/승인) 관련 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용일자 설정 기능 생성(변경)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ITSM-105707극동유화 운송계획지점(6100)에 대해 성남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판교출하 배차분 삭제시 배차자동전송취소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ITSM-105693씨앤에스 운송계획지점(6600)에 대해 성남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판교출하 배차분 삭제시 배차자동전송취소</a:t>
            </a:r>
          </a:p>
        </p:txBody>
      </p:sp>
      <p:sp>
        <p:nvSpPr>
          <p:cNvPr id="30368074" name="Text">
    </p:cNvPr>
          <p:cNvSpPr>
            <a:spLocks noGrp="1"/>
          </p:cNvSpPr>
          <p:nvPr/>
        </p:nvSpPr>
        <p:spPr>
          <a:xfrm rot="0">
            <a:off x="44831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</a:p>
        </p:txBody>
      </p:sp>
      <p:sp>
        <p:nvSpPr>
          <p:cNvPr id="790591317" name="Text">
    </p:cNvPr>
          <p:cNvSpPr>
            <a:spLocks noGrp="1"/>
          </p:cNvSpPr>
          <p:nvPr/>
        </p:nvSpPr>
        <p:spPr>
          <a:xfrm rot="0">
            <a:off x="48514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</a:p>
        </p:txBody>
      </p:sp>
      <p:sp>
        <p:nvSpPr>
          <p:cNvPr id="895681911" name="Text">
    </p:cNvPr>
          <p:cNvSpPr>
            <a:spLocks noGrp="1"/>
          </p:cNvSpPr>
          <p:nvPr/>
        </p:nvSpPr>
        <p:spPr>
          <a:xfrm rot="0">
            <a:off x="4114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</a:p>
        </p:txBody>
      </p:sp>
      <p:sp>
        <p:nvSpPr>
          <p:cNvPr id="48601546" name="Text">
    </p:cNvPr>
          <p:cNvSpPr>
            <a:spLocks noGrp="1"/>
          </p:cNvSpPr>
          <p:nvPr/>
        </p:nvSpPr>
        <p:spPr>
          <a:xfrm rot="0">
            <a:off x="6604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19192301" name="Text">
    </p:cNvPr>
          <p:cNvSpPr>
            <a:spLocks noGrp="1"/>
          </p:cNvSpPr>
          <p:nvPr/>
        </p:nvSpPr>
        <p:spPr>
          <a:xfrm rot="0">
            <a:off x="58801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25400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7512813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5175478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1129340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9790787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734272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3420878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0398671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9211821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1984147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2324019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0778385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5103158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4176387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13759457" name="Text">
    </p:cNvPr>
          <p:cNvSpPr>
            <a:spLocks noGrp="1"/>
          </p:cNvSpPr>
          <p:nvPr/>
        </p:nvSpPr>
        <p:spPr>
          <a:xfrm rot="0">
            <a:off x="9702800" y="1511300"/>
            <a:ext cx="3683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</a:p>
        </p:txBody>
      </p:sp>
      <p:sp>
        <p:nvSpPr>
          <p:cNvPr id="182005113" name="Text">
    </p:cNvPr>
          <p:cNvSpPr>
            <a:spLocks noGrp="1"/>
          </p:cNvSpPr>
          <p:nvPr/>
        </p:nvSpPr>
        <p:spPr>
          <a:xfrm rot="0">
            <a:off x="9334500" y="1511300"/>
            <a:ext cx="3683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</a:p>
        </p:txBody>
      </p:sp>
      <p:sp>
        <p:nvSpPr>
          <p:cNvPr id="27348244" name="Text">
    </p:cNvPr>
          <p:cNvSpPr>
            <a:spLocks noGrp="1"/>
          </p:cNvSpPr>
          <p:nvPr/>
        </p:nvSpPr>
        <p:spPr>
          <a:xfrm rot="0">
            <a:off x="5930900" y="1511300"/>
            <a:ext cx="3403600" cy="3949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</a:p>
        </p:txBody>
      </p:sp>
      <p:sp>
        <p:nvSpPr>
          <p:cNvPr id="1371298910" name="Text">
    </p:cNvPr>
          <p:cNvSpPr>
            <a:spLocks noGrp="1"/>
          </p:cNvSpPr>
          <p:nvPr/>
        </p:nvSpPr>
        <p:spPr>
          <a:xfrm rot="0">
            <a:off x="5308600" y="1511300"/>
            <a:ext cx="5715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838038147" name="Text">
    </p:cNvPr>
          <p:cNvSpPr>
            <a:spLocks noGrp="1"/>
          </p:cNvSpPr>
          <p:nvPr/>
        </p:nvSpPr>
        <p:spPr>
          <a:xfrm rot="0">
            <a:off x="88900" y="1511300"/>
            <a:ext cx="5715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1921131297" name="Text">
    </p:cNvPr>
          <p:cNvSpPr>
            <a:spLocks noGrp="1"/>
          </p:cNvSpPr>
          <p:nvPr/>
        </p:nvSpPr>
        <p:spPr>
          <a:xfrm rot="0">
            <a:off x="711200" y="1511300"/>
            <a:ext cx="3403600" cy="3949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ITSM-105297 비용 예산 조정 승인신청서 승인연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도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ITSM-105327 D99-24-0002 협조문 첨부파일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ITSM-105386 정보기술지원신청서 상의 첨부파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일 교체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ITSM-105333 기안지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ITSM-105372 기안지 (AA1-23-0024) 첨부파일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ITSM-105406 협조문 내용 수정요청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ITSM-105608 2024년 표준문서 '리스크대응매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뉴얼(SOM-6-200)' 개정 품의 첨부파일 교체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ITSM-105619 결재문서 내용 재수정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ITSM-105652 파견용역업체 기안지 일부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ITSM-105654 인감날인 신청서의 첨부 서류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ITSM-105692 CP 기안문서 내용수정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ITSM-105709 대표이사 사용인감 날인 신청서 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첨부파일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ITSM-105714 기안지 내 예산 및 자원란 문구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요청 (기안지 제목 : 2023~2024년 해상시설물 건전성 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용역 품의)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ITSM-105754 보고서 결재 문서 첨부 파일 추가</a:t>
            </a:r>
          </a:p>
        </p:txBody>
      </p:sp>
      <p:sp>
        <p:nvSpPr>
          <p:cNvPr id="2034243976" name="Text">
    </p:cNvPr>
          <p:cNvSpPr>
            <a:spLocks noGrp="1"/>
          </p:cNvSpPr>
          <p:nvPr/>
        </p:nvSpPr>
        <p:spPr>
          <a:xfrm rot="0">
            <a:off x="4483100" y="1511300"/>
            <a:ext cx="3683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</a:p>
        </p:txBody>
      </p:sp>
      <p:sp>
        <p:nvSpPr>
          <p:cNvPr id="1252914258" name="Text">
    </p:cNvPr>
          <p:cNvSpPr>
            <a:spLocks noGrp="1"/>
          </p:cNvSpPr>
          <p:nvPr/>
        </p:nvSpPr>
        <p:spPr>
          <a:xfrm rot="0">
            <a:off x="4851400" y="1511300"/>
            <a:ext cx="3683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</a:p>
        </p:txBody>
      </p:sp>
      <p:sp>
        <p:nvSpPr>
          <p:cNvPr id="1616965870" name="Text">
    </p:cNvPr>
          <p:cNvSpPr>
            <a:spLocks noGrp="1"/>
          </p:cNvSpPr>
          <p:nvPr/>
        </p:nvSpPr>
        <p:spPr>
          <a:xfrm rot="0">
            <a:off x="4114800" y="1511300"/>
            <a:ext cx="3683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</a:p>
        </p:txBody>
      </p:sp>
      <p:sp>
        <p:nvSpPr>
          <p:cNvPr id="51928296" name="Text">
    </p:cNvPr>
          <p:cNvSpPr>
            <a:spLocks noGrp="1"/>
          </p:cNvSpPr>
          <p:nvPr/>
        </p:nvSpPr>
        <p:spPr>
          <a:xfrm rot="0">
            <a:off x="660400" y="1511300"/>
            <a:ext cx="34544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3998938" name="Text">
    </p:cNvPr>
          <p:cNvSpPr>
            <a:spLocks noGrp="1"/>
          </p:cNvSpPr>
          <p:nvPr/>
        </p:nvSpPr>
        <p:spPr>
          <a:xfrm rot="0">
            <a:off x="5880100" y="1511300"/>
            <a:ext cx="34544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55337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4421034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3799893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7537931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6046114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9770181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6739716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7624622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3430112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9920591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7565453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5385759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2993393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0822288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870141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80238044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76113993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New RTDB 연동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DashboardSecure Coding 취약점 개선 요청 건</a:t>
            </a:r>
          </a:p>
        </p:txBody>
      </p:sp>
      <p:sp>
        <p:nvSpPr>
          <p:cNvPr id="140386523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68308741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49529605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DashboardSecure Coding 취약점 개선 요청 건</a:t>
            </a:r>
          </a:p>
        </p:txBody>
      </p:sp>
      <p:sp>
        <p:nvSpPr>
          <p:cNvPr id="107483743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204266876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176725027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</a:p>
        </p:txBody>
      </p:sp>
      <p:sp>
        <p:nvSpPr>
          <p:cNvPr id="147767256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9463694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4318528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94303149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</a:p>
        </p:txBody>
      </p:sp>
      <p:sp>
        <p:nvSpPr>
          <p:cNvPr id="207347033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CI 시설 대금청구 매뉴에서 PR 일괄 생성 보완</a:t>
            </a:r>
          </a:p>
        </p:txBody>
      </p:sp>
      <p:sp>
        <p:nvSpPr>
          <p:cNvPr id="97833841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39963304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20661042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탱크청소 작업요청서 작성문서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CI 시설 대금청구 매뉴에서 PR 일괄 생성 보완</a:t>
            </a:r>
          </a:p>
        </p:txBody>
      </p:sp>
      <p:sp>
        <p:nvSpPr>
          <p:cNvPr id="16099357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83701792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</a:p>
        </p:txBody>
      </p:sp>
      <p:sp>
        <p:nvSpPr>
          <p:cNvPr id="11935229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</a:p>
        </p:txBody>
      </p:sp>
      <p:sp>
        <p:nvSpPr>
          <p:cNvPr id="45543377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5919531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7624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7870630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7052383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3979135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2138459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5029570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8486297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5844854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7698729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878794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6618665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5347323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5314654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6997940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423716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</a:p>
        </p:txBody>
      </p:sp>
      <p:sp>
        <p:nvSpPr>
          <p:cNvPr id="36662569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</a:p>
        </p:txBody>
      </p:sp>
      <p:sp>
        <p:nvSpPr>
          <p:cNvPr id="16976460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GW-mobile sdk 변경 및 테스트</a:t>
            </a:r>
          </a:p>
        </p:txBody>
      </p:sp>
      <p:sp>
        <p:nvSpPr>
          <p:cNvPr id="139651396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01625460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06829430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ebiz 권한 요청 팝업 화면 이미지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ITSM-105287 수동배포ITSM-105288 수동배포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ITSM-105673 삭제ITSM-105548 삭제ITSM-105250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작업유형 변경ITSM-105369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atss 사용자 패스워드 초기화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IITSM-105769 작업자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GW-mobile sdk 변경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ITSM-105829 작업자 변경</a:t>
            </a:r>
          </a:p>
        </p:txBody>
      </p:sp>
      <p:sp>
        <p:nvSpPr>
          <p:cNvPr id="118255821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209919920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177747150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82230180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727243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15702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7716446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1404079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195803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3755934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8513549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7203281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8336218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5693722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3872894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6854729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5799373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4182283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7004355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7437907" name="Text">
    </p:cNvPr>
          <p:cNvSpPr>
            <a:spLocks noGrp="1"/>
          </p:cNvSpPr>
          <p:nvPr/>
        </p:nvSpPr>
        <p:spPr>
          <a:xfrm rot="0">
            <a:off x="97028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606714183" name="Text">
    </p:cNvPr>
          <p:cNvSpPr>
            <a:spLocks noGrp="1"/>
          </p:cNvSpPr>
          <p:nvPr/>
        </p:nvSpPr>
        <p:spPr>
          <a:xfrm rot="0">
            <a:off x="93345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</a:p>
        </p:txBody>
      </p:sp>
      <p:sp>
        <p:nvSpPr>
          <p:cNvPr id="70366725" name="Text">
    </p:cNvPr>
          <p:cNvSpPr>
            <a:spLocks noGrp="1"/>
          </p:cNvSpPr>
          <p:nvPr/>
        </p:nvSpPr>
        <p:spPr>
          <a:xfrm rot="0">
            <a:off x="5930900" y="1511300"/>
            <a:ext cx="3403600" cy="3797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'#1 회계지급계좌 증빙대사' 작업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Migration 테스트, 수정</a:t>
            </a:r>
            <a:br/>
          </a:p>
        </p:txBody>
      </p:sp>
      <p:sp>
        <p:nvSpPr>
          <p:cNvPr id="2120897009" name="Text">
    </p:cNvPr>
          <p:cNvSpPr>
            <a:spLocks noGrp="1"/>
          </p:cNvSpPr>
          <p:nvPr/>
        </p:nvSpPr>
        <p:spPr>
          <a:xfrm rot="0">
            <a:off x="5308600" y="1511300"/>
            <a:ext cx="5715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249525957" name="Text">
    </p:cNvPr>
          <p:cNvSpPr>
            <a:spLocks noGrp="1"/>
          </p:cNvSpPr>
          <p:nvPr/>
        </p:nvSpPr>
        <p:spPr>
          <a:xfrm rot="0">
            <a:off x="88900" y="1511300"/>
            <a:ext cx="5715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602942284" name="Text">
    </p:cNvPr>
          <p:cNvSpPr>
            <a:spLocks noGrp="1"/>
          </p:cNvSpPr>
          <p:nvPr/>
        </p:nvSpPr>
        <p:spPr>
          <a:xfrm rot="0">
            <a:off x="711200" y="1511300"/>
            <a:ext cx="3403600" cy="3797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A11 -&gt; A360 '일일 사전점검' 작업 마이그레이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션 및 테스트,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'#1 회계지급전표 증빙대사' 작업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Migration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'#4 외화송금' 작업 파일첨부 작업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'LPG팀-자가수송비 정산' 작업 미수행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거래처들 원인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      - 12월 중 거래 종료 되었던 거래처들이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라 번호 조회 불가. 현업 수기처리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'에너지관리팀-Daily Report' 작업 2024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년도 파일 미제공으로 인한 2023년도 파일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Data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'사전점검' 작업 CP 점검 불가 사유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- '사전점검' 전 작업의 F11 기능으로 인한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검 불가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Data 정상 확인 완료 여부, DNS등록 및 방화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벽 오픈 완료 확인 후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방화벽 Open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'생산최적화팀-Margin' 작업 엑셀 복사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미작동 확인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'CCS 사전점검' 수신자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SABIC 에러 확인 및 로그 전달, 큐 생성</a:t>
            </a:r>
            <a:br/>
          </a:p>
        </p:txBody>
      </p:sp>
      <p:sp>
        <p:nvSpPr>
          <p:cNvPr id="712519849" name="Text">
    </p:cNvPr>
          <p:cNvSpPr>
            <a:spLocks noGrp="1"/>
          </p:cNvSpPr>
          <p:nvPr/>
        </p:nvSpPr>
        <p:spPr>
          <a:xfrm rot="0">
            <a:off x="44831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103877070" name="Text">
    </p:cNvPr>
          <p:cNvSpPr>
            <a:spLocks noGrp="1"/>
          </p:cNvSpPr>
          <p:nvPr/>
        </p:nvSpPr>
        <p:spPr>
          <a:xfrm rot="0">
            <a:off x="48514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517279141" name="Text">
    </p:cNvPr>
          <p:cNvSpPr>
            <a:spLocks noGrp="1"/>
          </p:cNvSpPr>
          <p:nvPr/>
        </p:nvSpPr>
        <p:spPr>
          <a:xfrm rot="0">
            <a:off x="41148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1021177720" name="Text">
    </p:cNvPr>
          <p:cNvSpPr>
            <a:spLocks noGrp="1"/>
          </p:cNvSpPr>
          <p:nvPr/>
        </p:nvSpPr>
        <p:spPr>
          <a:xfrm rot="0">
            <a:off x="660400" y="1511300"/>
            <a:ext cx="34544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72953650" name="Text">
    </p:cNvPr>
          <p:cNvSpPr>
            <a:spLocks noGrp="1"/>
          </p:cNvSpPr>
          <p:nvPr/>
        </p:nvSpPr>
        <p:spPr>
          <a:xfrm rot="0">
            <a:off x="5880100" y="1511300"/>
            <a:ext cx="34544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9097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7412679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1092234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1262470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8697980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91405669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6574437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265271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0411854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6804532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4446969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9182241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4918305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8142123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8895645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204192388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</a:p>
        </p:txBody>
      </p:sp>
      <p:sp>
        <p:nvSpPr>
          <p:cNvPr id="69201795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당일 시내출장 중식비 신청서 개발 요청</a:t>
            </a:r>
          </a:p>
        </p:txBody>
      </p:sp>
      <p:sp>
        <p:nvSpPr>
          <p:cNvPr id="130081532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8125910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46749849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당일 시내출장 중식비 신청서 개발 요청</a:t>
            </a:r>
          </a:p>
        </p:txBody>
      </p:sp>
      <p:sp>
        <p:nvSpPr>
          <p:cNvPr id="7211870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25382781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87441142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</a:p>
        </p:txBody>
      </p:sp>
      <p:sp>
        <p:nvSpPr>
          <p:cNvPr id="57141739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037832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3064340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86846660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</a:p>
        </p:txBody>
      </p:sp>
      <p:sp>
        <p:nvSpPr>
          <p:cNvPr id="1591779789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권한 부여 기능 수정 요청</a:t>
            </a:r>
          </a:p>
        </p:txBody>
      </p:sp>
      <p:sp>
        <p:nvSpPr>
          <p:cNvPr id="1417482999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446768463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974959168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건(내부평가/외부평가 관련 세부확인 관리자 메뉴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Soft skill 평가자 대상 정성평가 요청 메일 발송 추가)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권한 부여 기능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HG-A-1660 소프트웨어유지보수및 운영비산정 지침서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Alkylation1팀 전정배 주임 부서지침서 관리자 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Risk Assessment data 업데이트 요청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시스템상 2023.4Q Risk assessment data 수정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 (R297 관련)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IT 인프라 운영 정보보호 정책 현행화을 위한 ERS(규정관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리) 열람 권한 요청_기안메일_송부건	(인프라 박경근 대리)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전자결재 요청 양식의 첨부파일 다운로드 링크 http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s로 변경 적용</a:t>
            </a:r>
          </a:p>
        </p:txBody>
      </p:sp>
      <p:sp>
        <p:nvSpPr>
          <p:cNvPr id="1630110215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</a:p>
        </p:txBody>
      </p:sp>
      <p:sp>
        <p:nvSpPr>
          <p:cNvPr id="1577045631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</a:p>
        </p:txBody>
      </p:sp>
      <p:sp>
        <p:nvSpPr>
          <p:cNvPr id="1421284120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</a:p>
        </p:txBody>
      </p:sp>
      <p:sp>
        <p:nvSpPr>
          <p:cNvPr id="191243644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45048237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8737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7202516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0780768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1205321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3358559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2340273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780318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5326324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7741809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4954555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010489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6265142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562492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7446786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3383090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62188954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</a:p>
        </p:txBody>
      </p:sp>
      <p:sp>
        <p:nvSpPr>
          <p:cNvPr id="175314687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감사팀 협조 요청 20.04.01 ~ 24.1.11 지류 상품권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재고 데이터 추출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조치 권고 사항 처리 요청 (C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ISO에서 메일이 오면 작업진행)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조치 권고 사항 처리 요청(CIS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O에서 메일이 오면 작업진행)</a:t>
            </a:r>
          </a:p>
        </p:txBody>
      </p:sp>
      <p:sp>
        <p:nvSpPr>
          <p:cNvPr id="103170146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02452514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01482761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IAMS IT Process 2023 Final 모집단 자료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hqgiftap1 서버 다운 원인 파악 및 장애보고서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상품권 판매 거래처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지류상품권 모바일 상품권 전환 로그 테이블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CRM과 상품권 번호 동기화작업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감사팀 접속권한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대리점영업팀 판매등록 테스트 데이터 취소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감사팀 요청 :20.04.01 ~ 24.1.11 지류 상품권 재고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데이터 추출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SP104 시나리오 잘못 추출된 데이터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서버 계정 유효성 검증 회신</a:t>
            </a:r>
          </a:p>
        </p:txBody>
      </p:sp>
      <p:sp>
        <p:nvSpPr>
          <p:cNvPr id="174232364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</a:p>
        </p:txBody>
      </p:sp>
      <p:sp>
        <p:nvSpPr>
          <p:cNvPr id="77915564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</a:p>
        </p:txBody>
      </p:sp>
      <p:sp>
        <p:nvSpPr>
          <p:cNvPr id="14412214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</a:p>
        </p:txBody>
      </p:sp>
      <p:sp>
        <p:nvSpPr>
          <p:cNvPr id="131526259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9313349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9969247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</a:p>
        </p:txBody>
      </p:sp>
      <p:sp>
        <p:nvSpPr>
          <p:cNvPr id="209453186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</a:p>
        </p:txBody>
      </p:sp>
      <p:sp>
        <p:nvSpPr>
          <p:cNvPr id="41717028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( 1. PDF 내 발행번호를 읽지 못함 /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저유소명 불일치 / 3. 셀병합 및 가운데 정렬로 인한 값 오배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업로드 및 수정 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연도 정확도 체크</a:t>
            </a:r>
          </a:p>
        </p:txBody>
      </p:sp>
      <p:sp>
        <p:nvSpPr>
          <p:cNvPr id="62695742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42635653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76634837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( 1. PDF 내 발행번호를 읽지 못함 /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저유소명 불일치 / 3. 셀병합 및 가운데 정렬로 인한 값 오배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업로드 및 수정 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연도 정확도 체크</a:t>
            </a:r>
          </a:p>
        </p:txBody>
      </p:sp>
      <p:sp>
        <p:nvSpPr>
          <p:cNvPr id="50295574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</a:p>
        </p:txBody>
      </p:sp>
      <p:sp>
        <p:nvSpPr>
          <p:cNvPr id="127657064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</a:p>
        </p:txBody>
      </p:sp>
      <p:sp>
        <p:nvSpPr>
          <p:cNvPr id="98444930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</a:p>
        </p:txBody>
      </p:sp>
      <p:sp>
        <p:nvSpPr>
          <p:cNvPr id="30176127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0641312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1588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6446437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5738016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3540615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5521583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0457237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2220290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4162125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0722371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1119061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0218030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2593726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2454085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3583242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4600743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</a:p>
        </p:txBody>
      </p:sp>
      <p:sp>
        <p:nvSpPr>
          <p:cNvPr id="23396784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</a:p>
        </p:txBody>
      </p:sp>
      <p:sp>
        <p:nvSpPr>
          <p:cNvPr id="158046756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12월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2023.12월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HCM 당일 시내출장 중식비 신청서 신규개발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SOIL&lt;-&gt;SABIC 연계간 발생하는 에러메세지 처리를 위한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EQ 신규 생성</a:t>
            </a:r>
          </a:p>
        </p:txBody>
      </p:sp>
      <p:sp>
        <p:nvSpPr>
          <p:cNvPr id="36430074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10349865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54654934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12월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2023.12월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HCM 당일 시내출장 중식비 신청서 신규개발</a:t>
            </a:r>
          </a:p>
        </p:txBody>
      </p:sp>
      <p:sp>
        <p:nvSpPr>
          <p:cNvPr id="58399177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2649418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189261919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</a:p>
        </p:txBody>
      </p:sp>
      <p:sp>
        <p:nvSpPr>
          <p:cNvPr id="159464689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42069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59758088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신정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고귀한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김예린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이여진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01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