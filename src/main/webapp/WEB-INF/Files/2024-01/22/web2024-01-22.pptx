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92143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2230848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2286315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3007523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60533921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9706615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154469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2484789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868042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124087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6778706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5424470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2769042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6962705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195873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8903219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</a:p>
        </p:txBody>
      </p:sp>
      <p:sp>
        <p:nvSpPr>
          <p:cNvPr id="64642568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</a:p>
        </p:txBody>
      </p:sp>
      <p:sp>
        <p:nvSpPr>
          <p:cNvPr id="171381892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4954756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8749169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ITSM-105810 제품운영팀 가동전점검 첨부파일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ITSM-105824 기안지 "예산 및 자원" 내용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ITSM-105830 방사선 동위원소 위탁폐기 계약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결기안의 첨부파일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ITSM-105834 변경계약서 품의서에 첨부된 파일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교체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ITSM-105632 OSPM 작업정산서 준공 해제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(W/O 3909289)</a:t>
            </a:r>
          </a:p>
        </p:txBody>
      </p:sp>
      <p:sp>
        <p:nvSpPr>
          <p:cNvPr id="79434237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213540773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94322924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</a:p>
        </p:txBody>
      </p:sp>
      <p:sp>
        <p:nvSpPr>
          <p:cNvPr id="103974885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73512744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5564949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76579103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507957364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177500462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9117191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10151911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Dashboard사이버보안 컴플라이언스 점검 결과에 따른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건</a:t>
            </a:r>
          </a:p>
        </p:txBody>
      </p:sp>
      <p:sp>
        <p:nvSpPr>
          <p:cNvPr id="143753872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</a:p>
        </p:txBody>
      </p:sp>
      <p:sp>
        <p:nvSpPr>
          <p:cNvPr id="1597465121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762058203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16383579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4600874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02786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659070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041438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37522794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6480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58848102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09266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0311995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0721082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273530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5269277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7308239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7492437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422091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6251393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300806658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</a:p>
        </p:txBody>
      </p:sp>
      <p:sp>
        <p:nvSpPr>
          <p:cNvPr id="109819386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시 필수 계약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완</a:t>
            </a:r>
            <a:br/>
          </a:p>
        </p:txBody>
      </p:sp>
      <p:sp>
        <p:nvSpPr>
          <p:cNvPr id="74627310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62019407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260022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시 필수 계약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 CI 시설 대금청구 매뉴에서 PR 일괄 생성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[BI-EDW] BI-Dashboard 의 CAPEX 집행 현황 조회 화면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수정 요청</a:t>
            </a:r>
            <a:br/>
          </a:p>
        </p:txBody>
      </p:sp>
      <p:sp>
        <p:nvSpPr>
          <p:cNvPr id="8591773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19026871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150694540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60874338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7008764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0719419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</a:p>
        </p:txBody>
      </p:sp>
      <p:sp>
        <p:nvSpPr>
          <p:cNvPr id="96443389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</a:p>
        </p:txBody>
      </p:sp>
      <p:sp>
        <p:nvSpPr>
          <p:cNvPr id="147923388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셋팅</a:t>
            </a:r>
          </a:p>
        </p:txBody>
      </p:sp>
      <p:sp>
        <p:nvSpPr>
          <p:cNvPr id="20504365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61550033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96156590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셋팅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ITSM-105817 요청정보 작성ITSM-104916 작업자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경ITSM-105821 변경결과 작성ITSM-105635 요청정보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성ITSM-104634 작업유형 변경ITSM-96329 변경수행자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ITSM-105817 견적공수 작성ITSM-96329 배포상태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경ITSM-105934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GW-mobile sdk 변경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ITSM-106025 견적서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ITSM-104607 변경결과 작성ITSM-104766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</a:t>
            </a:r>
          </a:p>
        </p:txBody>
      </p:sp>
      <p:sp>
        <p:nvSpPr>
          <p:cNvPr id="100576123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2020163839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72%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28704123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200459556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9639053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3564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1280212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518376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753915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212152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9779731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667667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3297043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3065671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69842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91880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313961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2680937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3375627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107630188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965248611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</a:p>
        </p:txBody>
      </p:sp>
      <p:sp>
        <p:nvSpPr>
          <p:cNvPr id="741172512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</a:p>
        </p:txBody>
      </p:sp>
      <p:sp>
        <p:nvSpPr>
          <p:cNvPr id="275432211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308596720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2099983767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[기타] IAM 서버 접속 및 회신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CP 점검 불가 수정          - 본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이전의 작업으로 인해 발생. 해당 작업 수정         - taskk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ill /f /im chrome.exe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작업 수행 및 누락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데이터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'회계팀 - #1 회계지급계좌 증빙대사'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Migration 테스트,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웹페이지 접속 불가 장애 현업에 전달 -&gt; 서버 재부팅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'생산최적화팀-Margin' 작업 엑셀 복사 미작동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A360 115pc (Error: could not open 'C:\Program File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s\Automation Anywhere\Bot Agent\jre\lib\jvm.cfg') 팝업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수행 불가     1. 해당 PC 'C:\Program Files\Java\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   jre1.8.0_333\lib\amd64\jvm.cfg' 파일         복사 -&gt; 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러 발생 X, 작업 또한 돌지 않음     2. 타 PC 'C:\Program 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les\Automation              Anywhere' 하위 전부 복사 붙여넣기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             -&gt; 정상작동         Chrome 'Automation 360' 확장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프로그램          재설치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PPS 웹페이지 접속 에로사항 현업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HQPPSCMDEV 서버 보안패치 완료 안내 및 서비스 정상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</a:t>
            </a:r>
          </a:p>
        </p:txBody>
      </p:sp>
      <p:sp>
        <p:nvSpPr>
          <p:cNvPr id="979917687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2086434162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223896646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817197890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45731164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50338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123042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3876693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2394762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7492345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6063563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6710088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5137721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6561558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12274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899380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5691476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4262362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87307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5543089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66103063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67552611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5784894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27858717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63504755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대주주감사 지적사항 F/up을 위한 시스템 개선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26866374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78507222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18842487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212070713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7460957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01021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0767865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426386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5209111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3782461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2916996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851747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8435614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5194270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851497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7630158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7729790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950230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4177671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73802034" name="Text">
    </p:cNvPr>
          <p:cNvSpPr>
            <a:spLocks noGrp="1"/>
          </p:cNvSpPr>
          <p:nvPr/>
        </p:nvSpPr>
        <p:spPr>
          <a:xfrm rot="0">
            <a:off x="9702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725084714" name="Text">
    </p:cNvPr>
          <p:cNvSpPr>
            <a:spLocks noGrp="1"/>
          </p:cNvSpPr>
          <p:nvPr/>
        </p:nvSpPr>
        <p:spPr>
          <a:xfrm rot="0">
            <a:off x="93345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46106857" name="Text">
    </p:cNvPr>
          <p:cNvSpPr>
            <a:spLocks noGrp="1"/>
          </p:cNvSpPr>
          <p:nvPr/>
        </p:nvSpPr>
        <p:spPr>
          <a:xfrm rot="0">
            <a:off x="59309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</a:p>
        </p:txBody>
      </p:sp>
      <p:sp>
        <p:nvSpPr>
          <p:cNvPr id="684541938" name="Text">
    </p:cNvPr>
          <p:cNvSpPr>
            <a:spLocks noGrp="1"/>
          </p:cNvSpPr>
          <p:nvPr/>
        </p:nvSpPr>
        <p:spPr>
          <a:xfrm rot="0">
            <a:off x="53086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249215043" name="Text">
    </p:cNvPr>
          <p:cNvSpPr>
            <a:spLocks noGrp="1"/>
          </p:cNvSpPr>
          <p:nvPr/>
        </p:nvSpPr>
        <p:spPr>
          <a:xfrm rot="0">
            <a:off x="88900" y="1511300"/>
            <a:ext cx="5715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72360899" name="Text">
    </p:cNvPr>
          <p:cNvSpPr>
            <a:spLocks noGrp="1"/>
          </p:cNvSpPr>
          <p:nvPr/>
        </p:nvSpPr>
        <p:spPr>
          <a:xfrm rot="0">
            <a:off x="711200" y="1511300"/>
            <a:ext cx="3403600" cy="3492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건(1)	관리자&gt;Soft skill 관리&gt;Soft skill 실적현황관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교육달성일 및 Assessment 요청가능여부 엑셀업로드 기능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추가2)	Soft skill 교육완료자 대상으로 매주 월요일 평가요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 메일 자동 스케쥴러 반영.3)	Soft skill Assessment 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요청자 대상으로 내부/외부평가 체크하여 최종인증평가 업데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이트 스케쥴러 반영4)	사용자&gt;교육신청&gt;교육신청내역확인 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뉴에 Soft skill 교육과정 추가 반영)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2024.01.15일자 규정관리기안지 연계 개정오류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재처리, 중복 개정건 삭제처리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작성시 오류 확인 및 데이터 확인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24년 1월3주차 Soft Skill Assessment 대상자 내부평가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메일 발송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운영총괄&gt;Ulsan Complex Head 부서 조직 추가로 인해,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존 lms 부서 검색조건 3단계에서 5단계로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교육훈련신청서 및 교육결과보고서 메뉴얼 신규 업데이트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교육훈련신청서 작성시 공지 안내 팝업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data 업데이트 요청  </a:t>
            </a:r>
          </a:p>
        </p:txBody>
      </p:sp>
      <p:sp>
        <p:nvSpPr>
          <p:cNvPr id="1198732244" name="Text">
    </p:cNvPr>
          <p:cNvSpPr>
            <a:spLocks noGrp="1"/>
          </p:cNvSpPr>
          <p:nvPr/>
        </p:nvSpPr>
        <p:spPr>
          <a:xfrm rot="0">
            <a:off x="44831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96673311" name="Text">
    </p:cNvPr>
          <p:cNvSpPr>
            <a:spLocks noGrp="1"/>
          </p:cNvSpPr>
          <p:nvPr/>
        </p:nvSpPr>
        <p:spPr>
          <a:xfrm rot="0">
            <a:off x="48514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</a:p>
        </p:txBody>
      </p:sp>
      <p:sp>
        <p:nvSpPr>
          <p:cNvPr id="1673716606" name="Text">
    </p:cNvPr>
          <p:cNvSpPr>
            <a:spLocks noGrp="1"/>
          </p:cNvSpPr>
          <p:nvPr/>
        </p:nvSpPr>
        <p:spPr>
          <a:xfrm rot="0">
            <a:off x="4114800" y="1511300"/>
            <a:ext cx="3683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br/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</a:p>
        </p:txBody>
      </p:sp>
      <p:sp>
        <p:nvSpPr>
          <p:cNvPr id="1925212369" name="Text">
    </p:cNvPr>
          <p:cNvSpPr>
            <a:spLocks noGrp="1"/>
          </p:cNvSpPr>
          <p:nvPr/>
        </p:nvSpPr>
        <p:spPr>
          <a:xfrm rot="0">
            <a:off x="6604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4125006" name="Text">
    </p:cNvPr>
          <p:cNvSpPr>
            <a:spLocks noGrp="1"/>
          </p:cNvSpPr>
          <p:nvPr/>
        </p:nvSpPr>
        <p:spPr>
          <a:xfrm rot="0">
            <a:off x="5880100" y="1511300"/>
            <a:ext cx="3454400" cy="3492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62250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6497331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7290531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345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0649457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4500381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127661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4851461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9526914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6194212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1334546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5926316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572074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2771606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95636989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</a:p>
        </p:txBody>
      </p:sp>
      <p:sp>
        <p:nvSpPr>
          <p:cNvPr id="1702936098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736627494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460593327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017015169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552921502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23년 4분기 DBsafer, DDL, DML 로그 관련 자료 확인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감사팀 요청 :20.04.01 ~ 24.1.11 지류 상품권 재고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데이터 추출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대리점영업팀(제주지사) 상품권 카드결제 프로그램 설치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충북지사 카드리더기 IC칩 오류 관련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지류식 판매 ERP 연계 교환판매 구분에 대한 전표번호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연계 안되는 현상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 교환 ERP 연계 전표번호 미연동 처리 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SP104 시나리오 잘못 추출된 데이터 삭제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SP062 시나리오 로직 확인 요청</a:t>
            </a:r>
          </a:p>
        </p:txBody>
      </p:sp>
      <p:sp>
        <p:nvSpPr>
          <p:cNvPr id="936718866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216003879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137857886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</a:p>
        </p:txBody>
      </p:sp>
      <p:sp>
        <p:nvSpPr>
          <p:cNvPr id="1658854905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2688917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5738472" name="Text">
    </p:cNvPr>
          <p:cNvSpPr>
            <a:spLocks noGrp="1"/>
          </p:cNvSpPr>
          <p:nvPr/>
        </p:nvSpPr>
        <p:spPr>
          <a:xfrm rot="0">
            <a:off x="97028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578606196" name="Text">
    </p:cNvPr>
          <p:cNvSpPr>
            <a:spLocks noGrp="1"/>
          </p:cNvSpPr>
          <p:nvPr/>
        </p:nvSpPr>
        <p:spPr>
          <a:xfrm rot="0">
            <a:off x="93345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1023037338" name="Text">
    </p:cNvPr>
          <p:cNvSpPr>
            <a:spLocks noGrp="1"/>
          </p:cNvSpPr>
          <p:nvPr/>
        </p:nvSpPr>
        <p:spPr>
          <a:xfrm rot="0">
            <a:off x="5930900" y="37846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[]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</a:p>
        </p:txBody>
      </p:sp>
      <p:sp>
        <p:nvSpPr>
          <p:cNvPr id="525507934" name="Text">
    </p:cNvPr>
          <p:cNvSpPr>
            <a:spLocks noGrp="1"/>
          </p:cNvSpPr>
          <p:nvPr/>
        </p:nvSpPr>
        <p:spPr>
          <a:xfrm rot="0">
            <a:off x="5308600" y="37846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652728286" name="Text">
    </p:cNvPr>
          <p:cNvSpPr>
            <a:spLocks noGrp="1"/>
          </p:cNvSpPr>
          <p:nvPr/>
        </p:nvSpPr>
        <p:spPr>
          <a:xfrm rot="0">
            <a:off x="88900" y="37846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8681412" name="Text">
    </p:cNvPr>
          <p:cNvSpPr>
            <a:spLocks noGrp="1"/>
          </p:cNvSpPr>
          <p:nvPr/>
        </p:nvSpPr>
        <p:spPr>
          <a:xfrm rot="0">
            <a:off x="711200" y="3784600"/>
            <a:ext cx="3403600" cy="24257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연도 정확도 체크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물류비관리 &gt; 수송수단별 계획 vs 실적 물류비 현황, 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earch 이상 (IF_TS_TRANS_COST 배치 확인 및 실행)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점검 및 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 (추가케이스 확인)</a:t>
            </a:r>
          </a:p>
        </p:txBody>
      </p:sp>
      <p:sp>
        <p:nvSpPr>
          <p:cNvPr id="1852604113" name="Text">
    </p:cNvPr>
          <p:cNvSpPr>
            <a:spLocks noGrp="1"/>
          </p:cNvSpPr>
          <p:nvPr/>
        </p:nvSpPr>
        <p:spPr>
          <a:xfrm rot="0">
            <a:off x="44831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709159983" name="Text">
    </p:cNvPr>
          <p:cNvSpPr>
            <a:spLocks noGrp="1"/>
          </p:cNvSpPr>
          <p:nvPr/>
        </p:nvSpPr>
        <p:spPr>
          <a:xfrm rot="0">
            <a:off x="48514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</a:p>
        </p:txBody>
      </p:sp>
      <p:sp>
        <p:nvSpPr>
          <p:cNvPr id="304379675" name="Text">
    </p:cNvPr>
          <p:cNvSpPr>
            <a:spLocks noGrp="1"/>
          </p:cNvSpPr>
          <p:nvPr/>
        </p:nvSpPr>
        <p:spPr>
          <a:xfrm rot="0">
            <a:off x="4114800" y="37846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</a:p>
        </p:txBody>
      </p:sp>
      <p:sp>
        <p:nvSpPr>
          <p:cNvPr id="834472140" name="Text">
    </p:cNvPr>
          <p:cNvSpPr>
            <a:spLocks noGrp="1"/>
          </p:cNvSpPr>
          <p:nvPr/>
        </p:nvSpPr>
        <p:spPr>
          <a:xfrm rot="0">
            <a:off x="660400" y="37846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7799388" name="Text">
    </p:cNvPr>
          <p:cNvSpPr>
            <a:spLocks noGrp="1"/>
          </p:cNvSpPr>
          <p:nvPr/>
        </p:nvSpPr>
        <p:spPr>
          <a:xfrm rot="0">
            <a:off x="5880100" y="37846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9220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956086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916290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6858020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521147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2383190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955325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9233787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9332384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8765826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8113571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9753478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315207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7922752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3423855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822873002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</a:p>
        </p:txBody>
      </p:sp>
      <p:sp>
        <p:nvSpPr>
          <p:cNvPr id="1376031853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SOIL&lt;-&gt;SABIC 연계간 발생하는 에러메세지 처리를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EQ 신규 생성</a:t>
            </a:r>
          </a:p>
        </p:txBody>
      </p:sp>
      <p:sp>
        <p:nvSpPr>
          <p:cNvPr id="263126319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52530966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86318533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12월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2023.12월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ERPO 내자대금미지급현황전송, 외자대금미지급현황전송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I/F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SOIL&lt;-&gt;SABIC 연계간 발생하는 에러메세지 처리를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EQ 신규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로이터 국제 유가 인터페이스 실패로 인한 유가정보 DAT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A생성</a:t>
            </a:r>
          </a:p>
        </p:txBody>
      </p:sp>
      <p:sp>
        <p:nvSpPr>
          <p:cNvPr id="784743238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450830900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692184877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01/18</a:t>
            </a:r>
            <a:br/>
            <a:br/>
          </a:p>
        </p:txBody>
      </p:sp>
      <p:sp>
        <p:nvSpPr>
          <p:cNvPr id="133576496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0333315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