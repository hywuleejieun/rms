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3"/>
    <p:sldId id="260" r:id="rId14"/>
    <p:sldId id="261" r:id="rId16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2"/>
    <p:sldId id="276" r:id="rId34"/>
    <p:sldId id="277" r:id="rId36"/>
  </p:sldIdLst>
  <p:sldSz cx="10160000" cy="6921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slides/slide4.xml" Type="http://schemas.openxmlformats.org/officeDocument/2006/relationships/slide"/><Relationship Id="rId14" Target="slides/slide5.xml" Type="http://schemas.openxmlformats.org/officeDocument/2006/relationships/slide"/><Relationship Id="rId15" Target="notesSlides/notesSlide3.xml" Type="http://schemas.openxmlformats.org/officeDocument/2006/relationships/notesSlide"/><Relationship Id="rId16" Target="slides/slide6.xml" Type="http://schemas.openxmlformats.org/officeDocument/2006/relationships/slide"/><Relationship Id="rId17" Target="notesSlides/notesSlide4.xml" Type="http://schemas.openxmlformats.org/officeDocument/2006/relationships/notesSlide"/><Relationship Id="rId18" Target="slides/slide7.xml" Type="http://schemas.openxmlformats.org/officeDocument/2006/relationships/slide"/><Relationship Id="rId19" Target="slides/slide8.xml" Type="http://schemas.openxmlformats.org/officeDocument/2006/relationships/slide"/><Relationship Id="rId2" Target="presProps.xml" Type="http://schemas.openxmlformats.org/officeDocument/2006/relationships/presProps"/><Relationship Id="rId20" Target="slides/slide9.xml" Type="http://schemas.openxmlformats.org/officeDocument/2006/relationships/slide"/><Relationship Id="rId21" Target="slides/slide10.xml" Type="http://schemas.openxmlformats.org/officeDocument/2006/relationships/slide"/><Relationship Id="rId22" Target="slides/slide11.xml" Type="http://schemas.openxmlformats.org/officeDocument/2006/relationships/slide"/><Relationship Id="rId23" Target="slides/slide12.xml" Type="http://schemas.openxmlformats.org/officeDocument/2006/relationships/slide"/><Relationship Id="rId24" Target="slides/slide13.xml" Type="http://schemas.openxmlformats.org/officeDocument/2006/relationships/slide"/><Relationship Id="rId25" Target="slides/slide14.xml" Type="http://schemas.openxmlformats.org/officeDocument/2006/relationships/slide"/><Relationship Id="rId26" Target="slides/slide15.xml" Type="http://schemas.openxmlformats.org/officeDocument/2006/relationships/slide"/><Relationship Id="rId27" Target="slides/slide16.xml" Type="http://schemas.openxmlformats.org/officeDocument/2006/relationships/slide"/><Relationship Id="rId28" Target="slides/slide17.xml" Type="http://schemas.openxmlformats.org/officeDocument/2006/relationships/slide"/><Relationship Id="rId29" Target="slides/slide18.xml" Type="http://schemas.openxmlformats.org/officeDocument/2006/relationships/slide"/><Relationship Id="rId3" Target="viewProps.xml" Type="http://schemas.openxmlformats.org/officeDocument/2006/relationships/viewProps"/><Relationship Id="rId30" Target="slides/slide19.xml" Type="http://schemas.openxmlformats.org/officeDocument/2006/relationships/slide"/><Relationship Id="rId31" Target="notesSlides/notesSlide5.xml" Type="http://schemas.openxmlformats.org/officeDocument/2006/relationships/notesSlide"/><Relationship Id="rId32" Target="slides/slide20.xml" Type="http://schemas.openxmlformats.org/officeDocument/2006/relationships/slide"/><Relationship Id="rId33" Target="notesSlides/notesSlide6.xml" Type="http://schemas.openxmlformats.org/officeDocument/2006/relationships/notesSlide"/><Relationship Id="rId34" Target="slides/slide21.xml" Type="http://schemas.openxmlformats.org/officeDocument/2006/relationships/slide"/><Relationship Id="rId35" Target="notesSlides/notesSlide7.xml" Type="http://schemas.openxmlformats.org/officeDocument/2006/relationships/notesSlide"/><Relationship Id="rId36" Target="slides/slide22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6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7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30000"/>
              </a:spcBef>
              <a:spcAft>
                <a:spcPct val="0"/>
              </a:spcAft>
              <a:defRPr/>
            </a:pPr>
            <a:endParaRPr lang="ko-KR" altLang="en-US"/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30000"/>
              </a:spcBef>
              <a:spcAft>
                <a:spcPct val="0"/>
              </a:spcAft>
            </a:pPr>
            <a:endParaRPr lang="en-NZ" altLang="ko-KR" smtClean="0"/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714375" y="746125"/>
            <a:ext cx="5370513" cy="3719513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lIns="0" rIns="0" anchor="b"/>
          <a:lstStyle/>
          <a:p>
            <a:pPr lvl="0" algn="l" marL="372596" indent="-372596">
              <a:spcAft>
                <a:spcPct val="0"/>
              </a:spcAft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2024-03-04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3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 algn="l" marL="372596" indent="-372596">
              <a:spcAft>
                <a:spcPct val="0"/>
              </a:spcAft>
            </a:pPr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 marL="175431" indent="-175431">
              <a:spcBef>
                <a:spcPct val="0"/>
              </a:spcBef>
              <a:spcAft>
                <a:spcPct val="0"/>
              </a:spcAft>
            </a:pPr>
            <a:r>
              <a:rPr lang="en-US" altLang="ko-KR"/>
              <a:t>Level One Text</a:t>
            </a:r>
          </a:p>
          <a:p>
            <a:pPr lvl="1" marL="526292" indent="-175431">
              <a:spcAft>
                <a:spcPct val="0"/>
              </a:spcAft>
            </a:pPr>
            <a:r>
              <a:rPr lang="en-US" altLang="ko-KR"/>
              <a:t>Level Two Text</a:t>
            </a:r>
          </a:p>
          <a:p>
            <a:pPr lvl="2" marL="875601" indent="-173878">
              <a:spcAft>
                <a:spcPct val="0"/>
              </a:spcAft>
            </a:pPr>
            <a:r>
              <a:rPr lang="en-US" altLang="ko-KR"/>
              <a:t>Level Three Text</a:t>
            </a:r>
          </a:p>
          <a:p>
            <a:pPr lvl="3" marL="1235776" indent="-184746">
              <a:spcAft>
                <a:spcPct val="0"/>
              </a:spcAft>
            </a:pPr>
            <a:r>
              <a:rPr lang="en-US" altLang="ko-KR"/>
              <a:t>Level Four Text</a:t>
            </a:r>
          </a:p>
          <a:p>
            <a:pPr lvl="4" marL="1586638" indent="-175431">
              <a:spcAft>
                <a:spcPct val="0"/>
              </a:spcAft>
            </a:pPr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2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2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2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showMasterSp="false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/>
            </a:pPr>
            <a:r>
              <a:rPr b="true" lang="en-US" sz="1960">
                <a:latin typeface="맑은 고딕"/>
              </a:rPr>
              <a:t>[2024.03.19 ~ 2024.03.25]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b="true" lang="en-US" sz="1960">
                <a:solidFill>
                  <a:srgbClr val="000000"/>
                </a:solidFill>
                <a:latin typeface="맑은 고딕"/>
              </a:rPr>
              <a:t>3월 3주차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2844025994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삼일절</a:t>
                      </a: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 / 31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03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125"/>
          <p:cNvSpPr>
            <a:spLocks noChangeArrowheads="1"/>
          </p:cNvSpPr>
          <p:nvPr/>
        </p:nvSpPr>
        <p:spPr bwMode="auto">
          <a:xfrm>
            <a:off x="2486232" y="2518720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en-US" lang="ko-KR" sz="1566">
                <a:solidFill>
                  <a:schemeClr val="tx1"/>
                </a:solidFill>
              </a:rPr>
              <a:t>주간업무 실적 및 계획</a:t>
            </a:r>
          </a:p>
        </p:txBody>
      </p:sp>
      <p:sp>
        <p:nvSpPr>
          <p:cNvPr id="12291" name="Rectangle 3"/>
          <p:cNvSpPr>
            <a:spLocks noChangeArrowheads="1" noGrp="1"/>
          </p:cNvSpPr>
          <p:nvPr>
            <p:ph idx="4294967295" type="subTitle"/>
          </p:nvPr>
        </p:nvSpPr>
        <p:spPr>
          <a:xfrm>
            <a:off x="255577" y="297385"/>
            <a:ext cx="4927323" cy="372811"/>
          </a:xfrm>
        </p:spPr>
        <p:txBody>
          <a:bodyPr anchor="t" anchorCtr="0" bIns="46759" compatLnSpc="1" lIns="93521" numCol="1" rIns="93521" tIns="18410" vert="horz" wrap="square">
            <a:prstTxWarp prst="textNoShape">
              <a:avLst/>
            </a:prstTxWarp>
          </a:bodyPr>
          <a:lstStyle/>
          <a:p>
            <a:pPr defTabSz="894857" eaLnBrk="1" hangingPunct="1" indent="0" marL="0">
              <a:spcBef>
                <a:spcPct val="0"/>
              </a:spcBef>
              <a:spcAft>
                <a:spcPct val="0"/>
              </a:spcAft>
              <a:buNone/>
            </a:pPr>
            <a:r>
              <a:rPr altLang="en-US" b="1" lang="ko-KR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목차 </a:t>
            </a:r>
          </a:p>
        </p:txBody>
      </p:sp>
      <p:sp>
        <p:nvSpPr>
          <p:cNvPr id="12292" name="AutoShape 88"/>
          <p:cNvSpPr>
            <a:spLocks noChangeArrowheads="1"/>
          </p:cNvSpPr>
          <p:nvPr/>
        </p:nvSpPr>
        <p:spPr bwMode="auto">
          <a:xfrm>
            <a:off x="2487786" y="1943968"/>
            <a:ext cx="5711780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ko-KR" lang="en-US" sz="1566">
                <a:solidFill>
                  <a:schemeClr val="tx1"/>
                </a:solidFill>
              </a:rPr>
              <a:t>Summary</a:t>
            </a:r>
            <a:endParaRPr altLang="en-US" lang="ko-KR" sz="1566">
              <a:solidFill>
                <a:schemeClr val="tx1"/>
              </a:solidFill>
            </a:endParaRPr>
          </a:p>
        </p:txBody>
      </p:sp>
      <p:grpSp>
        <p:nvGrpSpPr>
          <p:cNvPr id="12293" name="Group 89"/>
          <p:cNvGrpSpPr>
            <a:grpSpLocks/>
          </p:cNvGrpSpPr>
          <p:nvPr/>
        </p:nvGrpSpPr>
        <p:grpSpPr bwMode="auto">
          <a:xfrm>
            <a:off x="2046626" y="2487652"/>
            <a:ext cx="539023" cy="487761"/>
            <a:chOff x="2225" y="1060"/>
            <a:chExt cx="294" cy="292"/>
          </a:xfrm>
        </p:grpSpPr>
        <p:grpSp>
          <p:nvGrpSpPr>
            <p:cNvPr id="12303" name="Group 90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305" name="Group 91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7" name="Oval 92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8" name="Oval 93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8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6" name="Oval 94"/>
              <p:cNvSpPr>
                <a:spLocks noChangeArrowheads="1"/>
              </p:cNvSpPr>
              <p:nvPr/>
            </p:nvSpPr>
            <p:spPr bwMode="auto">
              <a:xfrm rot="-1800000">
                <a:off x="-142" y="464"/>
                <a:ext cx="307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304" name="Text Box 95"/>
            <p:cNvSpPr txBox="1">
              <a:spLocks noChangeArrowheads="1"/>
            </p:cNvSpPr>
            <p:nvPr/>
          </p:nvSpPr>
          <p:spPr bwMode="auto">
            <a:xfrm>
              <a:off x="2293" y="1105"/>
              <a:ext cx="163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2</a:t>
              </a:r>
            </a:p>
          </p:txBody>
        </p:sp>
      </p:grpSp>
      <p:grpSp>
        <p:nvGrpSpPr>
          <p:cNvPr id="12294" name="Group 116"/>
          <p:cNvGrpSpPr>
            <a:grpSpLocks/>
          </p:cNvGrpSpPr>
          <p:nvPr/>
        </p:nvGrpSpPr>
        <p:grpSpPr bwMode="auto">
          <a:xfrm>
            <a:off x="2034199" y="1928435"/>
            <a:ext cx="563877" cy="487761"/>
            <a:chOff x="2225" y="1060"/>
            <a:chExt cx="294" cy="292"/>
          </a:xfrm>
        </p:grpSpPr>
        <p:grpSp>
          <p:nvGrpSpPr>
            <p:cNvPr id="12297" name="Group 117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299" name="Group 118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1" name="Oval 119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2" name="Oval 120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9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0" name="Oval 121"/>
              <p:cNvSpPr>
                <a:spLocks noChangeArrowheads="1"/>
              </p:cNvSpPr>
              <p:nvPr/>
            </p:nvSpPr>
            <p:spPr bwMode="auto">
              <a:xfrm rot="-1800000">
                <a:off x="-143" y="464"/>
                <a:ext cx="308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298" name="Text Box 122"/>
            <p:cNvSpPr txBox="1">
              <a:spLocks noChangeArrowheads="1"/>
            </p:cNvSpPr>
            <p:nvPr/>
          </p:nvSpPr>
          <p:spPr bwMode="auto">
            <a:xfrm>
              <a:off x="2295" y="1105"/>
              <a:ext cx="156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1</a:t>
              </a:r>
            </a:p>
          </p:txBody>
        </p:sp>
      </p:grpSp>
      <p:sp>
        <p:nvSpPr>
          <p:cNvPr id="12295" name="AutoShape 125"/>
          <p:cNvSpPr>
            <a:spLocks noChangeArrowheads="1"/>
          </p:cNvSpPr>
          <p:nvPr/>
        </p:nvSpPr>
        <p:spPr bwMode="auto">
          <a:xfrm>
            <a:off x="2492446" y="3130752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1] ERP </a:t>
            </a:r>
            <a:r>
              <a:rPr altLang="en-US" kumimoji="1" lang="ko-KR" sz="1370">
                <a:solidFill>
                  <a:srgbClr val="000000"/>
                </a:solidFill>
              </a:rPr>
              <a:t>사용자 계정 및 보안관리</a:t>
            </a:r>
          </a:p>
        </p:txBody>
      </p:sp>
      <p:sp>
        <p:nvSpPr>
          <p:cNvPr id="12296" name="AutoShape 125"/>
          <p:cNvSpPr>
            <a:spLocks noChangeArrowheads="1"/>
          </p:cNvSpPr>
          <p:nvPr/>
        </p:nvSpPr>
        <p:spPr bwMode="auto">
          <a:xfrm>
            <a:off x="2492446" y="3578125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2] </a:t>
            </a:r>
            <a:r>
              <a:rPr altLang="en-US" kumimoji="1" lang="ko-KR" sz="1370">
                <a:solidFill>
                  <a:srgbClr val="000000"/>
                </a:solidFill>
              </a:rPr>
              <a:t>휴가계획서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441034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1082129126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630880054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77680246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682032313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anchor="b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389122945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42364310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1379598915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307017097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52378167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349919166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511211132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754618125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840934424" name="Frame"/>
          <p:cNvSpPr>
            <a:spLocks noGrp="1"/>
          </p:cNvSpPr>
          <p:nvPr/>
        </p:nvSpPr>
        <p:spPr>
          <a:xfrm>
            <a:off x="25400" y="5397500"/>
            <a:ext cx="9855200" cy="11430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2084008770" name="Text">
    </p:cNvPr>
          <p:cNvSpPr>
            <a:spLocks noGrp="1"/>
          </p:cNvSpPr>
          <p:nvPr/>
        </p:nvSpPr>
        <p:spPr>
          <a:xfrm rot="0">
            <a:off x="152400" y="54229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555823406" name="Text">
    </p:cNvPr>
          <p:cNvSpPr>
            <a:spLocks noGrp="1"/>
          </p:cNvSpPr>
          <p:nvPr/>
        </p:nvSpPr>
        <p:spPr>
          <a:xfrm rot="0">
            <a:off x="6451600" y="59563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65030454" name="Text">
    </p:cNvPr>
          <p:cNvSpPr>
            <a:spLocks noGrp="1"/>
          </p:cNvSpPr>
          <p:nvPr/>
        </p:nvSpPr>
        <p:spPr>
          <a:xfrm rot="0">
            <a:off x="2057400" y="59563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43312941" name="Text">
    </p:cNvPr>
          <p:cNvSpPr>
            <a:spLocks noGrp="1"/>
          </p:cNvSpPr>
          <p:nvPr/>
        </p:nvSpPr>
        <p:spPr>
          <a:xfrm rot="0">
            <a:off x="101600" y="59563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05960581" name="Text">
    </p:cNvPr>
          <p:cNvSpPr>
            <a:spLocks noGrp="1"/>
          </p:cNvSpPr>
          <p:nvPr/>
        </p:nvSpPr>
        <p:spPr>
          <a:xfrm rot="0">
            <a:off x="101600" y="57150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1126441374" name="Text">
    </p:cNvPr>
          <p:cNvSpPr>
            <a:spLocks noGrp="1"/>
          </p:cNvSpPr>
          <p:nvPr/>
        </p:nvSpPr>
        <p:spPr>
          <a:xfrm rot="0">
            <a:off x="2057400" y="57150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1380071205" name="Text">
    </p:cNvPr>
          <p:cNvSpPr>
            <a:spLocks noGrp="1"/>
          </p:cNvSpPr>
          <p:nvPr/>
        </p:nvSpPr>
        <p:spPr>
          <a:xfrm rot="0">
            <a:off x="6451600" y="57150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237073446" name="Text">
    </p:cNvPr>
          <p:cNvSpPr>
            <a:spLocks noGrp="1"/>
          </p:cNvSpPr>
          <p:nvPr/>
        </p:nvSpPr>
        <p:spPr>
          <a:xfrm rot="0">
            <a:off x="101600" y="62484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39015818" name="Text">
    </p:cNvPr>
          <p:cNvSpPr>
            <a:spLocks noGrp="1"/>
          </p:cNvSpPr>
          <p:nvPr/>
        </p:nvSpPr>
        <p:spPr>
          <a:xfrm rot="0">
            <a:off x="6451600" y="62484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65109177" name="Text">
    </p:cNvPr>
          <p:cNvSpPr>
            <a:spLocks noGrp="1"/>
          </p:cNvSpPr>
          <p:nvPr/>
        </p:nvSpPr>
        <p:spPr>
          <a:xfrm rot="0">
            <a:off x="2057400" y="62484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54002102" name="Text">
    </p:cNvPr>
          <p:cNvSpPr>
            <a:spLocks noGrp="1"/>
          </p:cNvSpPr>
          <p:nvPr/>
        </p:nvSpPr>
        <p:spPr>
          <a:xfrm rot="0">
            <a:off x="1244600" y="62484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37742726" name="Text">
    </p:cNvPr>
          <p:cNvSpPr>
            <a:spLocks noGrp="1"/>
          </p:cNvSpPr>
          <p:nvPr/>
        </p:nvSpPr>
        <p:spPr>
          <a:xfrm rot="0">
            <a:off x="1244600" y="59563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6576174" name="Text">
    </p:cNvPr>
          <p:cNvSpPr>
            <a:spLocks noGrp="1"/>
          </p:cNvSpPr>
          <p:nvPr/>
        </p:nvSpPr>
        <p:spPr>
          <a:xfrm rot="0">
            <a:off x="1244600" y="57150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390804908" name="Text">
    </p:cNvPr>
          <p:cNvSpPr>
            <a:spLocks noGrp="1"/>
          </p:cNvSpPr>
          <p:nvPr/>
        </p:nvSpPr>
        <p:spPr>
          <a:xfrm rot="0">
            <a:off x="8102600" y="62484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908135" name="Text">
    </p:cNvPr>
          <p:cNvSpPr>
            <a:spLocks noGrp="1"/>
          </p:cNvSpPr>
          <p:nvPr/>
        </p:nvSpPr>
        <p:spPr>
          <a:xfrm rot="0">
            <a:off x="8102600" y="57150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2030758285" name="Text">
    </p:cNvPr>
          <p:cNvSpPr>
            <a:spLocks noGrp="1"/>
          </p:cNvSpPr>
          <p:nvPr/>
        </p:nvSpPr>
        <p:spPr>
          <a:xfrm rot="0">
            <a:off x="8102600" y="59563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25520391" name="Frame"/>
          <p:cNvSpPr>
            <a:spLocks noGrp="1"/>
          </p:cNvSpPr>
          <p:nvPr/>
        </p:nvSpPr>
        <p:spPr>
          <a:xfrm>
            <a:off x="101600" y="3289300"/>
            <a:ext cx="9779000" cy="194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55920354" name="Text">
    </p:cNvPr>
          <p:cNvSpPr>
            <a:spLocks noGrp="1"/>
          </p:cNvSpPr>
          <p:nvPr/>
        </p:nvSpPr>
        <p:spPr>
          <a:xfrm rot="0">
            <a:off x="165100" y="33528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42394120" name="Text">
    </p:cNvPr>
          <p:cNvSpPr>
            <a:spLocks noGrp="1"/>
          </p:cNvSpPr>
          <p:nvPr/>
        </p:nvSpPr>
        <p:spPr>
          <a:xfrm rot="0">
            <a:off x="152400" y="33147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1334589752" name="Text">
    </p:cNvPr>
          <p:cNvSpPr>
            <a:spLocks noGrp="1"/>
          </p:cNvSpPr>
          <p:nvPr/>
        </p:nvSpPr>
        <p:spPr>
          <a:xfrm rot="0">
            <a:off x="165100" y="35687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934581800" name="Text">
    </p:cNvPr>
          <p:cNvSpPr>
            <a:spLocks noGrp="1"/>
          </p:cNvSpPr>
          <p:nvPr/>
        </p:nvSpPr>
        <p:spPr>
          <a:xfrm rot="0">
            <a:off x="901700" y="35687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11681642" name="Text">
    </p:cNvPr>
          <p:cNvSpPr>
            <a:spLocks noGrp="1"/>
          </p:cNvSpPr>
          <p:nvPr/>
        </p:nvSpPr>
        <p:spPr>
          <a:xfrm rot="0">
            <a:off x="5549900" y="35687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1481470239" name="Text">
    </p:cNvPr>
          <p:cNvSpPr>
            <a:spLocks noGrp="1"/>
          </p:cNvSpPr>
          <p:nvPr/>
        </p:nvSpPr>
        <p:spPr>
          <a:xfrm rot="0">
            <a:off x="6121400" y="35687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982256855" name="Frame"/>
          <p:cNvSpPr>
            <a:spLocks noGrp="1"/>
          </p:cNvSpPr>
          <p:nvPr/>
        </p:nvSpPr>
        <p:spPr>
          <a:xfrm>
            <a:off x="165100" y="46101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706040301" name="Text">
    </p:cNvPr>
          <p:cNvSpPr>
            <a:spLocks noGrp="1"/>
          </p:cNvSpPr>
          <p:nvPr/>
        </p:nvSpPr>
        <p:spPr>
          <a:xfrm rot="0">
            <a:off x="165100" y="45847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10084037" name="Text">
    </p:cNvPr>
          <p:cNvSpPr>
            <a:spLocks noGrp="1"/>
          </p:cNvSpPr>
          <p:nvPr/>
        </p:nvSpPr>
        <p:spPr>
          <a:xfrm rot="0">
            <a:off x="965200" y="4635500"/>
            <a:ext cx="4584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기안지 전결근거 관련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ITSM-108551 소프트 스킬 관련 LMS 시스템 개선 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[전자결재 신규 신청서 개발] 팀리더 경조금 신청서</a:t>
            </a:r>
          </a:p>
        </p:txBody>
      </p:sp>
      <p:sp>
        <p:nvSpPr>
          <p:cNvPr id="905573250" name="Text">
    </p:cNvPr>
          <p:cNvSpPr>
            <a:spLocks noGrp="1"/>
          </p:cNvSpPr>
          <p:nvPr/>
        </p:nvSpPr>
        <p:spPr>
          <a:xfrm rot="0">
            <a:off x="7239000" y="46355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974016900" name="Text">
    </p:cNvPr>
          <p:cNvSpPr>
            <a:spLocks noGrp="1"/>
          </p:cNvSpPr>
          <p:nvPr/>
        </p:nvSpPr>
        <p:spPr>
          <a:xfrm rot="0">
            <a:off x="5549900" y="46355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</a:p>
        </p:txBody>
      </p:sp>
      <p:sp>
        <p:nvSpPr>
          <p:cNvPr id="270731695" name="Text">
    </p:cNvPr>
          <p:cNvSpPr>
            <a:spLocks noGrp="1"/>
          </p:cNvSpPr>
          <p:nvPr/>
        </p:nvSpPr>
        <p:spPr>
          <a:xfrm rot="0">
            <a:off x="901700" y="45847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97914105" name="Text">
    </p:cNvPr>
          <p:cNvSpPr>
            <a:spLocks noGrp="1"/>
          </p:cNvSpPr>
          <p:nvPr/>
        </p:nvSpPr>
        <p:spPr>
          <a:xfrm rot="0">
            <a:off x="6121400" y="45847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88777981" name="Text">
    </p:cNvPr>
          <p:cNvSpPr>
            <a:spLocks noGrp="1"/>
          </p:cNvSpPr>
          <p:nvPr/>
        </p:nvSpPr>
        <p:spPr>
          <a:xfrm rot="0">
            <a:off x="5549900" y="45847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46469988" name="Frame"/>
          <p:cNvSpPr>
            <a:spLocks noGrp="1"/>
          </p:cNvSpPr>
          <p:nvPr/>
        </p:nvSpPr>
        <p:spPr>
          <a:xfrm>
            <a:off x="165100" y="3911600"/>
            <a:ext cx="9639300" cy="67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613953589" name="Text">
    </p:cNvPr>
          <p:cNvSpPr>
            <a:spLocks noGrp="1"/>
          </p:cNvSpPr>
          <p:nvPr/>
        </p:nvSpPr>
        <p:spPr>
          <a:xfrm rot="0">
            <a:off x="165100" y="391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6435050" name="Text">
    </p:cNvPr>
          <p:cNvSpPr>
            <a:spLocks noGrp="1"/>
          </p:cNvSpPr>
          <p:nvPr/>
        </p:nvSpPr>
        <p:spPr>
          <a:xfrm rot="0">
            <a:off x="965200" y="3987800"/>
            <a:ext cx="4584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PP(Polypropylene) 제품별 원가내역 조회 Report 개발 요청(ZPCOR2030)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전표 자동승인(회계팀)시 전표의 증빙일과 계산서 발행일 체크로직 추가요청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</a:p>
        </p:txBody>
      </p:sp>
      <p:sp>
        <p:nvSpPr>
          <p:cNvPr id="584669190" name="Text">
    </p:cNvPr>
          <p:cNvSpPr>
            <a:spLocks noGrp="1"/>
          </p:cNvSpPr>
          <p:nvPr/>
        </p:nvSpPr>
        <p:spPr>
          <a:xfrm rot="0">
            <a:off x="7239000" y="39878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2133457699" name="Text">
    </p:cNvPr>
          <p:cNvSpPr>
            <a:spLocks noGrp="1"/>
          </p:cNvSpPr>
          <p:nvPr/>
        </p:nvSpPr>
        <p:spPr>
          <a:xfrm rot="0">
            <a:off x="5549900" y="39878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</a:p>
        </p:txBody>
      </p:sp>
      <p:sp>
        <p:nvSpPr>
          <p:cNvPr id="450192747" name="Text">
    </p:cNvPr>
          <p:cNvSpPr>
            <a:spLocks noGrp="1"/>
          </p:cNvSpPr>
          <p:nvPr/>
        </p:nvSpPr>
        <p:spPr>
          <a:xfrm rot="0">
            <a:off x="901700" y="391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79406284" name="Text">
    </p:cNvPr>
          <p:cNvSpPr>
            <a:spLocks noGrp="1"/>
          </p:cNvSpPr>
          <p:nvPr/>
        </p:nvSpPr>
        <p:spPr>
          <a:xfrm rot="0">
            <a:off x="6121400" y="3911600"/>
            <a:ext cx="36449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07340586" name="Text">
    </p:cNvPr>
          <p:cNvSpPr>
            <a:spLocks noGrp="1"/>
          </p:cNvSpPr>
          <p:nvPr/>
        </p:nvSpPr>
        <p:spPr>
          <a:xfrm rot="0">
            <a:off x="5549900" y="391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43105388" name="Frame"/>
          <p:cNvSpPr>
            <a:spLocks noGrp="1"/>
          </p:cNvSpPr>
          <p:nvPr/>
        </p:nvSpPr>
        <p:spPr>
          <a:xfrm>
            <a:off x="127000" y="1384300"/>
            <a:ext cx="9779000" cy="1765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624725684" name="Frame"/>
          <p:cNvSpPr>
            <a:spLocks noGrp="1"/>
          </p:cNvSpPr>
          <p:nvPr/>
        </p:nvSpPr>
        <p:spPr>
          <a:xfrm>
            <a:off x="152400" y="2374900"/>
            <a:ext cx="9664700" cy="7747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2024087183" name="Text">
    </p:cNvPr>
          <p:cNvSpPr>
            <a:spLocks noGrp="1"/>
          </p:cNvSpPr>
          <p:nvPr/>
        </p:nvSpPr>
        <p:spPr>
          <a:xfrm rot="0">
            <a:off x="152400" y="2349500"/>
            <a:ext cx="7366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181318057" name="Text">
    </p:cNvPr>
          <p:cNvSpPr>
            <a:spLocks noGrp="1"/>
          </p:cNvSpPr>
          <p:nvPr/>
        </p:nvSpPr>
        <p:spPr>
          <a:xfrm rot="0">
            <a:off x="952500" y="2400300"/>
            <a:ext cx="45974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CI 시설 대금청구 매뉴에서 PR 일괄 생성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[RPA] A360 '회계지급전표 증빙대사' 및 '외화지급계좌 증빙대사' 수행 및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[ERS] S-MSDS-0179(O3(오존))의 문서 폴더 변경 (기타-&gt;제품), 규정관리기안지에서 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회되도록 ROOT값 변경 요청.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용인IDC 노후 네트워크 장비 교체 작업에 따른 EAI 시스템 서버작업</a:t>
            </a:r>
          </a:p>
        </p:txBody>
      </p:sp>
      <p:sp>
        <p:nvSpPr>
          <p:cNvPr id="1223676983" name="Text">
    </p:cNvPr>
          <p:cNvSpPr>
            <a:spLocks noGrp="1"/>
          </p:cNvSpPr>
          <p:nvPr/>
        </p:nvSpPr>
        <p:spPr>
          <a:xfrm rot="0">
            <a:off x="7226300" y="2400300"/>
            <a:ext cx="2552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57788848" name="Text">
    </p:cNvPr>
          <p:cNvSpPr>
            <a:spLocks noGrp="1"/>
          </p:cNvSpPr>
          <p:nvPr/>
        </p:nvSpPr>
        <p:spPr>
          <a:xfrm rot="0">
            <a:off x="6108700" y="2349500"/>
            <a:ext cx="7620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499896949" name="Text">
    </p:cNvPr>
          <p:cNvSpPr>
            <a:spLocks noGrp="1"/>
          </p:cNvSpPr>
          <p:nvPr/>
        </p:nvSpPr>
        <p:spPr>
          <a:xfrm rot="0">
            <a:off x="5537200" y="2400300"/>
            <a:ext cx="5715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03/17</a:t>
            </a:r>
          </a:p>
        </p:txBody>
      </p:sp>
      <p:sp>
        <p:nvSpPr>
          <p:cNvPr id="1415516355" name="Text">
    </p:cNvPr>
          <p:cNvSpPr>
            <a:spLocks noGrp="1"/>
          </p:cNvSpPr>
          <p:nvPr/>
        </p:nvSpPr>
        <p:spPr>
          <a:xfrm rot="0">
            <a:off x="889000" y="2349500"/>
            <a:ext cx="46482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55121939" name="Text">
    </p:cNvPr>
          <p:cNvSpPr>
            <a:spLocks noGrp="1"/>
          </p:cNvSpPr>
          <p:nvPr/>
        </p:nvSpPr>
        <p:spPr>
          <a:xfrm rot="0">
            <a:off x="7124700" y="2349500"/>
            <a:ext cx="26543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53407453" name="Text">
    </p:cNvPr>
          <p:cNvSpPr>
            <a:spLocks noGrp="1"/>
          </p:cNvSpPr>
          <p:nvPr/>
        </p:nvSpPr>
        <p:spPr>
          <a:xfrm rot="0">
            <a:off x="5537200" y="2349500"/>
            <a:ext cx="5715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94674504" name="Rectangle"/>
          <p:cNvSpPr>
            <a:spLocks noGrp="1"/>
          </p:cNvSpPr>
          <p:nvPr/>
        </p:nvSpPr>
        <p:spPr>
          <a:xfrm>
            <a:off x="6870700" y="2349500"/>
            <a:ext cx="254000" cy="800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398217706" name="Frame"/>
          <p:cNvSpPr>
            <a:spLocks noGrp="1"/>
          </p:cNvSpPr>
          <p:nvPr/>
        </p:nvSpPr>
        <p:spPr>
          <a:xfrm>
            <a:off x="152400" y="1371600"/>
            <a:ext cx="9639300" cy="9779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275069630" name="Text">
    </p:cNvPr>
          <p:cNvSpPr>
            <a:spLocks noGrp="1"/>
          </p:cNvSpPr>
          <p:nvPr/>
        </p:nvSpPr>
        <p:spPr>
          <a:xfrm rot="0">
            <a:off x="152400" y="1371600"/>
            <a:ext cx="736600" cy="977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320380471" name="Text">
    </p:cNvPr>
          <p:cNvSpPr>
            <a:spLocks noGrp="1"/>
          </p:cNvSpPr>
          <p:nvPr/>
        </p:nvSpPr>
        <p:spPr>
          <a:xfrm rot="0">
            <a:off x="939800" y="1422400"/>
            <a:ext cx="4610100" cy="9271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SPHB(PP 반제품)의 제조수량이 (-)인 경우 제조원가으로 반영되도록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(ZCOR6500)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팀리더 경조금 신청서 양식 추가에 대한 복리후생 전표생성 RFC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(ZFI_RFC_RECEIVE_POSTING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예약 마감 로그 저장 *User Exit(ZXMBCU08) 예약 마감 관련 로그 저장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[BC] ERP QA테스트서버 System Copy(데이터 동기화)작업</a:t>
            </a:r>
          </a:p>
        </p:txBody>
      </p:sp>
      <p:sp>
        <p:nvSpPr>
          <p:cNvPr id="1679567067" name="Text">
    </p:cNvPr>
          <p:cNvSpPr>
            <a:spLocks noGrp="1"/>
          </p:cNvSpPr>
          <p:nvPr/>
        </p:nvSpPr>
        <p:spPr>
          <a:xfrm rot="0">
            <a:off x="7226300" y="1447800"/>
            <a:ext cx="2552700" cy="901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299505331" name="Text">
    </p:cNvPr>
          <p:cNvSpPr>
            <a:spLocks noGrp="1"/>
          </p:cNvSpPr>
          <p:nvPr/>
        </p:nvSpPr>
        <p:spPr>
          <a:xfrm rot="0">
            <a:off x="6108700" y="1371600"/>
            <a:ext cx="762000" cy="977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572066754" name="Text">
    </p:cNvPr>
          <p:cNvSpPr>
            <a:spLocks noGrp="1"/>
          </p:cNvSpPr>
          <p:nvPr/>
        </p:nvSpPr>
        <p:spPr>
          <a:xfrm rot="0">
            <a:off x="5537200" y="1447800"/>
            <a:ext cx="571500" cy="901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03/24</a:t>
            </a:r>
          </a:p>
        </p:txBody>
      </p:sp>
      <p:sp>
        <p:nvSpPr>
          <p:cNvPr id="177013093" name="Text">
    </p:cNvPr>
          <p:cNvSpPr>
            <a:spLocks noGrp="1"/>
          </p:cNvSpPr>
          <p:nvPr/>
        </p:nvSpPr>
        <p:spPr>
          <a:xfrm rot="0">
            <a:off x="889000" y="1371600"/>
            <a:ext cx="4648200" cy="977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57075743" name="Text">
    </p:cNvPr>
          <p:cNvSpPr>
            <a:spLocks noGrp="1"/>
          </p:cNvSpPr>
          <p:nvPr/>
        </p:nvSpPr>
        <p:spPr>
          <a:xfrm rot="0">
            <a:off x="7124700" y="1371600"/>
            <a:ext cx="2654300" cy="977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16772552" name="Text">
    </p:cNvPr>
          <p:cNvSpPr>
            <a:spLocks noGrp="1"/>
          </p:cNvSpPr>
          <p:nvPr/>
        </p:nvSpPr>
        <p:spPr>
          <a:xfrm rot="0">
            <a:off x="5537200" y="1371600"/>
            <a:ext cx="571500" cy="977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20371712" name="Rectangle"/>
          <p:cNvSpPr>
            <a:spLocks noGrp="1"/>
          </p:cNvSpPr>
          <p:nvPr/>
        </p:nvSpPr>
        <p:spPr>
          <a:xfrm>
            <a:off x="6870700" y="1371600"/>
            <a:ext cx="254000" cy="9779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97"/>
          <p:cNvSpPr>
            <a:spLocks noChangeArrowheads="1"/>
          </p:cNvSpPr>
          <p:nvPr/>
        </p:nvSpPr>
        <p:spPr bwMode="auto">
          <a:xfrm>
            <a:off x="330140" y="744758"/>
            <a:ext cx="2288130" cy="212814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금주 업무 실적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sp>
        <p:nvSpPr>
          <p:cNvPr id="7171" name="Rectangle 755"/>
          <p:cNvSpPr>
            <a:spLocks noChangeArrowheads="1"/>
          </p:cNvSpPr>
          <p:nvPr/>
        </p:nvSpPr>
        <p:spPr bwMode="auto">
          <a:xfrm>
            <a:off x="268005" y="296321"/>
            <a:ext cx="766748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 defTabSz="957263" indent="-381000" marL="381000"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1pPr>
            <a:lvl2pPr defTabSz="957263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2pPr>
            <a:lvl3pPr defTabSz="957263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3pPr>
            <a:lvl4pPr defTabSz="957263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4pPr>
            <a:lvl5pPr defTabSz="957263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5pPr>
            <a:lvl6pPr defTabSz="957263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6pPr>
            <a:lvl7pPr defTabSz="957263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7pPr>
            <a:lvl8pPr defTabSz="957263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8pPr>
            <a:lvl9pPr defTabSz="957263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altLang="ko-KR" lang="en-US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2. Summary – </a:t>
            </a:r>
            <a:r>
              <a:rPr altLang="en-US" lang="ko-KR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②</a:t>
            </a:r>
            <a:r>
              <a:rPr altLang="ko-KR" lang="en-US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Quintet</a:t>
            </a:r>
            <a:endParaRPr altLang="en-US" lang="ko-KR" sz="1566">
              <a:latin charset="-127" panose="020B0503020000020004" pitchFamily="50" typeface="맑은 고딕"/>
              <a:ea charset="-127" panose="020B0503020000020004" pitchFamily="50" typeface="맑은 고딕"/>
            </a:endParaRPr>
          </a:p>
        </p:txBody>
      </p:sp>
      <p:sp>
        <p:nvSpPr>
          <p:cNvPr id="7172" name="Rectangle 1382"/>
          <p:cNvSpPr>
            <a:spLocks noChangeArrowheads="1"/>
          </p:cNvSpPr>
          <p:nvPr/>
        </p:nvSpPr>
        <p:spPr bwMode="auto">
          <a:xfrm>
            <a:off x="330140" y="5740430"/>
            <a:ext cx="2311430" cy="223687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174">
                <a:solidFill>
                  <a:srgbClr val="000000"/>
                </a:solidFill>
              </a:rPr>
              <a:t>ISSUE</a:t>
            </a:r>
            <a:r>
              <a:rPr altLang="en-US" kumimoji="1" lang="ko-KR" sz="1174">
                <a:solidFill>
                  <a:srgbClr val="000000"/>
                </a:solidFill>
              </a:rPr>
              <a:t> 및 공지사항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20" name="Group 3691"/>
          <p:cNvGraphicFramePr>
            <a:graphicFrameLocks noGrp="1"/>
          </p:cNvGraphicFramePr>
          <p:nvPr/>
        </p:nvGraphicFramePr>
        <p:xfrm>
          <a:off x="468391" y="5964118"/>
          <a:ext cx="8809220" cy="568537"/>
        </p:xfrm>
        <a:graphic>
          <a:graphicData uri="http://schemas.openxmlformats.org/drawingml/2006/table">
            <a:tbl>
              <a:tblPr/>
              <a:tblGrid>
                <a:gridCol w="8809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8537"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charset="0" panose="020B0604020202020204" pitchFamily="34" typeface="Arial"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typeface="Arial"/>
                      </a:endParaRPr>
                    </a:p>
                  </a:txBody>
                  <a:tcPr anchor="ctr" horzOverflow="overflow" marB="45823" marL="88066" marR="88066" marT="4582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179" name="Group 240"/>
          <p:cNvGrpSpPr>
            <a:grpSpLocks/>
          </p:cNvGrpSpPr>
          <p:nvPr/>
        </p:nvGrpSpPr>
        <p:grpSpPr bwMode="auto">
          <a:xfrm>
            <a:off x="8218216" y="73699"/>
            <a:ext cx="1059407" cy="591838"/>
            <a:chOff x="5222" y="377"/>
            <a:chExt cx="682" cy="381"/>
          </a:xfrm>
        </p:grpSpPr>
        <p:sp>
          <p:nvSpPr>
            <p:cNvPr id="7236" name="Rectangle 94"/>
            <p:cNvSpPr>
              <a:spLocks noChangeArrowheads="1"/>
            </p:cNvSpPr>
            <p:nvPr/>
          </p:nvSpPr>
          <p:spPr bwMode="auto">
            <a:xfrm>
              <a:off x="5222" y="406"/>
              <a:ext cx="144" cy="96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>
              <a:prstShdw dir="2700000" dist="17961" prst="shdw17">
                <a:srgbClr val="00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7" name="Rectangle 95"/>
            <p:cNvSpPr>
              <a:spLocks noChangeArrowheads="1"/>
            </p:cNvSpPr>
            <p:nvPr/>
          </p:nvSpPr>
          <p:spPr bwMode="auto">
            <a:xfrm>
              <a:off x="5222" y="518"/>
              <a:ext cx="144" cy="9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>
              <a:prstShdw dir="2700000" dist="17961" prst="shdw17">
                <a:srgbClr val="99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8" name="Rectangle 96"/>
            <p:cNvSpPr>
              <a:spLocks noChangeArrowheads="1"/>
            </p:cNvSpPr>
            <p:nvPr/>
          </p:nvSpPr>
          <p:spPr bwMode="auto">
            <a:xfrm>
              <a:off x="5222" y="622"/>
              <a:ext cx="144" cy="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prstShdw dir="2700000" dist="17961" prst="shdw17">
                <a:srgbClr val="9900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29" name="Text Box 97"/>
            <p:cNvSpPr txBox="1">
              <a:spLocks noChangeArrowheads="1"/>
            </p:cNvSpPr>
            <p:nvPr/>
          </p:nvSpPr>
          <p:spPr bwMode="auto">
            <a:xfrm>
              <a:off x="5395" y="377"/>
              <a:ext cx="207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완료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0" name="Text Box 98"/>
            <p:cNvSpPr txBox="1">
              <a:spLocks noChangeArrowheads="1"/>
            </p:cNvSpPr>
            <p:nvPr/>
          </p:nvSpPr>
          <p:spPr bwMode="auto">
            <a:xfrm>
              <a:off x="5397" y="489"/>
              <a:ext cx="28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진행중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1" name="Text Box 99"/>
            <p:cNvSpPr txBox="1">
              <a:spLocks noChangeArrowheads="1"/>
            </p:cNvSpPr>
            <p:nvPr/>
          </p:nvSpPr>
          <p:spPr bwMode="auto">
            <a:xfrm>
              <a:off x="5406" y="602"/>
              <a:ext cx="49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미완료</a:t>
              </a:r>
              <a:r>
                <a:rPr altLang="ko-KR" b="0" lang="en-US" sz="979">
                  <a:solidFill>
                    <a:srgbClr val="000000"/>
                  </a:solidFill>
                </a:rPr>
                <a:t>(</a:t>
              </a:r>
              <a:r>
                <a:rPr altLang="en-US" b="0" lang="ko-KR" sz="979">
                  <a:solidFill>
                    <a:srgbClr val="000000"/>
                  </a:solidFill>
                </a:rPr>
                <a:t>문제</a:t>
              </a:r>
              <a:r>
                <a:rPr altLang="ko-KR" b="0" lang="en-US" sz="979">
                  <a:solidFill>
                    <a:srgbClr val="000000"/>
                  </a:solidFill>
                </a:rPr>
                <a:t>)</a:t>
              </a:r>
            </a:p>
          </p:txBody>
        </p:sp>
      </p:grpSp>
      <p:graphicFrame>
        <p:nvGraphicFramePr>
          <p:cNvPr id="15" name="Group 3690"/>
          <p:cNvGraphicFramePr>
            <a:graphicFrameLocks noGrp="1"/>
          </p:cNvGraphicFramePr>
          <p:nvPr/>
        </p:nvGraphicFramePr>
        <p:xfrm>
          <a:off x="479264" y="1043008"/>
          <a:ext cx="8798347" cy="2816279"/>
        </p:xfrm>
        <a:graphic>
          <a:graphicData uri="http://schemas.openxmlformats.org/drawingml/2006/table">
            <a:tbl>
              <a:tblPr/>
              <a:tblGrid>
                <a:gridCol w="823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6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86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9605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err="1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진행율</a:t>
                      </a: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상태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375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CRM/BI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연동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 중복로그인 제한 개발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인카페이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r>
                        <a:rPr altLang="ko-KR" b="0" baseline="0" dirty="0" lang="en-US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_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마케팅 플랫폼 필드테스트 지원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상품권 제휴관련 성능저하 개선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921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 Summary 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1/15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211" name="Rectangle 3082"/>
          <p:cNvSpPr>
            <a:spLocks noChangeArrowheads="1"/>
          </p:cNvSpPr>
          <p:nvPr/>
        </p:nvSpPr>
        <p:spPr bwMode="auto">
          <a:xfrm>
            <a:off x="330140" y="3950936"/>
            <a:ext cx="2311430" cy="245434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차주 업무 계획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16" name="Group 3690"/>
          <p:cNvGraphicFramePr>
            <a:graphicFrameLocks noGrp="1"/>
          </p:cNvGraphicFramePr>
          <p:nvPr/>
        </p:nvGraphicFramePr>
        <p:xfrm>
          <a:off x="479264" y="4249185"/>
          <a:ext cx="8798347" cy="1143651"/>
        </p:xfrm>
        <a:graphic>
          <a:graphicData uri="http://schemas.openxmlformats.org/drawingml/2006/table">
            <a:tbl>
              <a:tblPr/>
              <a:tblGrid>
                <a:gridCol w="820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6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0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7202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70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004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0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37">
            <a:extLst>
              <a:ext uri="{FF2B5EF4-FFF2-40B4-BE49-F238E27FC236}">
                <a16:creationId xmlns:a16="http://schemas.microsoft.com/office/drawing/2014/main" id="{95DBC0E4-3FED-4168-A811-F22F73E27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179" y="296320"/>
            <a:ext cx="8761066" cy="331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(CP(IT Winner))</a:t>
            </a:r>
          </a:p>
        </p:txBody>
      </p:sp>
      <p:graphicFrame>
        <p:nvGraphicFramePr>
          <p:cNvPr id="7" name="Group 108">
            <a:extLst>
              <a:ext uri="{FF2B5EF4-FFF2-40B4-BE49-F238E27FC236}">
                <a16:creationId xmlns:a16="http://schemas.microsoft.com/office/drawing/2014/main" id="{D1918DE1-D523-480A-B775-91AD5D4C8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939277"/>
              </p:ext>
            </p:extLst>
          </p:nvPr>
        </p:nvGraphicFramePr>
        <p:xfrm>
          <a:off x="255578" y="1117570"/>
          <a:ext cx="4846547" cy="2400406"/>
        </p:xfrm>
        <a:graphic>
          <a:graphicData uri="http://schemas.openxmlformats.org/drawingml/2006/table">
            <a:tbl>
              <a:tblPr/>
              <a:tblGrid>
                <a:gridCol w="596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5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468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1" baseline="0" cap="none" i="0" kumimoji="1" lang="ko-KR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881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6" marL="88066" marR="88066" marT="4575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indent="-169863" marL="169863"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더보기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메뉴 권한 중복 조회 이슈 수정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ERS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규정관리지안지 누락 배치 재 실행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따른 운영 반영 작업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자원예약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본사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20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년도 화상 전체 자료 작성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전직원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품질 만족도 조사 설문 생성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조회 권한 기능 변경 및 권한 추가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정유제품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Spread HSK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누락 데이터 등록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안전수업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안전지킴이가이드북 메뉴 전환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연동 배치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범위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:3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-&gt;15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일로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109">
            <a:extLst>
              <a:ext uri="{FF2B5EF4-FFF2-40B4-BE49-F238E27FC236}">
                <a16:creationId xmlns:a16="http://schemas.microsoft.com/office/drawing/2014/main" id="{7721BB07-7B10-4642-8619-4B25D434F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118837"/>
              </p:ext>
            </p:extLst>
          </p:nvPr>
        </p:nvGraphicFramePr>
        <p:xfrm>
          <a:off x="5176687" y="1117570"/>
          <a:ext cx="4399173" cy="1944545"/>
        </p:xfrm>
        <a:graphic>
          <a:graphicData uri="http://schemas.openxmlformats.org/drawingml/2006/table">
            <a:tbl>
              <a:tblPr/>
              <a:tblGrid>
                <a:gridCol w="660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5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1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976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828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L="88066" marR="8806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228600" marL="25146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228600" marL="29718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228600" marL="34290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228600" marL="38862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CP 1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월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회차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정기점검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(WAS/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배치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재기동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 따른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HTML5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전환 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  ( * 1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차 개발 완료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,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테스트 및 보완 예정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en-US" dirty="0" kern="1200" kumimoji="1" lang="ko-KR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b="0" baseline="0" cap="none" dirty="0" i="0" kern="1200" kumimoji="1" lang="en-US" noProof="0" normalizeH="0" smtClean="0" spc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01/20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01/29</a:t>
                      </a: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84" name="Rectangle 136">
            <a:extLst>
              <a:ext uri="{FF2B5EF4-FFF2-40B4-BE49-F238E27FC236}">
                <a16:creationId xmlns:a16="http://schemas.microsoft.com/office/drawing/2014/main" id="{546AF6F6-150A-4F5D-B79C-9EC68A79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687" y="760293"/>
            <a:ext cx="4399174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sp>
        <p:nvSpPr>
          <p:cNvPr id="6185" name="Rectangle 136">
            <a:extLst>
              <a:ext uri="{FF2B5EF4-FFF2-40B4-BE49-F238E27FC236}">
                <a16:creationId xmlns:a16="http://schemas.microsoft.com/office/drawing/2014/main" id="{227A3DDD-F02B-4FC8-A75A-DDE02A45C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77" y="744759"/>
            <a:ext cx="4846547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741392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6148847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4831660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96581352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3039277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39334582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656810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1143107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8620897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6638230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9273866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3361278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3073202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39813019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3745585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br/>
          </a:p>
        </p:txBody>
      </p:sp>
      <p:sp>
        <p:nvSpPr>
          <p:cNvPr id="170580737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br/>
          </a:p>
        </p:txBody>
      </p:sp>
      <p:sp>
        <p:nvSpPr>
          <p:cNvPr id="105422001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PP(Polypropylene) 제품별 원가내역 조회 Report 개발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청(ZPCOR2030)</a:t>
            </a:r>
          </a:p>
        </p:txBody>
      </p:sp>
      <p:sp>
        <p:nvSpPr>
          <p:cNvPr id="112919614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76639092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75464942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윤활유첨가제의 저유 Loss 물량이 조정(ZCOR6332)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윤활유첨가제의 저유 Loss 물량이 조정(ZCOR6332)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SPHB(PP 반제품)의 제조수량이 (-)인 경우 제조원가으로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반영되도록 수정(ZCOR6500)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팀리더 경조금 신청서 양식 추가에 대한 복리후생 전표생성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RFC 로직 추가(ZFI_RFC_RECEIVE_POSTING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WBS 조회시 원가요소 고정값 원인 분석(CJI3) </a:t>
            </a:r>
          </a:p>
        </p:txBody>
      </p:sp>
      <p:sp>
        <p:nvSpPr>
          <p:cNvPr id="171510814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</a:p>
        </p:txBody>
      </p:sp>
      <p:sp>
        <p:nvSpPr>
          <p:cNvPr id="141906607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</a:p>
        </p:txBody>
      </p:sp>
      <p:sp>
        <p:nvSpPr>
          <p:cNvPr id="204832980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</a:p>
        </p:txBody>
      </p:sp>
      <p:sp>
        <p:nvSpPr>
          <p:cNvPr id="102121349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260018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57088870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90918839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</a:p>
        </p:txBody>
      </p:sp>
      <p:sp>
        <p:nvSpPr>
          <p:cNvPr id="203803009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전표 자동승인(회계팀)시 전표의 증빙일과 계산서 발행일 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크로직 추가요청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발주변경 품의 시 계약보증 정보 SAP 업데이트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구입 물품대 및 선박 관련 비용문서 Report 보완 요청</a:t>
            </a:r>
          </a:p>
        </p:txBody>
      </p:sp>
      <p:sp>
        <p:nvSpPr>
          <p:cNvPr id="86984032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90103760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336476522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전표 자동승인(회계팀)시 전표의 증빙일과 계산서 발행일 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크로직 추가요청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발주변경 품의 시 계약보증 정보 SAP 업데이트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구입 물품대 및 선박 관련 비용문서 Report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구매건 Plant 번호 변경 요청</a:t>
            </a:r>
          </a:p>
        </p:txBody>
      </p:sp>
      <p:sp>
        <p:nvSpPr>
          <p:cNvPr id="201530268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236974163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</a:p>
        </p:txBody>
      </p:sp>
      <p:sp>
        <p:nvSpPr>
          <p:cNvPr id="6057346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</a:p>
        </p:txBody>
      </p:sp>
      <p:sp>
        <p:nvSpPr>
          <p:cNvPr id="78227030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8603165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932867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4807542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7586085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7288651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26211293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65047304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7403621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9421763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7039176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5688058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8760847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4656297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934560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7395847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2528055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</a:p>
        </p:txBody>
      </p:sp>
      <p:sp>
        <p:nvSpPr>
          <p:cNvPr id="134434688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</a:p>
        </p:txBody>
      </p:sp>
      <p:sp>
        <p:nvSpPr>
          <p:cNvPr id="143383335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</a:p>
        </p:txBody>
      </p:sp>
      <p:sp>
        <p:nvSpPr>
          <p:cNvPr id="67184728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39659012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32557541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접속 사용자 SAP GUI 접속 문제로 원격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(해외운영팀)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'24년 3월 SAP시스템 인프라 취약점 조치 작업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 QA테스트서버 System Copy(데이터 동기화)작업</a:t>
            </a:r>
          </a:p>
        </p:txBody>
      </p:sp>
      <p:sp>
        <p:nvSpPr>
          <p:cNvPr id="78704853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03/24</a:t>
            </a:r>
            <a:br/>
          </a:p>
        </p:txBody>
      </p:sp>
      <p:sp>
        <p:nvSpPr>
          <p:cNvPr id="151084816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03/24</a:t>
            </a:r>
            <a:br/>
          </a:p>
        </p:txBody>
      </p:sp>
      <p:sp>
        <p:nvSpPr>
          <p:cNvPr id="144729185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</a:p>
        </p:txBody>
      </p:sp>
      <p:sp>
        <p:nvSpPr>
          <p:cNvPr id="20948811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6492404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81097375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</a:p>
        </p:txBody>
      </p:sp>
      <p:sp>
        <p:nvSpPr>
          <p:cNvPr id="40115509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</a:p>
        </p:txBody>
      </p:sp>
      <p:sp>
        <p:nvSpPr>
          <p:cNvPr id="2142957044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 업무 수행(보조 : 이지은 사원)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 프로그래밍:CH2_JSP기본문법 공부하기</a:t>
            </a:r>
          </a:p>
        </p:txBody>
      </p:sp>
      <p:sp>
        <p:nvSpPr>
          <p:cNvPr id="4411354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83279209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865690541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 업무 수행(보조 : 이지은 사원)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Do it! 한 권으로 끝내는 웹 기본 교과서 : JavaScript 공부하기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Do it! 자바 완전 정복:자바 개요 공부하기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 프로그래밍:CH1_JSP기초지식 공부하기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 프로그래밍:CH2_JSP기본문법 공부하기</a:t>
            </a:r>
          </a:p>
        </p:txBody>
      </p:sp>
      <p:sp>
        <p:nvSpPr>
          <p:cNvPr id="119600971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</a:p>
        </p:txBody>
      </p:sp>
      <p:sp>
        <p:nvSpPr>
          <p:cNvPr id="1301717956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</a:p>
        </p:txBody>
      </p:sp>
      <p:sp>
        <p:nvSpPr>
          <p:cNvPr id="1739560915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</a:p>
        </p:txBody>
      </p:sp>
      <p:sp>
        <p:nvSpPr>
          <p:cNvPr id="699959246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99569459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75526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7837407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5797901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1134623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43214435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53863600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6570100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7347885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730496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7628993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5258181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1445586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7325562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52604946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9408869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29342377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197912079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102981364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08886844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99337285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예약 마감 로그 저장* User Exit(ZXMBCU08) 예약 마감 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련 로그 저장 로직 추가 </a:t>
            </a:r>
          </a:p>
        </p:txBody>
      </p:sp>
      <p:sp>
        <p:nvSpPr>
          <p:cNvPr id="203669591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</a:p>
        </p:txBody>
      </p:sp>
      <p:sp>
        <p:nvSpPr>
          <p:cNvPr id="123472612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br/>
          </a:p>
        </p:txBody>
      </p:sp>
      <p:sp>
        <p:nvSpPr>
          <p:cNvPr id="106601720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br/>
          </a:p>
        </p:txBody>
      </p:sp>
      <p:sp>
        <p:nvSpPr>
          <p:cNvPr id="70439643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8611430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90346830" name="Text">
    </p:cNvPr>
          <p:cNvSpPr>
            <a:spLocks noGrp="1"/>
          </p:cNvSpPr>
          <p:nvPr/>
        </p:nvSpPr>
        <p:spPr>
          <a:xfrm rot="0">
            <a:off x="97028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415979700" name="Text">
    </p:cNvPr>
          <p:cNvSpPr>
            <a:spLocks noGrp="1"/>
          </p:cNvSpPr>
          <p:nvPr/>
        </p:nvSpPr>
        <p:spPr>
          <a:xfrm rot="0">
            <a:off x="93345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</a:p>
        </p:txBody>
      </p:sp>
      <p:sp>
        <p:nvSpPr>
          <p:cNvPr id="1352388517" name="Text">
    </p:cNvPr>
          <p:cNvSpPr>
            <a:spLocks noGrp="1"/>
          </p:cNvSpPr>
          <p:nvPr/>
        </p:nvSpPr>
        <p:spPr>
          <a:xfrm rot="0">
            <a:off x="5930900" y="3771900"/>
            <a:ext cx="3403600" cy="25781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[ITSM-96411]인사정보 요청서 개발 요청 건 분석</a:t>
            </a:r>
          </a:p>
        </p:txBody>
      </p:sp>
      <p:sp>
        <p:nvSpPr>
          <p:cNvPr id="279754274" name="Text">
    </p:cNvPr>
          <p:cNvSpPr>
            <a:spLocks noGrp="1"/>
          </p:cNvSpPr>
          <p:nvPr/>
        </p:nvSpPr>
        <p:spPr>
          <a:xfrm rot="0">
            <a:off x="5308600" y="37719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948806209" name="Text">
    </p:cNvPr>
          <p:cNvSpPr>
            <a:spLocks noGrp="1"/>
          </p:cNvSpPr>
          <p:nvPr/>
        </p:nvSpPr>
        <p:spPr>
          <a:xfrm rot="0">
            <a:off x="88900" y="37719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920949896" name="Text">
    </p:cNvPr>
          <p:cNvSpPr>
            <a:spLocks noGrp="1"/>
          </p:cNvSpPr>
          <p:nvPr/>
        </p:nvSpPr>
        <p:spPr>
          <a:xfrm rot="0">
            <a:off x="711200" y="3771900"/>
            <a:ext cx="3403600" cy="25781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임원 해외출장 결재 오류 원인조사 외- [ITSM-105485]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파견/계약직 휴가쿼터한도내 휴가사용 체크로직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특근과다알림 메일 발송 조건 문의 응대- ITSM-108858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생산직 신입사원 AD ID 변경- ITSM-108893 HCM 신청서 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재자 변경 요청의 건- 휴가신청서 화면의 근태코드유형추가(예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비군 훈련)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ITSM-108936 신청서 결재자 변경 요청의 건- ITSM-1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08945 특근명령서 삭제- 급여작업지원 : 급여 공제 반영 오류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원인조사 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ITSM-108925 기승인 휴가신청서 삭제 요청- ITSM-10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8945 특근명령서 삭제 요청- 급여소급 문의 대응(New Pensio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n 소급 관련)- ITSM-108930 HCM&gt;근태조회&gt;단말기 인증시간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조회_ 열제목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공장 중식비 신청업무 추가관련 업무 협의 및 분석- 신입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사원 학력정보 입력오류 외 문의대응</a:t>
            </a:r>
          </a:p>
        </p:txBody>
      </p:sp>
      <p:sp>
        <p:nvSpPr>
          <p:cNvPr id="940344086" name="Text">
    </p:cNvPr>
          <p:cNvSpPr>
            <a:spLocks noGrp="1"/>
          </p:cNvSpPr>
          <p:nvPr/>
        </p:nvSpPr>
        <p:spPr>
          <a:xfrm rot="0">
            <a:off x="44831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br/>
          </a:p>
        </p:txBody>
      </p:sp>
      <p:sp>
        <p:nvSpPr>
          <p:cNvPr id="1298411411" name="Text">
    </p:cNvPr>
          <p:cNvSpPr>
            <a:spLocks noGrp="1"/>
          </p:cNvSpPr>
          <p:nvPr/>
        </p:nvSpPr>
        <p:spPr>
          <a:xfrm rot="0">
            <a:off x="48514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br/>
          </a:p>
        </p:txBody>
      </p:sp>
      <p:sp>
        <p:nvSpPr>
          <p:cNvPr id="2048464922" name="Text">
    </p:cNvPr>
          <p:cNvSpPr>
            <a:spLocks noGrp="1"/>
          </p:cNvSpPr>
          <p:nvPr/>
        </p:nvSpPr>
        <p:spPr>
          <a:xfrm rot="0">
            <a:off x="41148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br/>
          </a:p>
        </p:txBody>
      </p:sp>
      <p:sp>
        <p:nvSpPr>
          <p:cNvPr id="1758171909" name="Text">
    </p:cNvPr>
          <p:cNvSpPr>
            <a:spLocks noGrp="1"/>
          </p:cNvSpPr>
          <p:nvPr/>
        </p:nvSpPr>
        <p:spPr>
          <a:xfrm rot="0">
            <a:off x="660400" y="37719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72659257" name="Text">
    </p:cNvPr>
          <p:cNvSpPr>
            <a:spLocks noGrp="1"/>
          </p:cNvSpPr>
          <p:nvPr/>
        </p:nvSpPr>
        <p:spPr>
          <a:xfrm rot="0">
            <a:off x="5880100" y="37719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58255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8022664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8518468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9808183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8661599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49172188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7448832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8972843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7874215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88204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7529073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9313165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6724687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4472830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0499984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35611756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br/>
          </a:p>
        </p:txBody>
      </p:sp>
      <p:sp>
        <p:nvSpPr>
          <p:cNvPr id="195231707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생리휴가 매월 쿼터 자동 발생 요청 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복리후생 중식비 예외신청메뉴 - 프로젝트(공장) 추가 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%</a:t>
            </a:r>
          </a:p>
        </p:txBody>
      </p:sp>
      <p:sp>
        <p:nvSpPr>
          <p:cNvPr id="63499521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55745406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0634531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퇴직연금 운용방식 변경 신청서 및 PDF 추가개선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뉴펜션 메뉴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근로소득 원천징수명세서 내 국외소득 합산 오류 개선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생산직 평가 대상자 정보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OS1급 Ceiling 인상에 따른 급여테이블 정보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임금 유형 생성 - 2건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임원승진자의 퇴직금 계산시, 계산일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임원 승진 전 생성된 생리휴가 삭제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변동공제 누락 데이터 이관 요청ㄴ</a:t>
            </a:r>
          </a:p>
        </p:txBody>
      </p:sp>
      <p:sp>
        <p:nvSpPr>
          <p:cNvPr id="49312470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</a:p>
        </p:txBody>
      </p:sp>
      <p:sp>
        <p:nvSpPr>
          <p:cNvPr id="192535062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3/22</a:t>
            </a:r>
            <a:br/>
          </a:p>
        </p:txBody>
      </p:sp>
      <p:sp>
        <p:nvSpPr>
          <p:cNvPr id="14333487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</a:p>
        </p:txBody>
      </p:sp>
      <p:sp>
        <p:nvSpPr>
          <p:cNvPr id="100593920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735160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457373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6366512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9241749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30556358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37151001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83008355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6204680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0303245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165048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9929507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6418426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9799266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7981264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97709582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17688423" name="Text">
    </p:cNvPr>
          <p:cNvSpPr>
            <a:spLocks noGrp="1"/>
          </p:cNvSpPr>
          <p:nvPr/>
        </p:nvSpPr>
        <p:spPr>
          <a:xfrm rot="0">
            <a:off x="97028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br/>
            <a:br/>
            <a:br/>
            <a:br/>
            <a:br/>
            <a:br/>
            <a:br/>
            <a:br/>
          </a:p>
        </p:txBody>
      </p:sp>
      <p:sp>
        <p:nvSpPr>
          <p:cNvPr id="656492373" name="Text">
    </p:cNvPr>
          <p:cNvSpPr>
            <a:spLocks noGrp="1"/>
          </p:cNvSpPr>
          <p:nvPr/>
        </p:nvSpPr>
        <p:spPr>
          <a:xfrm rot="0">
            <a:off x="93345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br/>
            <a:br/>
            <a:br/>
            <a:br/>
            <a:br/>
            <a:br/>
            <a:br/>
            <a:br/>
          </a:p>
        </p:txBody>
      </p:sp>
      <p:sp>
        <p:nvSpPr>
          <p:cNvPr id="710304476" name="Text">
    </p:cNvPr>
          <p:cNvSpPr>
            <a:spLocks noGrp="1"/>
          </p:cNvSpPr>
          <p:nvPr/>
        </p:nvSpPr>
        <p:spPr>
          <a:xfrm rot="0">
            <a:off x="5930900" y="1511300"/>
            <a:ext cx="3403600" cy="3187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차)02/201. ZSDR1040/ZSDR1040N/ZSDR1041 라디오버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튼 추가 및 SELECT 후 KRX필터링 로직추가2. ZSDR5212/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ZSDR5212N/ZSDR5213 용도 선택조건 추가 및 용도가 KRX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인경우 빌링취소차단 (남해화학만 예외)3. ZSDR5680/ZSDR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5680A/ZSDR5682/ZSDR5682 ABRVW필드 이미 있어 사용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-&gt;용도로 이름변경4. 확인하였으나 하드코딩되어있는 부분은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ZSDR1230 C_VTWEG '30' 이외에 없음02/211. ZSD_RFC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_EWEB_SO_EXECUTE KRX 하드코딩 주석처리2. ZSDR123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0_TOP VTWEG 30-&gt;20 변경</a:t>
            </a:r>
          </a:p>
        </p:txBody>
      </p:sp>
      <p:sp>
        <p:nvSpPr>
          <p:cNvPr id="2053104330" name="Text">
    </p:cNvPr>
          <p:cNvSpPr>
            <a:spLocks noGrp="1"/>
          </p:cNvSpPr>
          <p:nvPr/>
        </p:nvSpPr>
        <p:spPr>
          <a:xfrm rot="0">
            <a:off x="5308600" y="1511300"/>
            <a:ext cx="5715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59070319" name="Text">
    </p:cNvPr>
          <p:cNvSpPr>
            <a:spLocks noGrp="1"/>
          </p:cNvSpPr>
          <p:nvPr/>
        </p:nvSpPr>
        <p:spPr>
          <a:xfrm rot="0">
            <a:off x="88900" y="1511300"/>
            <a:ext cx="5715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775136165" name="Text">
    </p:cNvPr>
          <p:cNvSpPr>
            <a:spLocks noGrp="1"/>
          </p:cNvSpPr>
          <p:nvPr/>
        </p:nvSpPr>
        <p:spPr>
          <a:xfrm rot="0">
            <a:off x="711200" y="1511300"/>
            <a:ext cx="3403600" cy="3187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차)02.201. ZSDR1040/ZSDR1040N/ZSDR1041 라디오버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튼 추가 및 SELECT 후 KRX필터링 로직추가2. ZSDR5212/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ZSDR5212N/ZSDR5213 용도 선택조건 추가 및 용도가 KRX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인경우 빌링취소차단 (남해화학만 예외)3. ZSDR5680/ZSDR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5680A/ZSDR5682/ZSDR5682 ABRVW필드 이미 있어 사용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-&gt;용도로 이름변경4. 확인하였으나 하드코딩되어있는 부분은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ZSDR1230 C_VTWEG '30' 이외에 없음2024.02.211. 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SD_RFC_EWEB_SO_EXECUTE KRX 하드코딩 주석처리2. ZS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DR1230_TOP VTWEG 30-&gt;20 변경03/051. EXIT 에서 구분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유형 KRX일경우 특정로직 타지 않도록 조건 추가03/071. K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RX일경우 가격결정그룹 하드코딩2024.03.11 1. ABRVW로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용도 필드 통일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[ITSM-108444][SD]조달청 배달할인 관련 티코드 개선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청2024.03.11 1. 기준일을 기준월 말일로 자동조정 되도록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로직 추가  2. 기준일을 현재일로 변경하는 로직 주석처리20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24.03.12 1. 기준일 ALV 표시하도록 변경 2. 거래처명 납품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처명 로드되도록 로직 추가2024.03.18 1. 전표 중복생성 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지 로직 추기</a:t>
            </a:r>
          </a:p>
        </p:txBody>
      </p:sp>
      <p:sp>
        <p:nvSpPr>
          <p:cNvPr id="929723453" name="Text">
    </p:cNvPr>
          <p:cNvSpPr>
            <a:spLocks noGrp="1"/>
          </p:cNvSpPr>
          <p:nvPr/>
        </p:nvSpPr>
        <p:spPr>
          <a:xfrm rot="0">
            <a:off x="44831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br/>
            <a:br/>
            <a:br/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br/>
            <a:br/>
            <a:br/>
            <a:br/>
          </a:p>
        </p:txBody>
      </p:sp>
      <p:sp>
        <p:nvSpPr>
          <p:cNvPr id="841390504" name="Text">
    </p:cNvPr>
          <p:cNvSpPr>
            <a:spLocks noGrp="1"/>
          </p:cNvSpPr>
          <p:nvPr/>
        </p:nvSpPr>
        <p:spPr>
          <a:xfrm rot="0">
            <a:off x="48514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br/>
            <a:br/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br/>
            <a:br/>
            <a:br/>
            <a:br/>
          </a:p>
        </p:txBody>
      </p:sp>
      <p:sp>
        <p:nvSpPr>
          <p:cNvPr id="456236716" name="Text">
    </p:cNvPr>
          <p:cNvSpPr>
            <a:spLocks noGrp="1"/>
          </p:cNvSpPr>
          <p:nvPr/>
        </p:nvSpPr>
        <p:spPr>
          <a:xfrm rot="0">
            <a:off x="41148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br/>
            <a:br/>
            <a:br/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03/01</a:t>
            </a:r>
            <a:br/>
            <a:br/>
            <a:br/>
            <a:br/>
            <a:br/>
            <a:br/>
          </a:p>
        </p:txBody>
      </p:sp>
      <p:sp>
        <p:nvSpPr>
          <p:cNvPr id="673982692" name="Text">
    </p:cNvPr>
          <p:cNvSpPr>
            <a:spLocks noGrp="1"/>
          </p:cNvSpPr>
          <p:nvPr/>
        </p:nvSpPr>
        <p:spPr>
          <a:xfrm rot="0">
            <a:off x="660400" y="1511300"/>
            <a:ext cx="34544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75292224" name="Text">
    </p:cNvPr>
          <p:cNvSpPr>
            <a:spLocks noGrp="1"/>
          </p:cNvSpPr>
          <p:nvPr/>
        </p:nvSpPr>
        <p:spPr>
          <a:xfrm rot="0">
            <a:off x="5880100" y="1511300"/>
            <a:ext cx="34544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05277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6653293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6541752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47554708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4918231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45009420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4575047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1890433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7451765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360269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1541138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0444343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0341917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559809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9359122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br/>
          </a:p>
        </p:txBody>
      </p:sp>
      <p:sp>
        <p:nvSpPr>
          <p:cNvPr id="145640764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br/>
          </a:p>
        </p:txBody>
      </p:sp>
      <p:sp>
        <p:nvSpPr>
          <p:cNvPr id="184032892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ITSM-108716 e-Biz. 현수막지원 직전주문경과 초과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sql 수정</a:t>
            </a:r>
          </a:p>
        </p:txBody>
      </p:sp>
      <p:sp>
        <p:nvSpPr>
          <p:cNvPr id="69689842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7671757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70999425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취약점조치(불충분한인증)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[FLBIZ] ITSM-108565 HKMC 이관물량 확정시 입고일자 다를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경우 프로그램 제어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ITSM-108716 e-Biz. 현수막지원 직전주문경과 초과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sql 수정</a:t>
            </a:r>
          </a:p>
        </p:txBody>
      </p:sp>
      <p:sp>
        <p:nvSpPr>
          <p:cNvPr id="131716028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br/>
          </a:p>
        </p:txBody>
      </p:sp>
      <p:sp>
        <p:nvSpPr>
          <p:cNvPr id="70406901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96507803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br/>
          </a:p>
        </p:txBody>
      </p:sp>
      <p:sp>
        <p:nvSpPr>
          <p:cNvPr id="51665249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1145264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8756655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1145519821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</a:p>
        </p:txBody>
      </p:sp>
      <p:sp>
        <p:nvSpPr>
          <p:cNvPr id="19392115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</a:p>
        </p:txBody>
      </p:sp>
      <p:sp>
        <p:nvSpPr>
          <p:cNvPr id="956218772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318253830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87019399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Dashboard사이버보안 컴플라이언스 점검 결과에 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른 개선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[ITSM-108823]RTS Dashboard CARD 참조처 수정 요청</a:t>
            </a:r>
          </a:p>
        </p:txBody>
      </p:sp>
      <p:sp>
        <p:nvSpPr>
          <p:cNvPr id="22573240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</a:p>
        </p:txBody>
      </p:sp>
      <p:sp>
        <p:nvSpPr>
          <p:cNvPr id="1084975390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</a:p>
        </p:txBody>
      </p:sp>
      <p:sp>
        <p:nvSpPr>
          <p:cNvPr id="424185544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</a:p>
        </p:txBody>
      </p:sp>
      <p:sp>
        <p:nvSpPr>
          <p:cNvPr id="151099258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6162434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199667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5508786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9500387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575791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33455712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09298764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1577147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2560860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8585785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0784230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7083642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0685521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6611316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17132372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8860360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32769796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</a:p>
        </p:txBody>
      </p:sp>
      <p:sp>
        <p:nvSpPr>
          <p:cNvPr id="160201418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유외사업 관리 보완 요청</a:t>
            </a:r>
          </a:p>
        </p:txBody>
      </p:sp>
      <p:sp>
        <p:nvSpPr>
          <p:cNvPr id="49835670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63733503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94750226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CI 시설 대금청구 매뉴에서 PR 일괄 생성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유외사업 관리 보완 요청</a:t>
            </a:r>
          </a:p>
        </p:txBody>
      </p:sp>
      <p:sp>
        <p:nvSpPr>
          <p:cNvPr id="130117226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192176611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</a:p>
        </p:txBody>
      </p:sp>
      <p:sp>
        <p:nvSpPr>
          <p:cNvPr id="80706407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</a:p>
        </p:txBody>
      </p:sp>
      <p:sp>
        <p:nvSpPr>
          <p:cNvPr id="162606579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9985065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4479649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03/28</a:t>
            </a:r>
            <a:br/>
          </a:p>
        </p:txBody>
      </p:sp>
      <p:sp>
        <p:nvSpPr>
          <p:cNvPr id="36117389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</a:p>
        </p:txBody>
      </p:sp>
      <p:sp>
        <p:nvSpPr>
          <p:cNvPr id="730748227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</a:p>
        </p:txBody>
      </p:sp>
      <p:sp>
        <p:nvSpPr>
          <p:cNvPr id="70579156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224475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764213161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상차계획 누락 주문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ITSM-108447 배포ITSM-108721 변경결과 작성ITSM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-108898 대상시스템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ITSM-108811 작업유형 변경ITSM-108617 변경결과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작성ITSM-108923 요청정보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CRM 자동배포 스크립트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ITSM-108923 예상공수 작성ITSM-109007 요청정보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작성ITSM-108292 배포상태 변경ITSM-109010 견적서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ITSM-109138 현작업자 변경ITSM-108253 배포상태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변경</a:t>
            </a:r>
          </a:p>
        </p:txBody>
      </p:sp>
      <p:sp>
        <p:nvSpPr>
          <p:cNvPr id="1953598230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br/>
          </a:p>
        </p:txBody>
      </p:sp>
      <p:sp>
        <p:nvSpPr>
          <p:cNvPr id="139174709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br/>
          </a:p>
        </p:txBody>
      </p:sp>
      <p:sp>
        <p:nvSpPr>
          <p:cNvPr id="77610781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br/>
          </a:p>
        </p:txBody>
      </p:sp>
      <p:sp>
        <p:nvSpPr>
          <p:cNvPr id="131462799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15061369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20030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2106682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6040290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5014347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5699819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53731594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7468981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7214721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1497831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9795306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6045350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4915030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0887814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5911354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8207966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27753106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</a:p>
        </p:txBody>
      </p:sp>
      <p:sp>
        <p:nvSpPr>
          <p:cNvPr id="105010436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'자금운영팀 - #4 외화송금대사' 작업 Mig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ration 완료 및 새벽작업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'회계지급전표 증빙대사' 및 '외화지급계좌 증빙대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사' 수행 및 모니터링</a:t>
            </a:r>
          </a:p>
        </p:txBody>
      </p:sp>
      <p:sp>
        <p:nvSpPr>
          <p:cNvPr id="22024238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51453984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47447211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'회계지급전표 증빙대사' 및 '외화지급계좌 증빙대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사' 수행 및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'자금운영팀 - #4 외화송금대사' 작업 Mig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ration 완료 및 새벽작업 테스트    + Migration 미정확한 부분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A360 내부 작업으로 재수정 및 테스트 완료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'법인영업팀-항공급유 매출입력' 작업 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'사전점검' 작업 itoc PW 만료로 인한 작업 수기발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송 및 해당 로직 수정, itoc PW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I/F정의서 재확인 및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115PC Outlook 실행 불가 및 RPA 메일발송 딜레이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</a:t>
            </a:r>
          </a:p>
        </p:txBody>
      </p:sp>
      <p:sp>
        <p:nvSpPr>
          <p:cNvPr id="40723485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br/>
          </a:p>
        </p:txBody>
      </p:sp>
      <p:sp>
        <p:nvSpPr>
          <p:cNvPr id="28337505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99%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br/>
          </a:p>
        </p:txBody>
      </p:sp>
      <p:sp>
        <p:nvSpPr>
          <p:cNvPr id="204824393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br/>
          </a:p>
        </p:txBody>
      </p:sp>
      <p:sp>
        <p:nvSpPr>
          <p:cNvPr id="148513471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7475701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1876179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</a:p>
        </p:txBody>
      </p:sp>
      <p:sp>
        <p:nvSpPr>
          <p:cNvPr id="930674571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</a:p>
        </p:txBody>
      </p:sp>
      <p:sp>
        <p:nvSpPr>
          <p:cNvPr id="1163152624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[전자결재 신규 신청서 개발] 팀리더 경조금 신청서</a:t>
            </a:r>
          </a:p>
        </p:txBody>
      </p:sp>
      <p:sp>
        <p:nvSpPr>
          <p:cNvPr id="158319091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558353363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75228093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[전자결재 신규 신청서 개발] 팀리더 경조금 신청서</a:t>
            </a:r>
          </a:p>
        </p:txBody>
      </p:sp>
      <p:sp>
        <p:nvSpPr>
          <p:cNvPr id="1258430413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</a:p>
        </p:txBody>
      </p:sp>
      <p:sp>
        <p:nvSpPr>
          <p:cNvPr id="2045865089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</a:p>
        </p:txBody>
      </p:sp>
      <p:sp>
        <p:nvSpPr>
          <p:cNvPr id="829764193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</a:p>
        </p:txBody>
      </p:sp>
      <p:sp>
        <p:nvSpPr>
          <p:cNvPr id="70591810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99293281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6528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6437414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0751483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9048398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73638992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30900879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1514042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0838974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5637028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7206574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6454571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6600637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4745937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9604730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83006943" name="Text">
    </p:cNvPr>
          <p:cNvSpPr>
            <a:spLocks noGrp="1"/>
          </p:cNvSpPr>
          <p:nvPr/>
        </p:nvSpPr>
        <p:spPr>
          <a:xfrm rot="0">
            <a:off x="9702800" y="1511300"/>
            <a:ext cx="368300" cy="52070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</a:p>
        </p:txBody>
      </p:sp>
      <p:sp>
        <p:nvSpPr>
          <p:cNvPr id="1103891128" name="Text">
    </p:cNvPr>
          <p:cNvSpPr>
            <a:spLocks noGrp="1"/>
          </p:cNvSpPr>
          <p:nvPr/>
        </p:nvSpPr>
        <p:spPr>
          <a:xfrm rot="0">
            <a:off x="9334500" y="1511300"/>
            <a:ext cx="368300" cy="52070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</a:p>
        </p:txBody>
      </p:sp>
      <p:sp>
        <p:nvSpPr>
          <p:cNvPr id="734834663" name="Text">
    </p:cNvPr>
          <p:cNvSpPr>
            <a:spLocks noGrp="1"/>
          </p:cNvSpPr>
          <p:nvPr/>
        </p:nvSpPr>
        <p:spPr>
          <a:xfrm rot="0">
            <a:off x="5930900" y="1511300"/>
            <a:ext cx="3403600" cy="5207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OSPM 편의성 수정 -&gt; 메뉴(작업계획서)		-&gt; 프로시저 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정, 페이징처리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기안지 전결근거 관련 작업</a:t>
            </a:r>
          </a:p>
        </p:txBody>
      </p:sp>
      <p:sp>
        <p:nvSpPr>
          <p:cNvPr id="1102312721" name="Text">
    </p:cNvPr>
          <p:cNvSpPr>
            <a:spLocks noGrp="1"/>
          </p:cNvSpPr>
          <p:nvPr/>
        </p:nvSpPr>
        <p:spPr>
          <a:xfrm rot="0">
            <a:off x="5308600" y="1511300"/>
            <a:ext cx="571500" cy="52070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153520417" name="Text">
    </p:cNvPr>
          <p:cNvSpPr>
            <a:spLocks noGrp="1"/>
          </p:cNvSpPr>
          <p:nvPr/>
        </p:nvSpPr>
        <p:spPr>
          <a:xfrm rot="0">
            <a:off x="88900" y="1511300"/>
            <a:ext cx="571500" cy="52070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710819531" name="Text">
    </p:cNvPr>
          <p:cNvSpPr>
            <a:spLocks noGrp="1"/>
          </p:cNvSpPr>
          <p:nvPr/>
        </p:nvSpPr>
        <p:spPr>
          <a:xfrm rot="0">
            <a:off x="711200" y="1511300"/>
            <a:ext cx="3403600" cy="5207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OSPM 편의성 수정 -&gt; 메뉴(작업완료관리)		-&gt; 프로시저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수정, 페이징처리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ITSM-108759 -&gt; AA9-22-0003, AA9-22-0009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AA9-22-0018 (계약체결기안 삭제마킹)	         이은지 책임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으로 계약 보관/관리 신청서 이관ITSM-108757 -&gt; Chief Sa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fety Officer(CSO) 법인인장 신규 제작 완료에 따른 후속업무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요청ITSM-108792 -&gt; 미사용 전자결재 양식(웹사이트 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자 권한 신청서) 삭제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ITSM-108819 -&gt; 국민은행과의 단기차입 포괄한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도 등에 대한 약정 갱신 및 단기 외화대출 재약정 수정ITSM-1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08817 -&gt; 원유 수입신용장 개설 기안지 수정ITSM-108860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-&gt; 공장 조경 용역 단가계약 계약검토회신서(A04-24-0041) 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약 상대방 수정 요청ITSM-108884 -&gt; 납품일 수정요청(소형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예선 대금지급)ITSM-108898 -&gt; 구매요청 사용 예정일 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 요청 건ITSM-108897 -&gt; TC2C Advisory Service 체결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내부품의 첨부문서 추가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1. 로그인시 비번 5회 이상 틀리면 10분 LOCK 로직	-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&gt; 기존 : 5회 이상부터 1회만 틀려도 10분 LOCK이 되는 부분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수정 	-&gt; 변경 : 10분 카운터 이후 다시 로그인 시도하면 5회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카운트 재시작2. 계정 잠김 확인하는 로직 (코드에서는 0번째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row만 확인함)	-&gt; 기존 : 유저 아이디만 조건으로 검색하다보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니 실패한 모든날에 row가 select되고 있어 예전에 실패한 횟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수를 들고옴 	-&gt; 변경 : 당일자 실패 내역인지 확인하는 조건을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ITSM-108913 -&gt; 기성보고서의 첨부 문서 수정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청ITSM-108922 -&gt; 회의록 내 문구 삭제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24.03.21ITSM-108925 -&gt; 기승인 휴가신청서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삭제 요청ITSM-108945 -&gt; 특근명령서 삭제 요청ITSM-1090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01 -&gt; 아로마틱공장 Exist TMS 및 Analyzer Shelter 양성화</a:t>
            </a:r>
            <a:br/>
          </a:p>
        </p:txBody>
      </p:sp>
      <p:sp>
        <p:nvSpPr>
          <p:cNvPr id="721694724" name="Text">
    </p:cNvPr>
          <p:cNvSpPr>
            <a:spLocks noGrp="1"/>
          </p:cNvSpPr>
          <p:nvPr/>
        </p:nvSpPr>
        <p:spPr>
          <a:xfrm rot="0">
            <a:off x="4483100" y="1511300"/>
            <a:ext cx="368300" cy="52070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br/>
            <a:br/>
            <a:br/>
            <a:br/>
            <a:br/>
            <a:br/>
          </a:p>
        </p:txBody>
      </p:sp>
      <p:sp>
        <p:nvSpPr>
          <p:cNvPr id="1975599880" name="Text">
    </p:cNvPr>
          <p:cNvSpPr>
            <a:spLocks noGrp="1"/>
          </p:cNvSpPr>
          <p:nvPr/>
        </p:nvSpPr>
        <p:spPr>
          <a:xfrm rot="0">
            <a:off x="4851400" y="1511300"/>
            <a:ext cx="368300" cy="52070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br/>
            <a:br/>
            <a:br/>
            <a:br/>
            <a:br/>
            <a:br/>
          </a:p>
        </p:txBody>
      </p:sp>
      <p:sp>
        <p:nvSpPr>
          <p:cNvPr id="1003966154" name="Text">
    </p:cNvPr>
          <p:cNvSpPr>
            <a:spLocks noGrp="1"/>
          </p:cNvSpPr>
          <p:nvPr/>
        </p:nvSpPr>
        <p:spPr>
          <a:xfrm rot="0">
            <a:off x="4114800" y="1511300"/>
            <a:ext cx="368300" cy="52070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br/>
            <a:br/>
            <a:br/>
            <a:br/>
            <a:br/>
            <a:br/>
          </a:p>
        </p:txBody>
      </p:sp>
      <p:sp>
        <p:nvSpPr>
          <p:cNvPr id="373663275" name="Text">
    </p:cNvPr>
          <p:cNvSpPr>
            <a:spLocks noGrp="1"/>
          </p:cNvSpPr>
          <p:nvPr/>
        </p:nvSpPr>
        <p:spPr>
          <a:xfrm rot="0">
            <a:off x="660400" y="1511300"/>
            <a:ext cx="3454400" cy="52070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74689783" name="Text">
    </p:cNvPr>
          <p:cNvSpPr>
            <a:spLocks noGrp="1"/>
          </p:cNvSpPr>
          <p:nvPr/>
        </p:nvSpPr>
        <p:spPr>
          <a:xfrm rot="0">
            <a:off x="5880100" y="1511300"/>
            <a:ext cx="3454400" cy="52070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54027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5762530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0174830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47890921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7066154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40595168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6154592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9938286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927644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903525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5149888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9836485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4625792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6489919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98940845" name="Text">
    </p:cNvPr>
          <p:cNvSpPr>
            <a:spLocks noGrp="1"/>
          </p:cNvSpPr>
          <p:nvPr/>
        </p:nvSpPr>
        <p:spPr>
          <a:xfrm rot="0">
            <a:off x="711200" y="1612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  가동전점검 첨부문서 수정 건ITSM-109003 -&gt; 2022년 Ref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inery 대기 TMS 설치 가동전 점검 첨부파일 수정 건ITSM-108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989 -&gt; 전자결재 항목 중 "정보기술 지원 신청서" 업데이트IT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SM-108985 -&gt; 공정시스템관리팀 작업요청서 화면 수정요청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건(구분 탭 NIDS 추가)ITSM-109018 -&gt; 결재 진행중인 기안지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(Controller 확인용)의 내용 수정ITSM-109072 -&gt; 문서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요청ITSM-108994 -&gt; 병가신청서 병가자 변경 요청(문서번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호 : DJ6-23-0007)ITSM-109094 -&gt; 기안지 데이터 수정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ITSM-109118 -&gt; VPN사용자등록신청서(협력업체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용) 및 정보기술지원신청서 첨부 양식 교체 요청ITSM-10916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8 -&gt; 협조문(거래처 요청에 따른 가수금액 반환 요청 - 비피아이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AH2-24-0080)의 첨부서류 변경</a:t>
            </a:r>
          </a:p>
        </p:txBody>
      </p:sp>
      <p:sp>
        <p:nvSpPr>
          <p:cNvPr id="1571376435" name="Text">
    </p:cNvPr>
          <p:cNvSpPr>
            <a:spLocks noGrp="1"/>
          </p:cNvSpPr>
          <p:nvPr/>
        </p:nvSpPr>
        <p:spPr>
          <a:xfrm rot="0">
            <a:off x="4483100" y="1612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br/>
            <a:br/>
            <a:br/>
          </a:p>
        </p:txBody>
      </p:sp>
      <p:sp>
        <p:nvSpPr>
          <p:cNvPr id="1396818032" name="Text">
    </p:cNvPr>
          <p:cNvSpPr>
            <a:spLocks noGrp="1"/>
          </p:cNvSpPr>
          <p:nvPr/>
        </p:nvSpPr>
        <p:spPr>
          <a:xfrm rot="0">
            <a:off x="4851400" y="1612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br/>
            <a:br/>
            <a:br/>
          </a:p>
        </p:txBody>
      </p:sp>
      <p:sp>
        <p:nvSpPr>
          <p:cNvPr id="2025352721" name="Text">
    </p:cNvPr>
          <p:cNvSpPr>
            <a:spLocks noGrp="1"/>
          </p:cNvSpPr>
          <p:nvPr/>
        </p:nvSpPr>
        <p:spPr>
          <a:xfrm rot="0">
            <a:off x="4114800" y="1612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br/>
            <a:br/>
            <a:br/>
          </a:p>
        </p:txBody>
      </p:sp>
      <p:sp>
        <p:nvSpPr>
          <p:cNvPr id="1608057992" name="Text">
    </p:cNvPr>
          <p:cNvSpPr>
            <a:spLocks noGrp="1"/>
          </p:cNvSpPr>
          <p:nvPr/>
        </p:nvSpPr>
        <p:spPr>
          <a:xfrm rot="0">
            <a:off x="9702800" y="38735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</a:p>
        </p:txBody>
      </p:sp>
      <p:sp>
        <p:nvSpPr>
          <p:cNvPr id="1217272469" name="Text">
    </p:cNvPr>
          <p:cNvSpPr>
            <a:spLocks noGrp="1"/>
          </p:cNvSpPr>
          <p:nvPr/>
        </p:nvSpPr>
        <p:spPr>
          <a:xfrm rot="0">
            <a:off x="9334500" y="38735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</a:p>
        </p:txBody>
      </p:sp>
      <p:sp>
        <p:nvSpPr>
          <p:cNvPr id="361824692" name="Text">
    </p:cNvPr>
          <p:cNvSpPr>
            <a:spLocks noGrp="1"/>
          </p:cNvSpPr>
          <p:nvPr/>
        </p:nvSpPr>
        <p:spPr>
          <a:xfrm rot="0">
            <a:off x="5930900" y="38735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사이버보안 컴플라이언스 점검 결과 프로그램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ITSM-108551 소프트 스킬 관련 LMS 시스템 개선 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</a:p>
        </p:txBody>
      </p:sp>
      <p:sp>
        <p:nvSpPr>
          <p:cNvPr id="786578929" name="Text">
    </p:cNvPr>
          <p:cNvSpPr>
            <a:spLocks noGrp="1"/>
          </p:cNvSpPr>
          <p:nvPr/>
        </p:nvSpPr>
        <p:spPr>
          <a:xfrm rot="0">
            <a:off x="5308600" y="38735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965247457" name="Text">
    </p:cNvPr>
          <p:cNvSpPr>
            <a:spLocks noGrp="1"/>
          </p:cNvSpPr>
          <p:nvPr/>
        </p:nvSpPr>
        <p:spPr>
          <a:xfrm rot="0">
            <a:off x="88900" y="38735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23756535" name="Text">
    </p:cNvPr>
          <p:cNvSpPr>
            <a:spLocks noGrp="1"/>
          </p:cNvSpPr>
          <p:nvPr/>
        </p:nvSpPr>
        <p:spPr>
          <a:xfrm rot="0">
            <a:off x="711200" y="38735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사이버보안 컴플라이언스 점검 결과 프로그램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ITSM-108551 소프트 스킬 관련 LMS 시스템 개선 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SMSDS-0179(O3(오존))의 문서 폴더 변경 (기타-&gt;제품),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규정관리기안지에서 조회되도록 ROOT값 변경 요청.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RI-143 배치 오류 발생 확인 및 수동 스케쥴러 실행.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관리자 기능으로 CDU3-U-6205 2대 RUNNING중인 PUM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P 1대 TRIP시 운전 지침 제정 품의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CP 공지사항에 문서제목 등록시 제목 형식 변경을 위한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연계뷰 테이블(VIEW_ERS_CP_NOTICE) 변경 처리</a:t>
            </a:r>
          </a:p>
        </p:txBody>
      </p:sp>
      <p:sp>
        <p:nvSpPr>
          <p:cNvPr id="485180367" name="Text">
    </p:cNvPr>
          <p:cNvSpPr>
            <a:spLocks noGrp="1"/>
          </p:cNvSpPr>
          <p:nvPr/>
        </p:nvSpPr>
        <p:spPr>
          <a:xfrm rot="0">
            <a:off x="4483100" y="38735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br/>
          </a:p>
        </p:txBody>
      </p:sp>
      <p:sp>
        <p:nvSpPr>
          <p:cNvPr id="601487382" name="Text">
    </p:cNvPr>
          <p:cNvSpPr>
            <a:spLocks noGrp="1"/>
          </p:cNvSpPr>
          <p:nvPr/>
        </p:nvSpPr>
        <p:spPr>
          <a:xfrm rot="0">
            <a:off x="4851400" y="38735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br/>
          </a:p>
        </p:txBody>
      </p:sp>
      <p:sp>
        <p:nvSpPr>
          <p:cNvPr id="1587802629" name="Text">
    </p:cNvPr>
          <p:cNvSpPr>
            <a:spLocks noGrp="1"/>
          </p:cNvSpPr>
          <p:nvPr/>
        </p:nvSpPr>
        <p:spPr>
          <a:xfrm rot="0">
            <a:off x="4114800" y="38735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br/>
          </a:p>
        </p:txBody>
      </p:sp>
      <p:sp>
        <p:nvSpPr>
          <p:cNvPr id="208450272" name="Text">
    </p:cNvPr>
          <p:cNvSpPr>
            <a:spLocks noGrp="1"/>
          </p:cNvSpPr>
          <p:nvPr/>
        </p:nvSpPr>
        <p:spPr>
          <a:xfrm rot="0">
            <a:off x="660400" y="38735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56156569" name="Text">
    </p:cNvPr>
          <p:cNvSpPr>
            <a:spLocks noGrp="1"/>
          </p:cNvSpPr>
          <p:nvPr/>
        </p:nvSpPr>
        <p:spPr>
          <a:xfrm rot="0">
            <a:off x="5880100" y="38735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29634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4226035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4815953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06171873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21171519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77026739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7227826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1793192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4682019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222389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9191951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7060282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3631004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98026256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2698480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br/>
          </a:p>
        </p:txBody>
      </p:sp>
      <p:sp>
        <p:nvSpPr>
          <p:cNvPr id="42610732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</a:p>
        </p:txBody>
      </p:sp>
      <p:sp>
        <p:nvSpPr>
          <p:cNvPr id="25925277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점검 조치 사항 中- 세션타임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30분으로 변경- 동시접속제한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지류 -&gt; 모바일상품권 전환 관련 수정 요청(CRM 호출 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로시저 변경 및 통합 테스트)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점검 조치 사항 中- 세션타임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구현</a:t>
            </a:r>
          </a:p>
        </p:txBody>
      </p:sp>
      <p:sp>
        <p:nvSpPr>
          <p:cNvPr id="150562147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88617598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18611083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점검 조치 사항 中- 협력업체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사용계정에 대한 만료기간 설정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지류 -&gt; 모바일상품권 전환 관련 수정 요청(CRM 호출 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로시저 변경 및 통합 테스트)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GCMS 회수 현황 프로그램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재고대비 보험금액 계산식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자재 할당 강제 취소 DB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자재 62102449 로케이션 변경이력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SP062 시나리오 추출 누락되는 오류 현상 확인 요청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SP414 모니터링 데이터 조회가 안되는 현상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SP062 담당자 리스트 데이터 추출 요청</a:t>
            </a:r>
          </a:p>
        </p:txBody>
      </p:sp>
      <p:sp>
        <p:nvSpPr>
          <p:cNvPr id="144705058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</a:p>
        </p:txBody>
      </p:sp>
      <p:sp>
        <p:nvSpPr>
          <p:cNvPr id="162561861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</a:p>
        </p:txBody>
      </p:sp>
      <p:sp>
        <p:nvSpPr>
          <p:cNvPr id="198035789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</a:p>
        </p:txBody>
      </p:sp>
      <p:sp>
        <p:nvSpPr>
          <p:cNvPr id="61253203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4611508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8245749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</a:p>
        </p:txBody>
      </p:sp>
      <p:sp>
        <p:nvSpPr>
          <p:cNvPr id="21393039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br/>
          </a:p>
        </p:txBody>
      </p:sp>
      <p:sp>
        <p:nvSpPr>
          <p:cNvPr id="99924764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VOC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 보조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[ITSM-109157] 품질 규격 마스터 일자별 증기압/유동점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표준범위 지정 기능 (배포)</a:t>
            </a:r>
          </a:p>
        </p:txBody>
      </p:sp>
      <p:sp>
        <p:nvSpPr>
          <p:cNvPr id="848907076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33601163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105401791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ITSM-108676 (자영에너지주유소) 고급휘발유 품질정보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삭제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ITSM-108892 정비부문 ERP ID별 사용 T-Code(트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랙잭션코드) 목록 조회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VOC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 보조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[ITSM-109157] 품질 규격 마스터 일자별 증기압/유동점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표준범위 지정 기능 (배포)</a:t>
            </a:r>
          </a:p>
        </p:txBody>
      </p:sp>
      <p:sp>
        <p:nvSpPr>
          <p:cNvPr id="5549797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</a:p>
        </p:txBody>
      </p:sp>
      <p:sp>
        <p:nvSpPr>
          <p:cNvPr id="202054214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</a:p>
        </p:txBody>
      </p:sp>
      <p:sp>
        <p:nvSpPr>
          <p:cNvPr id="953511985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br/>
          </a:p>
        </p:txBody>
      </p:sp>
      <p:sp>
        <p:nvSpPr>
          <p:cNvPr id="164120741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46384162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10571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7289195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5135276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19267327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79448658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77610634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8086522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5298962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6423537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5599262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3960924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8095351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2443124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1357246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1963756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</a:p>
        </p:txBody>
      </p:sp>
      <p:sp>
        <p:nvSpPr>
          <p:cNvPr id="208786046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</a:p>
        </p:txBody>
      </p:sp>
      <p:sp>
        <p:nvSpPr>
          <p:cNvPr id="76307100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2024.1월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2024.2월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 (SAP PM) 작업요청 시 작업환경위험도 입력 및 PSO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RMS Interface Attribute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[전자결재 신규 신청서 개발] 팀리더 경조금 신청서</a:t>
            </a:r>
          </a:p>
        </p:txBody>
      </p:sp>
      <p:sp>
        <p:nvSpPr>
          <p:cNvPr id="21481743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22027958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62729864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2024.1월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2024.2월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 (SAP PM) 작업요청 시 작업환경위험도 입력 및 PSO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RMS Interface Attribute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용인IDC 노후 네트워크 장비 교체 작업에 따른 EAI 시스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템 서버작업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[전자결재 신규 신청서 개발] 팀리더 경조금 신청서</a:t>
            </a:r>
          </a:p>
        </p:txBody>
      </p:sp>
      <p:sp>
        <p:nvSpPr>
          <p:cNvPr id="141305768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</a:p>
        </p:txBody>
      </p:sp>
      <p:sp>
        <p:nvSpPr>
          <p:cNvPr id="91036003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</a:p>
        </p:txBody>
      </p:sp>
      <p:sp>
        <p:nvSpPr>
          <p:cNvPr id="56251312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</a:p>
        </p:txBody>
      </p:sp>
      <p:sp>
        <p:nvSpPr>
          <p:cNvPr id="44183778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303309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55577" y="1105143"/>
          <a:ext cx="4771985" cy="3535492"/>
        </p:xfrm>
        <a:graphic>
          <a:graphicData uri="http://schemas.openxmlformats.org/drawingml/2006/table">
            <a:tbl>
              <a:tblPr/>
              <a:tblGrid>
                <a:gridCol w="521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8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507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922">
                <a:tc rowSpan="7">
                  <a:txBody>
                    <a:bodyPr/>
                    <a:lstStyle>
                      <a:lvl1pPr algn="l"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algn="l"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algn="l"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algn="l"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algn="l"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전화번호로 포인트 적립 적용 조회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73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 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주유소연동추가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_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현대서버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9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금결원전송관련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5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플랫폼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 대응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부정적립관련 대응 조치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6" marL="83067" marR="83067" marT="4652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모바일상품권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제휴 성능 저하문제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568">
                <a:tc rowSpan="7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773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 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사용가능상품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23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5247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5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6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569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5" marL="83067" marR="83067" marT="4652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274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8275" name="Rectangle 135"/>
          <p:cNvSpPr>
            <a:spLocks noChangeArrowheads="1"/>
          </p:cNvSpPr>
          <p:nvPr/>
        </p:nvSpPr>
        <p:spPr bwMode="auto">
          <a:xfrm>
            <a:off x="255577" y="752526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26789"/>
              </p:ext>
            </p:extLst>
          </p:nvPr>
        </p:nvGraphicFramePr>
        <p:xfrm>
          <a:off x="5102125" y="1048417"/>
          <a:ext cx="4473736" cy="3871829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165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896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거래내역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 결제 수단 정의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ko-KR" b="0" baseline="0" dirty="0" err="1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Pb</a:t>
                      </a:r>
                      <a:r>
                        <a:rPr altLang="en-US" b="0" baseline="0" dirty="0" lang="ko-KR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상품적립</a:t>
                      </a:r>
                      <a:endParaRPr altLang="ko-KR" b="0" baseline="0" dirty="0" lang="en-US" smtClean="0" sz="800">
                        <a:solidFill>
                          <a:schemeClr val="bg1">
                            <a:lumMod val="85000"/>
                          </a:schemeClr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-171450" latinLnBrk="1" lvl="0" marL="17145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사후적립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PRM,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전자결재 연동개발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434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App push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934">
                <a:tc rowSpan="8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41" marL="81282" marR="81282" marT="456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848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55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336" name="Rectangle 136"/>
          <p:cNvSpPr>
            <a:spLocks noChangeArrowheads="1"/>
          </p:cNvSpPr>
          <p:nvPr/>
        </p:nvSpPr>
        <p:spPr bwMode="auto">
          <a:xfrm>
            <a:off x="5092804" y="744759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64898" y="1097377"/>
          <a:ext cx="4771985" cy="5727215"/>
        </p:xfrm>
        <a:graphic>
          <a:graphicData uri="http://schemas.openxmlformats.org/drawingml/2006/table">
            <a:tbl>
              <a:tblPr/>
              <a:tblGrid>
                <a:gridCol w="655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6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137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77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하위 카드 등록 </a:t>
                      </a:r>
                    </a:p>
                  </a:txBody>
                  <a:tcPr horzOverflow="overflow" marB="45727" marL="81298" marR="81298" marT="457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3" marL="81298" marR="81298" marT="4573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12/31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06" marL="81298" marR="81298" marT="4580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프로모션 기간내 가입자 정보 제공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모바일주유권 문자 발송 </a:t>
                      </a: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7" marL="90003" marR="90003" marT="4675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모의해킹 중복로그인 제한 개발 및 운영 이관 </a:t>
                      </a: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11/02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1/12</a:t>
                      </a: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17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1" marL="90003" marR="90003" marT="4676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오류 확인 및 수정 요청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50%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13">
                <a:tc rowSpan="7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감사인원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</a:t>
                      </a: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관리자 권한 부여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1/8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Summary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1/14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배치 스케줄러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8" marL="81301" marR="81301" marT="4575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1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7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43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29">
                <a:tc rowSpan="1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사입량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남선석유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리드코프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735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UNDEFINED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유치실적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774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 분석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BI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엑셀 파일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관련 문의 응대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5" marL="90010" marR="90010" marT="46755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3" marL="90010" marR="90010" marT="46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9" marL="90010" marR="90010" marT="46749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3014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10" marR="90010" marT="46754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9339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9340" name="Rectangle 135"/>
          <p:cNvSpPr>
            <a:spLocks noChangeArrowheads="1"/>
          </p:cNvSpPr>
          <p:nvPr/>
        </p:nvSpPr>
        <p:spPr bwMode="auto">
          <a:xfrm>
            <a:off x="246257" y="750972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/>
        </p:nvGraphicFramePr>
        <p:xfrm>
          <a:off x="5111445" y="1108250"/>
          <a:ext cx="4473736" cy="4374258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752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029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latinLnBrk="1"/>
                      <a:endParaRPr altLang="en-US" dirty="0" lang="ko-KR" sz="900"/>
                    </a:p>
                  </a:txBody>
                  <a:tcPr horzOverflow="overflow" marB="45753" marL="88066" marR="88066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보너스카드홈페이지 카드 안내 페이지 수정</a:t>
                      </a: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9/17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미정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01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테스트 및 운영 이관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94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87">
                <a:tc rowSpan="6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분류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3" marL="81301" marR="81301" marT="4576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9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8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2" marL="81294" marR="81294" marT="4578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0879">
                <a:tc rowSpan="8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산정식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 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포인트 적립 사용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ERP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보고용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년도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대상 리스트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25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이벤트 기간 중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신규회원의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주유데이터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 및 검증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0" marL="90000" marR="90000" marT="46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00" marR="90000" marT="4675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9423" name="Rectangle 136"/>
          <p:cNvSpPr>
            <a:spLocks noChangeArrowheads="1"/>
          </p:cNvSpPr>
          <p:nvPr/>
        </p:nvSpPr>
        <p:spPr bwMode="auto">
          <a:xfrm>
            <a:off x="5092804" y="750972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2844025994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삼일절</a:t>
                      </a: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강민경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강민경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남대현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순현국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공현호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최진우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 / 31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배영식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박민우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최연화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03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showMasterSp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