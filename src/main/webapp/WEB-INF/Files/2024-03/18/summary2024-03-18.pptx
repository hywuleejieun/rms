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191669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585447368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4341536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116753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0115723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960816709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29897138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944193182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995358038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47718369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280307428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300075581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772102017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45460347" name="Frame"/>
          <p:cNvSpPr>
            <a:spLocks noGrp="1"/>
          </p:cNvSpPr>
          <p:nvPr/>
        </p:nvSpPr>
        <p:spPr>
          <a:xfrm>
            <a:off x="25400" y="52451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365815053" name="Text">
    </p:cNvPr>
          <p:cNvSpPr>
            <a:spLocks noGrp="1"/>
          </p:cNvSpPr>
          <p:nvPr/>
        </p:nvSpPr>
        <p:spPr>
          <a:xfrm rot="0">
            <a:off x="152400" y="5270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880429921" name="Text">
    </p:cNvPr>
          <p:cNvSpPr>
            <a:spLocks noGrp="1"/>
          </p:cNvSpPr>
          <p:nvPr/>
        </p:nvSpPr>
        <p:spPr>
          <a:xfrm rot="0">
            <a:off x="6451600" y="5803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6390859" name="Text">
    </p:cNvPr>
          <p:cNvSpPr>
            <a:spLocks noGrp="1"/>
          </p:cNvSpPr>
          <p:nvPr/>
        </p:nvSpPr>
        <p:spPr>
          <a:xfrm rot="0">
            <a:off x="2057400" y="5803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3140553" name="Text">
    </p:cNvPr>
          <p:cNvSpPr>
            <a:spLocks noGrp="1"/>
          </p:cNvSpPr>
          <p:nvPr/>
        </p:nvSpPr>
        <p:spPr>
          <a:xfrm rot="0">
            <a:off x="101600" y="5803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5867391" name="Text">
    </p:cNvPr>
          <p:cNvSpPr>
            <a:spLocks noGrp="1"/>
          </p:cNvSpPr>
          <p:nvPr/>
        </p:nvSpPr>
        <p:spPr>
          <a:xfrm rot="0">
            <a:off x="101600" y="5562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721703151" name="Text">
    </p:cNvPr>
          <p:cNvSpPr>
            <a:spLocks noGrp="1"/>
          </p:cNvSpPr>
          <p:nvPr/>
        </p:nvSpPr>
        <p:spPr>
          <a:xfrm rot="0">
            <a:off x="2057400" y="5562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068999810" name="Text">
    </p:cNvPr>
          <p:cNvSpPr>
            <a:spLocks noGrp="1"/>
          </p:cNvSpPr>
          <p:nvPr/>
        </p:nvSpPr>
        <p:spPr>
          <a:xfrm rot="0">
            <a:off x="6451600" y="5562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764855235" name="Text">
    </p:cNvPr>
          <p:cNvSpPr>
            <a:spLocks noGrp="1"/>
          </p:cNvSpPr>
          <p:nvPr/>
        </p:nvSpPr>
        <p:spPr>
          <a:xfrm rot="0">
            <a:off x="101600" y="6096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2265759" name="Text">
    </p:cNvPr>
          <p:cNvSpPr>
            <a:spLocks noGrp="1"/>
          </p:cNvSpPr>
          <p:nvPr/>
        </p:nvSpPr>
        <p:spPr>
          <a:xfrm rot="0">
            <a:off x="6451600" y="6096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912995" name="Text">
    </p:cNvPr>
          <p:cNvSpPr>
            <a:spLocks noGrp="1"/>
          </p:cNvSpPr>
          <p:nvPr/>
        </p:nvSpPr>
        <p:spPr>
          <a:xfrm rot="0">
            <a:off x="2057400" y="6096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477071" name="Text">
    </p:cNvPr>
          <p:cNvSpPr>
            <a:spLocks noGrp="1"/>
          </p:cNvSpPr>
          <p:nvPr/>
        </p:nvSpPr>
        <p:spPr>
          <a:xfrm rot="0">
            <a:off x="1244600" y="6096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7287233" name="Text">
    </p:cNvPr>
          <p:cNvSpPr>
            <a:spLocks noGrp="1"/>
          </p:cNvSpPr>
          <p:nvPr/>
        </p:nvSpPr>
        <p:spPr>
          <a:xfrm rot="0">
            <a:off x="1244600" y="5803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3072193" name="Text">
    </p:cNvPr>
          <p:cNvSpPr>
            <a:spLocks noGrp="1"/>
          </p:cNvSpPr>
          <p:nvPr/>
        </p:nvSpPr>
        <p:spPr>
          <a:xfrm rot="0">
            <a:off x="1244600" y="5562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073534413" name="Text">
    </p:cNvPr>
          <p:cNvSpPr>
            <a:spLocks noGrp="1"/>
          </p:cNvSpPr>
          <p:nvPr/>
        </p:nvSpPr>
        <p:spPr>
          <a:xfrm rot="0">
            <a:off x="8102600" y="6096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29916160" name="Text">
    </p:cNvPr>
          <p:cNvSpPr>
            <a:spLocks noGrp="1"/>
          </p:cNvSpPr>
          <p:nvPr/>
        </p:nvSpPr>
        <p:spPr>
          <a:xfrm rot="0">
            <a:off x="8102600" y="5562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211911335" name="Text">
    </p:cNvPr>
          <p:cNvSpPr>
            <a:spLocks noGrp="1"/>
          </p:cNvSpPr>
          <p:nvPr/>
        </p:nvSpPr>
        <p:spPr>
          <a:xfrm rot="0">
            <a:off x="8102600" y="5803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2776257" name="Frame"/>
          <p:cNvSpPr>
            <a:spLocks noGrp="1"/>
          </p:cNvSpPr>
          <p:nvPr/>
        </p:nvSpPr>
        <p:spPr>
          <a:xfrm>
            <a:off x="101600" y="2984500"/>
            <a:ext cx="9779000" cy="209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12996818" name="Text">
    </p:cNvPr>
          <p:cNvSpPr>
            <a:spLocks noGrp="1"/>
          </p:cNvSpPr>
          <p:nvPr/>
        </p:nvSpPr>
        <p:spPr>
          <a:xfrm rot="0">
            <a:off x="165100" y="30480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10489538" name="Text">
    </p:cNvPr>
          <p:cNvSpPr>
            <a:spLocks noGrp="1"/>
          </p:cNvSpPr>
          <p:nvPr/>
        </p:nvSpPr>
        <p:spPr>
          <a:xfrm rot="0">
            <a:off x="152400" y="30099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707605345" name="Text">
    </p:cNvPr>
          <p:cNvSpPr>
            <a:spLocks noGrp="1"/>
          </p:cNvSpPr>
          <p:nvPr/>
        </p:nvSpPr>
        <p:spPr>
          <a:xfrm rot="0">
            <a:off x="165100" y="32639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623732674" name="Text">
    </p:cNvPr>
          <p:cNvSpPr>
            <a:spLocks noGrp="1"/>
          </p:cNvSpPr>
          <p:nvPr/>
        </p:nvSpPr>
        <p:spPr>
          <a:xfrm rot="0">
            <a:off x="901700" y="32639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77075756" name="Text">
    </p:cNvPr>
          <p:cNvSpPr>
            <a:spLocks noGrp="1"/>
          </p:cNvSpPr>
          <p:nvPr/>
        </p:nvSpPr>
        <p:spPr>
          <a:xfrm rot="0">
            <a:off x="5549900" y="32639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419548031" name="Text">
    </p:cNvPr>
          <p:cNvSpPr>
            <a:spLocks noGrp="1"/>
          </p:cNvSpPr>
          <p:nvPr/>
        </p:nvSpPr>
        <p:spPr>
          <a:xfrm rot="0">
            <a:off x="6121400" y="32639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140261323" name="Frame"/>
          <p:cNvSpPr>
            <a:spLocks noGrp="1"/>
          </p:cNvSpPr>
          <p:nvPr/>
        </p:nvSpPr>
        <p:spPr>
          <a:xfrm>
            <a:off x="165100" y="4305300"/>
            <a:ext cx="9664700" cy="774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53632598" name="Text">
    </p:cNvPr>
          <p:cNvSpPr>
            <a:spLocks noGrp="1"/>
          </p:cNvSpPr>
          <p:nvPr/>
        </p:nvSpPr>
        <p:spPr>
          <a:xfrm rot="0">
            <a:off x="165100" y="42799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815659117" name="Text">
    </p:cNvPr>
          <p:cNvSpPr>
            <a:spLocks noGrp="1"/>
          </p:cNvSpPr>
          <p:nvPr/>
        </p:nvSpPr>
        <p:spPr>
          <a:xfrm rot="0">
            <a:off x="965200" y="43307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ITSM-107407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ITSM-108551 소프트 스킬 관련 LMS 시스템 개선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ERP (SAP PM) 작업요청 시 작업환경위험도 입력 및 PSORMS Interface Attribute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가</a:t>
            </a:r>
          </a:p>
        </p:txBody>
      </p:sp>
      <p:sp>
        <p:nvSpPr>
          <p:cNvPr id="659588914" name="Text">
    </p:cNvPr>
          <p:cNvSpPr>
            <a:spLocks noGrp="1"/>
          </p:cNvSpPr>
          <p:nvPr/>
        </p:nvSpPr>
        <p:spPr>
          <a:xfrm rot="0">
            <a:off x="7239000" y="43307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548886858" name="Text">
    </p:cNvPr>
          <p:cNvSpPr>
            <a:spLocks noGrp="1"/>
          </p:cNvSpPr>
          <p:nvPr/>
        </p:nvSpPr>
        <p:spPr>
          <a:xfrm rot="0">
            <a:off x="5549900" y="43307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</a:p>
        </p:txBody>
      </p:sp>
      <p:sp>
        <p:nvSpPr>
          <p:cNvPr id="1028719688" name="Text">
    </p:cNvPr>
          <p:cNvSpPr>
            <a:spLocks noGrp="1"/>
          </p:cNvSpPr>
          <p:nvPr/>
        </p:nvSpPr>
        <p:spPr>
          <a:xfrm rot="0">
            <a:off x="901700" y="42799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9462559" name="Text">
    </p:cNvPr>
          <p:cNvSpPr>
            <a:spLocks noGrp="1"/>
          </p:cNvSpPr>
          <p:nvPr/>
        </p:nvSpPr>
        <p:spPr>
          <a:xfrm rot="0">
            <a:off x="6121400" y="4279900"/>
            <a:ext cx="36449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0660592" name="Text">
    </p:cNvPr>
          <p:cNvSpPr>
            <a:spLocks noGrp="1"/>
          </p:cNvSpPr>
          <p:nvPr/>
        </p:nvSpPr>
        <p:spPr>
          <a:xfrm rot="0">
            <a:off x="5549900" y="42799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786874" name="Frame"/>
          <p:cNvSpPr>
            <a:spLocks noGrp="1"/>
          </p:cNvSpPr>
          <p:nvPr/>
        </p:nvSpPr>
        <p:spPr>
          <a:xfrm>
            <a:off x="165100" y="36068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962181861" name="Text">
    </p:cNvPr>
          <p:cNvSpPr>
            <a:spLocks noGrp="1"/>
          </p:cNvSpPr>
          <p:nvPr/>
        </p:nvSpPr>
        <p:spPr>
          <a:xfrm rot="0">
            <a:off x="165100" y="36068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569042660" name="Text">
    </p:cNvPr>
          <p:cNvSpPr>
            <a:spLocks noGrp="1"/>
          </p:cNvSpPr>
          <p:nvPr/>
        </p:nvSpPr>
        <p:spPr>
          <a:xfrm rot="0">
            <a:off x="965200" y="36830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PP(Polypropylene) 제품별 원가내역 조회 Report 개발 요청(ZPCOR2030)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전표 자동승인(회계팀)시 전표의 증빙일과 계산서 발행일 체크로직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</a:p>
        </p:txBody>
      </p:sp>
      <p:sp>
        <p:nvSpPr>
          <p:cNvPr id="1240528155" name="Text">
    </p:cNvPr>
          <p:cNvSpPr>
            <a:spLocks noGrp="1"/>
          </p:cNvSpPr>
          <p:nvPr/>
        </p:nvSpPr>
        <p:spPr>
          <a:xfrm rot="0">
            <a:off x="7239000" y="36830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72872723" name="Text">
    </p:cNvPr>
          <p:cNvSpPr>
            <a:spLocks noGrp="1"/>
          </p:cNvSpPr>
          <p:nvPr/>
        </p:nvSpPr>
        <p:spPr>
          <a:xfrm rot="0">
            <a:off x="5549900" y="36830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1300682587" name="Text">
    </p:cNvPr>
          <p:cNvSpPr>
            <a:spLocks noGrp="1"/>
          </p:cNvSpPr>
          <p:nvPr/>
        </p:nvSpPr>
        <p:spPr>
          <a:xfrm rot="0">
            <a:off x="901700" y="36068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1031967" name="Text">
    </p:cNvPr>
          <p:cNvSpPr>
            <a:spLocks noGrp="1"/>
          </p:cNvSpPr>
          <p:nvPr/>
        </p:nvSpPr>
        <p:spPr>
          <a:xfrm rot="0">
            <a:off x="6121400" y="36068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5814151" name="Text">
    </p:cNvPr>
          <p:cNvSpPr>
            <a:spLocks noGrp="1"/>
          </p:cNvSpPr>
          <p:nvPr/>
        </p:nvSpPr>
        <p:spPr>
          <a:xfrm rot="0">
            <a:off x="5549900" y="36068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0386876" name="Frame"/>
          <p:cNvSpPr>
            <a:spLocks noGrp="1"/>
          </p:cNvSpPr>
          <p:nvPr/>
        </p:nvSpPr>
        <p:spPr>
          <a:xfrm>
            <a:off x="127000" y="1384300"/>
            <a:ext cx="9779000" cy="1460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466322668" name="Frame"/>
          <p:cNvSpPr>
            <a:spLocks noGrp="1"/>
          </p:cNvSpPr>
          <p:nvPr/>
        </p:nvSpPr>
        <p:spPr>
          <a:xfrm>
            <a:off x="152400" y="2070100"/>
            <a:ext cx="9664700" cy="774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214902315" name="Text">
    </p:cNvPr>
          <p:cNvSpPr>
            <a:spLocks noGrp="1"/>
          </p:cNvSpPr>
          <p:nvPr/>
        </p:nvSpPr>
        <p:spPr>
          <a:xfrm rot="0">
            <a:off x="152400" y="20447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714730807" name="Text">
    </p:cNvPr>
          <p:cNvSpPr>
            <a:spLocks noGrp="1"/>
          </p:cNvSpPr>
          <p:nvPr/>
        </p:nvSpPr>
        <p:spPr>
          <a:xfrm rot="0">
            <a:off x="952500" y="2095500"/>
            <a:ext cx="45974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[RPA] A360 '회계지급전표 증빙대사' 및 '외화지급계좌 증빙대사' 수행 및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- 전자결재 관련결재완료문서 일괄로 인쇄 가능하도록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[ERS] 정기적검토 메일링 주기 설정 및 변경 건에 대해 일정 점검 및 운영 반영 지원 예정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(ERS 정기적검토 주기 변경 및 메일 알람 기능 개선)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LMS 소프트스킬 인증 평가관련 배치로직 수정 반영</a:t>
            </a:r>
          </a:p>
        </p:txBody>
      </p:sp>
      <p:sp>
        <p:nvSpPr>
          <p:cNvPr id="224264400" name="Text">
    </p:cNvPr>
          <p:cNvSpPr>
            <a:spLocks noGrp="1"/>
          </p:cNvSpPr>
          <p:nvPr/>
        </p:nvSpPr>
        <p:spPr>
          <a:xfrm rot="0">
            <a:off x="7226300" y="20955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55983545" name="Text">
    </p:cNvPr>
          <p:cNvSpPr>
            <a:spLocks noGrp="1"/>
          </p:cNvSpPr>
          <p:nvPr/>
        </p:nvSpPr>
        <p:spPr>
          <a:xfrm rot="0">
            <a:off x="6108700" y="20447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875206959" name="Text">
    </p:cNvPr>
          <p:cNvSpPr>
            <a:spLocks noGrp="1"/>
          </p:cNvSpPr>
          <p:nvPr/>
        </p:nvSpPr>
        <p:spPr>
          <a:xfrm rot="0">
            <a:off x="5537200" y="20955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</a:p>
        </p:txBody>
      </p:sp>
      <p:sp>
        <p:nvSpPr>
          <p:cNvPr id="181459893" name="Text">
    </p:cNvPr>
          <p:cNvSpPr>
            <a:spLocks noGrp="1"/>
          </p:cNvSpPr>
          <p:nvPr/>
        </p:nvSpPr>
        <p:spPr>
          <a:xfrm rot="0">
            <a:off x="889000" y="20447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2545727" name="Text">
    </p:cNvPr>
          <p:cNvSpPr>
            <a:spLocks noGrp="1"/>
          </p:cNvSpPr>
          <p:nvPr/>
        </p:nvSpPr>
        <p:spPr>
          <a:xfrm rot="0">
            <a:off x="7124700" y="20447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9881630" name="Text">
    </p:cNvPr>
          <p:cNvSpPr>
            <a:spLocks noGrp="1"/>
          </p:cNvSpPr>
          <p:nvPr/>
        </p:nvSpPr>
        <p:spPr>
          <a:xfrm rot="0">
            <a:off x="5537200" y="20447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557544" name="Rectangle"/>
          <p:cNvSpPr>
            <a:spLocks noGrp="1"/>
          </p:cNvSpPr>
          <p:nvPr/>
        </p:nvSpPr>
        <p:spPr>
          <a:xfrm>
            <a:off x="6870700" y="20447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745263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505070843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49162518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구매처생성요청시 신청 사업자번호 및 주민등록번호 중복 체크(ZFIR9057)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일반차입금 이자율 및 연평잔금액 조회 프로그램 생성(ZTRR1424)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HKMC 이관물량 확정시 입고일자 다를 경우 프로그램 제어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2024.03.11 조달청 배달할인 관련 티코드 개선 요청</a:t>
            </a:r>
          </a:p>
        </p:txBody>
      </p:sp>
      <p:sp>
        <p:nvSpPr>
          <p:cNvPr id="1540916638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1700710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081742591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</a:p>
        </p:txBody>
      </p:sp>
      <p:sp>
        <p:nvSpPr>
          <p:cNvPr id="1028922160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2983025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7623979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0717144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