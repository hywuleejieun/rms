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62087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8544237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8488221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296923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4878448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0281854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7564233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9600561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1353384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8257225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9494329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7423479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945790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8379438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7637555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66111444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</a:p>
        </p:txBody>
      </p:sp>
      <p:sp>
        <p:nvSpPr>
          <p:cNvPr id="131507544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수불 자재 관련 로직 개선 방향 분석(ZCOR6332)</a:t>
            </a:r>
          </a:p>
        </p:txBody>
      </p:sp>
      <p:sp>
        <p:nvSpPr>
          <p:cNvPr id="175295201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96947507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4750845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EXIT 계통농협 관련 전표 코스트센터 소매관리팀 변경(ZX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VVFU04)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일반차입금 이자율 및 연평잔금액 계산 프로그램 생성(ZT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RR1423)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일반차입금 이자율 및 연평잔금액 조회 프로그램 생성(ZT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RR1424)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수불 자재 관련 로직 개선 방향 분석(ZCOR6332)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구매처생성요청시 신청 사업자번호 및 주민등록번호 중복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체크(ZFIR9057)</a:t>
            </a:r>
          </a:p>
        </p:txBody>
      </p:sp>
      <p:sp>
        <p:nvSpPr>
          <p:cNvPr id="160647351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176018370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5121262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6482311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934576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598978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75602979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31486929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</a:p>
        </p:txBody>
      </p:sp>
      <p:sp>
        <p:nvSpPr>
          <p:cNvPr id="193340205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25460200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73967720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5023 플랜트 납품완료 지시자 설정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HKMC 이관물량 확정시 입고일자 다를 경우 프로그램 제어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 건</a:t>
            </a:r>
          </a:p>
        </p:txBody>
      </p:sp>
      <p:sp>
        <p:nvSpPr>
          <p:cNvPr id="137483090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21903506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106854108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</a:p>
        </p:txBody>
      </p:sp>
      <p:sp>
        <p:nvSpPr>
          <p:cNvPr id="138596264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599244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21362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196854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3058517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5881580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4991000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97479684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6334035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1654922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142776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125905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730559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3528914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867197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6081757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7513141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</a:p>
        </p:txBody>
      </p:sp>
      <p:sp>
        <p:nvSpPr>
          <p:cNvPr id="206553778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</a:p>
        </p:txBody>
      </p:sp>
      <p:sp>
        <p:nvSpPr>
          <p:cNvPr id="200107984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77534586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58159398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89702991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보안접속 사용자 SNC 접속 문제로 설정작업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지원(인사팀)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DMS서버 MaxDB 용량증설 요청을 위한 확인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점검작업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BW운영 사용자 세션타임 관련 파라미터 변경 설정작업(rd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isp/gui_auto_logout)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용인IDC 노후 네트워크 장비 교체에 따른 SAP 서비스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주말작업 업무지원</a:t>
            </a:r>
          </a:p>
        </p:txBody>
      </p:sp>
      <p:sp>
        <p:nvSpPr>
          <p:cNvPr id="191310657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03/17</a:t>
            </a:r>
            <a:br/>
            <a:br/>
          </a:p>
        </p:txBody>
      </p:sp>
      <p:sp>
        <p:nvSpPr>
          <p:cNvPr id="38093464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03/17</a:t>
            </a:r>
            <a:br/>
            <a:br/>
          </a:p>
        </p:txBody>
      </p:sp>
      <p:sp>
        <p:nvSpPr>
          <p:cNvPr id="173140555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</a:p>
        </p:txBody>
      </p:sp>
      <p:sp>
        <p:nvSpPr>
          <p:cNvPr id="18532111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580624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615891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</a:p>
        </p:txBody>
      </p:sp>
      <p:sp>
        <p:nvSpPr>
          <p:cNvPr id="183780008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</a:p>
        </p:txBody>
      </p:sp>
      <p:sp>
        <p:nvSpPr>
          <p:cNvPr id="76643765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한 권으로 끝내는 웹 기본 교과서 : JavaScript 공부하기</a:t>
            </a:r>
          </a:p>
        </p:txBody>
      </p:sp>
      <p:sp>
        <p:nvSpPr>
          <p:cNvPr id="108003035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44127489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81295362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한 권으로 끝내는 웹 기본 교과서 : CSS공부하기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보통 사람이 알아야 할 프로그래밍 기초 with 자바 (초급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 읽기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한 권으로 끝내는 웹 기본 교과서 : JavaScript 공부하기</a:t>
            </a:r>
          </a:p>
        </p:txBody>
      </p:sp>
      <p:sp>
        <p:nvSpPr>
          <p:cNvPr id="90936545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</a:p>
        </p:txBody>
      </p:sp>
      <p:sp>
        <p:nvSpPr>
          <p:cNvPr id="16721352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48510477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</a:p>
        </p:txBody>
      </p:sp>
      <p:sp>
        <p:nvSpPr>
          <p:cNvPr id="19517308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978296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62727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6803551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8449536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4116780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3167273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14191485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0396429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59801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0894583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869028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3157935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470588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9233286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557122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5439265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34549071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5060261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60079471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96712138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33033753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26731575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16494075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41903023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13797525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567537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051794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21926400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</a:p>
        </p:txBody>
      </p:sp>
      <p:sp>
        <p:nvSpPr>
          <p:cNvPr id="185128364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[ITSM-96411]인사정보 요청서 개발 요청 건 분석- [IT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SM-107997]특근과다발생관련 예외처리조직 적용건 개발</a:t>
            </a:r>
          </a:p>
        </p:txBody>
      </p:sp>
      <p:sp>
        <p:nvSpPr>
          <p:cNvPr id="211253854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27658568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27351123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ITSM-104398 생리휴가 미발생자 관련 수정- 근태수정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결재후, 쿼터조정 오류 문의 대응(메일로 회신)- 1년미만 근속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자의 연차휴가 로직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퇴직자 비과세 명예퇴직금 처리방법 조사- ITSM-10859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 공제 결재예정자 SMS 발송 전화번호 및 문구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입사1년 미만 연차 생성 방법 및 오류분석- 단기계약직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연차 생성방법 및 오류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ITSM-105485 파견직/계약직 휴가 발생갯수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요청(계약직 부분 수정)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ITSM-105485 파견직/계약직 휴가 발생갯수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요청(파견직 부분 수정)- 생산직 개인정보보호동의 오픈전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 및 테스트</a:t>
            </a:r>
          </a:p>
        </p:txBody>
      </p:sp>
      <p:sp>
        <p:nvSpPr>
          <p:cNvPr id="101479128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br/>
          </a:p>
        </p:txBody>
      </p:sp>
      <p:sp>
        <p:nvSpPr>
          <p:cNvPr id="38587902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br/>
          </a:p>
        </p:txBody>
      </p:sp>
      <p:sp>
        <p:nvSpPr>
          <p:cNvPr id="170134713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br/>
          </a:p>
        </p:txBody>
      </p:sp>
      <p:sp>
        <p:nvSpPr>
          <p:cNvPr id="50782404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082827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22925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8713368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201817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4487270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0693680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5453127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9143747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3026618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6798662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3681589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376563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6976396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8752597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4898361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0875058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208687857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</a:p>
        </p:txBody>
      </p:sp>
      <p:sp>
        <p:nvSpPr>
          <p:cNvPr id="15952135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근로소득 원천징수명세서 내 국외소득 합산 오류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생산직 평가 대상자 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뉴펜션 메뉴 개선 요청</a:t>
            </a:r>
          </a:p>
        </p:txBody>
      </p:sp>
      <p:sp>
        <p:nvSpPr>
          <p:cNvPr id="20621871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61039575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09970835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 - PDF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뉴펜션 메뉴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HCM 내 퇴직정산서 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포상(PA0183) 업로드 자료 전체 삭제 요청</a:t>
            </a:r>
          </a:p>
        </p:txBody>
      </p:sp>
      <p:sp>
        <p:nvSpPr>
          <p:cNvPr id="91178878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86895097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</a:p>
        </p:txBody>
      </p:sp>
      <p:sp>
        <p:nvSpPr>
          <p:cNvPr id="115108368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</a:p>
        </p:txBody>
      </p:sp>
      <p:sp>
        <p:nvSpPr>
          <p:cNvPr id="167865184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137332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45107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9827286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8931318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8204443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8199853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6514031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570113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8969709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853755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7198185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6125484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661308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3162394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255858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98589348" name="Text">
    </p:cNvPr>
          <p:cNvSpPr>
            <a:spLocks noGrp="1"/>
          </p:cNvSpPr>
          <p:nvPr/>
        </p:nvSpPr>
        <p:spPr>
          <a:xfrm rot="0">
            <a:off x="9702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1882197367" name="Text">
    </p:cNvPr>
          <p:cNvSpPr>
            <a:spLocks noGrp="1"/>
          </p:cNvSpPr>
          <p:nvPr/>
        </p:nvSpPr>
        <p:spPr>
          <a:xfrm rot="0">
            <a:off x="93345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1292149213" name="Text">
    </p:cNvPr>
          <p:cNvSpPr>
            <a:spLocks noGrp="1"/>
          </p:cNvSpPr>
          <p:nvPr/>
        </p:nvSpPr>
        <p:spPr>
          <a:xfrm rot="0">
            <a:off x="5930900" y="1511300"/>
            <a:ext cx="3403600" cy="3797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차)02/201.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없음02/211. ZSD_RFC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_EWEB_SO_EXECUTE KRX 하드코딩 주석처리2. ZSDR123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0_TOP VTWEG 30-&gt;20 변경</a:t>
            </a:r>
          </a:p>
        </p:txBody>
      </p:sp>
      <p:sp>
        <p:nvSpPr>
          <p:cNvPr id="1794925412" name="Text">
    </p:cNvPr>
          <p:cNvSpPr>
            <a:spLocks noGrp="1"/>
          </p:cNvSpPr>
          <p:nvPr/>
        </p:nvSpPr>
        <p:spPr>
          <a:xfrm rot="0">
            <a:off x="53086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51735102" name="Text">
    </p:cNvPr>
          <p:cNvSpPr>
            <a:spLocks noGrp="1"/>
          </p:cNvSpPr>
          <p:nvPr/>
        </p:nvSpPr>
        <p:spPr>
          <a:xfrm rot="0">
            <a:off x="889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2040575197" name="Text">
    </p:cNvPr>
          <p:cNvSpPr>
            <a:spLocks noGrp="1"/>
          </p:cNvSpPr>
          <p:nvPr/>
        </p:nvSpPr>
        <p:spPr>
          <a:xfrm rot="0">
            <a:off x="711200" y="1511300"/>
            <a:ext cx="3403600" cy="3797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차)02.201.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없음2024.02.211. 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SD_RFC_EWEB_SO_EXECUTE KRX 하드코딩 주석처리2. ZS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DR1230_TOP VTWEG 30-&gt;20 변경03/051. EXIT 에서 구분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유형 KRX일경우 특정로직 타지 않도록 조건 추가03/071. K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RX일경우 가격결정그룹 하드코딩2024.03.11 1. ABRVW로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용도 필드 통일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[ITSM-108444][SD]2024.03.11 조달청 배달할인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티코드 개선 요청2024.03.11 1. 기준일을 기준월 말일로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자동조정 되도록 로직 추가  2. 기준일을 현재일로 변경하는 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직 주석처리2024.03.12 1. 기준일 ALV 표시하도록 변경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거래처명 납품처명 로드되도록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[ITSM-108413][SD]2024.03.11 거래처 신용정보 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메뉴 보완2024.03.11 1. ZSDR3150 ZSDR3160 표시 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드추가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ITSM-106113CI 도색차량 마스터 관리 개선2024.03.0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51. 로직수정</a:t>
            </a:r>
          </a:p>
        </p:txBody>
      </p:sp>
      <p:sp>
        <p:nvSpPr>
          <p:cNvPr id="297990269" name="Text">
    </p:cNvPr>
          <p:cNvSpPr>
            <a:spLocks noGrp="1"/>
          </p:cNvSpPr>
          <p:nvPr/>
        </p:nvSpPr>
        <p:spPr>
          <a:xfrm rot="0">
            <a:off x="44831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405560930" name="Text">
    </p:cNvPr>
          <p:cNvSpPr>
            <a:spLocks noGrp="1"/>
          </p:cNvSpPr>
          <p:nvPr/>
        </p:nvSpPr>
        <p:spPr>
          <a:xfrm rot="0">
            <a:off x="48514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</a:p>
        </p:txBody>
      </p:sp>
      <p:sp>
        <p:nvSpPr>
          <p:cNvPr id="1269675234" name="Text">
    </p:cNvPr>
          <p:cNvSpPr>
            <a:spLocks noGrp="1"/>
          </p:cNvSpPr>
          <p:nvPr/>
        </p:nvSpPr>
        <p:spPr>
          <a:xfrm rot="0">
            <a:off x="4114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</a:p>
        </p:txBody>
      </p:sp>
      <p:sp>
        <p:nvSpPr>
          <p:cNvPr id="936900374" name="Text">
    </p:cNvPr>
          <p:cNvSpPr>
            <a:spLocks noGrp="1"/>
          </p:cNvSpPr>
          <p:nvPr/>
        </p:nvSpPr>
        <p:spPr>
          <a:xfrm rot="0">
            <a:off x="6604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5776641" name="Text">
    </p:cNvPr>
          <p:cNvSpPr>
            <a:spLocks noGrp="1"/>
          </p:cNvSpPr>
          <p:nvPr/>
        </p:nvSpPr>
        <p:spPr>
          <a:xfrm rot="0">
            <a:off x="58801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