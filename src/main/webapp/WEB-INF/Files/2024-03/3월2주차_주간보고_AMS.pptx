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2"/>
    <p:sldId id="276" r:id="rId34"/>
    <p:sldId id="277" r:id="rId36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slides/slide19.xml" Type="http://schemas.openxmlformats.org/officeDocument/2006/relationships/slide"/><Relationship Id="rId31" Target="notesSlides/notesSlide5.xml" Type="http://schemas.openxmlformats.org/officeDocument/2006/relationships/notesSlide"/><Relationship Id="rId32" Target="slides/slide20.xml" Type="http://schemas.openxmlformats.org/officeDocument/2006/relationships/slide"/><Relationship Id="rId33" Target="notesSlides/notesSlide6.xml" Type="http://schemas.openxmlformats.org/officeDocument/2006/relationships/notesSlide"/><Relationship Id="rId34" Target="slides/slide21.xml" Type="http://schemas.openxmlformats.org/officeDocument/2006/relationships/slide"/><Relationship Id="rId35" Target="notesSlides/notesSlide7.xml" Type="http://schemas.openxmlformats.org/officeDocument/2006/relationships/notesSlide"/><Relationship Id="rId36" Target="slides/slide22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2024-03-04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[2024.03.12 ~ 2024.03.18]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3월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4402599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삼일절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 / 31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03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191669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585447368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94434153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6811675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14011572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960816709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2989713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944193182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95358038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47718369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280307428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300075581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72102017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45460347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65815053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880429921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6390859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3140553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5867391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721703151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068999810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764855235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2265759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912995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477071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7287233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3072193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073534413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9916160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11911335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2776257" name="Frame"/>
          <p:cNvSpPr>
            <a:spLocks noGrp="1"/>
          </p:cNvSpPr>
          <p:nvPr/>
        </p:nvSpPr>
        <p:spPr>
          <a:xfrm>
            <a:off x="101600" y="29845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12996818" name="Text">
    </p:cNvPr>
          <p:cNvSpPr>
            <a:spLocks noGrp="1"/>
          </p:cNvSpPr>
          <p:nvPr/>
        </p:nvSpPr>
        <p:spPr>
          <a:xfrm rot="0">
            <a:off x="165100" y="3048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10489538" name="Text">
    </p:cNvPr>
          <p:cNvSpPr>
            <a:spLocks noGrp="1"/>
          </p:cNvSpPr>
          <p:nvPr/>
        </p:nvSpPr>
        <p:spPr>
          <a:xfrm rot="0">
            <a:off x="152400" y="3009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707605345" name="Text">
    </p:cNvPr>
          <p:cNvSpPr>
            <a:spLocks noGrp="1"/>
          </p:cNvSpPr>
          <p:nvPr/>
        </p:nvSpPr>
        <p:spPr>
          <a:xfrm rot="0">
            <a:off x="165100" y="3263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623732674" name="Text">
    </p:cNvPr>
          <p:cNvSpPr>
            <a:spLocks noGrp="1"/>
          </p:cNvSpPr>
          <p:nvPr/>
        </p:nvSpPr>
        <p:spPr>
          <a:xfrm rot="0">
            <a:off x="901700" y="3263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77075756" name="Text">
    </p:cNvPr>
          <p:cNvSpPr>
            <a:spLocks noGrp="1"/>
          </p:cNvSpPr>
          <p:nvPr/>
        </p:nvSpPr>
        <p:spPr>
          <a:xfrm rot="0">
            <a:off x="5549900" y="3263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419548031" name="Text">
    </p:cNvPr>
          <p:cNvSpPr>
            <a:spLocks noGrp="1"/>
          </p:cNvSpPr>
          <p:nvPr/>
        </p:nvSpPr>
        <p:spPr>
          <a:xfrm rot="0">
            <a:off x="6121400" y="3263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140261323" name="Frame"/>
          <p:cNvSpPr>
            <a:spLocks noGrp="1"/>
          </p:cNvSpPr>
          <p:nvPr/>
        </p:nvSpPr>
        <p:spPr>
          <a:xfrm>
            <a:off x="165100" y="4305300"/>
            <a:ext cx="9664700" cy="774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53632598" name="Text">
    </p:cNvPr>
          <p:cNvSpPr>
            <a:spLocks noGrp="1"/>
          </p:cNvSpPr>
          <p:nvPr/>
        </p:nvSpPr>
        <p:spPr>
          <a:xfrm rot="0">
            <a:off x="165100" y="42799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15659117" name="Text">
    </p:cNvPr>
          <p:cNvSpPr>
            <a:spLocks noGrp="1"/>
          </p:cNvSpPr>
          <p:nvPr/>
        </p:nvSpPr>
        <p:spPr>
          <a:xfrm rot="0">
            <a:off x="965200" y="43307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ITSM-107407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ERP (SAP PM) 작업요청 시 작업환경위험도 입력 및 PSORMS Interface Attribute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가</a:t>
            </a:r>
          </a:p>
        </p:txBody>
      </p:sp>
      <p:sp>
        <p:nvSpPr>
          <p:cNvPr id="659588914" name="Text">
    </p:cNvPr>
          <p:cNvSpPr>
            <a:spLocks noGrp="1"/>
          </p:cNvSpPr>
          <p:nvPr/>
        </p:nvSpPr>
        <p:spPr>
          <a:xfrm rot="0">
            <a:off x="7239000" y="43307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48886858" name="Text">
    </p:cNvPr>
          <p:cNvSpPr>
            <a:spLocks noGrp="1"/>
          </p:cNvSpPr>
          <p:nvPr/>
        </p:nvSpPr>
        <p:spPr>
          <a:xfrm rot="0">
            <a:off x="5549900" y="43307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</a:p>
        </p:txBody>
      </p:sp>
      <p:sp>
        <p:nvSpPr>
          <p:cNvPr id="1028719688" name="Text">
    </p:cNvPr>
          <p:cNvSpPr>
            <a:spLocks noGrp="1"/>
          </p:cNvSpPr>
          <p:nvPr/>
        </p:nvSpPr>
        <p:spPr>
          <a:xfrm rot="0">
            <a:off x="901700" y="42799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9462559" name="Text">
    </p:cNvPr>
          <p:cNvSpPr>
            <a:spLocks noGrp="1"/>
          </p:cNvSpPr>
          <p:nvPr/>
        </p:nvSpPr>
        <p:spPr>
          <a:xfrm rot="0">
            <a:off x="6121400" y="4279900"/>
            <a:ext cx="36449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0660592" name="Text">
    </p:cNvPr>
          <p:cNvSpPr>
            <a:spLocks noGrp="1"/>
          </p:cNvSpPr>
          <p:nvPr/>
        </p:nvSpPr>
        <p:spPr>
          <a:xfrm rot="0">
            <a:off x="5549900" y="42799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786874" name="Frame"/>
          <p:cNvSpPr>
            <a:spLocks noGrp="1"/>
          </p:cNvSpPr>
          <p:nvPr/>
        </p:nvSpPr>
        <p:spPr>
          <a:xfrm>
            <a:off x="165100" y="36068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962181861" name="Text">
    </p:cNvPr>
          <p:cNvSpPr>
            <a:spLocks noGrp="1"/>
          </p:cNvSpPr>
          <p:nvPr/>
        </p:nvSpPr>
        <p:spPr>
          <a:xfrm rot="0">
            <a:off x="165100" y="36068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569042660" name="Text">
    </p:cNvPr>
          <p:cNvSpPr>
            <a:spLocks noGrp="1"/>
          </p:cNvSpPr>
          <p:nvPr/>
        </p:nvSpPr>
        <p:spPr>
          <a:xfrm rot="0">
            <a:off x="965200" y="36830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전표 자동승인(회계팀)시 전표의 증빙일과 계산서 발행일 체크로직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1240528155" name="Text">
    </p:cNvPr>
          <p:cNvSpPr>
            <a:spLocks noGrp="1"/>
          </p:cNvSpPr>
          <p:nvPr/>
        </p:nvSpPr>
        <p:spPr>
          <a:xfrm rot="0">
            <a:off x="7239000" y="36830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72872723" name="Text">
    </p:cNvPr>
          <p:cNvSpPr>
            <a:spLocks noGrp="1"/>
          </p:cNvSpPr>
          <p:nvPr/>
        </p:nvSpPr>
        <p:spPr>
          <a:xfrm rot="0">
            <a:off x="5549900" y="36830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300682587" name="Text">
    </p:cNvPr>
          <p:cNvSpPr>
            <a:spLocks noGrp="1"/>
          </p:cNvSpPr>
          <p:nvPr/>
        </p:nvSpPr>
        <p:spPr>
          <a:xfrm rot="0">
            <a:off x="901700" y="36068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1031967" name="Text">
    </p:cNvPr>
          <p:cNvSpPr>
            <a:spLocks noGrp="1"/>
          </p:cNvSpPr>
          <p:nvPr/>
        </p:nvSpPr>
        <p:spPr>
          <a:xfrm rot="0">
            <a:off x="6121400" y="36068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5814151" name="Text">
    </p:cNvPr>
          <p:cNvSpPr>
            <a:spLocks noGrp="1"/>
          </p:cNvSpPr>
          <p:nvPr/>
        </p:nvSpPr>
        <p:spPr>
          <a:xfrm rot="0">
            <a:off x="5549900" y="36068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0386876" name="Frame"/>
          <p:cNvSpPr>
            <a:spLocks noGrp="1"/>
          </p:cNvSpPr>
          <p:nvPr/>
        </p:nvSpPr>
        <p:spPr>
          <a:xfrm>
            <a:off x="127000" y="1384300"/>
            <a:ext cx="9779000" cy="1460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466322668" name="Frame"/>
          <p:cNvSpPr>
            <a:spLocks noGrp="1"/>
          </p:cNvSpPr>
          <p:nvPr/>
        </p:nvSpPr>
        <p:spPr>
          <a:xfrm>
            <a:off x="152400" y="2070100"/>
            <a:ext cx="9664700" cy="774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14902315" name="Text">
    </p:cNvPr>
          <p:cNvSpPr>
            <a:spLocks noGrp="1"/>
          </p:cNvSpPr>
          <p:nvPr/>
        </p:nvSpPr>
        <p:spPr>
          <a:xfrm rot="0">
            <a:off x="152400" y="20447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714730807" name="Text">
    </p:cNvPr>
          <p:cNvSpPr>
            <a:spLocks noGrp="1"/>
          </p:cNvSpPr>
          <p:nvPr/>
        </p:nvSpPr>
        <p:spPr>
          <a:xfrm rot="0">
            <a:off x="952500" y="2095500"/>
            <a:ext cx="45974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A360 '회계지급전표 증빙대사' 및 '외화지급계좌 증빙대사' 수행 및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- 전자결재 관련결재완료문서 일괄로 인쇄 가능하도록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정기적검토 메일링 주기 설정 및 변경 건에 대해 일정 점검 및 운영 반영 지원 예정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(ERS 정기적검토 주기 변경 및 메일 알람 기능 개선)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LMS 소프트스킬 인증 평가관련 배치로직 수정 반영</a:t>
            </a:r>
          </a:p>
        </p:txBody>
      </p:sp>
      <p:sp>
        <p:nvSpPr>
          <p:cNvPr id="224264400" name="Text">
    </p:cNvPr>
          <p:cNvSpPr>
            <a:spLocks noGrp="1"/>
          </p:cNvSpPr>
          <p:nvPr/>
        </p:nvSpPr>
        <p:spPr>
          <a:xfrm rot="0">
            <a:off x="7226300" y="20955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55983545" name="Text">
    </p:cNvPr>
          <p:cNvSpPr>
            <a:spLocks noGrp="1"/>
          </p:cNvSpPr>
          <p:nvPr/>
        </p:nvSpPr>
        <p:spPr>
          <a:xfrm rot="0">
            <a:off x="6108700" y="20447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875206959" name="Text">
    </p:cNvPr>
          <p:cNvSpPr>
            <a:spLocks noGrp="1"/>
          </p:cNvSpPr>
          <p:nvPr/>
        </p:nvSpPr>
        <p:spPr>
          <a:xfrm rot="0">
            <a:off x="5537200" y="20955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</a:p>
        </p:txBody>
      </p:sp>
      <p:sp>
        <p:nvSpPr>
          <p:cNvPr id="181459893" name="Text">
    </p:cNvPr>
          <p:cNvSpPr>
            <a:spLocks noGrp="1"/>
          </p:cNvSpPr>
          <p:nvPr/>
        </p:nvSpPr>
        <p:spPr>
          <a:xfrm rot="0">
            <a:off x="889000" y="20447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2545727" name="Text">
    </p:cNvPr>
          <p:cNvSpPr>
            <a:spLocks noGrp="1"/>
          </p:cNvSpPr>
          <p:nvPr/>
        </p:nvSpPr>
        <p:spPr>
          <a:xfrm rot="0">
            <a:off x="7124700" y="20447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9881630" name="Text">
    </p:cNvPr>
          <p:cNvSpPr>
            <a:spLocks noGrp="1"/>
          </p:cNvSpPr>
          <p:nvPr/>
        </p:nvSpPr>
        <p:spPr>
          <a:xfrm rot="0">
            <a:off x="5537200" y="20447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557544" name="Rectangle"/>
          <p:cNvSpPr>
            <a:spLocks noGrp="1"/>
          </p:cNvSpPr>
          <p:nvPr/>
        </p:nvSpPr>
        <p:spPr>
          <a:xfrm>
            <a:off x="6870700" y="20447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09745263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05070843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49162518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구매처생성요청시 신청 사업자번호 및 주민등록번호 중복 체크(ZFIR9057)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일반차입금 이자율 및 연평잔금액 조회 프로그램 생성(ZTRR1424)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HKMC 이관물량 확정시 입고일자 다를 경우 프로그램 제어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2024.03.11 조달청 배달할인 관련 티코드 개선 요청</a:t>
            </a:r>
          </a:p>
        </p:txBody>
      </p:sp>
      <p:sp>
        <p:nvSpPr>
          <p:cNvPr id="1540916638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1700710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081742591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</a:p>
        </p:txBody>
      </p:sp>
      <p:sp>
        <p:nvSpPr>
          <p:cNvPr id="1028922160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2983025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7623979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0717144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62087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854423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8488221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296923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4878448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0281854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7564233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9600561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1353384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8257225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9494329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7423479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945790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8379438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7637555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66111444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</a:p>
        </p:txBody>
      </p:sp>
      <p:sp>
        <p:nvSpPr>
          <p:cNvPr id="131507544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수불 자재 관련 로직 개선 방향 분석(ZCOR6332)</a:t>
            </a:r>
          </a:p>
        </p:txBody>
      </p:sp>
      <p:sp>
        <p:nvSpPr>
          <p:cNvPr id="175295201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96947507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4750845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EXIT 계통농협 관련 전표 코스트센터 소매관리팀 변경(ZX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VVFU04)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일반차입금 이자율 및 연평잔금액 계산 프로그램 생성(ZT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RR1423)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일반차입금 이자율 및 연평잔금액 조회 프로그램 생성(ZT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RR1424)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수불 자재 관련 로직 개선 방향 분석(ZCOR6332)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구매처생성요청시 신청 사업자번호 및 주민등록번호 중복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체크(ZFIR9057)</a:t>
            </a:r>
          </a:p>
        </p:txBody>
      </p:sp>
      <p:sp>
        <p:nvSpPr>
          <p:cNvPr id="160647351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176018370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5121262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6482311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934576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598978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75602979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31486929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</a:p>
        </p:txBody>
      </p:sp>
      <p:sp>
        <p:nvSpPr>
          <p:cNvPr id="193340205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25460200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73967720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5023 플랜트 납품완료 지시자 설정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HKMC 이관물량 확정시 입고일자 다를 경우 프로그램 제어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 건</a:t>
            </a:r>
          </a:p>
        </p:txBody>
      </p:sp>
      <p:sp>
        <p:nvSpPr>
          <p:cNvPr id="137483090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21903506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106854108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</a:p>
        </p:txBody>
      </p:sp>
      <p:sp>
        <p:nvSpPr>
          <p:cNvPr id="138596264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599244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21362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196854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3058517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5881580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4991000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97479684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6334035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1654922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142776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12590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730559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3528914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867197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6081757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7513141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</a:p>
        </p:txBody>
      </p:sp>
      <p:sp>
        <p:nvSpPr>
          <p:cNvPr id="206553778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</a:p>
        </p:txBody>
      </p:sp>
      <p:sp>
        <p:nvSpPr>
          <p:cNvPr id="200107984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77534586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8159398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89702991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보안접속 사용자 SNC 접속 문제로 설정작업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지원(인사팀)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DMS서버 MaxDB 용량증설 요청을 위한 확인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점검작업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BW운영 사용자 세션타임 관련 파라미터 변경 설정작업(rd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isp/gui_auto_logout)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용인IDC 노후 네트워크 장비 교체에 따른 SAP 서비스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주말작업 업무지원</a:t>
            </a:r>
          </a:p>
        </p:txBody>
      </p:sp>
      <p:sp>
        <p:nvSpPr>
          <p:cNvPr id="191310657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03/17</a:t>
            </a:r>
            <a:br/>
            <a:br/>
          </a:p>
        </p:txBody>
      </p:sp>
      <p:sp>
        <p:nvSpPr>
          <p:cNvPr id="38093464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03/17</a:t>
            </a:r>
            <a:br/>
            <a:br/>
          </a:p>
        </p:txBody>
      </p:sp>
      <p:sp>
        <p:nvSpPr>
          <p:cNvPr id="173140555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</a:p>
        </p:txBody>
      </p:sp>
      <p:sp>
        <p:nvSpPr>
          <p:cNvPr id="18532111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580624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615891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</a:p>
        </p:txBody>
      </p:sp>
      <p:sp>
        <p:nvSpPr>
          <p:cNvPr id="183780008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</a:p>
        </p:txBody>
      </p:sp>
      <p:sp>
        <p:nvSpPr>
          <p:cNvPr id="76643765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한 권으로 끝내는 웹 기본 교과서 : JavaScript 공부하기</a:t>
            </a:r>
          </a:p>
        </p:txBody>
      </p:sp>
      <p:sp>
        <p:nvSpPr>
          <p:cNvPr id="108003035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44127489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81295362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한 권으로 끝내는 웹 기본 교과서 : CSS공부하기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보통 사람이 알아야 할 프로그래밍 기초 with 자바 (초급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 읽기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한 권으로 끝내는 웹 기본 교과서 : JavaScript 공부하기</a:t>
            </a:r>
          </a:p>
        </p:txBody>
      </p:sp>
      <p:sp>
        <p:nvSpPr>
          <p:cNvPr id="90936545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</a:p>
        </p:txBody>
      </p:sp>
      <p:sp>
        <p:nvSpPr>
          <p:cNvPr id="16721352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48510477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</a:p>
        </p:txBody>
      </p:sp>
      <p:sp>
        <p:nvSpPr>
          <p:cNvPr id="19517308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978296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6272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6803551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8449536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4116780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3167273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4191485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0396429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59801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0894583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869028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3157935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470588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9233286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557122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5439265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34549071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5060261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60079471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96712138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33033753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26731575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16494075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41903023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13797525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567537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051794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21926400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</a:p>
        </p:txBody>
      </p:sp>
      <p:sp>
        <p:nvSpPr>
          <p:cNvPr id="185128364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[ITSM-96411]인사정보 요청서 개발 요청 건 분석- [IT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SM-107997]특근과다발생관련 예외처리조직 적용건 개발</a:t>
            </a:r>
          </a:p>
        </p:txBody>
      </p:sp>
      <p:sp>
        <p:nvSpPr>
          <p:cNvPr id="211253854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7658568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7351123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ITSM-104398 생리휴가 미발생자 관련 수정- 근태수정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결재후, 쿼터조정 오류 문의 대응(메일로 회신)- 1년미만 근속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자의 연차휴가 로직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퇴직자 비과세 명예퇴직금 처리방법 조사- ITSM-10859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 공제 결재예정자 SMS 발송 전화번호 및 문구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입사1년 미만 연차 생성 방법 및 오류분석- 단기계약직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연차 생성방법 및 오류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ITSM-105485 파견직/계약직 휴가 발생갯수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요청(계약직 부분 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ITSM-105485 파견직/계약직 휴가 발생갯수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요청(파견직 부분 수정)- 생산직 개인정보보호동의 오픈전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및 테스트</a:t>
            </a:r>
          </a:p>
        </p:txBody>
      </p:sp>
      <p:sp>
        <p:nvSpPr>
          <p:cNvPr id="101479128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br/>
          </a:p>
        </p:txBody>
      </p:sp>
      <p:sp>
        <p:nvSpPr>
          <p:cNvPr id="38587902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br/>
          </a:p>
        </p:txBody>
      </p:sp>
      <p:sp>
        <p:nvSpPr>
          <p:cNvPr id="170134713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br/>
          </a:p>
        </p:txBody>
      </p:sp>
      <p:sp>
        <p:nvSpPr>
          <p:cNvPr id="50782404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082827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22925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8713368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201817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4487270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0693680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5453127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9143747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302661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6798662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3681589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376563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6976396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8752597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4898361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0875058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208687857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</a:p>
        </p:txBody>
      </p:sp>
      <p:sp>
        <p:nvSpPr>
          <p:cNvPr id="15952135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근로소득 원천징수명세서 내 국외소득 합산 오류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평가 대상자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뉴펜션 메뉴 개선 요청</a:t>
            </a:r>
          </a:p>
        </p:txBody>
      </p:sp>
      <p:sp>
        <p:nvSpPr>
          <p:cNvPr id="20621871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61039575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09970835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 - PDF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뉴펜션 메뉴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HCM 내 퇴직정산서 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포상(PA0183) 업로드 자료 전체 삭제 요청</a:t>
            </a:r>
          </a:p>
        </p:txBody>
      </p:sp>
      <p:sp>
        <p:nvSpPr>
          <p:cNvPr id="91178878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86895097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115108368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</a:p>
        </p:txBody>
      </p:sp>
      <p:sp>
        <p:nvSpPr>
          <p:cNvPr id="167865184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137332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45107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9827286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8931318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8204443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8199853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6514031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570113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969709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853755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719818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12548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661308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3162394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255858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98589348" name="Text">
    </p:cNvPr>
          <p:cNvSpPr>
            <a:spLocks noGrp="1"/>
          </p:cNvSpPr>
          <p:nvPr/>
        </p:nvSpPr>
        <p:spPr>
          <a:xfrm rot="0">
            <a:off x="9702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1882197367" name="Text">
    </p:cNvPr>
          <p:cNvSpPr>
            <a:spLocks noGrp="1"/>
          </p:cNvSpPr>
          <p:nvPr/>
        </p:nvSpPr>
        <p:spPr>
          <a:xfrm rot="0">
            <a:off x="93345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1292149213" name="Text">
    </p:cNvPr>
          <p:cNvSpPr>
            <a:spLocks noGrp="1"/>
          </p:cNvSpPr>
          <p:nvPr/>
        </p:nvSpPr>
        <p:spPr>
          <a:xfrm rot="0">
            <a:off x="5930900" y="1511300"/>
            <a:ext cx="3403600" cy="3797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차)02/201.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없음02/211. ZSD_RFC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_EWEB_SO_EXECUTE KRX 하드코딩 주석처리2. ZSDR123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0_TOP VTWEG 30-&gt;20 변경</a:t>
            </a:r>
          </a:p>
        </p:txBody>
      </p:sp>
      <p:sp>
        <p:nvSpPr>
          <p:cNvPr id="1794925412" name="Text">
    </p:cNvPr>
          <p:cNvSpPr>
            <a:spLocks noGrp="1"/>
          </p:cNvSpPr>
          <p:nvPr/>
        </p:nvSpPr>
        <p:spPr>
          <a:xfrm rot="0">
            <a:off x="53086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1735102" name="Text">
    </p:cNvPr>
          <p:cNvSpPr>
            <a:spLocks noGrp="1"/>
          </p:cNvSpPr>
          <p:nvPr/>
        </p:nvSpPr>
        <p:spPr>
          <a:xfrm rot="0">
            <a:off x="889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040575197" name="Text">
    </p:cNvPr>
          <p:cNvSpPr>
            <a:spLocks noGrp="1"/>
          </p:cNvSpPr>
          <p:nvPr/>
        </p:nvSpPr>
        <p:spPr>
          <a:xfrm rot="0">
            <a:off x="711200" y="1511300"/>
            <a:ext cx="3403600" cy="3797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차)02.201.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없음2024.02.211. 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SD_RFC_EWEB_SO_EXECUTE KRX 하드코딩 주석처리2. ZS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DR1230_TOP VTWEG 30-&gt;20 변경03/051. EXIT 에서 구분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유형 KRX일경우 특정로직 타지 않도록 조건 추가03/071. K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RX일경우 가격결정그룹 하드코딩2024.03.11 1. ABRVW로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용도 필드 통일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[ITSM-108444][SD]2024.03.11 조달청 배달할인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티코드 개선 요청2024.03.11 1. 기준일을 기준월 말일로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자동조정 되도록 로직 추가  2. 기준일을 현재일로 변경하는 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직 주석처리2024.03.12 1. 기준일 ALV 표시하도록 변경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거래처명 납품처명 로드되도록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[ITSM-108413][SD]2024.03.11 거래처 신용정보 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메뉴 보완2024.03.11 1. ZSDR3150 ZSDR3160 표시 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드추가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ITSM-106113CI 도색차량 마스터 관리 개선2024.03.0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51. 로직수정</a:t>
            </a:r>
          </a:p>
        </p:txBody>
      </p:sp>
      <p:sp>
        <p:nvSpPr>
          <p:cNvPr id="297990269" name="Text">
    </p:cNvPr>
          <p:cNvSpPr>
            <a:spLocks noGrp="1"/>
          </p:cNvSpPr>
          <p:nvPr/>
        </p:nvSpPr>
        <p:spPr>
          <a:xfrm rot="0">
            <a:off x="44831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405560930" name="Text">
    </p:cNvPr>
          <p:cNvSpPr>
            <a:spLocks noGrp="1"/>
          </p:cNvSpPr>
          <p:nvPr/>
        </p:nvSpPr>
        <p:spPr>
          <a:xfrm rot="0">
            <a:off x="48514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</a:p>
        </p:txBody>
      </p:sp>
      <p:sp>
        <p:nvSpPr>
          <p:cNvPr id="1269675234" name="Text">
    </p:cNvPr>
          <p:cNvSpPr>
            <a:spLocks noGrp="1"/>
          </p:cNvSpPr>
          <p:nvPr/>
        </p:nvSpPr>
        <p:spPr>
          <a:xfrm rot="0">
            <a:off x="4114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</a:p>
        </p:txBody>
      </p:sp>
      <p:sp>
        <p:nvSpPr>
          <p:cNvPr id="936900374" name="Text">
    </p:cNvPr>
          <p:cNvSpPr>
            <a:spLocks noGrp="1"/>
          </p:cNvSpPr>
          <p:nvPr/>
        </p:nvSpPr>
        <p:spPr>
          <a:xfrm rot="0">
            <a:off x="6604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5776641" name="Text">
    </p:cNvPr>
          <p:cNvSpPr>
            <a:spLocks noGrp="1"/>
          </p:cNvSpPr>
          <p:nvPr/>
        </p:nvSpPr>
        <p:spPr>
          <a:xfrm rot="0">
            <a:off x="58801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92838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5864106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642533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9761002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659124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0501317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190775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4113378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8498733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9394009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874824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7134793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982048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9141147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6332287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101218913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</a:p>
        </p:txBody>
      </p:sp>
      <p:sp>
        <p:nvSpPr>
          <p:cNvPr id="96572398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ITSM-108565 HKMC 이관물량 확정시 입고일자 다를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경우 프로그램 제어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ITSM-108716 e-Biz. 현수막지원 직전주문경과 초과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sql 수정</a:t>
            </a:r>
          </a:p>
        </p:txBody>
      </p:sp>
      <p:sp>
        <p:nvSpPr>
          <p:cNvPr id="170691254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4068738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33821421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ITSM-108565 HKMC 이관물량 확정시 입고일자 다를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경우 프로그램 제어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ITSM-108716 e-Biz. 현수막지원 직전주문경과 초과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sql 수정</a:t>
            </a:r>
          </a:p>
        </p:txBody>
      </p:sp>
      <p:sp>
        <p:nvSpPr>
          <p:cNvPr id="139843117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156348641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39282330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</a:p>
        </p:txBody>
      </p:sp>
      <p:sp>
        <p:nvSpPr>
          <p:cNvPr id="119073571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620360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125029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51605745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143979026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</a:p>
        </p:txBody>
      </p:sp>
      <p:sp>
        <p:nvSpPr>
          <p:cNvPr id="199314186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6091749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2672849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Dashboard사이버보안 컴플라이언스 점검 결과에 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른 개선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[ITSM-108451]RTS Dashboard CARD 참조처 수정 요청</a:t>
            </a:r>
          </a:p>
        </p:txBody>
      </p:sp>
      <p:sp>
        <p:nvSpPr>
          <p:cNvPr id="8669295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34425168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</a:p>
        </p:txBody>
      </p:sp>
      <p:sp>
        <p:nvSpPr>
          <p:cNvPr id="146048483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</a:p>
        </p:txBody>
      </p:sp>
      <p:sp>
        <p:nvSpPr>
          <p:cNvPr id="20862728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569230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1340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192098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0640568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5541182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1075964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5159398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1079963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639512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2993952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2671258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6102813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511115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1781099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303204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9040954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2124834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</a:p>
        </p:txBody>
      </p:sp>
      <p:sp>
        <p:nvSpPr>
          <p:cNvPr id="210181726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유외사업 관리 보완 요청</a:t>
            </a:r>
          </a:p>
        </p:txBody>
      </p:sp>
      <p:sp>
        <p:nvSpPr>
          <p:cNvPr id="198475666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48724689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25343872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유외사업 관리 보완 요청</a:t>
            </a:r>
          </a:p>
        </p:txBody>
      </p:sp>
      <p:sp>
        <p:nvSpPr>
          <p:cNvPr id="23982729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5334554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42468876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</a:p>
        </p:txBody>
      </p:sp>
      <p:sp>
        <p:nvSpPr>
          <p:cNvPr id="82339125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242861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009874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67169999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</a:p>
        </p:txBody>
      </p:sp>
      <p:sp>
        <p:nvSpPr>
          <p:cNvPr id="10201252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54558615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31023230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8264735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ITSM-107746 상태 변경ITSM-108513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ITSM-108493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G/W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ITSM-107916 변경결과 작성ITSM-108618 작업유형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변경ITSM-108495 작업유형 변경ITSM-108680 변경결과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성ITSM-107346 배포상태 변경ITSM-107634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ITSM-108703 견적서 삭제ITSM-108714 동료검토자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ITSM-104329 예상완료일 변경ITSM-108727 배포상태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</a:p>
        </p:txBody>
      </p:sp>
      <p:sp>
        <p:nvSpPr>
          <p:cNvPr id="137911825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188123851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21020764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126981890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67167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1103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709743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6688636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9783273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5582187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575894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0013095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40562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95933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92101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282573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4078773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6371098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1982885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825034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98978773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</a:p>
        </p:txBody>
      </p:sp>
      <p:sp>
        <p:nvSpPr>
          <p:cNvPr id="12054363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#4 외화송금대사' 작업 Mig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ration 완료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'회계지급전표 증빙대사' 및 '외화지급계좌 증빙대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사' 수행 및 모니터링</a:t>
            </a:r>
          </a:p>
        </p:txBody>
      </p:sp>
      <p:sp>
        <p:nvSpPr>
          <p:cNvPr id="50801988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72954615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59732133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'회계지급전표 증빙대사' 및 '외화지급계좌 증빙대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사' 수행 및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#4 외화송금대사' 작업 Mig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ration 완료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'Basic Chemical팀 - 나프타 수입부과금' 수행.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류확인 및 담당자 자료수정 요청,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A360 'LPG팀 - 자가수송비 정산'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Control Room 에러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URM 파일 Eclipse Setting</a:t>
            </a:r>
          </a:p>
        </p:txBody>
      </p:sp>
      <p:sp>
        <p:nvSpPr>
          <p:cNvPr id="139448199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</a:p>
        </p:txBody>
      </p:sp>
      <p:sp>
        <p:nvSpPr>
          <p:cNvPr id="193547241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58133233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</a:p>
        </p:txBody>
      </p:sp>
      <p:sp>
        <p:nvSpPr>
          <p:cNvPr id="141598507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499874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835598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192394943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</a:p>
        </p:txBody>
      </p:sp>
      <p:sp>
        <p:nvSpPr>
          <p:cNvPr id="38714599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</a:p>
        </p:txBody>
      </p:sp>
      <p:sp>
        <p:nvSpPr>
          <p:cNvPr id="184923201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593952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51498814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(SAP PM) 작업요청 시 작업환경위험도 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PSORMS Interface Attribute 추가</a:t>
            </a:r>
          </a:p>
        </p:txBody>
      </p:sp>
      <p:sp>
        <p:nvSpPr>
          <p:cNvPr id="30441720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88802615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</a:p>
        </p:txBody>
      </p:sp>
      <p:sp>
        <p:nvSpPr>
          <p:cNvPr id="126070443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116360656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135249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71676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423531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6312276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4976922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9297066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0211468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0243092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806552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833221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4961684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438503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4444860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26761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5059754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52360998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341495943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</a:p>
        </p:txBody>
      </p:sp>
      <p:sp>
        <p:nvSpPr>
          <p:cNvPr id="279658506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OSPM 편의성 수정 -&gt; 메뉴(작업계획서)		-&gt; 프로시저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ITSM-108726 -&gt; [전자결재 신규 신청서 개발] 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리더 경조금 신청서</a:t>
            </a:r>
          </a:p>
        </p:txBody>
      </p:sp>
      <p:sp>
        <p:nvSpPr>
          <p:cNvPr id="994837929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140910398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658662043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 전자결재 관련결재완료문서 일괄로 인쇄 가능하도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OSPM 편의성 수정 -&gt; 메뉴(작업완료관리)		-&gt; 프로시저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ITSM-108480 -&gt; 결재 진행 중인 회의록 내 첨부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문서 변경자산취득통지서(직접입력 그룹,개인) 담당 CP결재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변경 (변경전: 유성규, 변경후: 박성식)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OSPM -&gt; 작업계획관리 페이지 속도 개선 및 페이징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+ 해더영역 클릭시 정렬 되는 기준 수정	 개발서버에 올리고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현업자분들에게 확인요청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ITSM-108713 -&gt; 기안지내 계약시행일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ITSM-108711 -&gt; 협조문 첨부 파일 교체 요청(문서번호: B6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3-24-0069)ITSM-108701 -&gt; 협조문 작성일자 변경ITSM-10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8733 -&gt; 구매품의서 [AC6-24-1881] 사유 수정 및 서류 첨부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831066985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br/>
            <a:br/>
            <a:br/>
          </a:p>
        </p:txBody>
      </p:sp>
      <p:sp>
        <p:nvSpPr>
          <p:cNvPr id="907668521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br/>
            <a:br/>
            <a:br/>
          </a:p>
        </p:txBody>
      </p:sp>
      <p:sp>
        <p:nvSpPr>
          <p:cNvPr id="1964223181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br/>
            <a:br/>
            <a:br/>
          </a:p>
        </p:txBody>
      </p:sp>
      <p:sp>
        <p:nvSpPr>
          <p:cNvPr id="1097947214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3718044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2574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9390598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5523998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70323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2422024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3490616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8005035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227656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4350889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2613008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4266772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2403804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3273301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8271765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47784525" name="Text">
    </p:cNvPr>
          <p:cNvSpPr>
            <a:spLocks noGrp="1"/>
          </p:cNvSpPr>
          <p:nvPr/>
        </p:nvSpPr>
        <p:spPr>
          <a:xfrm rot="0">
            <a:off x="9702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941272838" name="Text">
    </p:cNvPr>
          <p:cNvSpPr>
            <a:spLocks noGrp="1"/>
          </p:cNvSpPr>
          <p:nvPr/>
        </p:nvSpPr>
        <p:spPr>
          <a:xfrm rot="0">
            <a:off x="93345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014901498" name="Text">
    </p:cNvPr>
          <p:cNvSpPr>
            <a:spLocks noGrp="1"/>
          </p:cNvSpPr>
          <p:nvPr/>
        </p:nvSpPr>
        <p:spPr>
          <a:xfrm rot="0">
            <a:off x="5930900" y="1511300"/>
            <a:ext cx="3403600" cy="3340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526572395" name="Text">
    </p:cNvPr>
          <p:cNvSpPr>
            <a:spLocks noGrp="1"/>
          </p:cNvSpPr>
          <p:nvPr/>
        </p:nvSpPr>
        <p:spPr>
          <a:xfrm rot="0">
            <a:off x="53086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678966028" name="Text">
    </p:cNvPr>
          <p:cNvSpPr>
            <a:spLocks noGrp="1"/>
          </p:cNvSpPr>
          <p:nvPr/>
        </p:nvSpPr>
        <p:spPr>
          <a:xfrm rot="0">
            <a:off x="889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893532236" name="Text">
    </p:cNvPr>
          <p:cNvSpPr>
            <a:spLocks noGrp="1"/>
          </p:cNvSpPr>
          <p:nvPr/>
        </p:nvSpPr>
        <p:spPr>
          <a:xfrm rot="0">
            <a:off x="711200" y="1511300"/>
            <a:ext cx="3403600" cy="3340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정기적검토 메일링 주기 설정 및 변경 건에 대해 일정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및 운영 반영 지원 예정(ERS 정기적검토 주기 변경 및 메일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알람 기능 개선)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U50100 장치운전 Manual 문서등록 변환오류 확인 및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ITSM-108508 교육훈련신청서 내용 수정 및 교육이력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규정관리기안지 작업시간 초과로 데이터 재처리 연동됨.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.중복 연계 데이터 삭제후 규정관리 기안지 배치 작업 재실행,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부서지침서 중복 처리 문서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[ERM 시스템] 프로파일 변경 사항 Risk assessmet에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e-learning 개인별 고육이력 엑셀저장시 오류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인요청(중복 수강자로 인한 오류)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ITSM-108632 SHE관리원 변경으로 ERS 첨부파일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교육이력 조회안되는 수강자 데이터 확인 및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 소프트스킬 인증 평가관련 배치로직 수정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ITSM-108551 소프트 스킬 관련 LMS 시스템 개선 외</a:t>
            </a:r>
          </a:p>
        </p:txBody>
      </p:sp>
      <p:sp>
        <p:nvSpPr>
          <p:cNvPr id="1027198807" name="Text">
    </p:cNvPr>
          <p:cNvSpPr>
            <a:spLocks noGrp="1"/>
          </p:cNvSpPr>
          <p:nvPr/>
        </p:nvSpPr>
        <p:spPr>
          <a:xfrm rot="0">
            <a:off x="44831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881455640" name="Text">
    </p:cNvPr>
          <p:cNvSpPr>
            <a:spLocks noGrp="1"/>
          </p:cNvSpPr>
          <p:nvPr/>
        </p:nvSpPr>
        <p:spPr>
          <a:xfrm rot="0">
            <a:off x="48514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568688086" name="Text">
    </p:cNvPr>
          <p:cNvSpPr>
            <a:spLocks noGrp="1"/>
          </p:cNvSpPr>
          <p:nvPr/>
        </p:nvSpPr>
        <p:spPr>
          <a:xfrm rot="0">
            <a:off x="4114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</a:p>
        </p:txBody>
      </p:sp>
      <p:sp>
        <p:nvSpPr>
          <p:cNvPr id="1163391304" name="Text">
    </p:cNvPr>
          <p:cNvSpPr>
            <a:spLocks noGrp="1"/>
          </p:cNvSpPr>
          <p:nvPr/>
        </p:nvSpPr>
        <p:spPr>
          <a:xfrm rot="0">
            <a:off x="6604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1165250" name="Text">
    </p:cNvPr>
          <p:cNvSpPr>
            <a:spLocks noGrp="1"/>
          </p:cNvSpPr>
          <p:nvPr/>
        </p:nvSpPr>
        <p:spPr>
          <a:xfrm rot="0">
            <a:off x="58801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62341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1697731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927411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1494400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59381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0509877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2769776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596685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311658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661341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5024235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907038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106502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4626182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59363343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</a:p>
        </p:txBody>
      </p:sp>
      <p:sp>
        <p:nvSpPr>
          <p:cNvPr id="1728797338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</a:p>
        </p:txBody>
      </p:sp>
      <p:sp>
        <p:nvSpPr>
          <p:cNvPr id="1375784207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협력업체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사용계정에 대한 만료기간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 -&gt; 모바일상품권 전환 관련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회수 현황 프로그램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시나리오 추출 누락되는 오류 현상 확인 요청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개선</a:t>
            </a:r>
          </a:p>
        </p:txBody>
      </p:sp>
      <p:sp>
        <p:nvSpPr>
          <p:cNvPr id="1575488547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270662802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94296053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협력업체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사용계정에 대한 만료기간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 -&gt; 모바일상품권 전환 관련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회수 현황 프로그램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신규 계정 생성 및 접근 권한 삭제 4건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회수 데이터 관련 액면가 0으로 표기된 데이터 수정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재고관리 감사 개선 사항 검토 요청 및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참석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대구지사 상품권 PC 세팅 원격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적정재고 재고현황 프로세스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개발 서버 이전 HQWMSDEV01 -&gt; HQWMSEV1D 서버 구성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후 오류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인사프로세스 시나리오 승인권자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시나리오 추출 누락되는 오류 현상 확인 요청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인프라 취약점 조치 대상 (WMS, EWS 개발 DB 서버 패치 작업 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검토 요청)</a:t>
            </a:r>
          </a:p>
        </p:txBody>
      </p:sp>
      <p:sp>
        <p:nvSpPr>
          <p:cNvPr id="585259412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</a:p>
        </p:txBody>
      </p:sp>
      <p:sp>
        <p:nvSpPr>
          <p:cNvPr id="1064747263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</a:p>
        </p:txBody>
      </p:sp>
      <p:sp>
        <p:nvSpPr>
          <p:cNvPr id="315824597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</a:p>
        </p:txBody>
      </p:sp>
      <p:sp>
        <p:nvSpPr>
          <p:cNvPr id="282636376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9877038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6395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0044904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986762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8731442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8797556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806131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0705561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593267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5662461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007763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4209686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9589411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2675180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0249844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59213338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614306552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</a:p>
        </p:txBody>
      </p:sp>
      <p:sp>
        <p:nvSpPr>
          <p:cNvPr id="172432792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인수인계</a:t>
            </a:r>
            <a:br/>
          </a:p>
        </p:txBody>
      </p:sp>
      <p:sp>
        <p:nvSpPr>
          <p:cNvPr id="514881238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06557904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775061565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messagesource-context.xml 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'createOnMessageNotFound' value='false'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경 적합성 검토 및 적용 (운영)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인수인계 (이지은 → 서상희 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원)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ITSM-108688 [ 고급휘발유 품질정보 삭제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]건 조치 (with. 강길제 과장님)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(주)유니콘에너지(2017634) '품질 검사' 보너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스카드(BNS) 내 최근 결과 조회 불가 -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(요청자 : 형을진 책임님 / with. 강길제 과장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웹 모의해킹 작업을 위한 'voctest' (테스트계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정) 권한부여</a:t>
            </a:r>
            <a:br/>
          </a:p>
        </p:txBody>
      </p:sp>
      <p:sp>
        <p:nvSpPr>
          <p:cNvPr id="481031102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19935291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1931193247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1234370217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964774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447849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03/17</a:t>
            </a:r>
            <a:br/>
            <a:br/>
          </a:p>
        </p:txBody>
      </p:sp>
      <p:sp>
        <p:nvSpPr>
          <p:cNvPr id="616537903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03/17</a:t>
            </a:r>
            <a:br/>
            <a:br/>
          </a:p>
        </p:txBody>
      </p:sp>
      <p:sp>
        <p:nvSpPr>
          <p:cNvPr id="2055621287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(SAP PM) 작업요청 시 작업환경위험도 입력 및 PSO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RMS Interface Attribute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용인IDC 노후 네트워크 장비 교체 작업에 따른 EAI 시스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템 서버작업</a:t>
            </a:r>
          </a:p>
        </p:txBody>
      </p:sp>
      <p:sp>
        <p:nvSpPr>
          <p:cNvPr id="1313132851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895405952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677848663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(SAP PM) 작업요청 시 작업환경위험도 입력 및 PSO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RMS Interface Attribute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시스템 garbage MQ메세지 삭제</a:t>
            </a:r>
          </a:p>
        </p:txBody>
      </p:sp>
      <p:sp>
        <p:nvSpPr>
          <p:cNvPr id="1627161230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48441835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886093801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630483642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9926772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4402599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삼일절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 / 31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03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