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tiff" ContentType="image/tiff"/>
  <Default Extension="rels" ContentType="application/vnd.openxmlformats-package.relationships+xml"/>
  <Default Extension="xml" ContentType="application/xml"/>
  <Default Extension="ttf" ContentType="application/x-font-ttf"/>
  <Default Extension="otf" ContentType="application/x-font-ttf"/>
  <Default Extension="eot" ContentType="application/x-fontdata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presentation.xml" ContentType="application/vnd.openxmlformats-officedocument.presentationml.presentation.main+xml"/>
  <Override PartName="/docProps/app.xml" ContentType="application/vnd.openxmlformats-officedocument.extended-properties+xml"/>
  <Override PartName="/docProps/core.xml" ContentType="application/vnd.openxmlformats-package.core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</Types>
</file>

<file path=_rels/.rels><?xml version="1.0" encoding="UTF-8" standalone="yes"?>
<Relationships xmlns="http://schemas.openxmlformats.org/package/2006/relationships">
<Relationship Id="rId1" Type="http://schemas.openxmlformats.org/officeDocument/2006/relationships/officeDocument" Target="ppt/presentation.xml"/>
<Relationship Id="rId2" Type="http://schemas.openxmlformats.org/officeDocument/2006/relationships/extended-properties" Target="docProps/app.xml"/>
<Relationship Id="rId3" Type="http://schemas.openxmlformats.org/package/2006/relationships/metadata/core-properties" Target="docProps/core.xml"/>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Sm"/>
  </p:sldMasterIdLst>
  <p:sldIdLst>
    <p:sldId id="2561" r:id="rId1"/>
    <p:sldId id="2562" r:id="rId2"/>
    <p:sldId id="2563" r:id="rId3"/>
    <p:sldId id="2564" r:id="rId4"/>
  </p:sldIdLst>
  <p:sldSz cx="10160000" cy="7429500" type="custom"/>
  <p:notesSz cx="6858000" cy="9144000"/>
  <p:embeddedFontLst>
</p:embeddedFontLst>
</p:presentation>
</file>

<file path=ppt/_rels/presentation.xml.rels><?xml version="1.0" encoding="UTF-8" standalone="yes"?>
<Relationships xmlns="http://schemas.openxmlformats.org/package/2006/relationships">
<Relationship Id="rIdTh" Type="http://schemas.openxmlformats.org/officeDocument/2006/relationships/theme" Target="theme/theme1.xml"/>
<Relationship Id="rIdSm" Type="http://schemas.openxmlformats.org/officeDocument/2006/relationships/slideMaster" Target="slideMasters/slideMaster1.xml"/>
<Relationship Id="rId1" Type="http://schemas.openxmlformats.org/officeDocument/2006/relationships/slide" Target="slides/slide1.xml"/>
<Relationship Id="rId2" Type="http://schemas.openxmlformats.org/officeDocument/2006/relationships/slide" Target="slides/slide2.xml"/>
<Relationship Id="rId3" Type="http://schemas.openxmlformats.org/officeDocument/2006/relationships/slide" Target="slides/slide3.xml"/>
<Relationship Id="rId4" Type="http://schemas.openxmlformats.org/officeDocument/2006/relationships/slide" Target="slides/slide4.xml"/>
</Relationships>

</file>

<file path=ppt/slideLayouts/_rels/slideLayout1.xml.rels><?xml version="1.0" encoding="UTF-8" standalone="yes"?>
<Relationships xmlns="http://schemas.openxmlformats.org/package/2006/relationships">
<Relationship Id="rIdSm" Type="http://schemas.openxmlformats.org/officeDocument/2006/relationships/slideMaster" Target="../slideMasters/slideMaster1.xml"/>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<Relationship Id="rIdTh" Type="http://schemas.openxmlformats.org/officeDocument/2006/relationships/theme" Target="../theme/theme1.xml"/>
<Relationship Id="rIdSl" Type="http://schemas.openxmlformats.org/officeDocument/2006/relationships/slideLayout" Target="../slideLayouts/slideLayout1.xml"/>
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Sl"/>
  </p:sldLayoutIdLst>
</p:sldMaster>
</file>

<file path=ppt/slides/_rels/slide1.xml.rels><?xml version="1.0" encoding="UTF-8" standalone="yes"?>
<Relationships xmlns="http://schemas.openxmlformats.org/package/2006/relationships">
<Relationship Id="rIdSl" Type="http://schemas.openxmlformats.org/officeDocument/2006/relationships/slideLayout" Target="../slideLayouts/slideLayout1.xml"/>
</Relationships>

</file>

<file path=ppt/slides/_rels/slide2.xml.rels><?xml version="1.0" encoding="UTF-8" standalone="yes"?>
<Relationships xmlns="http://schemas.openxmlformats.org/package/2006/relationships">
<Relationship Id="rIdSl" Type="http://schemas.openxmlformats.org/officeDocument/2006/relationships/slideLayout" Target="../slideLayouts/slideLayout1.xml"/>
</Relationships>

</file>

<file path=ppt/slides/_rels/slide3.xml.rels><?xml version="1.0" encoding="UTF-8" standalone="yes"?>
<Relationships xmlns="http://schemas.openxmlformats.org/package/2006/relationships">
<Relationship Id="rIdSl" Type="http://schemas.openxmlformats.org/officeDocument/2006/relationships/slideLayout" Target="../slideLayouts/slideLayout1.xml"/>
</Relationships>

</file>

<file path=ppt/slides/_rels/slide4.xml.rels><?xml version="1.0" encoding="UTF-8" standalone="yes"?>
<Relationships xmlns="http://schemas.openxmlformats.org/package/2006/relationships">
<Relationship Id="rIdSl" Type="http://schemas.openxmlformats.org/officeDocument/2006/relationships/slideLayout" Target="../slideLayouts/slideLayout1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6853777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2045714613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610913452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800237849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785972162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5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570" b="1">
                <a:latin typeface="맑은 고딕"/>
                <a:ea typeface="맑은 고딕"/>
                <a:cs typeface="맑은 고딕"/>
              </a:rPr>
              <a:t>3. 주간업무 실적 및 계획(①Baynex - ERP)</a:t>
            </a:r>
          </a:p>
        </p:txBody>
      </p:sp>
      <p:sp>
        <p:nvSpPr>
          <p:cNvPr id="775068708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154759138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2123676160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393959675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756163980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215042277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334751058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577241431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1652599646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246979793" name="Text">
    </p:cNvPr>
          <p:cNvSpPr>
            <a:spLocks noGrp="1"/>
          </p:cNvSpPr>
          <p:nvPr/>
        </p:nvSpPr>
        <p:spPr>
          <a:xfrm rot="0">
            <a:off x="9702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03/31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03/31</a:t>
            </a:r>
            <a:br/>
          </a:p>
        </p:txBody>
      </p:sp>
      <p:sp>
        <p:nvSpPr>
          <p:cNvPr id="1183237052" name="Text">
    </p:cNvPr>
          <p:cNvSpPr>
            <a:spLocks noGrp="1"/>
          </p:cNvSpPr>
          <p:nvPr/>
        </p:nvSpPr>
        <p:spPr>
          <a:xfrm rot="0">
            <a:off x="93345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05/31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10/06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10/17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02/23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02/29</a:t>
            </a:r>
            <a:br/>
          </a:p>
        </p:txBody>
      </p:sp>
      <p:sp>
        <p:nvSpPr>
          <p:cNvPr id="236380232" name="Text">
    </p:cNvPr>
          <p:cNvSpPr>
            <a:spLocks noGrp="1"/>
          </p:cNvSpPr>
          <p:nvPr/>
        </p:nvSpPr>
        <p:spPr>
          <a:xfrm rot="0">
            <a:off x="5930900" y="15113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[CO] 구분회계기준 비용의 1차원가요소 data 산출 프로그램 생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성 (ZCPR1050)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[CO] PP(Polypropylene) 제품별 원가내역 조회 Report 개발 요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청(ZPCOR2030)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[FI] 대주주 감사자료 생성-MRO 자재계정의 상대계정 리스트 테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이블 저장 (ZFIR7035, ZFIT7035)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[TR] 일반차입금 자본화 이자율 계산 시스템 개발요청 프로세스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분석(ZTRR1422)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[CO] PP 생산오더별 작업시간 프로그램 생성(ZPCOR2050)</a:t>
            </a:r>
          </a:p>
        </p:txBody>
      </p:sp>
      <p:sp>
        <p:nvSpPr>
          <p:cNvPr id="1772843151" name="Text">
    </p:cNvPr>
          <p:cNvSpPr>
            <a:spLocks noGrp="1"/>
          </p:cNvSpPr>
          <p:nvPr/>
        </p:nvSpPr>
        <p:spPr>
          <a:xfrm rot="0">
            <a:off x="53086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FI/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CO/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TR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강민경</a:t>
            </a:r>
          </a:p>
        </p:txBody>
      </p:sp>
      <p:sp>
        <p:nvSpPr>
          <p:cNvPr id="941614725" name="Text">
    </p:cNvPr>
          <p:cNvSpPr>
            <a:spLocks noGrp="1"/>
          </p:cNvSpPr>
          <p:nvPr/>
        </p:nvSpPr>
        <p:spPr>
          <a:xfrm rot="0">
            <a:off x="889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FI/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CO/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TR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강민경</a:t>
            </a:r>
          </a:p>
        </p:txBody>
      </p:sp>
      <p:sp>
        <p:nvSpPr>
          <p:cNvPr id="1223973145" name="Text">
    </p:cNvPr>
          <p:cNvSpPr>
            <a:spLocks noGrp="1"/>
          </p:cNvSpPr>
          <p:nvPr/>
        </p:nvSpPr>
        <p:spPr>
          <a:xfrm rot="0">
            <a:off x="711200" y="15113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[FI] 부가세 역분개 전표 제외(ZFIR5060)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[FI] 이자.배당 소득 지급명세서(전산매체신고파일) 신고파일 필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드 맵핑 오류 수정(ZFIR5530)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[FI] 엑셀다운로드시 오류 발생 원인 분석 및 수정(ZFIR7031)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[FI] 이자.배당 소득 지급명세서(전산매체신고파일) 신고파일 필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드 주민번호 사업자로 값 변경(ZFIR5530)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[TR] 이자율 계산 프로그램 생성 관련 분석(ZTRR1422)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[CO] PP 생산오더별 작업시간 프로그램 생성(ZPCOR2050)</a:t>
            </a:r>
          </a:p>
        </p:txBody>
      </p:sp>
      <p:sp>
        <p:nvSpPr>
          <p:cNvPr id="1910105327" name="Text">
    </p:cNvPr>
          <p:cNvSpPr>
            <a:spLocks noGrp="1"/>
          </p:cNvSpPr>
          <p:nvPr/>
        </p:nvSpPr>
        <p:spPr>
          <a:xfrm rot="0">
            <a:off x="44831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02/26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02/26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02/26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02/27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03/31</a:t>
            </a:r>
            <a:br/>
          </a:p>
        </p:txBody>
      </p:sp>
      <p:sp>
        <p:nvSpPr>
          <p:cNvPr id="1128582483" name="Text">
    </p:cNvPr>
          <p:cNvSpPr>
            <a:spLocks noGrp="1"/>
          </p:cNvSpPr>
          <p:nvPr/>
        </p:nvSpPr>
        <p:spPr>
          <a:xfrm rot="0">
            <a:off x="48514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02/26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02/26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02/26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02/27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20%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10%</a:t>
            </a:r>
            <a:br/>
          </a:p>
        </p:txBody>
      </p:sp>
      <p:sp>
        <p:nvSpPr>
          <p:cNvPr id="78131312" name="Text">
    </p:cNvPr>
          <p:cNvSpPr>
            <a:spLocks noGrp="1"/>
          </p:cNvSpPr>
          <p:nvPr/>
        </p:nvSpPr>
        <p:spPr>
          <a:xfrm rot="0">
            <a:off x="4114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02/26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02/26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02/26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02/27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02/28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02/29</a:t>
            </a:r>
            <a:br/>
          </a:p>
        </p:txBody>
      </p:sp>
      <p:sp>
        <p:nvSpPr>
          <p:cNvPr id="1853791597" name="Text">
    </p:cNvPr>
          <p:cNvSpPr>
            <a:spLocks noGrp="1"/>
          </p:cNvSpPr>
          <p:nvPr/>
        </p:nvSpPr>
        <p:spPr>
          <a:xfrm rot="0">
            <a:off x="6604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346298577" name="Text">
    </p:cNvPr>
          <p:cNvSpPr>
            <a:spLocks noGrp="1"/>
          </p:cNvSpPr>
          <p:nvPr/>
        </p:nvSpPr>
        <p:spPr>
          <a:xfrm rot="0">
            <a:off x="58801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905286608" name="Text">
    </p:cNvPr>
          <p:cNvSpPr>
            <a:spLocks noGrp="1"/>
          </p:cNvSpPr>
          <p:nvPr/>
        </p:nvSpPr>
        <p:spPr>
          <a:xfrm rot="0">
            <a:off x="9702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04/30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03/29</a:t>
            </a:r>
            <a:br/>
          </a:p>
        </p:txBody>
      </p:sp>
      <p:sp>
        <p:nvSpPr>
          <p:cNvPr id="1889214126" name="Text">
    </p:cNvPr>
          <p:cNvSpPr>
            <a:spLocks noGrp="1"/>
          </p:cNvSpPr>
          <p:nvPr/>
        </p:nvSpPr>
        <p:spPr>
          <a:xfrm rot="0">
            <a:off x="93345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01/05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01/10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02/15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02/19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02/26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02/28</a:t>
            </a:r>
            <a:br/>
          </a:p>
        </p:txBody>
      </p:sp>
      <p:sp>
        <p:nvSpPr>
          <p:cNvPr id="1779720229" name="Text">
    </p:cNvPr>
          <p:cNvSpPr>
            <a:spLocks noGrp="1"/>
          </p:cNvSpPr>
          <p:nvPr/>
        </p:nvSpPr>
        <p:spPr>
          <a:xfrm rot="0">
            <a:off x="5930900" y="37719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[FI] 전표 자동승인(회계팀)시 전표의 증빙일과 계산서 발행일 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크로직 추가요청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수입 제품 구입대금 및 기타 발생 비용 문서 조회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영업시설지원 시스템 구축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원유 구입 물품대 및 선박 관련 비용문서 Report 보완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SMM_PR I/F 필드 추가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발주변경 품의 시 계약보증 정보 SAP 업데이트</a:t>
            </a:r>
          </a:p>
        </p:txBody>
      </p:sp>
      <p:sp>
        <p:nvSpPr>
          <p:cNvPr id="1302020060" name="Text">
    </p:cNvPr>
          <p:cNvSpPr>
            <a:spLocks noGrp="1"/>
          </p:cNvSpPr>
          <p:nvPr/>
        </p:nvSpPr>
        <p:spPr>
          <a:xfrm rot="0">
            <a:off x="53086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MM/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TD/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FI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김원기</a:t>
            </a:r>
          </a:p>
        </p:txBody>
      </p:sp>
      <p:sp>
        <p:nvSpPr>
          <p:cNvPr id="1424576172" name="Text">
    </p:cNvPr>
          <p:cNvSpPr>
            <a:spLocks noGrp="1"/>
          </p:cNvSpPr>
          <p:nvPr/>
        </p:nvSpPr>
        <p:spPr>
          <a:xfrm rot="0">
            <a:off x="889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MM/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TD/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FI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김원기</a:t>
            </a:r>
          </a:p>
        </p:txBody>
      </p:sp>
      <p:sp>
        <p:nvSpPr>
          <p:cNvPr id="2091861233" name="Text">
    </p:cNvPr>
          <p:cNvSpPr>
            <a:spLocks noGrp="1"/>
          </p:cNvSpPr>
          <p:nvPr/>
        </p:nvSpPr>
        <p:spPr>
          <a:xfrm rot="0">
            <a:off x="711200" y="37719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[FI] 전표 자동승인(회계팀)시 전표의 증빙일과 계산서 발행일 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크로직 추가요청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수입 제품 구입대금 및 기타 발생 비용 문서 조회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중복 생성 오류 해결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영업시설지원 시스템 구축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원유 구입 물품대 및 선박 관련 비용문서 Report 보완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SMM_PR I/F 필드 추가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발주변경 품의 시 계약보증 정보 SAP 업데이트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기술검수증 및 구매발주 부분취소요청</a:t>
            </a:r>
          </a:p>
        </p:txBody>
      </p:sp>
      <p:sp>
        <p:nvSpPr>
          <p:cNvPr id="905123337" name="Text">
    </p:cNvPr>
          <p:cNvSpPr>
            <a:spLocks noGrp="1"/>
          </p:cNvSpPr>
          <p:nvPr/>
        </p:nvSpPr>
        <p:spPr>
          <a:xfrm rot="0">
            <a:off x="44831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04/30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03/11</a:t>
            </a:r>
            <a:br/>
          </a:p>
        </p:txBody>
      </p:sp>
      <p:sp>
        <p:nvSpPr>
          <p:cNvPr id="553822900" name="Text">
    </p:cNvPr>
          <p:cNvSpPr>
            <a:spLocks noGrp="1"/>
          </p:cNvSpPr>
          <p:nvPr/>
        </p:nvSpPr>
        <p:spPr>
          <a:xfrm rot="0">
            <a:off x="48514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60%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70%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60%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50%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30%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30%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02/29</a:t>
            </a:r>
            <a:br/>
          </a:p>
        </p:txBody>
      </p:sp>
      <p:sp>
        <p:nvSpPr>
          <p:cNvPr id="1065356310" name="Text">
    </p:cNvPr>
          <p:cNvSpPr>
            <a:spLocks noGrp="1"/>
          </p:cNvSpPr>
          <p:nvPr/>
        </p:nvSpPr>
        <p:spPr>
          <a:xfrm rot="0">
            <a:off x="4114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01/05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01/10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02/15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02/19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02/26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02/28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02/29</a:t>
            </a:r>
            <a:br/>
          </a:p>
        </p:txBody>
      </p:sp>
      <p:sp>
        <p:nvSpPr>
          <p:cNvPr id="957243355" name="Text">
    </p:cNvPr>
          <p:cNvSpPr>
            <a:spLocks noGrp="1"/>
          </p:cNvSpPr>
          <p:nvPr/>
        </p:nvSpPr>
        <p:spPr>
          <a:xfrm rot="0">
            <a:off x="6604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350246317" name="Text">
    </p:cNvPr>
          <p:cNvSpPr>
            <a:spLocks noGrp="1"/>
          </p:cNvSpPr>
          <p:nvPr/>
        </p:nvSpPr>
        <p:spPr>
          <a:xfrm rot="0">
            <a:off x="58801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7070223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526139941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416050322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1111252110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2060673332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5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570" b="1">
                <a:latin typeface="맑은 고딕"/>
                <a:ea typeface="맑은 고딕"/>
                <a:cs typeface="맑은 고딕"/>
              </a:rPr>
              <a:t>3. 주간업무 실적 및 계획(①Baynex - ERP)</a:t>
            </a:r>
          </a:p>
        </p:txBody>
      </p:sp>
      <p:sp>
        <p:nvSpPr>
          <p:cNvPr id="123947297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784491257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252381968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731826097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908704162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898654586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375285133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201840972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2006484423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094038015" name="Text">
    </p:cNvPr>
          <p:cNvSpPr>
            <a:spLocks noGrp="1"/>
          </p:cNvSpPr>
          <p:nvPr/>
        </p:nvSpPr>
        <p:spPr>
          <a:xfrm rot="0">
            <a:off x="9702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03/11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03/11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03/06</a:t>
            </a:r>
            <a:br/>
          </a:p>
        </p:txBody>
      </p:sp>
      <p:sp>
        <p:nvSpPr>
          <p:cNvPr id="1504209683" name="Text">
    </p:cNvPr>
          <p:cNvSpPr>
            <a:spLocks noGrp="1"/>
          </p:cNvSpPr>
          <p:nvPr/>
        </p:nvSpPr>
        <p:spPr>
          <a:xfrm rot="0">
            <a:off x="93345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03/05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03/05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03/04</a:t>
            </a:r>
            <a:br/>
          </a:p>
        </p:txBody>
      </p:sp>
      <p:sp>
        <p:nvSpPr>
          <p:cNvPr id="1809253587" name="Text">
    </p:cNvPr>
          <p:cNvSpPr>
            <a:spLocks noGrp="1"/>
          </p:cNvSpPr>
          <p:nvPr/>
        </p:nvSpPr>
        <p:spPr>
          <a:xfrm rot="0">
            <a:off x="5930900" y="15113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[BC] SAP 시스템 정기 모니터링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[BC] SAP 시스템 이관 / 변경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[BC] ERP운영 마감업무 지원작업</a:t>
            </a:r>
          </a:p>
        </p:txBody>
      </p:sp>
      <p:sp>
        <p:nvSpPr>
          <p:cNvPr id="1481769683" name="Text">
    </p:cNvPr>
          <p:cNvSpPr>
            <a:spLocks noGrp="1"/>
          </p:cNvSpPr>
          <p:nvPr/>
        </p:nvSpPr>
        <p:spPr>
          <a:xfrm rot="0">
            <a:off x="53086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BC/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HCM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박남신</a:t>
            </a:r>
          </a:p>
        </p:txBody>
      </p:sp>
      <p:sp>
        <p:nvSpPr>
          <p:cNvPr id="881130095" name="Text">
    </p:cNvPr>
          <p:cNvSpPr>
            <a:spLocks noGrp="1"/>
          </p:cNvSpPr>
          <p:nvPr/>
        </p:nvSpPr>
        <p:spPr>
          <a:xfrm rot="0">
            <a:off x="889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BC/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HCM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박남신</a:t>
            </a:r>
          </a:p>
        </p:txBody>
      </p:sp>
      <p:sp>
        <p:nvSpPr>
          <p:cNvPr id="787414815" name="Text">
    </p:cNvPr>
          <p:cNvSpPr>
            <a:spLocks noGrp="1"/>
          </p:cNvSpPr>
          <p:nvPr/>
        </p:nvSpPr>
        <p:spPr>
          <a:xfrm rot="0">
            <a:off x="711200" y="15113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[BC] SAP 시스템 정기 모니터링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[BC] SAP 시스템 이관 / 변경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[BC] HCM Cloud (평가시스템) 인사 마스터 전송 배치 재등록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[BC] HCM운영 SICF(Define Services) 서비스 활성화 작업 업무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지원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[BC] HCM운영 Content Server MaxDB AutoLog 파일 삭제작업</a:t>
            </a:r>
          </a:p>
        </p:txBody>
      </p:sp>
      <p:sp>
        <p:nvSpPr>
          <p:cNvPr id="2110556045" name="Text">
    </p:cNvPr>
          <p:cNvSpPr>
            <a:spLocks noGrp="1"/>
          </p:cNvSpPr>
          <p:nvPr/>
        </p:nvSpPr>
        <p:spPr>
          <a:xfrm rot="0">
            <a:off x="44831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03/04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03/04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02/27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02/28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02/29</a:t>
            </a:r>
            <a:br/>
          </a:p>
        </p:txBody>
      </p:sp>
      <p:sp>
        <p:nvSpPr>
          <p:cNvPr id="893408893" name="Text">
    </p:cNvPr>
          <p:cNvSpPr>
            <a:spLocks noGrp="1"/>
          </p:cNvSpPr>
          <p:nvPr/>
        </p:nvSpPr>
        <p:spPr>
          <a:xfrm rot="0">
            <a:off x="48514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03/04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03/04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02/27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02/28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02/29</a:t>
            </a:r>
            <a:br/>
          </a:p>
        </p:txBody>
      </p:sp>
      <p:sp>
        <p:nvSpPr>
          <p:cNvPr id="637834552" name="Text">
    </p:cNvPr>
          <p:cNvSpPr>
            <a:spLocks noGrp="1"/>
          </p:cNvSpPr>
          <p:nvPr/>
        </p:nvSpPr>
        <p:spPr>
          <a:xfrm rot="0">
            <a:off x="4114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02/27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02/27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02/26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02/27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02/29</a:t>
            </a:r>
            <a:br/>
          </a:p>
        </p:txBody>
      </p:sp>
      <p:sp>
        <p:nvSpPr>
          <p:cNvPr id="2144047328" name="Text">
    </p:cNvPr>
          <p:cNvSpPr>
            <a:spLocks noGrp="1"/>
          </p:cNvSpPr>
          <p:nvPr/>
        </p:nvSpPr>
        <p:spPr>
          <a:xfrm rot="0">
            <a:off x="6604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713537147" name="Text">
    </p:cNvPr>
          <p:cNvSpPr>
            <a:spLocks noGrp="1"/>
          </p:cNvSpPr>
          <p:nvPr/>
        </p:nvSpPr>
        <p:spPr>
          <a:xfrm rot="0">
            <a:off x="58801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365688700" name="Text">
    </p:cNvPr>
          <p:cNvSpPr>
            <a:spLocks noGrp="1"/>
          </p:cNvSpPr>
          <p:nvPr/>
        </p:nvSpPr>
        <p:spPr>
          <a:xfrm rot="0">
            <a:off x="9702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03/29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03/29</a:t>
            </a:r>
            <a:br/>
            <a:br/>
          </a:p>
        </p:txBody>
      </p:sp>
      <p:sp>
        <p:nvSpPr>
          <p:cNvPr id="1397302077" name="Text">
    </p:cNvPr>
          <p:cNvSpPr>
            <a:spLocks noGrp="1"/>
          </p:cNvSpPr>
          <p:nvPr/>
        </p:nvSpPr>
        <p:spPr>
          <a:xfrm rot="0">
            <a:off x="93345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12/14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02/26</a:t>
            </a:r>
            <a:br/>
            <a:br/>
          </a:p>
        </p:txBody>
      </p:sp>
      <p:sp>
        <p:nvSpPr>
          <p:cNvPr id="1881601316" name="Text">
    </p:cNvPr>
          <p:cNvSpPr>
            <a:spLocks noGrp="1"/>
          </p:cNvSpPr>
          <p:nvPr/>
        </p:nvSpPr>
        <p:spPr>
          <a:xfrm rot="0">
            <a:off x="5930900" y="37719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자산취득 장기 미정산 누락 방지를 위한 시스템 개선* WBS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요소 약정 관리를 위한 PR생성, 삭제 RFC Function 개발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사고 복구 비용 집계를 위한 IT 시스템 개선 요청* 월별 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고복구비 집계조회 리포트 개발</a:t>
            </a:r>
          </a:p>
        </p:txBody>
      </p:sp>
      <p:sp>
        <p:nvSpPr>
          <p:cNvPr id="41255427" name="Text">
    </p:cNvPr>
          <p:cNvSpPr>
            <a:spLocks noGrp="1"/>
          </p:cNvSpPr>
          <p:nvPr/>
        </p:nvSpPr>
        <p:spPr>
          <a:xfrm rot="0">
            <a:off x="53086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MM/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공장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오승룡</a:t>
            </a:r>
          </a:p>
        </p:txBody>
      </p:sp>
      <p:sp>
        <p:nvSpPr>
          <p:cNvPr id="1711263248" name="Text">
    </p:cNvPr>
          <p:cNvSpPr>
            <a:spLocks noGrp="1"/>
          </p:cNvSpPr>
          <p:nvPr/>
        </p:nvSpPr>
        <p:spPr>
          <a:xfrm rot="0">
            <a:off x="889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MM/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공장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오승룡</a:t>
            </a:r>
          </a:p>
        </p:txBody>
      </p:sp>
      <p:sp>
        <p:nvSpPr>
          <p:cNvPr id="2142587225" name="Text">
    </p:cNvPr>
          <p:cNvSpPr>
            <a:spLocks noGrp="1"/>
          </p:cNvSpPr>
          <p:nvPr/>
        </p:nvSpPr>
        <p:spPr>
          <a:xfrm rot="0">
            <a:off x="711200" y="37719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자산취득 장기 미정산 누락 방지를 위한 시스템 개선* WBS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요소 약정 관리를 위한 PR생성, 삭제 RFC Function 개발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사고 복구 비용 집계를 위한 IT 시스템 개선 요청* 월별 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고복구비 집계조회 리포트 개발</a:t>
            </a:r>
          </a:p>
        </p:txBody>
      </p:sp>
      <p:sp>
        <p:nvSpPr>
          <p:cNvPr id="947719262" name="Text">
    </p:cNvPr>
          <p:cNvSpPr>
            <a:spLocks noGrp="1"/>
          </p:cNvSpPr>
          <p:nvPr/>
        </p:nvSpPr>
        <p:spPr>
          <a:xfrm rot="0">
            <a:off x="44831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03/29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03/29</a:t>
            </a:r>
            <a:br/>
            <a:br/>
          </a:p>
        </p:txBody>
      </p:sp>
      <p:sp>
        <p:nvSpPr>
          <p:cNvPr id="381084872" name="Text">
    </p:cNvPr>
          <p:cNvSpPr>
            <a:spLocks noGrp="1"/>
          </p:cNvSpPr>
          <p:nvPr/>
        </p:nvSpPr>
        <p:spPr>
          <a:xfrm rot="0">
            <a:off x="48514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80%</a:t>
            </a:r>
            <a:br/>
            <a:br/>
          </a:p>
        </p:txBody>
      </p:sp>
      <p:sp>
        <p:nvSpPr>
          <p:cNvPr id="220342080" name="Text">
    </p:cNvPr>
          <p:cNvSpPr>
            <a:spLocks noGrp="1"/>
          </p:cNvSpPr>
          <p:nvPr/>
        </p:nvSpPr>
        <p:spPr>
          <a:xfrm rot="0">
            <a:off x="4114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12/14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02/26</a:t>
            </a:r>
            <a:br/>
            <a:br/>
          </a:p>
        </p:txBody>
      </p:sp>
      <p:sp>
        <p:nvSpPr>
          <p:cNvPr id="1485330492" name="Text">
    </p:cNvPr>
          <p:cNvSpPr>
            <a:spLocks noGrp="1"/>
          </p:cNvSpPr>
          <p:nvPr/>
        </p:nvSpPr>
        <p:spPr>
          <a:xfrm rot="0">
            <a:off x="6604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47304591" name="Text">
    </p:cNvPr>
          <p:cNvSpPr>
            <a:spLocks noGrp="1"/>
          </p:cNvSpPr>
          <p:nvPr/>
        </p:nvSpPr>
        <p:spPr>
          <a:xfrm rot="0">
            <a:off x="58801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9099032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450352683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18702551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666657064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50075855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5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570" b="1">
                <a:latin typeface="맑은 고딕"/>
                <a:ea typeface="맑은 고딕"/>
                <a:cs typeface="맑은 고딕"/>
              </a:rPr>
              <a:t>3. 주간업무 실적 및 계획(①Baynex - ERP)</a:t>
            </a:r>
          </a:p>
        </p:txBody>
      </p:sp>
      <p:sp>
        <p:nvSpPr>
          <p:cNvPr id="650047541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002311884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2135917490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496490228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283039787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26542616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81506888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668529745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640774779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987299206" name="Text">
    </p:cNvPr>
          <p:cNvSpPr>
            <a:spLocks noGrp="1"/>
          </p:cNvSpPr>
          <p:nvPr/>
        </p:nvSpPr>
        <p:spPr>
          <a:xfrm rot="0">
            <a:off x="9702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03/05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03/15</a:t>
            </a:r>
            <a:br/>
            <a:br/>
          </a:p>
        </p:txBody>
      </p:sp>
      <p:sp>
        <p:nvSpPr>
          <p:cNvPr id="795042546" name="Text">
    </p:cNvPr>
          <p:cNvSpPr>
            <a:spLocks noGrp="1"/>
          </p:cNvSpPr>
          <p:nvPr/>
        </p:nvSpPr>
        <p:spPr>
          <a:xfrm rot="0">
            <a:off x="93345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03/04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03/04</a:t>
            </a:r>
            <a:br/>
            <a:br/>
          </a:p>
        </p:txBody>
      </p:sp>
      <p:sp>
        <p:nvSpPr>
          <p:cNvPr id="1333358899" name="Text">
    </p:cNvPr>
          <p:cNvSpPr>
            <a:spLocks noGrp="1"/>
          </p:cNvSpPr>
          <p:nvPr/>
        </p:nvSpPr>
        <p:spPr>
          <a:xfrm rot="0">
            <a:off x="5930900" y="15113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연차(1년 미만 입사자) 발생 로직 오류 분석 및 수정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ITSM-107989	인사정보 요청서 개발 요청 건업무 및 소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스 분석</a:t>
            </a:r>
          </a:p>
        </p:txBody>
      </p:sp>
      <p:sp>
        <p:nvSpPr>
          <p:cNvPr id="1651925005" name="Text">
    </p:cNvPr>
          <p:cNvSpPr>
            <a:spLocks noGrp="1"/>
          </p:cNvSpPr>
          <p:nvPr/>
        </p:nvSpPr>
        <p:spPr>
          <a:xfrm rot="0">
            <a:off x="53086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HR/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HCM/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Fiori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이상엽</a:t>
            </a:r>
          </a:p>
        </p:txBody>
      </p:sp>
      <p:sp>
        <p:nvSpPr>
          <p:cNvPr id="173134898" name="Text">
    </p:cNvPr>
          <p:cNvSpPr>
            <a:spLocks noGrp="1"/>
          </p:cNvSpPr>
          <p:nvPr/>
        </p:nvSpPr>
        <p:spPr>
          <a:xfrm rot="0">
            <a:off x="889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HR/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HCM/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Fiori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이상엽</a:t>
            </a:r>
          </a:p>
        </p:txBody>
      </p:sp>
      <p:sp>
        <p:nvSpPr>
          <p:cNvPr id="1049711480" name="Text">
    </p:cNvPr>
          <p:cNvSpPr>
            <a:spLocks noGrp="1"/>
          </p:cNvSpPr>
          <p:nvPr/>
        </p:nvSpPr>
        <p:spPr>
          <a:xfrm rot="0">
            <a:off x="711200" y="15113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ITSM-107758 HCM - HR 결재함 메뉴 일부 삭제(숨김) 요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업무인수 : 근태와 출입관리시스템 자동연동 업무설명 및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소스분석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ITSM-107892 HCM 휘하 직원 평가결과 조회 화면 소스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변경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업무인수 :  인사정보 요청서 개발 요청(개발진행중인 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으로 소스 및 진행과정 설명)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연차(1년 미만 입사자) 발생 로직 오류 분석 및 수정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[Fiori] 평가관리: 평가결과조회화면에서 면담결과 필드 조회조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건 변경(지사장 저유소장 제외)</a:t>
            </a:r>
          </a:p>
        </p:txBody>
      </p:sp>
      <p:sp>
        <p:nvSpPr>
          <p:cNvPr id="979721584" name="Text">
    </p:cNvPr>
          <p:cNvSpPr>
            <a:spLocks noGrp="1"/>
          </p:cNvSpPr>
          <p:nvPr/>
        </p:nvSpPr>
        <p:spPr>
          <a:xfrm rot="0">
            <a:off x="44831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02/26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02/26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02/27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02/28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02/29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02/29</a:t>
            </a:r>
            <a:br/>
            <a:br/>
          </a:p>
        </p:txBody>
      </p:sp>
      <p:sp>
        <p:nvSpPr>
          <p:cNvPr id="1807889465" name="Text">
    </p:cNvPr>
          <p:cNvSpPr>
            <a:spLocks noGrp="1"/>
          </p:cNvSpPr>
          <p:nvPr/>
        </p:nvSpPr>
        <p:spPr>
          <a:xfrm rot="0">
            <a:off x="48514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02/26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02/26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02/27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02/28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50%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02/29</a:t>
            </a:r>
            <a:br/>
            <a:br/>
          </a:p>
        </p:txBody>
      </p:sp>
      <p:sp>
        <p:nvSpPr>
          <p:cNvPr id="1874234679" name="Text">
    </p:cNvPr>
          <p:cNvSpPr>
            <a:spLocks noGrp="1"/>
          </p:cNvSpPr>
          <p:nvPr/>
        </p:nvSpPr>
        <p:spPr>
          <a:xfrm rot="0">
            <a:off x="4114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02/26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02/26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02/27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02/28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02/29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02/29</a:t>
            </a:r>
            <a:br/>
            <a:br/>
          </a:p>
        </p:txBody>
      </p:sp>
      <p:sp>
        <p:nvSpPr>
          <p:cNvPr id="1535641898" name="Text">
    </p:cNvPr>
          <p:cNvSpPr>
            <a:spLocks noGrp="1"/>
          </p:cNvSpPr>
          <p:nvPr/>
        </p:nvSpPr>
        <p:spPr>
          <a:xfrm rot="0">
            <a:off x="6604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268138486" name="Text">
    </p:cNvPr>
          <p:cNvSpPr>
            <a:spLocks noGrp="1"/>
          </p:cNvSpPr>
          <p:nvPr/>
        </p:nvSpPr>
        <p:spPr>
          <a:xfrm rot="0">
            <a:off x="58801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831510337" name="Text">
    </p:cNvPr>
          <p:cNvSpPr>
            <a:spLocks noGrp="1"/>
          </p:cNvSpPr>
          <p:nvPr/>
        </p:nvSpPr>
        <p:spPr>
          <a:xfrm rot="0">
            <a:off x="9702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02/23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04/30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03/29</a:t>
            </a:r>
            <a:br/>
            <a:br/>
          </a:p>
        </p:txBody>
      </p:sp>
      <p:sp>
        <p:nvSpPr>
          <p:cNvPr id="1779121010" name="Text">
    </p:cNvPr>
          <p:cNvSpPr>
            <a:spLocks noGrp="1"/>
          </p:cNvSpPr>
          <p:nvPr/>
        </p:nvSpPr>
        <p:spPr>
          <a:xfrm rot="0">
            <a:off x="93345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02/19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02/14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02/14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09/06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12/18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02/26</a:t>
            </a:r>
            <a:br/>
            <a:br/>
          </a:p>
        </p:txBody>
      </p:sp>
      <p:sp>
        <p:nvSpPr>
          <p:cNvPr id="1901178432" name="Text">
    </p:cNvPr>
          <p:cNvSpPr>
            <a:spLocks noGrp="1"/>
          </p:cNvSpPr>
          <p:nvPr/>
        </p:nvSpPr>
        <p:spPr>
          <a:xfrm rot="0">
            <a:off x="5930900" y="37719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HCM 문의응대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근로소득 원천징수명세서 내 국외소득 합산 오류 개선 요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 생산직 평가 대상자 정보 수정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퇴직연금 운용방식 변경 신청서 개발 - PDF 개발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생리휴가 매월 쿼터 자동 발생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 해외출장시 국내/해외출장 기간 CP 사원검색의 상태란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반영 요청</a:t>
            </a:r>
          </a:p>
        </p:txBody>
      </p:sp>
      <p:sp>
        <p:nvSpPr>
          <p:cNvPr id="137484397" name="Text">
    </p:cNvPr>
          <p:cNvSpPr>
            <a:spLocks noGrp="1"/>
          </p:cNvSpPr>
          <p:nvPr/>
        </p:nvSpPr>
        <p:spPr>
          <a:xfrm rot="0">
            <a:off x="53086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HR/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HCM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최연화</a:t>
            </a:r>
          </a:p>
        </p:txBody>
      </p:sp>
      <p:sp>
        <p:nvSpPr>
          <p:cNvPr id="1196110837" name="Text">
    </p:cNvPr>
          <p:cNvSpPr>
            <a:spLocks noGrp="1"/>
          </p:cNvSpPr>
          <p:nvPr/>
        </p:nvSpPr>
        <p:spPr>
          <a:xfrm rot="0">
            <a:off x="889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HR/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HCM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최연화</a:t>
            </a:r>
          </a:p>
        </p:txBody>
      </p:sp>
      <p:sp>
        <p:nvSpPr>
          <p:cNvPr id="1957183685" name="Text">
    </p:cNvPr>
          <p:cNvSpPr>
            <a:spLocks noGrp="1"/>
          </p:cNvSpPr>
          <p:nvPr/>
        </p:nvSpPr>
        <p:spPr>
          <a:xfrm rot="0">
            <a:off x="711200" y="37719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HCM 문의응대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생리휴가 매월 쿼터 자동 발생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 해외출장시 국내/해외출장 기간 CP 사원검색의 상태란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반영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정보처리 인수인계 - 인사정보 요청서 개발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mss 평가결과 조회시 정렬조건 개선</a:t>
            </a:r>
          </a:p>
        </p:txBody>
      </p:sp>
      <p:sp>
        <p:nvSpPr>
          <p:cNvPr id="150455230" name="Text">
    </p:cNvPr>
          <p:cNvSpPr>
            <a:spLocks noGrp="1"/>
          </p:cNvSpPr>
          <p:nvPr/>
        </p:nvSpPr>
        <p:spPr>
          <a:xfrm rot="0">
            <a:off x="44831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03/29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03/29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02/28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03/29</a:t>
            </a:r>
            <a:br/>
          </a:p>
        </p:txBody>
      </p:sp>
      <p:sp>
        <p:nvSpPr>
          <p:cNvPr id="243499133" name="Text">
    </p:cNvPr>
          <p:cNvSpPr>
            <a:spLocks noGrp="1"/>
          </p:cNvSpPr>
          <p:nvPr/>
        </p:nvSpPr>
        <p:spPr>
          <a:xfrm rot="0">
            <a:off x="48514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100%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50%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70%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100%</a:t>
            </a:r>
            <a:br/>
          </a:p>
        </p:txBody>
      </p:sp>
      <p:sp>
        <p:nvSpPr>
          <p:cNvPr id="273276611" name="Text">
    </p:cNvPr>
          <p:cNvSpPr>
            <a:spLocks noGrp="1"/>
          </p:cNvSpPr>
          <p:nvPr/>
        </p:nvSpPr>
        <p:spPr>
          <a:xfrm rot="0">
            <a:off x="4114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02/07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12/18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02/26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02/28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02/28</a:t>
            </a:r>
            <a:br/>
          </a:p>
        </p:txBody>
      </p:sp>
      <p:sp>
        <p:nvSpPr>
          <p:cNvPr id="651233895" name="Text">
    </p:cNvPr>
          <p:cNvSpPr>
            <a:spLocks noGrp="1"/>
          </p:cNvSpPr>
          <p:nvPr/>
        </p:nvSpPr>
        <p:spPr>
          <a:xfrm rot="0">
            <a:off x="6604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277727024" name="Text">
    </p:cNvPr>
          <p:cNvSpPr>
            <a:spLocks noGrp="1"/>
          </p:cNvSpPr>
          <p:nvPr/>
        </p:nvSpPr>
        <p:spPr>
          <a:xfrm rot="0">
            <a:off x="58801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86228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560167522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918042024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211288725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1997895871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5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570" b="1">
                <a:latin typeface="맑은 고딕"/>
                <a:ea typeface="맑은 고딕"/>
                <a:cs typeface="맑은 고딕"/>
              </a:rPr>
              <a:t>3. 주간업무 실적 및 계획(①Baynex - ERP)</a:t>
            </a:r>
          </a:p>
        </p:txBody>
      </p:sp>
      <p:sp>
        <p:nvSpPr>
          <p:cNvPr id="1499922283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009579088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886180842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744528856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108583576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432424702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261297065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654702552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2020450500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396172929" name="Text">
    </p:cNvPr>
          <p:cNvSpPr>
            <a:spLocks noGrp="1"/>
          </p:cNvSpPr>
          <p:nvPr/>
        </p:nvSpPr>
        <p:spPr>
          <a:xfrm rot="0">
            <a:off x="9702800" y="1511300"/>
            <a:ext cx="368300" cy="3035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03/29</a:t>
            </a:r>
            <a:br/>
            <a:br/>
            <a:br/>
            <a:br/>
            <a:br/>
            <a:br/>
            <a:br/>
            <a:br/>
            <a:br/>
            <a:br/>
          </a:p>
        </p:txBody>
      </p:sp>
      <p:sp>
        <p:nvSpPr>
          <p:cNvPr id="1152296725" name="Text">
    </p:cNvPr>
          <p:cNvSpPr>
            <a:spLocks noGrp="1"/>
          </p:cNvSpPr>
          <p:nvPr/>
        </p:nvSpPr>
        <p:spPr>
          <a:xfrm rot="0">
            <a:off x="9334500" y="1511300"/>
            <a:ext cx="368300" cy="3035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02/19</a:t>
            </a:r>
            <a:br/>
            <a:br/>
            <a:br/>
            <a:br/>
            <a:br/>
            <a:br/>
            <a:br/>
            <a:br/>
            <a:br/>
            <a:br/>
          </a:p>
        </p:txBody>
      </p:sp>
      <p:sp>
        <p:nvSpPr>
          <p:cNvPr id="1276978031" name="Text">
    </p:cNvPr>
          <p:cNvSpPr>
            <a:spLocks noGrp="1"/>
          </p:cNvSpPr>
          <p:nvPr/>
        </p:nvSpPr>
        <p:spPr>
          <a:xfrm rot="0">
            <a:off x="5930900" y="1511300"/>
            <a:ext cx="3403600" cy="30353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[SD] ITSM-107407자영대리점 거래처 관리업무 간소화 추진(1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차)02/201. ZSDR1040/ZSDR1040N/ZSDR1041 라디오버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튼 추가 및 SELECT 후 KRX필터링 로직추가2. ZSDR5212/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ZSDR5212N/ZSDR5213 용도 선택조건 추가 및 용도가 KRX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인경우 빌링취소차단 (남해화학만 예외)3. ZSDR5680/ZSDR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5680A/ZSDR5682/ZSDR5682 ABRVW필드 이미 있어 사용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-&gt;용도로 이름변경4. 확인하였으나 하드코딩되어있는 부분은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ZSDR1230 C_VTWEG '30' 이외에 없음02/211. ZSD_RFC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_EWEB_SO_EXECUTE KRX 하드코딩 주석처리2. ZSDR123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0_TOP VTWEG 30-&gt;20 변경</a:t>
            </a:r>
          </a:p>
        </p:txBody>
      </p:sp>
      <p:sp>
        <p:nvSpPr>
          <p:cNvPr id="1499709864" name="Text">
    </p:cNvPr>
          <p:cNvSpPr>
            <a:spLocks noGrp="1"/>
          </p:cNvSpPr>
          <p:nvPr/>
        </p:nvSpPr>
        <p:spPr>
          <a:xfrm rot="0">
            <a:off x="5308600" y="1511300"/>
            <a:ext cx="571500" cy="3035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TD/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SD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최진우</a:t>
            </a:r>
          </a:p>
        </p:txBody>
      </p:sp>
      <p:sp>
        <p:nvSpPr>
          <p:cNvPr id="897341925" name="Text">
    </p:cNvPr>
          <p:cNvSpPr>
            <a:spLocks noGrp="1"/>
          </p:cNvSpPr>
          <p:nvPr/>
        </p:nvSpPr>
        <p:spPr>
          <a:xfrm rot="0">
            <a:off x="88900" y="1511300"/>
            <a:ext cx="571500" cy="3035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TD/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SD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최진우</a:t>
            </a:r>
          </a:p>
        </p:txBody>
      </p:sp>
      <p:sp>
        <p:nvSpPr>
          <p:cNvPr id="81512016" name="Text">
    </p:cNvPr>
          <p:cNvSpPr>
            <a:spLocks noGrp="1"/>
          </p:cNvSpPr>
          <p:nvPr/>
        </p:nvSpPr>
        <p:spPr>
          <a:xfrm rot="0">
            <a:off x="711200" y="1511300"/>
            <a:ext cx="3403600" cy="30353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[SD] ITSM-107407자영대리점 거래처 관리업무 간소화 추진(1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차)02/201. ZSDR1040/ZSDR1040N/ZSDR1041 라디오버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튼 추가 및 SELECT 후 KRX필터링 로직추가2. ZSDR5212/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ZSDR5212N/ZSDR5213 용도 선택조건 추가 및 용도가 KRX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인경우 빌링취소차단 (남해화학만 예외)3. ZSDR5680/ZSDR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5680A/ZSDR5682/ZSDR5682 ABRVW필드 이미 있어 사용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-&gt;용도로 이름변경4. 확인하였으나 하드코딩되어있는 부분은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ZSDR1230 C_VTWEG '30' 이외에 없음02/211. ZSD_RFC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_EWEB_SO_EXECUTE KRX 하드코딩 주석처리2. ZSDR123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0_TOP VTWEG 30-&gt;20 변경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[SD] ITSM-107604단기여신 사용 중단 후 구매자금 등록 시 단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기여신 마감 반영시점을 단기여신 효력종료일로 적용요청02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/26 1. 구매자금 사용여부 SELECT 기준을 삭제여부-&gt;한도약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정일,만기일 변경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[SD]  ITSM-107905매입원장 표기 오류 수정 1. 누락 데이터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하드코딩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[TD] ITSM-107920출하전표 비고란 텍스트 오류 수정 요청 1.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PDF S/R시 스마트폼 신규생성 및 분기로직 추가</a:t>
            </a:r>
          </a:p>
        </p:txBody>
      </p:sp>
      <p:sp>
        <p:nvSpPr>
          <p:cNvPr id="561552383" name="Text">
    </p:cNvPr>
          <p:cNvSpPr>
            <a:spLocks noGrp="1"/>
          </p:cNvSpPr>
          <p:nvPr/>
        </p:nvSpPr>
        <p:spPr>
          <a:xfrm rot="0">
            <a:off x="4483100" y="1511300"/>
            <a:ext cx="368300" cy="3035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03/29</a:t>
            </a:r>
            <a:br/>
            <a:br/>
            <a:br/>
            <a:br/>
            <a:br/>
            <a:br/>
            <a:br/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03/28</a:t>
            </a:r>
            <a:br/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03/29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03/28</a:t>
            </a:r>
            <a:br/>
            <a:br/>
          </a:p>
        </p:txBody>
      </p:sp>
      <p:sp>
        <p:nvSpPr>
          <p:cNvPr id="1716609273" name="Text">
    </p:cNvPr>
          <p:cNvSpPr>
            <a:spLocks noGrp="1"/>
          </p:cNvSpPr>
          <p:nvPr/>
        </p:nvSpPr>
        <p:spPr>
          <a:xfrm rot="0">
            <a:off x="4851400" y="1511300"/>
            <a:ext cx="368300" cy="3035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  <a:br/>
            <a:br/>
            <a:br/>
            <a:br/>
            <a:br/>
            <a:br/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02/26</a:t>
            </a:r>
            <a:br/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02/27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02/28</a:t>
            </a:r>
            <a:br/>
            <a:br/>
          </a:p>
        </p:txBody>
      </p:sp>
      <p:sp>
        <p:nvSpPr>
          <p:cNvPr id="825605799" name="Text">
    </p:cNvPr>
          <p:cNvSpPr>
            <a:spLocks noGrp="1"/>
          </p:cNvSpPr>
          <p:nvPr/>
        </p:nvSpPr>
        <p:spPr>
          <a:xfrm rot="0">
            <a:off x="4114800" y="1511300"/>
            <a:ext cx="368300" cy="3035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02/19</a:t>
            </a:r>
            <a:br/>
            <a:br/>
            <a:br/>
            <a:br/>
            <a:br/>
            <a:br/>
            <a:br/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02/26</a:t>
            </a:r>
            <a:br/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02/27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02/28</a:t>
            </a:r>
            <a:br/>
            <a:br/>
          </a:p>
        </p:txBody>
      </p:sp>
      <p:sp>
        <p:nvSpPr>
          <p:cNvPr id="1795561367" name="Text">
    </p:cNvPr>
          <p:cNvSpPr>
            <a:spLocks noGrp="1"/>
          </p:cNvSpPr>
          <p:nvPr/>
        </p:nvSpPr>
        <p:spPr>
          <a:xfrm rot="0">
            <a:off x="660400" y="1511300"/>
            <a:ext cx="3454400" cy="3035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247778923" name="Text">
    </p:cNvPr>
          <p:cNvSpPr>
            <a:spLocks noGrp="1"/>
          </p:cNvSpPr>
          <p:nvPr/>
        </p:nvSpPr>
        <p:spPr>
          <a:xfrm rot="0">
            <a:off x="5880100" y="1511300"/>
            <a:ext cx="3454400" cy="3035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BF0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>
  <Application>JasperReports Library version 6.20.0-2bc7ab61c56f459e8176eb05c7705e145cd400ad</Application>
</Properties>
</file>

<file path=docProps/core.xml><?xml version="1.0" encoding="utf-8"?>
<coreProperties xmlns="http://schemas.openxmlformats.org/package/2006/metadata/core-properties" xmlns:cp="http://schemas.openxmlformats.org/package/2006/metadata/core-properties" xmlns:dc="http://purl.org/dc/elements/1.1/" xmlns:dcterms="http://purl.org/dc/terms/" xmlns:xsi="http://www.w3.org/2001/XMLSchema-instance">
</coreProperties>
</file>