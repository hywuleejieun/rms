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878961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47210012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4946003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6679157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001913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230451576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28181725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689535704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250730761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17466886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089778643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11193489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10695901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85464750" name="Frame"/>
          <p:cNvSpPr>
            <a:spLocks noGrp="1"/>
          </p:cNvSpPr>
          <p:nvPr/>
        </p:nvSpPr>
        <p:spPr>
          <a:xfrm>
            <a:off x="25400" y="53721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198145034" name="Text">
    </p:cNvPr>
          <p:cNvSpPr>
            <a:spLocks noGrp="1"/>
          </p:cNvSpPr>
          <p:nvPr/>
        </p:nvSpPr>
        <p:spPr>
          <a:xfrm rot="0">
            <a:off x="152400" y="53975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143328595" name="Text">
    </p:cNvPr>
          <p:cNvSpPr>
            <a:spLocks noGrp="1"/>
          </p:cNvSpPr>
          <p:nvPr/>
        </p:nvSpPr>
        <p:spPr>
          <a:xfrm rot="0">
            <a:off x="6451600" y="59309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3805047" name="Text">
    </p:cNvPr>
          <p:cNvSpPr>
            <a:spLocks noGrp="1"/>
          </p:cNvSpPr>
          <p:nvPr/>
        </p:nvSpPr>
        <p:spPr>
          <a:xfrm rot="0">
            <a:off x="2057400" y="59309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7491225" name="Text">
    </p:cNvPr>
          <p:cNvSpPr>
            <a:spLocks noGrp="1"/>
          </p:cNvSpPr>
          <p:nvPr/>
        </p:nvSpPr>
        <p:spPr>
          <a:xfrm rot="0">
            <a:off x="101600" y="59309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58730512" name="Text">
    </p:cNvPr>
          <p:cNvSpPr>
            <a:spLocks noGrp="1"/>
          </p:cNvSpPr>
          <p:nvPr/>
        </p:nvSpPr>
        <p:spPr>
          <a:xfrm rot="0">
            <a:off x="101600" y="56896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2136265144" name="Text">
    </p:cNvPr>
          <p:cNvSpPr>
            <a:spLocks noGrp="1"/>
          </p:cNvSpPr>
          <p:nvPr/>
        </p:nvSpPr>
        <p:spPr>
          <a:xfrm rot="0">
            <a:off x="2057400" y="56896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361580560" name="Text">
    </p:cNvPr>
          <p:cNvSpPr>
            <a:spLocks noGrp="1"/>
          </p:cNvSpPr>
          <p:nvPr/>
        </p:nvSpPr>
        <p:spPr>
          <a:xfrm rot="0">
            <a:off x="6451600" y="56896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2138187855" name="Text">
    </p:cNvPr>
          <p:cNvSpPr>
            <a:spLocks noGrp="1"/>
          </p:cNvSpPr>
          <p:nvPr/>
        </p:nvSpPr>
        <p:spPr>
          <a:xfrm rot="0">
            <a:off x="101600" y="62230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91375098" name="Text">
    </p:cNvPr>
          <p:cNvSpPr>
            <a:spLocks noGrp="1"/>
          </p:cNvSpPr>
          <p:nvPr/>
        </p:nvSpPr>
        <p:spPr>
          <a:xfrm rot="0">
            <a:off x="6451600" y="62230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28686281" name="Text">
    </p:cNvPr>
          <p:cNvSpPr>
            <a:spLocks noGrp="1"/>
          </p:cNvSpPr>
          <p:nvPr/>
        </p:nvSpPr>
        <p:spPr>
          <a:xfrm rot="0">
            <a:off x="2057400" y="62230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22145211" name="Text">
    </p:cNvPr>
          <p:cNvSpPr>
            <a:spLocks noGrp="1"/>
          </p:cNvSpPr>
          <p:nvPr/>
        </p:nvSpPr>
        <p:spPr>
          <a:xfrm rot="0">
            <a:off x="1244600" y="62230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2190072" name="Text">
    </p:cNvPr>
          <p:cNvSpPr>
            <a:spLocks noGrp="1"/>
          </p:cNvSpPr>
          <p:nvPr/>
        </p:nvSpPr>
        <p:spPr>
          <a:xfrm rot="0">
            <a:off x="1244600" y="59309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43943936" name="Text">
    </p:cNvPr>
          <p:cNvSpPr>
            <a:spLocks noGrp="1"/>
          </p:cNvSpPr>
          <p:nvPr/>
        </p:nvSpPr>
        <p:spPr>
          <a:xfrm rot="0">
            <a:off x="1244600" y="56896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933740612" name="Text">
    </p:cNvPr>
          <p:cNvSpPr>
            <a:spLocks noGrp="1"/>
          </p:cNvSpPr>
          <p:nvPr/>
        </p:nvSpPr>
        <p:spPr>
          <a:xfrm rot="0">
            <a:off x="8102600" y="62230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36203228" name="Text">
    </p:cNvPr>
          <p:cNvSpPr>
            <a:spLocks noGrp="1"/>
          </p:cNvSpPr>
          <p:nvPr/>
        </p:nvSpPr>
        <p:spPr>
          <a:xfrm rot="0">
            <a:off x="8102600" y="56896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849945266" name="Text">
    </p:cNvPr>
          <p:cNvSpPr>
            <a:spLocks noGrp="1"/>
          </p:cNvSpPr>
          <p:nvPr/>
        </p:nvSpPr>
        <p:spPr>
          <a:xfrm rot="0">
            <a:off x="8102600" y="59309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2103278" name="Frame"/>
          <p:cNvSpPr>
            <a:spLocks noGrp="1"/>
          </p:cNvSpPr>
          <p:nvPr/>
        </p:nvSpPr>
        <p:spPr>
          <a:xfrm>
            <a:off x="101600" y="3111500"/>
            <a:ext cx="9779000" cy="209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809042196" name="Text">
    </p:cNvPr>
          <p:cNvSpPr>
            <a:spLocks noGrp="1"/>
          </p:cNvSpPr>
          <p:nvPr/>
        </p:nvSpPr>
        <p:spPr>
          <a:xfrm rot="0">
            <a:off x="165100" y="31750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23419106" name="Text">
    </p:cNvPr>
          <p:cNvSpPr>
            <a:spLocks noGrp="1"/>
          </p:cNvSpPr>
          <p:nvPr/>
        </p:nvSpPr>
        <p:spPr>
          <a:xfrm rot="0">
            <a:off x="152400" y="31369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645327172" name="Text">
    </p:cNvPr>
          <p:cNvSpPr>
            <a:spLocks noGrp="1"/>
          </p:cNvSpPr>
          <p:nvPr/>
        </p:nvSpPr>
        <p:spPr>
          <a:xfrm rot="0">
            <a:off x="165100" y="33909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293518952" name="Text">
    </p:cNvPr>
          <p:cNvSpPr>
            <a:spLocks noGrp="1"/>
          </p:cNvSpPr>
          <p:nvPr/>
        </p:nvSpPr>
        <p:spPr>
          <a:xfrm rot="0">
            <a:off x="901700" y="33909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46303412" name="Text">
    </p:cNvPr>
          <p:cNvSpPr>
            <a:spLocks noGrp="1"/>
          </p:cNvSpPr>
          <p:nvPr/>
        </p:nvSpPr>
        <p:spPr>
          <a:xfrm rot="0">
            <a:off x="5549900" y="33909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475661489" name="Text">
    </p:cNvPr>
          <p:cNvSpPr>
            <a:spLocks noGrp="1"/>
          </p:cNvSpPr>
          <p:nvPr/>
        </p:nvSpPr>
        <p:spPr>
          <a:xfrm rot="0">
            <a:off x="6121400" y="33909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941835757" name="Frame"/>
          <p:cNvSpPr>
            <a:spLocks noGrp="1"/>
          </p:cNvSpPr>
          <p:nvPr/>
        </p:nvSpPr>
        <p:spPr>
          <a:xfrm>
            <a:off x="165100" y="4432300"/>
            <a:ext cx="9664700" cy="7747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927643962" name="Text">
    </p:cNvPr>
          <p:cNvSpPr>
            <a:spLocks noGrp="1"/>
          </p:cNvSpPr>
          <p:nvPr/>
        </p:nvSpPr>
        <p:spPr>
          <a:xfrm rot="0">
            <a:off x="165100" y="4406900"/>
            <a:ext cx="7366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896654339" name="Text">
    </p:cNvPr>
          <p:cNvSpPr>
            <a:spLocks noGrp="1"/>
          </p:cNvSpPr>
          <p:nvPr/>
        </p:nvSpPr>
        <p:spPr>
          <a:xfrm rot="0">
            <a:off x="965200" y="4457700"/>
            <a:ext cx="4584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대주주감사 지적사항 F/up을 위한 시스템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[ERS] 정기적검토 메일링 주기 설정 및 변경 건에 대해 일정 점검 및 운영 반영 지원 예정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(ERS 정기적검토 주기 변경 및 메일 알람 기능 개선)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PRM 영업시설물 지원 시스템 개발</a:t>
            </a:r>
          </a:p>
        </p:txBody>
      </p:sp>
      <p:sp>
        <p:nvSpPr>
          <p:cNvPr id="1027558175" name="Text">
    </p:cNvPr>
          <p:cNvSpPr>
            <a:spLocks noGrp="1"/>
          </p:cNvSpPr>
          <p:nvPr/>
        </p:nvSpPr>
        <p:spPr>
          <a:xfrm rot="0">
            <a:off x="7239000" y="44577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056832050" name="Text">
    </p:cNvPr>
          <p:cNvSpPr>
            <a:spLocks noGrp="1"/>
          </p:cNvSpPr>
          <p:nvPr/>
        </p:nvSpPr>
        <p:spPr>
          <a:xfrm rot="0">
            <a:off x="5549900" y="44577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</a:p>
        </p:txBody>
      </p:sp>
      <p:sp>
        <p:nvSpPr>
          <p:cNvPr id="1625244292" name="Text">
    </p:cNvPr>
          <p:cNvSpPr>
            <a:spLocks noGrp="1"/>
          </p:cNvSpPr>
          <p:nvPr/>
        </p:nvSpPr>
        <p:spPr>
          <a:xfrm rot="0">
            <a:off x="901700" y="4406900"/>
            <a:ext cx="46482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54008098" name="Text">
    </p:cNvPr>
          <p:cNvSpPr>
            <a:spLocks noGrp="1"/>
          </p:cNvSpPr>
          <p:nvPr/>
        </p:nvSpPr>
        <p:spPr>
          <a:xfrm rot="0">
            <a:off x="6121400" y="4406900"/>
            <a:ext cx="36449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61341184" name="Text">
    </p:cNvPr>
          <p:cNvSpPr>
            <a:spLocks noGrp="1"/>
          </p:cNvSpPr>
          <p:nvPr/>
        </p:nvSpPr>
        <p:spPr>
          <a:xfrm rot="0">
            <a:off x="5549900" y="4406900"/>
            <a:ext cx="5715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46941746" name="Frame"/>
          <p:cNvSpPr>
            <a:spLocks noGrp="1"/>
          </p:cNvSpPr>
          <p:nvPr/>
        </p:nvSpPr>
        <p:spPr>
          <a:xfrm>
            <a:off x="165100" y="37338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021385105" name="Text">
    </p:cNvPr>
          <p:cNvSpPr>
            <a:spLocks noGrp="1"/>
          </p:cNvSpPr>
          <p:nvPr/>
        </p:nvSpPr>
        <p:spPr>
          <a:xfrm rot="0">
            <a:off x="165100" y="37338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841426528" name="Text">
    </p:cNvPr>
          <p:cNvSpPr>
            <a:spLocks noGrp="1"/>
          </p:cNvSpPr>
          <p:nvPr/>
        </p:nvSpPr>
        <p:spPr>
          <a:xfrm rot="0">
            <a:off x="965200" y="38100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대주주 감사자료 생성-MRO 자재계정의 상대계정 리스트 테이블 저장(ZFIR7035,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ZFIT7035)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</a:p>
        </p:txBody>
      </p:sp>
      <p:sp>
        <p:nvSpPr>
          <p:cNvPr id="961233186" name="Text">
    </p:cNvPr>
          <p:cNvSpPr>
            <a:spLocks noGrp="1"/>
          </p:cNvSpPr>
          <p:nvPr/>
        </p:nvSpPr>
        <p:spPr>
          <a:xfrm rot="0">
            <a:off x="7239000" y="38100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57293567" name="Text">
    </p:cNvPr>
          <p:cNvSpPr>
            <a:spLocks noGrp="1"/>
          </p:cNvSpPr>
          <p:nvPr/>
        </p:nvSpPr>
        <p:spPr>
          <a:xfrm rot="0">
            <a:off x="5549900" y="38100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</a:p>
        </p:txBody>
      </p:sp>
      <p:sp>
        <p:nvSpPr>
          <p:cNvPr id="782239273" name="Text">
    </p:cNvPr>
          <p:cNvSpPr>
            <a:spLocks noGrp="1"/>
          </p:cNvSpPr>
          <p:nvPr/>
        </p:nvSpPr>
        <p:spPr>
          <a:xfrm rot="0">
            <a:off x="901700" y="37338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33287099" name="Text">
    </p:cNvPr>
          <p:cNvSpPr>
            <a:spLocks noGrp="1"/>
          </p:cNvSpPr>
          <p:nvPr/>
        </p:nvSpPr>
        <p:spPr>
          <a:xfrm rot="0">
            <a:off x="6121400" y="37338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84769663" name="Text">
    </p:cNvPr>
          <p:cNvSpPr>
            <a:spLocks noGrp="1"/>
          </p:cNvSpPr>
          <p:nvPr/>
        </p:nvSpPr>
        <p:spPr>
          <a:xfrm rot="0">
            <a:off x="5549900" y="37338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36439472" name="Frame"/>
          <p:cNvSpPr>
            <a:spLocks noGrp="1"/>
          </p:cNvSpPr>
          <p:nvPr/>
        </p:nvSpPr>
        <p:spPr>
          <a:xfrm>
            <a:off x="127000" y="1384300"/>
            <a:ext cx="9779000" cy="1587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628943394" name="Frame"/>
          <p:cNvSpPr>
            <a:spLocks noGrp="1"/>
          </p:cNvSpPr>
          <p:nvPr/>
        </p:nvSpPr>
        <p:spPr>
          <a:xfrm>
            <a:off x="152400" y="23495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039758162" name="Text">
    </p:cNvPr>
          <p:cNvSpPr>
            <a:spLocks noGrp="1"/>
          </p:cNvSpPr>
          <p:nvPr/>
        </p:nvSpPr>
        <p:spPr>
          <a:xfrm rot="0">
            <a:off x="152400" y="23241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82650700" name="Text">
    </p:cNvPr>
          <p:cNvSpPr>
            <a:spLocks noGrp="1"/>
          </p:cNvSpPr>
          <p:nvPr/>
        </p:nvSpPr>
        <p:spPr>
          <a:xfrm rot="0">
            <a:off x="952500" y="23749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국내 내국수출 거래처 PRM 마스터 등록수정 화면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A360 '#1 회계지급전표 증빙대사' 작업 데이터정리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이러닝 진도율 저장 오류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[HCM] 퇴직연금 운용방식 변경 신청서 개발</a:t>
            </a:r>
          </a:p>
        </p:txBody>
      </p:sp>
      <p:sp>
        <p:nvSpPr>
          <p:cNvPr id="106092882" name="Text">
    </p:cNvPr>
          <p:cNvSpPr>
            <a:spLocks noGrp="1"/>
          </p:cNvSpPr>
          <p:nvPr/>
        </p:nvSpPr>
        <p:spPr>
          <a:xfrm rot="0">
            <a:off x="7226300" y="23749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522060062" name="Text">
    </p:cNvPr>
          <p:cNvSpPr>
            <a:spLocks noGrp="1"/>
          </p:cNvSpPr>
          <p:nvPr/>
        </p:nvSpPr>
        <p:spPr>
          <a:xfrm rot="0">
            <a:off x="6108700" y="23241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741163256" name="Text">
    </p:cNvPr>
          <p:cNvSpPr>
            <a:spLocks noGrp="1"/>
          </p:cNvSpPr>
          <p:nvPr/>
        </p:nvSpPr>
        <p:spPr>
          <a:xfrm rot="0">
            <a:off x="5537200" y="23749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</a:p>
        </p:txBody>
      </p:sp>
      <p:sp>
        <p:nvSpPr>
          <p:cNvPr id="1046932310" name="Text">
    </p:cNvPr>
          <p:cNvSpPr>
            <a:spLocks noGrp="1"/>
          </p:cNvSpPr>
          <p:nvPr/>
        </p:nvSpPr>
        <p:spPr>
          <a:xfrm rot="0">
            <a:off x="889000" y="23241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78976641" name="Text">
    </p:cNvPr>
          <p:cNvSpPr>
            <a:spLocks noGrp="1"/>
          </p:cNvSpPr>
          <p:nvPr/>
        </p:nvSpPr>
        <p:spPr>
          <a:xfrm rot="0">
            <a:off x="7124700" y="23241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40102761" name="Text">
    </p:cNvPr>
          <p:cNvSpPr>
            <a:spLocks noGrp="1"/>
          </p:cNvSpPr>
          <p:nvPr/>
        </p:nvSpPr>
        <p:spPr>
          <a:xfrm rot="0">
            <a:off x="5537200" y="23241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62827603" name="Rectangle"/>
          <p:cNvSpPr>
            <a:spLocks noGrp="1"/>
          </p:cNvSpPr>
          <p:nvPr/>
        </p:nvSpPr>
        <p:spPr>
          <a:xfrm>
            <a:off x="6870700" y="23241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0465729" name="Frame"/>
          <p:cNvSpPr>
            <a:spLocks noGrp="1"/>
          </p:cNvSpPr>
          <p:nvPr/>
        </p:nvSpPr>
        <p:spPr>
          <a:xfrm>
            <a:off x="152400" y="1371600"/>
            <a:ext cx="9639300" cy="952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580292300" name="Text">
    </p:cNvPr>
          <p:cNvSpPr>
            <a:spLocks noGrp="1"/>
          </p:cNvSpPr>
          <p:nvPr/>
        </p:nvSpPr>
        <p:spPr>
          <a:xfrm rot="0">
            <a:off x="152400" y="1371600"/>
            <a:ext cx="7366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29677388" name="Text">
    </p:cNvPr>
          <p:cNvSpPr>
            <a:spLocks noGrp="1"/>
          </p:cNvSpPr>
          <p:nvPr/>
        </p:nvSpPr>
        <p:spPr>
          <a:xfrm rot="0">
            <a:off x="939800" y="1422400"/>
            <a:ext cx="46101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이자.배당 소득 지급명세서(전산매체신고파일) 신고파일 필드 맵핑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중복 생성 오류 해결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단기여신 사용 중단 후 구매자금 등록 시 단기여신 마감 반영시점을 단기여신 효력종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료일로 적용요청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출하전표 비고란 텍스트 오류 수정 요청 *PDF S/R시 스마트폼 신규생성 및 분기로직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추가</a:t>
            </a:r>
          </a:p>
        </p:txBody>
      </p:sp>
      <p:sp>
        <p:nvSpPr>
          <p:cNvPr id="28863279" name="Text">
    </p:cNvPr>
          <p:cNvSpPr>
            <a:spLocks noGrp="1"/>
          </p:cNvSpPr>
          <p:nvPr/>
        </p:nvSpPr>
        <p:spPr>
          <a:xfrm rot="0">
            <a:off x="7226300" y="1447800"/>
            <a:ext cx="2552700" cy="876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635545847" name="Text">
    </p:cNvPr>
          <p:cNvSpPr>
            <a:spLocks noGrp="1"/>
          </p:cNvSpPr>
          <p:nvPr/>
        </p:nvSpPr>
        <p:spPr>
          <a:xfrm rot="0">
            <a:off x="6108700" y="1371600"/>
            <a:ext cx="7620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865575529" name="Text">
    </p:cNvPr>
          <p:cNvSpPr>
            <a:spLocks noGrp="1"/>
          </p:cNvSpPr>
          <p:nvPr/>
        </p:nvSpPr>
        <p:spPr>
          <a:xfrm rot="0">
            <a:off x="5537200" y="1447800"/>
            <a:ext cx="571500" cy="876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</a:p>
        </p:txBody>
      </p:sp>
      <p:sp>
        <p:nvSpPr>
          <p:cNvPr id="1639781519" name="Text">
    </p:cNvPr>
          <p:cNvSpPr>
            <a:spLocks noGrp="1"/>
          </p:cNvSpPr>
          <p:nvPr/>
        </p:nvSpPr>
        <p:spPr>
          <a:xfrm rot="0">
            <a:off x="889000" y="1371600"/>
            <a:ext cx="46482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89232772" name="Text">
    </p:cNvPr>
          <p:cNvSpPr>
            <a:spLocks noGrp="1"/>
          </p:cNvSpPr>
          <p:nvPr/>
        </p:nvSpPr>
        <p:spPr>
          <a:xfrm rot="0">
            <a:off x="7124700" y="1371600"/>
            <a:ext cx="26543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4009088" name="Text">
    </p:cNvPr>
          <p:cNvSpPr>
            <a:spLocks noGrp="1"/>
          </p:cNvSpPr>
          <p:nvPr/>
        </p:nvSpPr>
        <p:spPr>
          <a:xfrm rot="0">
            <a:off x="5537200" y="1371600"/>
            <a:ext cx="5715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5600241" name="Rectangle"/>
          <p:cNvSpPr>
            <a:spLocks noGrp="1"/>
          </p:cNvSpPr>
          <p:nvPr/>
        </p:nvSpPr>
        <p:spPr>
          <a:xfrm>
            <a:off x="6870700" y="1371600"/>
            <a:ext cx="254000" cy="9525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