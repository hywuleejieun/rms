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41392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6148847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4831660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6581352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3039277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39334582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656810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1143107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8620897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6638230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9273866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3361278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3073202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9813019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3745585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</a:p>
        </p:txBody>
      </p:sp>
      <p:sp>
        <p:nvSpPr>
          <p:cNvPr id="170580737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</a:p>
        </p:txBody>
      </p:sp>
      <p:sp>
        <p:nvSpPr>
          <p:cNvPr id="105422001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</a:p>
        </p:txBody>
      </p:sp>
      <p:sp>
        <p:nvSpPr>
          <p:cNvPr id="112919614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76639092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75464942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윤활유첨가제의 저유 Loss 물량이 조정(ZCOR6332)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윤활유첨가제의 저유 Loss 물량이 조정(ZCOR6332)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SPHB(PP 반제품)의 제조수량이 (-)인 경우 제조원가으로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반영되도록 수정(ZCOR6500)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팀리더 경조금 신청서 양식 추가에 대한 복리후생 전표생성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RFC 로직 추가(ZFI_RFC_RECEIVE_POSTING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WBS 조회시 원가요소 고정값 원인 분석(CJI3) </a:t>
            </a:r>
          </a:p>
        </p:txBody>
      </p:sp>
      <p:sp>
        <p:nvSpPr>
          <p:cNvPr id="171510814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141906607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204832980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102121349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260018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708887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90918839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</a:p>
        </p:txBody>
      </p:sp>
      <p:sp>
        <p:nvSpPr>
          <p:cNvPr id="203803009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발주변경 품의 시 계약보증 정보 SAP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</a:p>
        </p:txBody>
      </p:sp>
      <p:sp>
        <p:nvSpPr>
          <p:cNvPr id="86984032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90103760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33647652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발주변경 품의 시 계약보증 정보 SAP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구매건 Plant 번호 변경 요청</a:t>
            </a:r>
          </a:p>
        </p:txBody>
      </p:sp>
      <p:sp>
        <p:nvSpPr>
          <p:cNvPr id="201530268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23697416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</a:p>
        </p:txBody>
      </p:sp>
      <p:sp>
        <p:nvSpPr>
          <p:cNvPr id="6057346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</a:p>
        </p:txBody>
      </p:sp>
      <p:sp>
        <p:nvSpPr>
          <p:cNvPr id="7822703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60316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32867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4807542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7586085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7288651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6211293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65047304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7403621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9421763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7039176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5688058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760847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4656297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934560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7395847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2528055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</a:p>
        </p:txBody>
      </p:sp>
      <p:sp>
        <p:nvSpPr>
          <p:cNvPr id="134434688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</a:p>
        </p:txBody>
      </p:sp>
      <p:sp>
        <p:nvSpPr>
          <p:cNvPr id="143383335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67184728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39659012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32557541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접속 사용자 SAP GUI 접속 문제로 원격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(해외운영팀)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'24년 3월 SAP시스템 인프라 취약점 조치 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 QA테스트서버 System Copy(데이터 동기화)작업</a:t>
            </a:r>
          </a:p>
        </p:txBody>
      </p:sp>
      <p:sp>
        <p:nvSpPr>
          <p:cNvPr id="78704853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03/24</a:t>
            </a:r>
            <a:br/>
          </a:p>
        </p:txBody>
      </p:sp>
      <p:sp>
        <p:nvSpPr>
          <p:cNvPr id="151084816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03/24</a:t>
            </a:r>
            <a:br/>
          </a:p>
        </p:txBody>
      </p:sp>
      <p:sp>
        <p:nvSpPr>
          <p:cNvPr id="144729185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</a:p>
        </p:txBody>
      </p:sp>
      <p:sp>
        <p:nvSpPr>
          <p:cNvPr id="20948811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6492404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8109737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</a:p>
        </p:txBody>
      </p:sp>
      <p:sp>
        <p:nvSpPr>
          <p:cNvPr id="40115509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214295704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 업무 수행(보조 : 이지은 사원)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 프로그래밍:CH2_JSP기본문법 공부하기</a:t>
            </a:r>
          </a:p>
        </p:txBody>
      </p:sp>
      <p:sp>
        <p:nvSpPr>
          <p:cNvPr id="4411354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83279209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86569054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 업무 수행(보조 : 이지은 사원)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한 권으로 끝내는 웹 기본 교과서 : JavaScript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Do it! 자바 완전 정복:자바 개요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 프로그래밍:CH1_JSP기초지식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 프로그래밍:CH2_JSP기본문법 공부하기</a:t>
            </a:r>
          </a:p>
        </p:txBody>
      </p:sp>
      <p:sp>
        <p:nvSpPr>
          <p:cNvPr id="119600971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</a:p>
        </p:txBody>
      </p:sp>
      <p:sp>
        <p:nvSpPr>
          <p:cNvPr id="130171795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173956091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69995924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9956945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75526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7837407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5797901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1134623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3214435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3863600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6570100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7347885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730496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7628993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5258181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1445586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7325562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2604946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9408869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29342377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97912079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02981364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08886844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99337285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예약 마감 로그 저장* User Exit(ZXMBCU08) 예약 마감 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련 로그 저장 로직 추가 </a:t>
            </a:r>
          </a:p>
        </p:txBody>
      </p:sp>
      <p:sp>
        <p:nvSpPr>
          <p:cNvPr id="203669591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123472612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</a:p>
        </p:txBody>
      </p:sp>
      <p:sp>
        <p:nvSpPr>
          <p:cNvPr id="106601720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</a:p>
        </p:txBody>
      </p:sp>
      <p:sp>
        <p:nvSpPr>
          <p:cNvPr id="70439643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8611430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90346830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</a:p>
        </p:txBody>
      </p:sp>
      <p:sp>
        <p:nvSpPr>
          <p:cNvPr id="415979700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</a:p>
        </p:txBody>
      </p:sp>
      <p:sp>
        <p:nvSpPr>
          <p:cNvPr id="1352388517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[ITSM-96411]인사정보 요청서 개발 요청 건 분석</a:t>
            </a:r>
          </a:p>
        </p:txBody>
      </p:sp>
      <p:sp>
        <p:nvSpPr>
          <p:cNvPr id="279754274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948806209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920949896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임원 해외출장 결재 오류 원인조사 외- [ITSM-105485]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파견/계약직 휴가쿼터한도내 휴가사용 체크로직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특근과다알림 메일 발송 조건 문의 응대- ITSM-108858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생산직 신입사원 AD ID 변경- ITSM-108893 HCM 신청서 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재자 변경 요청의 건- 휴가신청서 화면의 근태코드유형추가(예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비군 훈련)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ITSM-108936 신청서 결재자 변경 요청의 건- ITSM-1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08945 특근명령서 삭제- 급여작업지원 : 급여 공제 반영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원인조사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ITSM-108925 기승인 휴가신청서 삭제 요청- ITSM-10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8945 특근명령서 삭제 요청- 급여소급 문의 대응(New Pensio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 소급 관련)- ITSM-108930 HCM&gt;근태조회&gt;단말기 인증시간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조회_ 열제목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공장 중식비 신청업무 추가관련 업무 협의 및 분석- 신입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사원 학력정보 입력오류 외 문의대응</a:t>
            </a:r>
          </a:p>
        </p:txBody>
      </p:sp>
      <p:sp>
        <p:nvSpPr>
          <p:cNvPr id="940344086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1298411411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2048464922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1758171909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72659257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58255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8022664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8518468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9808183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8661599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49172188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7448832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8972843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7874215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88204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7529073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9313165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6724687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472830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0499984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35611756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br/>
          </a:p>
        </p:txBody>
      </p:sp>
      <p:sp>
        <p:nvSpPr>
          <p:cNvPr id="195231707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생리휴가 매월 쿼터 자동 발생 요청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복리후생 중식비 예외신청메뉴 - 프로젝트(공장) 추가 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%</a:t>
            </a:r>
          </a:p>
        </p:txBody>
      </p:sp>
      <p:sp>
        <p:nvSpPr>
          <p:cNvPr id="63499521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55745406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0634531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퇴직연금 운용방식 변경 신청서 및 PDF 추가개선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뉴펜션 메뉴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근로소득 원천징수명세서 내 국외소득 합산 오류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생산직 평가 대상자 정보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OS1급 Ceiling 인상에 따른 급여테이블 정보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임금 유형 생성 - 2건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임원승진자의 퇴직금 계산시, 계산일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임원 승진 전 생성된 생리휴가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변동공제 누락 데이터 이관 요청ㄴ</a:t>
            </a:r>
          </a:p>
        </p:txBody>
      </p:sp>
      <p:sp>
        <p:nvSpPr>
          <p:cNvPr id="49312470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92535062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3/22</a:t>
            </a:r>
            <a:br/>
          </a:p>
        </p:txBody>
      </p:sp>
      <p:sp>
        <p:nvSpPr>
          <p:cNvPr id="14333487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100593920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35160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57373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6366512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9241749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0556358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7151001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3008355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6204680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0303245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165048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9929507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6418426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9799266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7981264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7709582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17688423" name="Text">
    </p:cNvPr>
          <p:cNvSpPr>
            <a:spLocks noGrp="1"/>
          </p:cNvSpPr>
          <p:nvPr/>
        </p:nvSpPr>
        <p:spPr>
          <a:xfrm rot="0">
            <a:off x="9702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656492373" name="Text">
    </p:cNvPr>
          <p:cNvSpPr>
            <a:spLocks noGrp="1"/>
          </p:cNvSpPr>
          <p:nvPr/>
        </p:nvSpPr>
        <p:spPr>
          <a:xfrm rot="0">
            <a:off x="93345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br/>
            <a:br/>
            <a:br/>
            <a:br/>
            <a:br/>
            <a:br/>
          </a:p>
        </p:txBody>
      </p:sp>
      <p:sp>
        <p:nvSpPr>
          <p:cNvPr id="710304476" name="Text">
    </p:cNvPr>
          <p:cNvSpPr>
            <a:spLocks noGrp="1"/>
          </p:cNvSpPr>
          <p:nvPr/>
        </p:nvSpPr>
        <p:spPr>
          <a:xfrm rot="0">
            <a:off x="5930900" y="1511300"/>
            <a:ext cx="3403600" cy="3187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차)02/201. ZSDR1040/ZSDR1040N/ZSDR1041 라디오버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튼 추가 및 SELECT 후 KRX필터링 로직추가2. ZSDR5212/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ZSDR5212N/ZSDR5213 용도 선택조건 추가 및 용도가 KRX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인경우 빌링취소차단 (남해화학만 예외)3. ZSDR5680/ZSDR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5680A/ZSDR5682/ZSDR5682 ABRVW필드 이미 있어 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-&gt;용도로 이름변경4. 확인하였으나 하드코딩되어있는 부분은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ZSDR1230 C_VTWEG '30' 이외에 없음02/211. ZSD_RFC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_EWEB_SO_EXECUTE KRX 하드코딩 주석처리2. ZSDR123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0_TOP VTWEG 30-&gt;20 변경</a:t>
            </a:r>
          </a:p>
        </p:txBody>
      </p:sp>
      <p:sp>
        <p:nvSpPr>
          <p:cNvPr id="2053104330" name="Text">
    </p:cNvPr>
          <p:cNvSpPr>
            <a:spLocks noGrp="1"/>
          </p:cNvSpPr>
          <p:nvPr/>
        </p:nvSpPr>
        <p:spPr>
          <a:xfrm rot="0">
            <a:off x="53086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59070319" name="Text">
    </p:cNvPr>
          <p:cNvSpPr>
            <a:spLocks noGrp="1"/>
          </p:cNvSpPr>
          <p:nvPr/>
        </p:nvSpPr>
        <p:spPr>
          <a:xfrm rot="0">
            <a:off x="889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775136165" name="Text">
    </p:cNvPr>
          <p:cNvSpPr>
            <a:spLocks noGrp="1"/>
          </p:cNvSpPr>
          <p:nvPr/>
        </p:nvSpPr>
        <p:spPr>
          <a:xfrm rot="0">
            <a:off x="711200" y="1511300"/>
            <a:ext cx="3403600" cy="3187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차)02.201. ZSDR1040/ZSDR1040N/ZSDR1041 라디오버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튼 추가 및 SELECT 후 KRX필터링 로직추가2. ZSDR5212/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ZSDR5212N/ZSDR5213 용도 선택조건 추가 및 용도가 KRX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인경우 빌링취소차단 (남해화학만 예외)3. ZSDR5680/ZSDR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5680A/ZSDR5682/ZSDR5682 ABRVW필드 이미 있어 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-&gt;용도로 이름변경4. 확인하였으나 하드코딩되어있는 부분은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ZSDR1230 C_VTWEG '30' 이외에 없음2024.02.211. 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SD_RFC_EWEB_SO_EXECUTE KRX 하드코딩 주석처리2. ZS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DR1230_TOP VTWEG 30-&gt;20 변경03/051. EXIT 에서 구분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유형 KRX일경우 특정로직 타지 않도록 조건 추가03/071. K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RX일경우 가격결정그룹 하드코딩2024.03.11 1. ABRVW로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용도 필드 통일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[ITSM-108444][SD]조달청 배달할인 관련 티코드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청2024.03.11 1. 기준일을 기준월 말일로 자동조정 되도록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로직 추가  2. 기준일을 현재일로 변경하는 로직 주석처리20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24.03.12 1. 기준일 ALV 표시하도록 변경 2. 거래처명 납품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처명 로드되도록 로직 추가2024.03.18 1. 전표 중복생성 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 로직 추기</a:t>
            </a:r>
          </a:p>
        </p:txBody>
      </p:sp>
      <p:sp>
        <p:nvSpPr>
          <p:cNvPr id="929723453" name="Text">
    </p:cNvPr>
          <p:cNvSpPr>
            <a:spLocks noGrp="1"/>
          </p:cNvSpPr>
          <p:nvPr/>
        </p:nvSpPr>
        <p:spPr>
          <a:xfrm rot="0">
            <a:off x="44831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br/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br/>
            <a:br/>
            <a:br/>
            <a:br/>
          </a:p>
        </p:txBody>
      </p:sp>
      <p:sp>
        <p:nvSpPr>
          <p:cNvPr id="841390504" name="Text">
    </p:cNvPr>
          <p:cNvSpPr>
            <a:spLocks noGrp="1"/>
          </p:cNvSpPr>
          <p:nvPr/>
        </p:nvSpPr>
        <p:spPr>
          <a:xfrm rot="0">
            <a:off x="48514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br/>
            <a:br/>
            <a:br/>
            <a:br/>
          </a:p>
        </p:txBody>
      </p:sp>
      <p:sp>
        <p:nvSpPr>
          <p:cNvPr id="456236716" name="Text">
    </p:cNvPr>
          <p:cNvSpPr>
            <a:spLocks noGrp="1"/>
          </p:cNvSpPr>
          <p:nvPr/>
        </p:nvSpPr>
        <p:spPr>
          <a:xfrm rot="0">
            <a:off x="4114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br/>
            <a:br/>
            <a:br/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03/01</a:t>
            </a:r>
            <a:br/>
            <a:br/>
            <a:br/>
            <a:br/>
            <a:br/>
            <a:br/>
          </a:p>
        </p:txBody>
      </p:sp>
      <p:sp>
        <p:nvSpPr>
          <p:cNvPr id="673982692" name="Text">
    </p:cNvPr>
          <p:cNvSpPr>
            <a:spLocks noGrp="1"/>
          </p:cNvSpPr>
          <p:nvPr/>
        </p:nvSpPr>
        <p:spPr>
          <a:xfrm rot="0">
            <a:off x="6604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5292224" name="Text">
    </p:cNvPr>
          <p:cNvSpPr>
            <a:spLocks noGrp="1"/>
          </p:cNvSpPr>
          <p:nvPr/>
        </p:nvSpPr>
        <p:spPr>
          <a:xfrm rot="0">
            <a:off x="58801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