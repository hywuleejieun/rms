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0527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665329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541752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55470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491823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500942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57504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890433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45176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6026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54113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444343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34191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59809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359122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45640764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184032892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</a:p>
        </p:txBody>
      </p:sp>
      <p:sp>
        <p:nvSpPr>
          <p:cNvPr id="69689842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67175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099942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ITSM-108565 HKMC 이관물량 확정시 입고일자 다를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경우 프로그램 제어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</a:p>
        </p:txBody>
      </p:sp>
      <p:sp>
        <p:nvSpPr>
          <p:cNvPr id="13171602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7040690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650780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5166524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14526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75665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14551982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939211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95621877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1825383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8701939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[ITSM-108823]RTS Dashboard CARD 참조처 수정 요청</a:t>
            </a:r>
          </a:p>
        </p:txBody>
      </p:sp>
      <p:sp>
        <p:nvSpPr>
          <p:cNvPr id="2257324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8497539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4241855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5109925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16243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9966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50878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5003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57579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3455712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9298764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57714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560860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58578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78423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08364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68552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61131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713237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860360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3276979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16020141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4983567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373350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475022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13011722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9217661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8070640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16260657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985065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479649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36117389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73074822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7057915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2447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6421316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 누락 주문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ITSM-108447 배포ITSM-108721 변경결과 작성ITSM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-108898 대상시스템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ITSM-108811 작업유형 변경ITSM-108617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작성ITSM-108923 요청정보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스크립트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ITSM-108923 예상공수 작성ITSM-109007 요청정보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작성ITSM-108292 배포상태 변경ITSM-109010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ITSM-109138 현작업자 변경ITSM-108253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</a:p>
        </p:txBody>
      </p:sp>
      <p:sp>
        <p:nvSpPr>
          <p:cNvPr id="19535982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3917470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7761078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31462799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506136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2003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106682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0402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01434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99819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373159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468981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21472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49783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979530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04535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91503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088781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91135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20796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775310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105010436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및 새벽작업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'회계지급전표 증빙대사' 및 '외화지급계좌 증빙대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사' 수행 및 모니터링</a:t>
            </a:r>
          </a:p>
        </p:txBody>
      </p:sp>
      <p:sp>
        <p:nvSpPr>
          <p:cNvPr id="2202423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145398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744721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'회계지급전표 증빙대사' 및 '외화지급계좌 증빙대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사'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및 새벽작업 테스트    + Migration 미정확한 부분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A360 내부 작업으로 재수정 및 테스트 완료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itoc PW 만료로 인한 작업 수기발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송 및 해당 로직 수정, itoc PW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I/F정의서 재확인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Outlook 실행 불가 및 RPA 메일발송 딜레이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</a:p>
        </p:txBody>
      </p:sp>
      <p:sp>
        <p:nvSpPr>
          <p:cNvPr id="4072348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</a:p>
        </p:txBody>
      </p:sp>
      <p:sp>
        <p:nvSpPr>
          <p:cNvPr id="28337505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</a:p>
        </p:txBody>
      </p:sp>
      <p:sp>
        <p:nvSpPr>
          <p:cNvPr id="20482439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</a:p>
        </p:txBody>
      </p:sp>
      <p:sp>
        <p:nvSpPr>
          <p:cNvPr id="14851347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47570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876179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93067457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</a:p>
        </p:txBody>
      </p:sp>
      <p:sp>
        <p:nvSpPr>
          <p:cNvPr id="116315262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</a:p>
        </p:txBody>
      </p:sp>
      <p:sp>
        <p:nvSpPr>
          <p:cNvPr id="15831909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55835336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7522809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</a:p>
        </p:txBody>
      </p:sp>
      <p:sp>
        <p:nvSpPr>
          <p:cNvPr id="125843041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204586508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82976419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</a:p>
        </p:txBody>
      </p:sp>
      <p:sp>
        <p:nvSpPr>
          <p:cNvPr id="70591810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929328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652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43741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75148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04839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3638992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0900879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51404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83897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563702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720657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454571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60063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74593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960473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3006943" name="Text">
    </p:cNvPr>
          <p:cNvSpPr>
            <a:spLocks noGrp="1"/>
          </p:cNvSpPr>
          <p:nvPr/>
        </p:nvSpPr>
        <p:spPr>
          <a:xfrm rot="0">
            <a:off x="97028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1103891128" name="Text">
    </p:cNvPr>
          <p:cNvSpPr>
            <a:spLocks noGrp="1"/>
          </p:cNvSpPr>
          <p:nvPr/>
        </p:nvSpPr>
        <p:spPr>
          <a:xfrm rot="0">
            <a:off x="93345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734834663" name="Text">
    </p:cNvPr>
          <p:cNvSpPr>
            <a:spLocks noGrp="1"/>
          </p:cNvSpPr>
          <p:nvPr/>
        </p:nvSpPr>
        <p:spPr>
          <a:xfrm rot="0">
            <a:off x="5930900" y="1511300"/>
            <a:ext cx="3403600" cy="5207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		-&gt; 프로시저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</a:p>
        </p:txBody>
      </p:sp>
      <p:sp>
        <p:nvSpPr>
          <p:cNvPr id="1102312721" name="Text">
    </p:cNvPr>
          <p:cNvSpPr>
            <a:spLocks noGrp="1"/>
          </p:cNvSpPr>
          <p:nvPr/>
        </p:nvSpPr>
        <p:spPr>
          <a:xfrm rot="0">
            <a:off x="5308600" y="1511300"/>
            <a:ext cx="5715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53520417" name="Text">
    </p:cNvPr>
          <p:cNvSpPr>
            <a:spLocks noGrp="1"/>
          </p:cNvSpPr>
          <p:nvPr/>
        </p:nvSpPr>
        <p:spPr>
          <a:xfrm rot="0">
            <a:off x="88900" y="1511300"/>
            <a:ext cx="5715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710819531" name="Text">
    </p:cNvPr>
          <p:cNvSpPr>
            <a:spLocks noGrp="1"/>
          </p:cNvSpPr>
          <p:nvPr/>
        </p:nvSpPr>
        <p:spPr>
          <a:xfrm rot="0">
            <a:off x="711200" y="1511300"/>
            <a:ext cx="3403600" cy="5207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메뉴(작업완료관리)		-&gt; 프로시저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ITSM-108759 -&gt; AA9-22-0003, AA9-22-0009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AA9-22-0018 (계약체결기안 삭제마킹)	         이은지 책임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계약 보관/관리 신청서 이관ITSM-108757 -&gt; Chief Sa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fety Officer(CSO) 법인인장 신규 제작 완료에 따른 후속업무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요청ITSM-108792 -&gt; 미사용 전자결재 양식(웹사이트 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권한 신청서)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ITSM-108819 -&gt; 국민은행과의 단기차입 포괄한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 등에 대한 약정 갱신 및 단기 외화대출 재약정 수정ITSM-1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08817 -&gt; 원유 수입신용장 개설 기안지 수정ITSM-108860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 공장 조경 용역 단가계약 계약검토회신서(A04-24-0041) 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약 상대방 수정 요청ITSM-108884 -&gt; 납품일 수정요청(소형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예선 대금지급)ITSM-108898 -&gt; 구매요청 사용 예정일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요청 건ITSM-108897 -&gt; TC2C Advisory Service 체결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내부품의 첨부문서 추가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1. 로그인시 비번 5회 이상 틀리면 10분 LOCK 로직	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&gt; 기존 : 5회 이상부터 1회만 틀려도 10분 LOCK이 되는 부분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	-&gt; 변경 : 10분 카운터 이후 다시 로그인 시도하면 5회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카운트 재시작2. 계정 잠김 확인하는 로직 (코드에서는 0번째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row만 확인함)	-&gt; 기존 : 유저 아이디만 조건으로 검색하다보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니 실패한 모든날에 row가 select되고 있어 예전에 실패한 횟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수를 들고옴 	-&gt; 변경 : 당일자 실패 내역인지 확인하는 조건을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ITSM-108913 -&gt; 기성보고서의 첨부 문서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청ITSM-108922 -&gt; 회의록 내 문구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24.03.21ITSM-108925 -&gt; 기승인 휴가신청서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 요청ITSM-108945 -&gt; 특근명령서 삭제 요청ITSM-1090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01 -&gt; 아로마틱공장 Exist TMS 및 Analyzer Shelter 양성화</a:t>
            </a:r>
            <a:br/>
          </a:p>
        </p:txBody>
      </p:sp>
      <p:sp>
        <p:nvSpPr>
          <p:cNvPr id="721694724" name="Text">
    </p:cNvPr>
          <p:cNvSpPr>
            <a:spLocks noGrp="1"/>
          </p:cNvSpPr>
          <p:nvPr/>
        </p:nvSpPr>
        <p:spPr>
          <a:xfrm rot="0">
            <a:off x="44831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  <a:br/>
            <a:br/>
            <a:br/>
            <a:br/>
          </a:p>
        </p:txBody>
      </p:sp>
      <p:sp>
        <p:nvSpPr>
          <p:cNvPr id="1975599880" name="Text">
    </p:cNvPr>
          <p:cNvSpPr>
            <a:spLocks noGrp="1"/>
          </p:cNvSpPr>
          <p:nvPr/>
        </p:nvSpPr>
        <p:spPr>
          <a:xfrm rot="0">
            <a:off x="48514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br/>
            <a:br/>
            <a:br/>
          </a:p>
        </p:txBody>
      </p:sp>
      <p:sp>
        <p:nvSpPr>
          <p:cNvPr id="1003966154" name="Text">
    </p:cNvPr>
          <p:cNvSpPr>
            <a:spLocks noGrp="1"/>
          </p:cNvSpPr>
          <p:nvPr/>
        </p:nvSpPr>
        <p:spPr>
          <a:xfrm rot="0">
            <a:off x="4114800" y="1511300"/>
            <a:ext cx="3683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br/>
            <a:br/>
            <a:br/>
          </a:p>
        </p:txBody>
      </p:sp>
      <p:sp>
        <p:nvSpPr>
          <p:cNvPr id="373663275" name="Text">
    </p:cNvPr>
          <p:cNvSpPr>
            <a:spLocks noGrp="1"/>
          </p:cNvSpPr>
          <p:nvPr/>
        </p:nvSpPr>
        <p:spPr>
          <a:xfrm rot="0">
            <a:off x="660400" y="1511300"/>
            <a:ext cx="34544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4689783" name="Text">
    </p:cNvPr>
          <p:cNvSpPr>
            <a:spLocks noGrp="1"/>
          </p:cNvSpPr>
          <p:nvPr/>
        </p:nvSpPr>
        <p:spPr>
          <a:xfrm rot="0">
            <a:off x="5880100" y="1511300"/>
            <a:ext cx="3454400" cy="5207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5402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76253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17483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89092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706615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0595168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615459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93828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2764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0352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14988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836485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62579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648991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8940845" name="Text">
    </p:cNvPr>
          <p:cNvSpPr>
            <a:spLocks noGrp="1"/>
          </p:cNvSpPr>
          <p:nvPr/>
        </p:nvSpPr>
        <p:spPr>
          <a:xfrm rot="0">
            <a:off x="711200" y="1612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  가동전점검 첨부문서 수정 건ITSM-109003 -&gt; 2022년 Ref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inery 대기 TMS 설치 가동전 점검 첨부파일 수정 건ITSM-108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989 -&gt; 전자결재 항목 중 "정보기술 지원 신청서" 업데이트IT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SM-108985 -&gt; 공정시스템관리팀 작업요청서 화면 수정요청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건(구분 탭 NIDS 추가)ITSM-109018 -&gt; 결재 진행중인 기안지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(Controller 확인용)의 내용 수정ITSM-109072 -&gt; 문서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요청ITSM-108994 -&gt; 병가신청서 병가자 변경 요청(문서번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호 : DJ6-23-0007)ITSM-109094 -&gt; 기안지 데이터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ITSM-109118 -&gt; VPN사용자등록신청서(협력업체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용) 및 정보기술지원신청서 첨부 양식 교체 요청ITSM-10916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8 -&gt; 협조문(거래처 요청에 따른 가수금액 반환 요청 - 비피아이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AH2-24-0080)의 첨부서류 변경</a:t>
            </a:r>
          </a:p>
        </p:txBody>
      </p:sp>
      <p:sp>
        <p:nvSpPr>
          <p:cNvPr id="1571376435" name="Text">
    </p:cNvPr>
          <p:cNvSpPr>
            <a:spLocks noGrp="1"/>
          </p:cNvSpPr>
          <p:nvPr/>
        </p:nvSpPr>
        <p:spPr>
          <a:xfrm rot="0">
            <a:off x="4483100" y="1612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br/>
            <a:br/>
          </a:p>
        </p:txBody>
      </p:sp>
      <p:sp>
        <p:nvSpPr>
          <p:cNvPr id="1396818032" name="Text">
    </p:cNvPr>
          <p:cNvSpPr>
            <a:spLocks noGrp="1"/>
          </p:cNvSpPr>
          <p:nvPr/>
        </p:nvSpPr>
        <p:spPr>
          <a:xfrm rot="0">
            <a:off x="4851400" y="1612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br/>
            <a:br/>
          </a:p>
        </p:txBody>
      </p:sp>
      <p:sp>
        <p:nvSpPr>
          <p:cNvPr id="2025352721" name="Text">
    </p:cNvPr>
          <p:cNvSpPr>
            <a:spLocks noGrp="1"/>
          </p:cNvSpPr>
          <p:nvPr/>
        </p:nvSpPr>
        <p:spPr>
          <a:xfrm rot="0">
            <a:off x="4114800" y="1612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br/>
            <a:br/>
          </a:p>
        </p:txBody>
      </p:sp>
      <p:sp>
        <p:nvSpPr>
          <p:cNvPr id="1608057992" name="Text">
    </p:cNvPr>
          <p:cNvSpPr>
            <a:spLocks noGrp="1"/>
          </p:cNvSpPr>
          <p:nvPr/>
        </p:nvSpPr>
        <p:spPr>
          <a:xfrm rot="0">
            <a:off x="97028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217272469" name="Text">
    </p:cNvPr>
          <p:cNvSpPr>
            <a:spLocks noGrp="1"/>
          </p:cNvSpPr>
          <p:nvPr/>
        </p:nvSpPr>
        <p:spPr>
          <a:xfrm rot="0">
            <a:off x="93345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361824692" name="Text">
    </p:cNvPr>
          <p:cNvSpPr>
            <a:spLocks noGrp="1"/>
          </p:cNvSpPr>
          <p:nvPr/>
        </p:nvSpPr>
        <p:spPr>
          <a:xfrm rot="0">
            <a:off x="5930900" y="38735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786578929" name="Text">
    </p:cNvPr>
          <p:cNvSpPr>
            <a:spLocks noGrp="1"/>
          </p:cNvSpPr>
          <p:nvPr/>
        </p:nvSpPr>
        <p:spPr>
          <a:xfrm rot="0">
            <a:off x="5308600" y="38735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65247457" name="Text">
    </p:cNvPr>
          <p:cNvSpPr>
            <a:spLocks noGrp="1"/>
          </p:cNvSpPr>
          <p:nvPr/>
        </p:nvSpPr>
        <p:spPr>
          <a:xfrm rot="0">
            <a:off x="88900" y="38735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3756535" name="Text">
    </p:cNvPr>
          <p:cNvSpPr>
            <a:spLocks noGrp="1"/>
          </p:cNvSpPr>
          <p:nvPr/>
        </p:nvSpPr>
        <p:spPr>
          <a:xfrm rot="0">
            <a:off x="711200" y="38735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SMSDS-0179(O3(오존))의 문서 폴더 변경 (기타-&gt;제품),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규정관리기안지에서 조회되도록 ROOT값 변경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RI-143 배치 오류 발생 확인 및 수동 스케쥴러 실행.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관리자 기능으로 CDU3-U-6205 2대 RUNNING중인 PUM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 1대 TRIP시 운전 지침 제정 품의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CP 공지사항에 문서제목 등록시 제목 형식 변경을 위한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연계뷰 테이블(VIEW_ERS_CP_NOTICE) 변경 처리</a:t>
            </a:r>
          </a:p>
        </p:txBody>
      </p:sp>
      <p:sp>
        <p:nvSpPr>
          <p:cNvPr id="485180367" name="Text">
    </p:cNvPr>
          <p:cNvSpPr>
            <a:spLocks noGrp="1"/>
          </p:cNvSpPr>
          <p:nvPr/>
        </p:nvSpPr>
        <p:spPr>
          <a:xfrm rot="0">
            <a:off x="44831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601487382" name="Text">
    </p:cNvPr>
          <p:cNvSpPr>
            <a:spLocks noGrp="1"/>
          </p:cNvSpPr>
          <p:nvPr/>
        </p:nvSpPr>
        <p:spPr>
          <a:xfrm rot="0">
            <a:off x="48514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587802629" name="Text">
    </p:cNvPr>
          <p:cNvSpPr>
            <a:spLocks noGrp="1"/>
          </p:cNvSpPr>
          <p:nvPr/>
        </p:nvSpPr>
        <p:spPr>
          <a:xfrm rot="0">
            <a:off x="4114800" y="38735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208450272" name="Text">
    </p:cNvPr>
          <p:cNvSpPr>
            <a:spLocks noGrp="1"/>
          </p:cNvSpPr>
          <p:nvPr/>
        </p:nvSpPr>
        <p:spPr>
          <a:xfrm rot="0">
            <a:off x="660400" y="38735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156569" name="Text">
    </p:cNvPr>
          <p:cNvSpPr>
            <a:spLocks noGrp="1"/>
          </p:cNvSpPr>
          <p:nvPr/>
        </p:nvSpPr>
        <p:spPr>
          <a:xfrm rot="0">
            <a:off x="5880100" y="38735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2963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22603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81595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617187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17151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7026739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227826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793192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68201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2238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9191951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060282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63100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802625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69848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</a:p>
        </p:txBody>
      </p:sp>
      <p:sp>
        <p:nvSpPr>
          <p:cNvPr id="4261073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592527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세션타임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30분으로 변경- 동시접속제한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요청(CRM 호출 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로시저 변경 및 통합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</a:p>
        </p:txBody>
      </p:sp>
      <p:sp>
        <p:nvSpPr>
          <p:cNvPr id="150562147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861759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861108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요청(CRM 호출 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로시저 변경 및 통합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회수 현황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재고대비 보험금액 계산식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자재 할당 강제 취소 DB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자재 62102449 로케이션 변경이력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추출 누락되는 오류 현상 확인 요청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모니터링 데이터 조회가 안되는 현상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담당자 리스트 데이터 추출 요청</a:t>
            </a:r>
          </a:p>
        </p:txBody>
      </p:sp>
      <p:sp>
        <p:nvSpPr>
          <p:cNvPr id="144705058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16256186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198035789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6125320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61150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24574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139303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9992476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보조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[ITSM-109157] 품질 규격 마스터 일자별 증기압/유동점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표준범위 지정 기능 (배포)</a:t>
            </a:r>
          </a:p>
        </p:txBody>
      </p:sp>
      <p:sp>
        <p:nvSpPr>
          <p:cNvPr id="84890707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360116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10540179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ITSM-108676 (자영에너지주유소) 고급휘발유 품질정보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ITSM-108892 정비부문 ERP ID별 사용 T-Code(트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랙잭션코드) 목록 조회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보조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[ITSM-109157] 품질 규격 마스터 일자별 증기압/유동점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표준범위 지정 기능 (배포)</a:t>
            </a:r>
          </a:p>
        </p:txBody>
      </p:sp>
      <p:sp>
        <p:nvSpPr>
          <p:cNvPr id="55497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0205421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9535119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64120741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3841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1057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28919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513527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926732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944865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761063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08652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29896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42353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59926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96092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095351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44312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35724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196375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20878604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7630710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21481743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202795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2729864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용인IDC 노후 네트워크 장비 교체 작업에 따른 EAI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서버작업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14130576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91036003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56251312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4418377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0330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