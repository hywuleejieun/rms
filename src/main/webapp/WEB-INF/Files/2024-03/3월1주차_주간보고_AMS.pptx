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30"/>
    <p:sldId id="274" r:id="rId32"/>
    <p:sldId id="275" r:id="rId34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slides/slide18.xml" Type="http://schemas.openxmlformats.org/officeDocument/2006/relationships/slide"/><Relationship Id="rId31" Target="notesSlides/notesSlide6.xml" Type="http://schemas.openxmlformats.org/officeDocument/2006/relationships/notesSlide"/><Relationship Id="rId32" Target="slides/slide19.xml" Type="http://schemas.openxmlformats.org/officeDocument/2006/relationships/slide"/><Relationship Id="rId33" Target="notesSlides/notesSlide7.xml" Type="http://schemas.openxmlformats.org/officeDocument/2006/relationships/notesSlide"/><Relationship Id="rId34" Target="slides/slide20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2024-03-04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[2024.03.05 ~ 2024.03.11]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3월 1주차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844025994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삼일절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 / 31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03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335032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621315852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209700746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360154551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66480698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748864492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49816736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564782252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907713445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52238951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2014079305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2945706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658912036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37559301" name="Frame"/>
          <p:cNvSpPr>
            <a:spLocks noGrp="1"/>
          </p:cNvSpPr>
          <p:nvPr/>
        </p:nvSpPr>
        <p:spPr>
          <a:xfrm>
            <a:off x="25400" y="50673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707872080" name="Text">
    </p:cNvPr>
          <p:cNvSpPr>
            <a:spLocks noGrp="1"/>
          </p:cNvSpPr>
          <p:nvPr/>
        </p:nvSpPr>
        <p:spPr>
          <a:xfrm rot="0">
            <a:off x="152400" y="50927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10167525" name="Text">
    </p:cNvPr>
          <p:cNvSpPr>
            <a:spLocks noGrp="1"/>
          </p:cNvSpPr>
          <p:nvPr/>
        </p:nvSpPr>
        <p:spPr>
          <a:xfrm rot="0">
            <a:off x="6451600" y="56261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9185998" name="Text">
    </p:cNvPr>
          <p:cNvSpPr>
            <a:spLocks noGrp="1"/>
          </p:cNvSpPr>
          <p:nvPr/>
        </p:nvSpPr>
        <p:spPr>
          <a:xfrm rot="0">
            <a:off x="2057400" y="56261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70387112" name="Text">
    </p:cNvPr>
          <p:cNvSpPr>
            <a:spLocks noGrp="1"/>
          </p:cNvSpPr>
          <p:nvPr/>
        </p:nvSpPr>
        <p:spPr>
          <a:xfrm rot="0">
            <a:off x="101600" y="56261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3108545" name="Text">
    </p:cNvPr>
          <p:cNvSpPr>
            <a:spLocks noGrp="1"/>
          </p:cNvSpPr>
          <p:nvPr/>
        </p:nvSpPr>
        <p:spPr>
          <a:xfrm rot="0">
            <a:off x="101600" y="53848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493503730" name="Text">
    </p:cNvPr>
          <p:cNvSpPr>
            <a:spLocks noGrp="1"/>
          </p:cNvSpPr>
          <p:nvPr/>
        </p:nvSpPr>
        <p:spPr>
          <a:xfrm rot="0">
            <a:off x="2057400" y="53848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278168864" name="Text">
    </p:cNvPr>
          <p:cNvSpPr>
            <a:spLocks noGrp="1"/>
          </p:cNvSpPr>
          <p:nvPr/>
        </p:nvSpPr>
        <p:spPr>
          <a:xfrm rot="0">
            <a:off x="6451600" y="53848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723736279" name="Text">
    </p:cNvPr>
          <p:cNvSpPr>
            <a:spLocks noGrp="1"/>
          </p:cNvSpPr>
          <p:nvPr/>
        </p:nvSpPr>
        <p:spPr>
          <a:xfrm rot="0">
            <a:off x="101600" y="59182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55385135" name="Text">
    </p:cNvPr>
          <p:cNvSpPr>
            <a:spLocks noGrp="1"/>
          </p:cNvSpPr>
          <p:nvPr/>
        </p:nvSpPr>
        <p:spPr>
          <a:xfrm rot="0">
            <a:off x="6451600" y="59182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3378907" name="Text">
    </p:cNvPr>
          <p:cNvSpPr>
            <a:spLocks noGrp="1"/>
          </p:cNvSpPr>
          <p:nvPr/>
        </p:nvSpPr>
        <p:spPr>
          <a:xfrm rot="0">
            <a:off x="2057400" y="59182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4240076" name="Text">
    </p:cNvPr>
          <p:cNvSpPr>
            <a:spLocks noGrp="1"/>
          </p:cNvSpPr>
          <p:nvPr/>
        </p:nvSpPr>
        <p:spPr>
          <a:xfrm rot="0">
            <a:off x="1244600" y="59182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7731670" name="Text">
    </p:cNvPr>
          <p:cNvSpPr>
            <a:spLocks noGrp="1"/>
          </p:cNvSpPr>
          <p:nvPr/>
        </p:nvSpPr>
        <p:spPr>
          <a:xfrm rot="0">
            <a:off x="1244600" y="56261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97634024" name="Text">
    </p:cNvPr>
          <p:cNvSpPr>
            <a:spLocks noGrp="1"/>
          </p:cNvSpPr>
          <p:nvPr/>
        </p:nvSpPr>
        <p:spPr>
          <a:xfrm rot="0">
            <a:off x="1244600" y="53848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2143794481" name="Text">
    </p:cNvPr>
          <p:cNvSpPr>
            <a:spLocks noGrp="1"/>
          </p:cNvSpPr>
          <p:nvPr/>
        </p:nvSpPr>
        <p:spPr>
          <a:xfrm rot="0">
            <a:off x="8102600" y="59182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49219" name="Text">
    </p:cNvPr>
          <p:cNvSpPr>
            <a:spLocks noGrp="1"/>
          </p:cNvSpPr>
          <p:nvPr/>
        </p:nvSpPr>
        <p:spPr>
          <a:xfrm rot="0">
            <a:off x="8102600" y="53848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841163256" name="Text">
    </p:cNvPr>
          <p:cNvSpPr>
            <a:spLocks noGrp="1"/>
          </p:cNvSpPr>
          <p:nvPr/>
        </p:nvSpPr>
        <p:spPr>
          <a:xfrm rot="0">
            <a:off x="8102600" y="56261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7407037" name="Frame"/>
          <p:cNvSpPr>
            <a:spLocks noGrp="1"/>
          </p:cNvSpPr>
          <p:nvPr/>
        </p:nvSpPr>
        <p:spPr>
          <a:xfrm>
            <a:off x="101600" y="2959100"/>
            <a:ext cx="9779000" cy="194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753643764" name="Text">
    </p:cNvPr>
          <p:cNvSpPr>
            <a:spLocks noGrp="1"/>
          </p:cNvSpPr>
          <p:nvPr/>
        </p:nvSpPr>
        <p:spPr>
          <a:xfrm rot="0">
            <a:off x="165100" y="3022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29329660" name="Text">
    </p:cNvPr>
          <p:cNvSpPr>
            <a:spLocks noGrp="1"/>
          </p:cNvSpPr>
          <p:nvPr/>
        </p:nvSpPr>
        <p:spPr>
          <a:xfrm rot="0">
            <a:off x="152400" y="2984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464931721" name="Text">
    </p:cNvPr>
          <p:cNvSpPr>
            <a:spLocks noGrp="1"/>
          </p:cNvSpPr>
          <p:nvPr/>
        </p:nvSpPr>
        <p:spPr>
          <a:xfrm rot="0">
            <a:off x="165100" y="3238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744850458" name="Text">
    </p:cNvPr>
          <p:cNvSpPr>
            <a:spLocks noGrp="1"/>
          </p:cNvSpPr>
          <p:nvPr/>
        </p:nvSpPr>
        <p:spPr>
          <a:xfrm rot="0">
            <a:off x="901700" y="3238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12158648" name="Text">
    </p:cNvPr>
          <p:cNvSpPr>
            <a:spLocks noGrp="1"/>
          </p:cNvSpPr>
          <p:nvPr/>
        </p:nvSpPr>
        <p:spPr>
          <a:xfrm rot="0">
            <a:off x="5549900" y="3238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749905039" name="Text">
    </p:cNvPr>
          <p:cNvSpPr>
            <a:spLocks noGrp="1"/>
          </p:cNvSpPr>
          <p:nvPr/>
        </p:nvSpPr>
        <p:spPr>
          <a:xfrm rot="0">
            <a:off x="6121400" y="3238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930432973" name="Frame"/>
          <p:cNvSpPr>
            <a:spLocks noGrp="1"/>
          </p:cNvSpPr>
          <p:nvPr/>
        </p:nvSpPr>
        <p:spPr>
          <a:xfrm>
            <a:off x="165100" y="4127500"/>
            <a:ext cx="9664700" cy="774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943346913" name="Text">
    </p:cNvPr>
          <p:cNvSpPr>
            <a:spLocks noGrp="1"/>
          </p:cNvSpPr>
          <p:nvPr/>
        </p:nvSpPr>
        <p:spPr>
          <a:xfrm rot="0">
            <a:off x="165100" y="41021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2095116537" name="Text">
    </p:cNvPr>
          <p:cNvSpPr>
            <a:spLocks noGrp="1"/>
          </p:cNvSpPr>
          <p:nvPr/>
        </p:nvSpPr>
        <p:spPr>
          <a:xfrm rot="0">
            <a:off x="965200" y="4152900"/>
            <a:ext cx="4584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ERP (SAP PM) 작업요청 시 작업환경위험도 입력 및 PSORMS Interface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Attribute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[ERM] 사이버보안 컴플라이언스 점검 결과 프로그램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저유소 PM 관련 작업의뢰서 전자결재(T-Code : IW21) 개선 요청</a:t>
            </a:r>
          </a:p>
        </p:txBody>
      </p:sp>
      <p:sp>
        <p:nvSpPr>
          <p:cNvPr id="1162851638" name="Text">
    </p:cNvPr>
          <p:cNvSpPr>
            <a:spLocks noGrp="1"/>
          </p:cNvSpPr>
          <p:nvPr/>
        </p:nvSpPr>
        <p:spPr>
          <a:xfrm rot="0">
            <a:off x="7239000" y="41529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916609579" name="Text">
    </p:cNvPr>
          <p:cNvSpPr>
            <a:spLocks noGrp="1"/>
          </p:cNvSpPr>
          <p:nvPr/>
        </p:nvSpPr>
        <p:spPr>
          <a:xfrm rot="0">
            <a:off x="5549900" y="41529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</a:p>
        </p:txBody>
      </p:sp>
      <p:sp>
        <p:nvSpPr>
          <p:cNvPr id="1834706952" name="Text">
    </p:cNvPr>
          <p:cNvSpPr>
            <a:spLocks noGrp="1"/>
          </p:cNvSpPr>
          <p:nvPr/>
        </p:nvSpPr>
        <p:spPr>
          <a:xfrm rot="0">
            <a:off x="901700" y="41021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73762658" name="Text">
    </p:cNvPr>
          <p:cNvSpPr>
            <a:spLocks noGrp="1"/>
          </p:cNvSpPr>
          <p:nvPr/>
        </p:nvSpPr>
        <p:spPr>
          <a:xfrm rot="0">
            <a:off x="6121400" y="4102100"/>
            <a:ext cx="36449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81835161" name="Text">
    </p:cNvPr>
          <p:cNvSpPr>
            <a:spLocks noGrp="1"/>
          </p:cNvSpPr>
          <p:nvPr/>
        </p:nvSpPr>
        <p:spPr>
          <a:xfrm rot="0">
            <a:off x="5549900" y="41021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321571" name="Frame"/>
          <p:cNvSpPr>
            <a:spLocks noGrp="1"/>
          </p:cNvSpPr>
          <p:nvPr/>
        </p:nvSpPr>
        <p:spPr>
          <a:xfrm>
            <a:off x="165100" y="3581400"/>
            <a:ext cx="9639300" cy="520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021549850" name="Text">
    </p:cNvPr>
          <p:cNvSpPr>
            <a:spLocks noGrp="1"/>
          </p:cNvSpPr>
          <p:nvPr/>
        </p:nvSpPr>
        <p:spPr>
          <a:xfrm rot="0">
            <a:off x="165100" y="3581400"/>
            <a:ext cx="7366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324576478" name="Text">
    </p:cNvPr>
          <p:cNvSpPr>
            <a:spLocks noGrp="1"/>
          </p:cNvSpPr>
          <p:nvPr/>
        </p:nvSpPr>
        <p:spPr>
          <a:xfrm rot="0">
            <a:off x="965200" y="3657600"/>
            <a:ext cx="4584700" cy="444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PP(Polypropylene) 제품별 원가내역 조회 Report 개발 요청(ZPCOR2030)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전표 자동승인(회계팀)시 전표의 증빙일과 계산서 발행일 체크로직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</a:p>
        </p:txBody>
      </p:sp>
      <p:sp>
        <p:nvSpPr>
          <p:cNvPr id="1937633343" name="Text">
    </p:cNvPr>
          <p:cNvSpPr>
            <a:spLocks noGrp="1"/>
          </p:cNvSpPr>
          <p:nvPr/>
        </p:nvSpPr>
        <p:spPr>
          <a:xfrm rot="0">
            <a:off x="7239000" y="3657600"/>
            <a:ext cx="2552700" cy="444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13347476" name="Text">
    </p:cNvPr>
          <p:cNvSpPr>
            <a:spLocks noGrp="1"/>
          </p:cNvSpPr>
          <p:nvPr/>
        </p:nvSpPr>
        <p:spPr>
          <a:xfrm rot="0">
            <a:off x="5549900" y="3657600"/>
            <a:ext cx="571500" cy="444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</a:p>
        </p:txBody>
      </p:sp>
      <p:sp>
        <p:nvSpPr>
          <p:cNvPr id="740047701" name="Text">
    </p:cNvPr>
          <p:cNvSpPr>
            <a:spLocks noGrp="1"/>
          </p:cNvSpPr>
          <p:nvPr/>
        </p:nvSpPr>
        <p:spPr>
          <a:xfrm rot="0">
            <a:off x="901700" y="3581400"/>
            <a:ext cx="46482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8622044" name="Text">
    </p:cNvPr>
          <p:cNvSpPr>
            <a:spLocks noGrp="1"/>
          </p:cNvSpPr>
          <p:nvPr/>
        </p:nvSpPr>
        <p:spPr>
          <a:xfrm rot="0">
            <a:off x="6121400" y="3581400"/>
            <a:ext cx="36449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25235005" name="Text">
    </p:cNvPr>
          <p:cNvSpPr>
            <a:spLocks noGrp="1"/>
          </p:cNvSpPr>
          <p:nvPr/>
        </p:nvSpPr>
        <p:spPr>
          <a:xfrm rot="0">
            <a:off x="5549900" y="3581400"/>
            <a:ext cx="5715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62160831" name="Frame"/>
          <p:cNvSpPr>
            <a:spLocks noGrp="1"/>
          </p:cNvSpPr>
          <p:nvPr/>
        </p:nvSpPr>
        <p:spPr>
          <a:xfrm>
            <a:off x="127000" y="1384300"/>
            <a:ext cx="9779000" cy="1435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473674591" name="Frame"/>
          <p:cNvSpPr>
            <a:spLocks noGrp="1"/>
          </p:cNvSpPr>
          <p:nvPr/>
        </p:nvSpPr>
        <p:spPr>
          <a:xfrm>
            <a:off x="152400" y="21971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182220912" name="Text">
    </p:cNvPr>
          <p:cNvSpPr>
            <a:spLocks noGrp="1"/>
          </p:cNvSpPr>
          <p:nvPr/>
        </p:nvSpPr>
        <p:spPr>
          <a:xfrm rot="0">
            <a:off x="152400" y="2171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27623316" name="Text">
    </p:cNvPr>
          <p:cNvSpPr>
            <a:spLocks noGrp="1"/>
          </p:cNvSpPr>
          <p:nvPr/>
        </p:nvSpPr>
        <p:spPr>
          <a:xfrm rot="0">
            <a:off x="952500" y="22225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[E-Approval] 대주주감사 지적사항 F/up을 위한 시스템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모바일 크롬브라우저로 이러닝 강의 수강시 진도율 저장 오류 관련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[GCMS] 대리점영업팀 1차 회수 내용 및 2차 회수 내용 데이터 추출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SMM_PR I/F 필드 추가 (구매요구서 E-Office 전송)</a:t>
            </a:r>
          </a:p>
        </p:txBody>
      </p:sp>
      <p:sp>
        <p:nvSpPr>
          <p:cNvPr id="1360536012" name="Text">
    </p:cNvPr>
          <p:cNvSpPr>
            <a:spLocks noGrp="1"/>
          </p:cNvSpPr>
          <p:nvPr/>
        </p:nvSpPr>
        <p:spPr>
          <a:xfrm rot="0">
            <a:off x="7226300" y="22225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84742139" name="Text">
    </p:cNvPr>
          <p:cNvSpPr>
            <a:spLocks noGrp="1"/>
          </p:cNvSpPr>
          <p:nvPr/>
        </p:nvSpPr>
        <p:spPr>
          <a:xfrm rot="0">
            <a:off x="6108700" y="2171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826645334" name="Text">
    </p:cNvPr>
          <p:cNvSpPr>
            <a:spLocks noGrp="1"/>
          </p:cNvSpPr>
          <p:nvPr/>
        </p:nvSpPr>
        <p:spPr>
          <a:xfrm rot="0">
            <a:off x="5537200" y="22225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</a:p>
        </p:txBody>
      </p:sp>
      <p:sp>
        <p:nvSpPr>
          <p:cNvPr id="815998878" name="Text">
    </p:cNvPr>
          <p:cNvSpPr>
            <a:spLocks noGrp="1"/>
          </p:cNvSpPr>
          <p:nvPr/>
        </p:nvSpPr>
        <p:spPr>
          <a:xfrm rot="0">
            <a:off x="889000" y="2171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7714567" name="Text">
    </p:cNvPr>
          <p:cNvSpPr>
            <a:spLocks noGrp="1"/>
          </p:cNvSpPr>
          <p:nvPr/>
        </p:nvSpPr>
        <p:spPr>
          <a:xfrm rot="0">
            <a:off x="7124700" y="2171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88365537" name="Text">
    </p:cNvPr>
          <p:cNvSpPr>
            <a:spLocks noGrp="1"/>
          </p:cNvSpPr>
          <p:nvPr/>
        </p:nvSpPr>
        <p:spPr>
          <a:xfrm rot="0">
            <a:off x="5537200" y="2171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29989298" name="Rectangle"/>
          <p:cNvSpPr>
            <a:spLocks noGrp="1"/>
          </p:cNvSpPr>
          <p:nvPr/>
        </p:nvSpPr>
        <p:spPr>
          <a:xfrm>
            <a:off x="6870700" y="2171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806831823" name="Frame"/>
          <p:cNvSpPr>
            <a:spLocks noGrp="1"/>
          </p:cNvSpPr>
          <p:nvPr/>
        </p:nvSpPr>
        <p:spPr>
          <a:xfrm>
            <a:off x="152400" y="1371600"/>
            <a:ext cx="9639300" cy="800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990448516" name="Text">
    </p:cNvPr>
          <p:cNvSpPr>
            <a:spLocks noGrp="1"/>
          </p:cNvSpPr>
          <p:nvPr/>
        </p:nvSpPr>
        <p:spPr>
          <a:xfrm rot="0">
            <a:off x="152400" y="13716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841101568" name="Text">
    </p:cNvPr>
          <p:cNvSpPr>
            <a:spLocks noGrp="1"/>
          </p:cNvSpPr>
          <p:nvPr/>
        </p:nvSpPr>
        <p:spPr>
          <a:xfrm rot="0">
            <a:off x="939800" y="1422400"/>
            <a:ext cx="46101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 생산오더별 작업시간 프로그램 생성(ZPCOR2050)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구매처 생성 인터페이스 오류 분석(ZFIR9057)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사고 복구 비용 집계를 위한 IT 시스템 개선 요청 *월별 사고복구비 집계조회 리포트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개발</a:t>
            </a:r>
          </a:p>
        </p:txBody>
      </p:sp>
      <p:sp>
        <p:nvSpPr>
          <p:cNvPr id="2086741896" name="Text">
    </p:cNvPr>
          <p:cNvSpPr>
            <a:spLocks noGrp="1"/>
          </p:cNvSpPr>
          <p:nvPr/>
        </p:nvSpPr>
        <p:spPr>
          <a:xfrm rot="0">
            <a:off x="7226300" y="1447800"/>
            <a:ext cx="2552700" cy="723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984575477" name="Text">
    </p:cNvPr>
          <p:cNvSpPr>
            <a:spLocks noGrp="1"/>
          </p:cNvSpPr>
          <p:nvPr/>
        </p:nvSpPr>
        <p:spPr>
          <a:xfrm rot="0">
            <a:off x="6108700" y="1371600"/>
            <a:ext cx="7620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99370899" name="Text">
    </p:cNvPr>
          <p:cNvSpPr>
            <a:spLocks noGrp="1"/>
          </p:cNvSpPr>
          <p:nvPr/>
        </p:nvSpPr>
        <p:spPr>
          <a:xfrm rot="0">
            <a:off x="5537200" y="1447800"/>
            <a:ext cx="571500" cy="723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</a:p>
        </p:txBody>
      </p:sp>
      <p:sp>
        <p:nvSpPr>
          <p:cNvPr id="260229333" name="Text">
    </p:cNvPr>
          <p:cNvSpPr>
            <a:spLocks noGrp="1"/>
          </p:cNvSpPr>
          <p:nvPr/>
        </p:nvSpPr>
        <p:spPr>
          <a:xfrm rot="0">
            <a:off x="889000" y="13716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8019786" name="Text">
    </p:cNvPr>
          <p:cNvSpPr>
            <a:spLocks noGrp="1"/>
          </p:cNvSpPr>
          <p:nvPr/>
        </p:nvSpPr>
        <p:spPr>
          <a:xfrm rot="0">
            <a:off x="7124700" y="1371600"/>
            <a:ext cx="26543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68184053" name="Text">
    </p:cNvPr>
          <p:cNvSpPr>
            <a:spLocks noGrp="1"/>
          </p:cNvSpPr>
          <p:nvPr/>
        </p:nvSpPr>
        <p:spPr>
          <a:xfrm rot="0">
            <a:off x="5537200" y="13716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8289174" name="Rectangle"/>
          <p:cNvSpPr>
            <a:spLocks noGrp="1"/>
          </p:cNvSpPr>
          <p:nvPr/>
        </p:nvSpPr>
        <p:spPr>
          <a:xfrm>
            <a:off x="6870700" y="1371600"/>
            <a:ext cx="254000" cy="800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68462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6002425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2015582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2712205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4254536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92253778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0065224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9609798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050728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6549841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0213600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1880558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3195673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0172215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8197538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</a:p>
        </p:txBody>
      </p:sp>
      <p:sp>
        <p:nvSpPr>
          <p:cNvPr id="103671699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</a:p>
        </p:txBody>
      </p:sp>
      <p:sp>
        <p:nvSpPr>
          <p:cNvPr id="66904087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일반차입금 자본화 이자율 계산 시스템 개발요청 프로세스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분석(ZTRR1422)</a:t>
            </a:r>
          </a:p>
        </p:txBody>
      </p:sp>
      <p:sp>
        <p:nvSpPr>
          <p:cNvPr id="43351411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51344031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207887478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생산오더별 작업시간 프로그램 생성(ZPCOR2050)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연차 휴가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연차 휴가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이자율 계산 프로그램 생성 관련 분석(ZTRR1422)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[FI]차량관리 오류 분석(ZFIR6070)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[FI]구매처 생성 인터페이스 오류 분석(ZFIR9057)</a:t>
            </a:r>
          </a:p>
        </p:txBody>
      </p:sp>
      <p:sp>
        <p:nvSpPr>
          <p:cNvPr id="152145015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</a:p>
        </p:txBody>
      </p:sp>
      <p:sp>
        <p:nvSpPr>
          <p:cNvPr id="196105720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</a:p>
        </p:txBody>
      </p:sp>
      <p:sp>
        <p:nvSpPr>
          <p:cNvPr id="96296051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</a:p>
        </p:txBody>
      </p:sp>
      <p:sp>
        <p:nvSpPr>
          <p:cNvPr id="18209869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307671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400048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35824214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</a:p>
        </p:txBody>
      </p:sp>
      <p:sp>
        <p:nvSpPr>
          <p:cNvPr id="24600032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발주변경 품의 시 계약보증 정보 SAP 업데이트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</a:p>
        </p:txBody>
      </p:sp>
      <p:sp>
        <p:nvSpPr>
          <p:cNvPr id="73573206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72916095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50480859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SMM_PR I/F 필드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발주변경 품의 시 계약보증 정보 SAP 업데이트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마곡 윤활실험동에 대한 납품완료 지시자 IMG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</a:p>
        </p:txBody>
      </p:sp>
      <p:sp>
        <p:nvSpPr>
          <p:cNvPr id="157145554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62935078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</a:p>
        </p:txBody>
      </p:sp>
      <p:sp>
        <p:nvSpPr>
          <p:cNvPr id="116209584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</a:p>
        </p:txBody>
      </p:sp>
      <p:sp>
        <p:nvSpPr>
          <p:cNvPr id="183490220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484205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01271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0822030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7553462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8839932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128772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12540057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6599654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480999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6974233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3974111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0923206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7429583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2147688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4343927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2846958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</a:p>
        </p:txBody>
      </p:sp>
      <p:sp>
        <p:nvSpPr>
          <p:cNvPr id="49882513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</a:p>
        </p:txBody>
      </p:sp>
      <p:sp>
        <p:nvSpPr>
          <p:cNvPr id="187299691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42534963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39889664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35939206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솔맨7.2 F/S 체크, Oracle DB TableSpace 확인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Datafile 추가 점검작업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신규 DMS서버 MaxDB 데이타파일 추가 및 AutoL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og 파일 삭제작업</a:t>
            </a:r>
          </a:p>
        </p:txBody>
      </p:sp>
      <p:sp>
        <p:nvSpPr>
          <p:cNvPr id="58761607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</a:p>
        </p:txBody>
      </p:sp>
      <p:sp>
        <p:nvSpPr>
          <p:cNvPr id="175374010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</a:p>
        </p:txBody>
      </p:sp>
      <p:sp>
        <p:nvSpPr>
          <p:cNvPr id="125121305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</a:p>
        </p:txBody>
      </p:sp>
      <p:sp>
        <p:nvSpPr>
          <p:cNvPr id="78191982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6472267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5720293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</a:p>
        </p:txBody>
      </p:sp>
      <p:sp>
        <p:nvSpPr>
          <p:cNvPr id="102430874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</a:p>
        </p:txBody>
      </p:sp>
      <p:sp>
        <p:nvSpPr>
          <p:cNvPr id="124699811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한 권으로 끝내는 웹 기본 교과서 : CSS공부하기</a:t>
            </a:r>
          </a:p>
        </p:txBody>
      </p:sp>
      <p:sp>
        <p:nvSpPr>
          <p:cNvPr id="117742952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21344723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40677548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한 권으로 끝내는 웹 기본 교과서 : HTML공부하기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한 권으로 끝내는 웹 기본 교과서 : CSS공부하기</a:t>
            </a:r>
          </a:p>
        </p:txBody>
      </p:sp>
      <p:sp>
        <p:nvSpPr>
          <p:cNvPr id="133854687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</a:p>
        </p:txBody>
      </p:sp>
      <p:sp>
        <p:nvSpPr>
          <p:cNvPr id="202801453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75531087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</a:p>
        </p:txBody>
      </p:sp>
      <p:sp>
        <p:nvSpPr>
          <p:cNvPr id="112204421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3256387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93601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619944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8028994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2537531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5729754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5585894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0917551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274527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0934013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0082816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3737730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8279511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3123129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1437968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9215251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46158462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203626811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02098737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43049427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46837359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사고 복구 비용 집계를 위한 IT 시스템 개선 요청* 월별 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고복구비 집계조회 리포트 개발</a:t>
            </a:r>
          </a:p>
        </p:txBody>
      </p:sp>
      <p:sp>
        <p:nvSpPr>
          <p:cNvPr id="150520842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03545860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br/>
          </a:p>
        </p:txBody>
      </p:sp>
      <p:sp>
        <p:nvSpPr>
          <p:cNvPr id="196083362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</a:p>
        </p:txBody>
      </p:sp>
      <p:sp>
        <p:nvSpPr>
          <p:cNvPr id="26763724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0169648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5468929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167460583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</a:p>
        </p:txBody>
      </p:sp>
      <p:sp>
        <p:nvSpPr>
          <p:cNvPr id="192499009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인사정보 요청서 개발 요청 건 분석</a:t>
            </a:r>
          </a:p>
        </p:txBody>
      </p:sp>
      <p:sp>
        <p:nvSpPr>
          <p:cNvPr id="7650983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60605079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05919617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ITSM-108024 HCM 평가결과조회 면담관리 제외 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특근 과다 발생 예외 적용 메뉴 개발 요청 건 분석- 인사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정보요청서 업무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ITSM-108259 고정/변동공제 승인권자 변경 요청- 휴무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쿼터(생휴) 미발생 오류관련 원인 조사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업무문의 대응 : 고정/변동 공제 승인시 오류 대응 / 연중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임원승진자에 대한 연차쿼터 조정 문의 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휴무쿼터(생휴) 미발생 오류관련 원인 조사- ITSM-1084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55 지방사택 변동성 경비 관리 버그 수정</a:t>
            </a:r>
          </a:p>
        </p:txBody>
      </p:sp>
      <p:sp>
        <p:nvSpPr>
          <p:cNvPr id="62297881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</a:p>
        </p:txBody>
      </p:sp>
      <p:sp>
        <p:nvSpPr>
          <p:cNvPr id="152290774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</a:p>
        </p:txBody>
      </p:sp>
      <p:sp>
        <p:nvSpPr>
          <p:cNvPr id="145831729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</a:p>
        </p:txBody>
      </p:sp>
      <p:sp>
        <p:nvSpPr>
          <p:cNvPr id="203063765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9637031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34986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2290966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7180325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4538599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8445921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3896782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4249087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4072817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4786016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2073107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0555196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9448008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4662934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5661758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1635642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106743132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</a:p>
        </p:txBody>
      </p:sp>
      <p:sp>
        <p:nvSpPr>
          <p:cNvPr id="133135368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근로소득 원천징수명세서 내 국외소득 합산 오류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생산직 평가 대상자 정보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퇴직연금 운용방식 변경 신청서 개발 - PDF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생리휴가 매월 쿼터 자동 발생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뉴펜션 메뉴 개선 요청</a:t>
            </a:r>
          </a:p>
        </p:txBody>
      </p:sp>
      <p:sp>
        <p:nvSpPr>
          <p:cNvPr id="119368914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85726574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91113388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생리휴가 매월 쿼터 자동 발생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해외출장시 국내/해외출장 기간 CP 사원검색의 상태란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반영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퇴직연금 운용방식 변경 신청서 개발 - PDF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병가현황 기간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격려금 데이터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퇴직신청 알람 메일 수신자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SAP 자격수당코드명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외국어 시험 등급 추가 기재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뉴펜션 메뉴 개선 요청</a:t>
            </a:r>
          </a:p>
        </p:txBody>
      </p:sp>
      <p:sp>
        <p:nvSpPr>
          <p:cNvPr id="176006369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49877249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175988256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</a:p>
        </p:txBody>
      </p:sp>
      <p:sp>
        <p:nvSpPr>
          <p:cNvPr id="142655104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1827027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232325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193219549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49985500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차)02/201. ZSDR1040/ZSDR1040N/ZSDR1041 라디오버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튼 추가 및 SELECT 후 KRX필터링 로직추가2. ZSDR5212/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ZSDR5212N/ZSDR5213 용도 선택조건 추가 및 용도가 KRX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인경우 빌링취소차단 (남해화학만 예외)3. ZSDR5680/ZSDR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5680A/ZSDR5682/ZSDR5682 ABRVW필드 이미 있어 사용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-&gt;용도로 이름변경4. 확인하였으나 하드코딩되어있는 부분은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ZSDR1230 C_VTWEG '30' 이외에 없음02/211. ZSD_RFC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_EWEB_SO_EXECUTE KRX 하드코딩 주석처리2. ZSDR123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0_TOP VTWEG 30-&gt;20 변경</a:t>
            </a:r>
          </a:p>
        </p:txBody>
      </p:sp>
      <p:sp>
        <p:nvSpPr>
          <p:cNvPr id="191342397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12880071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74399716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차)02/201. ZSDR1040/ZSDR1040N/ZSDR1041 라디오버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튼 추가 및 SELECT 후 KRX필터링 로직추가2. ZSDR5212/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ZSDR5212N/ZSDR5213 용도 선택조건 추가 및 용도가 KRX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인경우 빌링취소차단 (남해화학만 예외)3. ZSDR5680/ZSDR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5680A/ZSDR5682/ZSDR5682 ABRVW필드 이미 있어 사용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-&gt;용도로 이름변경4. 확인하였으나 하드코딩되어있는 부분은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ZSDR1230 C_VTWEG '30' 이외에 없음02/211. ZSD_RFC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_EWEB_SO_EXECUTE KRX 하드코딩 주석처리2. ZSDR123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0_TOP VTWEG 30-&gt;20 변경03/051. EXIT 에서 구분유형 K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RX일경우 특정로직 타지 않도록 조건 추가03/071. KRX일경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우 가격결정그룹 하드코딩</a:t>
            </a:r>
          </a:p>
        </p:txBody>
      </p:sp>
      <p:sp>
        <p:nvSpPr>
          <p:cNvPr id="58773233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89453534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93254849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124755494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8970755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04507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5238282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0974066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536022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1293491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99621393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1979350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30335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4389772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104699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1271608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5102950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325000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1602819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2795340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158929111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</a:p>
        </p:txBody>
      </p:sp>
      <p:sp>
        <p:nvSpPr>
          <p:cNvPr id="9727915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취약점조치(불충분한인증)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</a:p>
        </p:txBody>
      </p:sp>
      <p:sp>
        <p:nvSpPr>
          <p:cNvPr id="34642227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65833489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75178850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취약점조치(데이터평문전송)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취약점조치(불충분한인증)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</a:p>
        </p:txBody>
      </p:sp>
      <p:sp>
        <p:nvSpPr>
          <p:cNvPr id="125838587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189163144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br/>
          </a:p>
        </p:txBody>
      </p:sp>
      <p:sp>
        <p:nvSpPr>
          <p:cNvPr id="101639654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</a:p>
        </p:txBody>
      </p:sp>
      <p:sp>
        <p:nvSpPr>
          <p:cNvPr id="180374233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2649298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3453813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07588739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101886958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</a:p>
        </p:txBody>
      </p:sp>
      <p:sp>
        <p:nvSpPr>
          <p:cNvPr id="208968786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50485625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52850479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Dashboard사이버보안 컴플라이언스 점검 결과에 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른 개선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[ITSM-108397]마감계유 항목중 부문수불의 BCC 병합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</a:t>
            </a:r>
          </a:p>
        </p:txBody>
      </p:sp>
      <p:sp>
        <p:nvSpPr>
          <p:cNvPr id="84634777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</a:p>
        </p:txBody>
      </p:sp>
      <p:sp>
        <p:nvSpPr>
          <p:cNvPr id="105131196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</a:p>
        </p:txBody>
      </p:sp>
      <p:sp>
        <p:nvSpPr>
          <p:cNvPr id="46024619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</a:p>
        </p:txBody>
      </p:sp>
      <p:sp>
        <p:nvSpPr>
          <p:cNvPr id="43575394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8613884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51455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1244142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6657918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6651061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571175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3359455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5523758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9240129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4152578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1647129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6870105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9105830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7564178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0730808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2898376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75750948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</a:p>
        </p:txBody>
      </p:sp>
      <p:sp>
        <p:nvSpPr>
          <p:cNvPr id="210666932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CI 시설 대금청구 매뉴에서 PR 일괄 생성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유외사업 관리 보완 요청</a:t>
            </a:r>
          </a:p>
        </p:txBody>
      </p:sp>
      <p:sp>
        <p:nvSpPr>
          <p:cNvPr id="133957338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47555400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6802329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CI 시설 대금청구 매뉴에서 PR 일괄 생성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유외사업 관리 보완 요청</a:t>
            </a:r>
          </a:p>
        </p:txBody>
      </p:sp>
      <p:sp>
        <p:nvSpPr>
          <p:cNvPr id="188959003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211086068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</a:p>
        </p:txBody>
      </p:sp>
      <p:sp>
        <p:nvSpPr>
          <p:cNvPr id="58410089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</a:p>
        </p:txBody>
      </p:sp>
      <p:sp>
        <p:nvSpPr>
          <p:cNvPr id="123582298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6792034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6555466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182824756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</a:p>
        </p:txBody>
      </p:sp>
      <p:sp>
        <p:nvSpPr>
          <p:cNvPr id="181385446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79322029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46106547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10583254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BI DashBoard S24 설치 이슈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ITSM-104414 변경요청서 삭제ITSM-108237 변경요청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삭제ITSM-108212 담당자 변경ITSM-108244 변경결과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작성ITSM-96798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퇴사자 계정정리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인사 이동으로 인한 사용자 지사 변겅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ITSM-107840 변경결과 작성ITSM-108417 변경결과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작성ITSM-108417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prm 자동배포 이슈</a:t>
            </a:r>
          </a:p>
        </p:txBody>
      </p:sp>
      <p:sp>
        <p:nvSpPr>
          <p:cNvPr id="202720046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</a:p>
        </p:txBody>
      </p:sp>
      <p:sp>
        <p:nvSpPr>
          <p:cNvPr id="1212273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</a:p>
        </p:txBody>
      </p:sp>
      <p:sp>
        <p:nvSpPr>
          <p:cNvPr id="174474583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</a:p>
        </p:txBody>
      </p:sp>
      <p:sp>
        <p:nvSpPr>
          <p:cNvPr id="95670153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028310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46387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0710881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6984919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1988969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2210878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97720488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6574529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8605880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606713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8850741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181754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9809302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1943732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2339401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0523706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80089526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</a:p>
        </p:txBody>
      </p:sp>
      <p:sp>
        <p:nvSpPr>
          <p:cNvPr id="164994741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'자금운영팀 - #4 외화송금대사' 작업 Mig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ration </a:t>
            </a:r>
          </a:p>
        </p:txBody>
      </p:sp>
      <p:sp>
        <p:nvSpPr>
          <p:cNvPr id="40739406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08034093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28064883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'회계팀 - #1 회계지급계좌 증빙대사'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-  '다운실패(2)' 예외처리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'자금운영팀 - #2 외화지급계좌 증빙대사'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작업 Migration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AA 오작동 PC 재부팅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'법인영업팀 - 항공사 매출입력' 작업 수행 및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확인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'생산조정팀 - 전표처리' 작업 수행 및 오류 수정,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 '자금운영팀 - Weekly Economic Indicator' 작업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수행 및 좌표수정,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인터페이스 정의서 RPA 수행 및 보수</a:t>
            </a:r>
          </a:p>
        </p:txBody>
      </p:sp>
      <p:sp>
        <p:nvSpPr>
          <p:cNvPr id="86147406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</a:p>
        </p:txBody>
      </p:sp>
      <p:sp>
        <p:nvSpPr>
          <p:cNvPr id="177754438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</a:p>
        </p:txBody>
      </p:sp>
      <p:sp>
        <p:nvSpPr>
          <p:cNvPr id="20947631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</a:p>
        </p:txBody>
      </p:sp>
      <p:sp>
        <p:nvSpPr>
          <p:cNvPr id="132332378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9200966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265167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72200615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</a:p>
        </p:txBody>
      </p:sp>
      <p:sp>
        <p:nvSpPr>
          <p:cNvPr id="173910638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ERP (SAP PM) 작업요청 시 작업환경위험도 입력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PSORMS Interface Attribute 추가</a:t>
            </a:r>
          </a:p>
        </p:txBody>
      </p:sp>
      <p:sp>
        <p:nvSpPr>
          <p:cNvPr id="8432146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63195146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22963578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대주주감사 지적사항 F/up을 위한 시스템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법인휴대폰 해외 데이터로밍 신청서 수정/신규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청서 도입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지류상품권 구매신청서 수정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SMM_PR I/F 필드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ERP (SAP PM) 작업요청 시 작업환경위험도 입력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PSORMS Interface Attribute 추가</a:t>
            </a:r>
          </a:p>
        </p:txBody>
      </p:sp>
      <p:sp>
        <p:nvSpPr>
          <p:cNvPr id="179529410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153626036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</a:p>
        </p:txBody>
      </p:sp>
      <p:sp>
        <p:nvSpPr>
          <p:cNvPr id="68445277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</a:p>
        </p:txBody>
      </p:sp>
      <p:sp>
        <p:nvSpPr>
          <p:cNvPr id="93270907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8330779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81031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9657479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7688684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3967564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242684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9182311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4349513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4499171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0851186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740162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3991064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1470626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7622454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6904115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58395368" name="Text">
    </p:cNvPr>
          <p:cNvSpPr>
            <a:spLocks noGrp="1"/>
          </p:cNvSpPr>
          <p:nvPr/>
        </p:nvSpPr>
        <p:spPr>
          <a:xfrm rot="0">
            <a:off x="97028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29476074" name="Text">
    </p:cNvPr>
          <p:cNvSpPr>
            <a:spLocks noGrp="1"/>
          </p:cNvSpPr>
          <p:nvPr/>
        </p:nvSpPr>
        <p:spPr>
          <a:xfrm rot="0">
            <a:off x="93345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233953553" name="Text">
    </p:cNvPr>
          <p:cNvSpPr>
            <a:spLocks noGrp="1"/>
          </p:cNvSpPr>
          <p:nvPr/>
        </p:nvSpPr>
        <p:spPr>
          <a:xfrm rot="0">
            <a:off x="5930900" y="1511300"/>
            <a:ext cx="3403600" cy="3797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 전자결재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결제완료문서 일관로 인쇄 가능하도록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OSPM 편의성 수정 -&gt; 메뉴(작업계획서)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		-&gt; 프로시저 수정, 페이징처리</a:t>
            </a:r>
            <a:br/>
          </a:p>
        </p:txBody>
      </p:sp>
      <p:sp>
        <p:nvSpPr>
          <p:cNvPr id="1618655217" name="Text">
    </p:cNvPr>
          <p:cNvSpPr>
            <a:spLocks noGrp="1"/>
          </p:cNvSpPr>
          <p:nvPr/>
        </p:nvSpPr>
        <p:spPr>
          <a:xfrm rot="0">
            <a:off x="5308600" y="1511300"/>
            <a:ext cx="5715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2026306275" name="Text">
    </p:cNvPr>
          <p:cNvSpPr>
            <a:spLocks noGrp="1"/>
          </p:cNvSpPr>
          <p:nvPr/>
        </p:nvSpPr>
        <p:spPr>
          <a:xfrm rot="0">
            <a:off x="88900" y="1511300"/>
            <a:ext cx="5715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999607685" name="Text">
    </p:cNvPr>
          <p:cNvSpPr>
            <a:spLocks noGrp="1"/>
          </p:cNvSpPr>
          <p:nvPr/>
        </p:nvSpPr>
        <p:spPr>
          <a:xfrm rot="0">
            <a:off x="711200" y="1511300"/>
            <a:ext cx="3403600" cy="3797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 전자결재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결제완료문서 일관로 인쇄 가능하도록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OSPM 편의성 수정 -&gt; 메뉴(작업계획서)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		-&gt; 프로시저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ITSM-108095 -&gt; 기성보고서 첨부파일 교체요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ITSM-108155 -&gt; 결재완료 협조문 수정요청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ITSM-108176 -&gt; 기성보고서 결재월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ITSM-108241 -&gt; 대표이사 사용인감 날인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서의 첨부결재문서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ITSM-108238 -&gt; 용역 체결기안의 첨부파일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ITSM-108213 -&gt; 교육훈련신청서 상 품의서 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ITSM-108212 -&gt; 안전보건검토 결과서의 중처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법 검토자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ITSM-108390 -&gt; 공장 문서 수신담당자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ITSM-108389 -&gt; 소액구매요구/승인서 양식내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예산부서 코스트센터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자산취득통지서 담당 CP결재선 변경 (변경전: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유성규, 변경후: 박성식)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ITSM-108013 -&gt; OSPM 작업계획 승인 일자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변경 요청</a:t>
            </a:r>
            <a:br/>
          </a:p>
        </p:txBody>
      </p:sp>
      <p:sp>
        <p:nvSpPr>
          <p:cNvPr id="1528247898" name="Text">
    </p:cNvPr>
          <p:cNvSpPr>
            <a:spLocks noGrp="1"/>
          </p:cNvSpPr>
          <p:nvPr/>
        </p:nvSpPr>
        <p:spPr>
          <a:xfrm rot="0">
            <a:off x="44831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</a:p>
        </p:txBody>
      </p:sp>
      <p:sp>
        <p:nvSpPr>
          <p:cNvPr id="1860683766" name="Text">
    </p:cNvPr>
          <p:cNvSpPr>
            <a:spLocks noGrp="1"/>
          </p:cNvSpPr>
          <p:nvPr/>
        </p:nvSpPr>
        <p:spPr>
          <a:xfrm rot="0">
            <a:off x="48514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</a:p>
        </p:txBody>
      </p:sp>
      <p:sp>
        <p:nvSpPr>
          <p:cNvPr id="557398315" name="Text">
    </p:cNvPr>
          <p:cNvSpPr>
            <a:spLocks noGrp="1"/>
          </p:cNvSpPr>
          <p:nvPr/>
        </p:nvSpPr>
        <p:spPr>
          <a:xfrm rot="0">
            <a:off x="41148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</a:p>
        </p:txBody>
      </p:sp>
      <p:sp>
        <p:nvSpPr>
          <p:cNvPr id="706806070" name="Text">
    </p:cNvPr>
          <p:cNvSpPr>
            <a:spLocks noGrp="1"/>
          </p:cNvSpPr>
          <p:nvPr/>
        </p:nvSpPr>
        <p:spPr>
          <a:xfrm rot="0">
            <a:off x="660400" y="1511300"/>
            <a:ext cx="34544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4662606" name="Text">
    </p:cNvPr>
          <p:cNvSpPr>
            <a:spLocks noGrp="1"/>
          </p:cNvSpPr>
          <p:nvPr/>
        </p:nvSpPr>
        <p:spPr>
          <a:xfrm rot="0">
            <a:off x="5880100" y="1511300"/>
            <a:ext cx="34544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31251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8681090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8392079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8567069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9675535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337323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2352349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3074008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038184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0272613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0144924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4042122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48752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9010511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34617424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1698185183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</a:p>
        </p:txBody>
      </p:sp>
      <p:sp>
        <p:nvSpPr>
          <p:cNvPr id="296314302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정기적검토 메일링 주기 설정 및 변경 건에 대해 일정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검 및 운영 반영 지원 예정(ERS 정기적검토 주기 변경 및 메일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알람 기능 개선)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사이버보안 컴플라이언스 점검 결과 프로그램 개선 요청</a:t>
            </a:r>
          </a:p>
        </p:txBody>
      </p:sp>
      <p:sp>
        <p:nvSpPr>
          <p:cNvPr id="737951946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382326639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841729198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정기적검토 메일링 주기 설정 및 변경 건에 대해 일정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검 및 운영 반영 지원 예정(ERS 정기적검토 주기 변경 및 메일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알람 기능 개선)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모바일 크롬브라우저로 이러닝 강의 수강시 진도율 저장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오류 관련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규정관리 기안지 중복 작성으로 인한 중복데이터 오류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유밥 스마트러닝 3월 연계 데이터 확인(2/15~2/29)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사이버보안 컴플라이언스 점검 결과 프로그램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ITSM-108213 UCH 안전보건관리책임자 교육훈련신청서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상 품의서 첨부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새로 부서이동하신 S&amp;H기획팀 양원수,정상은 책임 조회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안됨 문의, 권한 매핑</a:t>
            </a:r>
          </a:p>
        </p:txBody>
      </p:sp>
      <p:sp>
        <p:nvSpPr>
          <p:cNvPr id="1752548288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</a:p>
        </p:txBody>
      </p:sp>
      <p:sp>
        <p:nvSpPr>
          <p:cNvPr id="566633492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</a:p>
        </p:txBody>
      </p:sp>
      <p:sp>
        <p:nvSpPr>
          <p:cNvPr id="2037186028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</a:p>
        </p:txBody>
      </p:sp>
      <p:sp>
        <p:nvSpPr>
          <p:cNvPr id="361650395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94864745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38068125" name="Text">
    </p:cNvPr>
          <p:cNvSpPr>
            <a:spLocks noGrp="1"/>
          </p:cNvSpPr>
          <p:nvPr/>
        </p:nvSpPr>
        <p:spPr>
          <a:xfrm rot="0">
            <a:off x="9702800" y="37846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</a:p>
        </p:txBody>
      </p:sp>
      <p:sp>
        <p:nvSpPr>
          <p:cNvPr id="1573424278" name="Text">
    </p:cNvPr>
          <p:cNvSpPr>
            <a:spLocks noGrp="1"/>
          </p:cNvSpPr>
          <p:nvPr/>
        </p:nvSpPr>
        <p:spPr>
          <a:xfrm rot="0">
            <a:off x="9334500" y="37846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</a:p>
        </p:txBody>
      </p:sp>
      <p:sp>
        <p:nvSpPr>
          <p:cNvPr id="988237684" name="Text">
    </p:cNvPr>
          <p:cNvSpPr>
            <a:spLocks noGrp="1"/>
          </p:cNvSpPr>
          <p:nvPr/>
        </p:nvSpPr>
        <p:spPr>
          <a:xfrm rot="0">
            <a:off x="5930900" y="37846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협력업체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사용계정에 대한 만료기간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 -&gt; 모바일상품권 전환 관련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회수 현황 프로그램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회수 데이터 관련 액면가 0으로 표기된 데이터 수정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보완</a:t>
            </a:r>
          </a:p>
        </p:txBody>
      </p:sp>
      <p:sp>
        <p:nvSpPr>
          <p:cNvPr id="1989886715" name="Text">
    </p:cNvPr>
          <p:cNvSpPr>
            <a:spLocks noGrp="1"/>
          </p:cNvSpPr>
          <p:nvPr/>
        </p:nvSpPr>
        <p:spPr>
          <a:xfrm rot="0">
            <a:off x="5308600" y="37846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427147223" name="Text">
    </p:cNvPr>
          <p:cNvSpPr>
            <a:spLocks noGrp="1"/>
          </p:cNvSpPr>
          <p:nvPr/>
        </p:nvSpPr>
        <p:spPr>
          <a:xfrm rot="0">
            <a:off x="88900" y="37846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2598355" name="Text">
    </p:cNvPr>
          <p:cNvSpPr>
            <a:spLocks noGrp="1"/>
          </p:cNvSpPr>
          <p:nvPr/>
        </p:nvSpPr>
        <p:spPr>
          <a:xfrm rot="0">
            <a:off x="711200" y="37846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자재 관리 어플 비번 초기화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자재관리 검수 관련 권한 추가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WMS HQWMSDEV01 개발 서버 EOS에 따른 서버 이관 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련 호환성 검토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협력업체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사용계정에 대한 만료기간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지류상품권 기회수 상품권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 모바일상품권 전환 데이터 오류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대리점영업팀 1차 회수 내용 및 2차 회수 내용 데이터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추출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SP305 시나리오 승인권자 변경 요청박성훈상무님 -&gt; 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용만팀장님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나영훈 책임님 EWS 관리자 권한 회수 및 시나리오 권한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회수</a:t>
            </a:r>
          </a:p>
        </p:txBody>
      </p:sp>
      <p:sp>
        <p:nvSpPr>
          <p:cNvPr id="6053840" name="Text">
    </p:cNvPr>
          <p:cNvSpPr>
            <a:spLocks noGrp="1"/>
          </p:cNvSpPr>
          <p:nvPr/>
        </p:nvSpPr>
        <p:spPr>
          <a:xfrm rot="0">
            <a:off x="4483100" y="37846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</a:p>
        </p:txBody>
      </p:sp>
      <p:sp>
        <p:nvSpPr>
          <p:cNvPr id="754735546" name="Text">
    </p:cNvPr>
          <p:cNvSpPr>
            <a:spLocks noGrp="1"/>
          </p:cNvSpPr>
          <p:nvPr/>
        </p:nvSpPr>
        <p:spPr>
          <a:xfrm rot="0">
            <a:off x="4851400" y="37846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</a:p>
        </p:txBody>
      </p:sp>
      <p:sp>
        <p:nvSpPr>
          <p:cNvPr id="407093493" name="Text">
    </p:cNvPr>
          <p:cNvSpPr>
            <a:spLocks noGrp="1"/>
          </p:cNvSpPr>
          <p:nvPr/>
        </p:nvSpPr>
        <p:spPr>
          <a:xfrm rot="0">
            <a:off x="4114800" y="37846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</a:p>
        </p:txBody>
      </p:sp>
      <p:sp>
        <p:nvSpPr>
          <p:cNvPr id="434132234" name="Text">
    </p:cNvPr>
          <p:cNvSpPr>
            <a:spLocks noGrp="1"/>
          </p:cNvSpPr>
          <p:nvPr/>
        </p:nvSpPr>
        <p:spPr>
          <a:xfrm rot="0">
            <a:off x="660400" y="37846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65705785" name="Text">
    </p:cNvPr>
          <p:cNvSpPr>
            <a:spLocks noGrp="1"/>
          </p:cNvSpPr>
          <p:nvPr/>
        </p:nvSpPr>
        <p:spPr>
          <a:xfrm rot="0">
            <a:off x="5880100" y="37846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45841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6597384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8464976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8919191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6505375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17082992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4781163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0099887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4588398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0734548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0336234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9228677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5089614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9703158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4291441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38529290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</a:p>
        </p:txBody>
      </p:sp>
      <p:sp>
        <p:nvSpPr>
          <p:cNvPr id="186838840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messagesource-context.xml 내 'createOnMessageNot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Found' value='false' 변경 적합성 검토 및 적용 (운영)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PRM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 인수인계 (이지은 → 서상희 사원)</a:t>
            </a:r>
          </a:p>
        </p:txBody>
      </p:sp>
      <p:sp>
        <p:nvSpPr>
          <p:cNvPr id="165910719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60013442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3169053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HOME &gt; 물류비 현황 내 'pipeline' 1월 데이터 미출력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건 확인 (TS_TRANS_COST 테이블 데이터 수신 체크)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EMRO 1분기 정기점검 (2024) [임상근 매니저님]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messagesource-context.xml 내 'createOnMessageNot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Found' value='false' 변경 적합성 검토 (다국어 지원 기능이나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서버부하 가능성이 있어 '미사용' 고려) (개발)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 인수인계 (이지은 → 서상희 사원)</a:t>
            </a:r>
          </a:p>
        </p:txBody>
      </p:sp>
      <p:sp>
        <p:nvSpPr>
          <p:cNvPr id="13986311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197887641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209137926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</a:p>
        </p:txBody>
      </p:sp>
      <p:sp>
        <p:nvSpPr>
          <p:cNvPr id="19442559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4486439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7438478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51807654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</a:p>
        </p:txBody>
      </p:sp>
      <p:sp>
        <p:nvSpPr>
          <p:cNvPr id="55145087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2024.1월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</a:p>
        </p:txBody>
      </p:sp>
      <p:sp>
        <p:nvSpPr>
          <p:cNvPr id="132061811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70675624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03298414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2024.1월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SMM_PR I/F 필드 추가 (구매요구서 E-Office 전송)</a:t>
            </a:r>
          </a:p>
        </p:txBody>
      </p:sp>
      <p:sp>
        <p:nvSpPr>
          <p:cNvPr id="185969888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41715266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</a:p>
        </p:txBody>
      </p:sp>
      <p:sp>
        <p:nvSpPr>
          <p:cNvPr id="86628135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</a:p>
        </p:txBody>
      </p:sp>
      <p:sp>
        <p:nvSpPr>
          <p:cNvPr id="50641094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181721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844025994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삼일절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 / 31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03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