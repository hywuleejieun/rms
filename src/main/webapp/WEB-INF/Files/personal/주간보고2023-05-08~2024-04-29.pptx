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  <p:sldId id="2567" r:id="rId7"/>
    <p:sldId id="2568" r:id="rId8"/>
    <p:sldId id="2569" r:id="rId9"/>
    <p:sldId id="25610" r:id="rId10"/>
    <p:sldId id="25611" r:id="rId11"/>
    <p:sldId id="25612" r:id="rId12"/>
    <p:sldId id="25613" r:id="rId13"/>
    <p:sldId id="25614" r:id="rId14"/>
    <p:sldId id="25615" r:id="rId15"/>
    <p:sldId id="25616" r:id="rId16"/>
    <p:sldId id="25617" r:id="rId17"/>
    <p:sldId id="25618" r:id="rId18"/>
    <p:sldId id="25619" r:id="rId19"/>
    <p:sldId id="25620" r:id="rId20"/>
    <p:sldId id="25621" r:id="rId21"/>
    <p:sldId id="25622" r:id="rId22"/>
    <p:sldId id="25623" r:id="rId23"/>
    <p:sldId id="25624" r:id="rId24"/>
    <p:sldId id="25625" r:id="rId25"/>
    <p:sldId id="25626" r:id="rId26"/>
    <p:sldId id="25627" r:id="rId27"/>
    <p:sldId id="25628" r:id="rId28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
<Relationship Id="rId11" Type="http://schemas.openxmlformats.org/officeDocument/2006/relationships/slide" Target="slides/slide11.xml"/>
<Relationship Id="rId12" Type="http://schemas.openxmlformats.org/officeDocument/2006/relationships/slide" Target="slides/slide12.xml"/>
<Relationship Id="rId13" Type="http://schemas.openxmlformats.org/officeDocument/2006/relationships/slide" Target="slides/slide13.xml"/>
<Relationship Id="rId14" Type="http://schemas.openxmlformats.org/officeDocument/2006/relationships/slide" Target="slides/slide14.xml"/>
<Relationship Id="rId15" Type="http://schemas.openxmlformats.org/officeDocument/2006/relationships/slide" Target="slides/slide15.xml"/>
<Relationship Id="rId16" Type="http://schemas.openxmlformats.org/officeDocument/2006/relationships/slide" Target="slides/slide16.xml"/>
<Relationship Id="rId17" Type="http://schemas.openxmlformats.org/officeDocument/2006/relationships/slide" Target="slides/slide17.xml"/>
<Relationship Id="rId18" Type="http://schemas.openxmlformats.org/officeDocument/2006/relationships/slide" Target="slides/slide18.xml"/>
<Relationship Id="rId19" Type="http://schemas.openxmlformats.org/officeDocument/2006/relationships/slide" Target="slides/slide19.xml"/>
<Relationship Id="rId20" Type="http://schemas.openxmlformats.org/officeDocument/2006/relationships/slide" Target="slides/slide20.xml"/>
<Relationship Id="rId21" Type="http://schemas.openxmlformats.org/officeDocument/2006/relationships/slide" Target="slides/slide21.xml"/>
<Relationship Id="rId22" Type="http://schemas.openxmlformats.org/officeDocument/2006/relationships/slide" Target="slides/slide22.xml"/>
<Relationship Id="rId23" Type="http://schemas.openxmlformats.org/officeDocument/2006/relationships/slide" Target="slides/slide23.xml"/>
<Relationship Id="rId24" Type="http://schemas.openxmlformats.org/officeDocument/2006/relationships/slide" Target="slides/slide24.xml"/>
<Relationship Id="rId25" Type="http://schemas.openxmlformats.org/officeDocument/2006/relationships/slide" Target="slides/slide25.xml"/>
<Relationship Id="rId26" Type="http://schemas.openxmlformats.org/officeDocument/2006/relationships/slide" Target="slides/slide26.xml"/>
<Relationship Id="rId27" Type="http://schemas.openxmlformats.org/officeDocument/2006/relationships/slide" Target="slides/slide27.xml"/>
<Relationship Id="rId28" Type="http://schemas.openxmlformats.org/officeDocument/2006/relationships/slide" Target="slides/slide28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1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1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1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1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1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17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18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19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0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7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8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65396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2609572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4816539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9465701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227329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 - 제출일 : 2023-05-15</a:t>
            </a:r>
          </a:p>
        </p:txBody>
      </p:sp>
      <p:sp>
        <p:nvSpPr>
          <p:cNvPr id="184581299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9849506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0722179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10379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5065825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4663137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15180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7795886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6273943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37381645" name="Text">
    </p:cNvPr>
          <p:cNvSpPr>
            <a:spLocks noGrp="1"/>
          </p:cNvSpPr>
          <p:nvPr/>
        </p:nvSpPr>
        <p:spPr>
          <a:xfrm rot="0">
            <a:off x="9702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05/19</a:t>
            </a:r>
            <a:br/>
            <a:br/>
          </a:p>
        </p:txBody>
      </p:sp>
      <p:sp>
        <p:nvSpPr>
          <p:cNvPr id="1017627458" name="Text">
    </p:cNvPr>
          <p:cNvSpPr>
            <a:spLocks noGrp="1"/>
          </p:cNvSpPr>
          <p:nvPr/>
        </p:nvSpPr>
        <p:spPr>
          <a:xfrm rot="0">
            <a:off x="93345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br/>
          </a:p>
        </p:txBody>
      </p:sp>
      <p:sp>
        <p:nvSpPr>
          <p:cNvPr id="1220035955" name="Text">
    </p:cNvPr>
          <p:cNvSpPr>
            <a:spLocks noGrp="1"/>
          </p:cNvSpPr>
          <p:nvPr/>
        </p:nvSpPr>
        <p:spPr>
          <a:xfrm rot="0">
            <a:off x="5930900" y="15113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CRM 자동 배포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epro 자동 배포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계획보드 가용차량 조회 쿼리 수정미배차문자전송 주출발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지 추가</a:t>
            </a:r>
          </a:p>
        </p:txBody>
      </p:sp>
      <p:sp>
        <p:nvSpPr>
          <p:cNvPr id="425364704" name="Text">
    </p:cNvPr>
          <p:cNvSpPr>
            <a:spLocks noGrp="1"/>
          </p:cNvSpPr>
          <p:nvPr/>
        </p:nvSpPr>
        <p:spPr>
          <a:xfrm rot="0">
            <a:off x="53086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779542819" name="Text">
    </p:cNvPr>
          <p:cNvSpPr>
            <a:spLocks noGrp="1"/>
          </p:cNvSpPr>
          <p:nvPr/>
        </p:nvSpPr>
        <p:spPr>
          <a:xfrm rot="0">
            <a:off x="889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751405692" name="Text">
    </p:cNvPr>
          <p:cNvSpPr>
            <a:spLocks noGrp="1"/>
          </p:cNvSpPr>
          <p:nvPr/>
        </p:nvSpPr>
        <p:spPr>
          <a:xfrm rot="0">
            <a:off x="711200" y="15113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CRM 자동배포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epro 자동 배포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계획보드 가용차량 조회 쿼리 수정미배차문자전송 주출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발지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ITSM-94549 작업유형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atss 거리 및 요율 입력atss 월누적수송비 와 erp 월누적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수송비 상이 값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ITSM-94858 견적서 삭제ITSM-94872 변경결과 작성I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TSM-94871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JIRA(WSS 점검 스텝) 회의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정기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ITSM-94959 변경결과 작성ITSM-94716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ITSM-95075 변경결과 작성ITSM-95105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그룹웨어 사용자 패스워드 재설정</a:t>
            </a:r>
          </a:p>
        </p:txBody>
      </p:sp>
      <p:sp>
        <p:nvSpPr>
          <p:cNvPr id="642826571" name="Text">
    </p:cNvPr>
          <p:cNvSpPr>
            <a:spLocks noGrp="1"/>
          </p:cNvSpPr>
          <p:nvPr/>
        </p:nvSpPr>
        <p:spPr>
          <a:xfrm rot="0">
            <a:off x="44831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05/12</a:t>
            </a:r>
            <a:br/>
          </a:p>
        </p:txBody>
      </p:sp>
      <p:sp>
        <p:nvSpPr>
          <p:cNvPr id="1797289197" name="Text">
    </p:cNvPr>
          <p:cNvSpPr>
            <a:spLocks noGrp="1"/>
          </p:cNvSpPr>
          <p:nvPr/>
        </p:nvSpPr>
        <p:spPr>
          <a:xfrm rot="0">
            <a:off x="48514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05/12</a:t>
            </a:r>
            <a:br/>
          </a:p>
        </p:txBody>
      </p:sp>
      <p:sp>
        <p:nvSpPr>
          <p:cNvPr id="1925644115" name="Text">
    </p:cNvPr>
          <p:cNvSpPr>
            <a:spLocks noGrp="1"/>
          </p:cNvSpPr>
          <p:nvPr/>
        </p:nvSpPr>
        <p:spPr>
          <a:xfrm rot="0">
            <a:off x="4114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05/12</a:t>
            </a:r>
            <a:br/>
          </a:p>
        </p:txBody>
      </p:sp>
      <p:sp>
        <p:nvSpPr>
          <p:cNvPr id="305926429" name="Text">
    </p:cNvPr>
          <p:cNvSpPr>
            <a:spLocks noGrp="1"/>
          </p:cNvSpPr>
          <p:nvPr/>
        </p:nvSpPr>
        <p:spPr>
          <a:xfrm rot="0">
            <a:off x="6604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51886216" name="Text">
    </p:cNvPr>
          <p:cNvSpPr>
            <a:spLocks noGrp="1"/>
          </p:cNvSpPr>
          <p:nvPr/>
        </p:nvSpPr>
        <p:spPr>
          <a:xfrm rot="0">
            <a:off x="58801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12660257" name="Text">
    </p:cNvPr>
          <p:cNvSpPr>
            <a:spLocks noGrp="1"/>
          </p:cNvSpPr>
          <p:nvPr/>
        </p:nvSpPr>
        <p:spPr>
          <a:xfrm rot="0">
            <a:off x="9702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05/26</a:t>
            </a:r>
            <a:br/>
          </a:p>
        </p:txBody>
      </p:sp>
      <p:sp>
        <p:nvSpPr>
          <p:cNvPr id="533728592" name="Text">
    </p:cNvPr>
          <p:cNvSpPr>
            <a:spLocks noGrp="1"/>
          </p:cNvSpPr>
          <p:nvPr/>
        </p:nvSpPr>
        <p:spPr>
          <a:xfrm rot="0">
            <a:off x="93345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</a:p>
        </p:txBody>
      </p:sp>
      <p:sp>
        <p:nvSpPr>
          <p:cNvPr id="1830179662" name="Text">
    </p:cNvPr>
          <p:cNvSpPr>
            <a:spLocks noGrp="1"/>
          </p:cNvSpPr>
          <p:nvPr/>
        </p:nvSpPr>
        <p:spPr>
          <a:xfrm rot="0">
            <a:off x="5930900" y="39370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CRM 자동 배포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epro 자동 배포 구축</a:t>
            </a:r>
          </a:p>
        </p:txBody>
      </p:sp>
      <p:sp>
        <p:nvSpPr>
          <p:cNvPr id="1775242468" name="Text">
    </p:cNvPr>
          <p:cNvSpPr>
            <a:spLocks noGrp="1"/>
          </p:cNvSpPr>
          <p:nvPr/>
        </p:nvSpPr>
        <p:spPr>
          <a:xfrm rot="0">
            <a:off x="53086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2030077098" name="Text">
    </p:cNvPr>
          <p:cNvSpPr>
            <a:spLocks noGrp="1"/>
          </p:cNvSpPr>
          <p:nvPr/>
        </p:nvSpPr>
        <p:spPr>
          <a:xfrm rot="0">
            <a:off x="889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722133591" name="Text">
    </p:cNvPr>
          <p:cNvSpPr>
            <a:spLocks noGrp="1"/>
          </p:cNvSpPr>
          <p:nvPr/>
        </p:nvSpPr>
        <p:spPr>
          <a:xfrm rot="0">
            <a:off x="711200" y="39370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CRM 자동배포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epro 자동 배포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계획보드 가용차량 조회 쿼리 수정미배차문자전송 주출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발지 추가배포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atss 거리 및 요율 입력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WSS점검 프로세스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ITSM-95036</a:t>
            </a:r>
          </a:p>
        </p:txBody>
      </p:sp>
      <p:sp>
        <p:nvSpPr>
          <p:cNvPr id="964042734" name="Text">
    </p:cNvPr>
          <p:cNvSpPr>
            <a:spLocks noGrp="1"/>
          </p:cNvSpPr>
          <p:nvPr/>
        </p:nvSpPr>
        <p:spPr>
          <a:xfrm rot="0">
            <a:off x="44831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05/18</a:t>
            </a:r>
            <a:br/>
          </a:p>
        </p:txBody>
      </p:sp>
      <p:sp>
        <p:nvSpPr>
          <p:cNvPr id="1353224968" name="Text">
    </p:cNvPr>
          <p:cNvSpPr>
            <a:spLocks noGrp="1"/>
          </p:cNvSpPr>
          <p:nvPr/>
        </p:nvSpPr>
        <p:spPr>
          <a:xfrm rot="0">
            <a:off x="48514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05/18</a:t>
            </a:r>
            <a:br/>
          </a:p>
        </p:txBody>
      </p:sp>
      <p:sp>
        <p:nvSpPr>
          <p:cNvPr id="762345571" name="Text">
    </p:cNvPr>
          <p:cNvSpPr>
            <a:spLocks noGrp="1"/>
          </p:cNvSpPr>
          <p:nvPr/>
        </p:nvSpPr>
        <p:spPr>
          <a:xfrm rot="0">
            <a:off x="4114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05/18</a:t>
            </a:r>
            <a:br/>
          </a:p>
        </p:txBody>
      </p:sp>
      <p:sp>
        <p:nvSpPr>
          <p:cNvPr id="1719447182" name="Text">
    </p:cNvPr>
          <p:cNvSpPr>
            <a:spLocks noGrp="1"/>
          </p:cNvSpPr>
          <p:nvPr/>
        </p:nvSpPr>
        <p:spPr>
          <a:xfrm rot="0">
            <a:off x="6604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78807744" name="Text">
    </p:cNvPr>
          <p:cNvSpPr>
            <a:spLocks noGrp="1"/>
          </p:cNvSpPr>
          <p:nvPr/>
        </p:nvSpPr>
        <p:spPr>
          <a:xfrm rot="0">
            <a:off x="58801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40848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3061569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4800011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2840964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70552118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 - 제출일 : 2023-05-29</a:t>
            </a:r>
          </a:p>
        </p:txBody>
      </p:sp>
      <p:sp>
        <p:nvSpPr>
          <p:cNvPr id="46398541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4957134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8694164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317162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9167691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6258835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0667315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7712724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6772330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7025668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06/09</a:t>
            </a:r>
            <a:br/>
          </a:p>
        </p:txBody>
      </p:sp>
      <p:sp>
        <p:nvSpPr>
          <p:cNvPr id="61813791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</a:p>
        </p:txBody>
      </p:sp>
      <p:sp>
        <p:nvSpPr>
          <p:cNvPr id="29224427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CRM 자동 배포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epro 자동 배포 구축</a:t>
            </a:r>
          </a:p>
        </p:txBody>
      </p:sp>
      <p:sp>
        <p:nvSpPr>
          <p:cNvPr id="26009967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48187117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00917983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CRM 자동배포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epro 자동 배포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납치처 거리 및 요율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엔진 서버 재가동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SAP 상 월 수송비 / ATSS 상 월 수송비 상이비교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ITSM-95013, ITSM-95180 자동 배포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소스코드 취약점 수동 점검 교육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ITSM-95663 작업 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ITSM-95544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ITSM-95430</a:t>
            </a:r>
          </a:p>
        </p:txBody>
      </p:sp>
      <p:sp>
        <p:nvSpPr>
          <p:cNvPr id="200276637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05/26</a:t>
            </a:r>
            <a:br/>
          </a:p>
        </p:txBody>
      </p:sp>
      <p:sp>
        <p:nvSpPr>
          <p:cNvPr id="212468953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05/26</a:t>
            </a:r>
            <a:br/>
          </a:p>
        </p:txBody>
      </p:sp>
      <p:sp>
        <p:nvSpPr>
          <p:cNvPr id="97790611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05/26</a:t>
            </a:r>
            <a:br/>
          </a:p>
        </p:txBody>
      </p:sp>
      <p:sp>
        <p:nvSpPr>
          <p:cNvPr id="80532516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5680197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27573024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06/09</a:t>
            </a:r>
            <a:br/>
          </a:p>
        </p:txBody>
      </p:sp>
      <p:sp>
        <p:nvSpPr>
          <p:cNvPr id="29438696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</a:p>
        </p:txBody>
      </p:sp>
      <p:sp>
        <p:nvSpPr>
          <p:cNvPr id="59471396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CRM 자동 배포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epro 자동 배포 구축</a:t>
            </a:r>
          </a:p>
        </p:txBody>
      </p:sp>
      <p:sp>
        <p:nvSpPr>
          <p:cNvPr id="66984161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8118518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25799811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CRM 자동배포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epro 자동 배포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ITSM-1562 삭제ITSM-95687 UAT 요청ITSM-95763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UAT 요청ITSM-95179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납치처 거리 및 요율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ITSM-95751 변경결과 작성ITSM-95838 작업유형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ITSM-95179 변경결과 작성ITSM-95186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ITSM-95948 견적서 삭제ITSM-95948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그룹웨어 모바일 설치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신규 맥북 설정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ITSM-95544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ATSS 신규 직원 계정 생성</a:t>
            </a:r>
          </a:p>
        </p:txBody>
      </p:sp>
      <p:sp>
        <p:nvSpPr>
          <p:cNvPr id="210278676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06/02</a:t>
            </a:r>
            <a:br/>
          </a:p>
        </p:txBody>
      </p:sp>
      <p:sp>
        <p:nvSpPr>
          <p:cNvPr id="1027586002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06/02</a:t>
            </a:r>
            <a:br/>
          </a:p>
        </p:txBody>
      </p:sp>
      <p:sp>
        <p:nvSpPr>
          <p:cNvPr id="26155266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06/01</a:t>
            </a:r>
            <a:br/>
          </a:p>
        </p:txBody>
      </p:sp>
      <p:sp>
        <p:nvSpPr>
          <p:cNvPr id="42384577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6790580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99156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5859114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0645565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5318623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10352350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 - 제출일 : 2023-06-12</a:t>
            </a:r>
          </a:p>
        </p:txBody>
      </p:sp>
      <p:sp>
        <p:nvSpPr>
          <p:cNvPr id="65289231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3703084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0598142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2834354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0557274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6597034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8441734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7829181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6223127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2236564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06/16</a:t>
            </a:r>
            <a:br/>
          </a:p>
        </p:txBody>
      </p:sp>
      <p:sp>
        <p:nvSpPr>
          <p:cNvPr id="150831288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</a:p>
        </p:txBody>
      </p:sp>
      <p:sp>
        <p:nvSpPr>
          <p:cNvPr id="86677509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CRM 자동 배포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취약점 점검 대상 ‘N’ 상태 시 플로우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신규 맥북 설정</a:t>
            </a:r>
          </a:p>
        </p:txBody>
      </p:sp>
      <p:sp>
        <p:nvSpPr>
          <p:cNvPr id="52412926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200567453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37245883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CRM 자동배포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epro 자동 배포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ITSM-88751 예상 완료일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납지처 거리 및 요율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HCM 모집단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자동배차 엔진 속도 저하로 서비스 재시동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ITSM-94321 변경 결과 작성ITSM-95027 변경 결과 작성</a:t>
            </a:r>
          </a:p>
        </p:txBody>
      </p:sp>
      <p:sp>
        <p:nvSpPr>
          <p:cNvPr id="179354406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06/09</a:t>
            </a:r>
            <a:br/>
          </a:p>
        </p:txBody>
      </p:sp>
      <p:sp>
        <p:nvSpPr>
          <p:cNvPr id="43136098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06/09</a:t>
            </a:r>
            <a:br/>
          </a:p>
        </p:txBody>
      </p:sp>
      <p:sp>
        <p:nvSpPr>
          <p:cNvPr id="26828999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06/09</a:t>
            </a:r>
            <a:br/>
          </a:p>
        </p:txBody>
      </p:sp>
      <p:sp>
        <p:nvSpPr>
          <p:cNvPr id="6559598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9481881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6163751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</a:p>
        </p:txBody>
      </p:sp>
      <p:sp>
        <p:nvSpPr>
          <p:cNvPr id="46558939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</a:p>
        </p:txBody>
      </p:sp>
      <p:sp>
        <p:nvSpPr>
          <p:cNvPr id="159793130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CRM 자동 배포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CH Flow 추가 (취약점 점검 수동)</a:t>
            </a:r>
          </a:p>
        </p:txBody>
      </p:sp>
      <p:sp>
        <p:nvSpPr>
          <p:cNvPr id="36283775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214043380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71821112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CRM 자동배포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ITSM-96260 견적서 삭제ITSM-96247 견적서 삭제ITS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M-95979 현작업자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ITSM-95586 견적서 삭제ITSM-93354 예상완료일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경ITSM-96390 작업결과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신규 맥북 설정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CH Flow 추가 (취약점 점검 수동)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2023년 1st interim 모집단 요청 list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요율 및 거리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그룹웨어 모바일 설치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ITSM-96529 변경승인자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WMS Mobile 화면 리스트 정리</a:t>
            </a:r>
          </a:p>
        </p:txBody>
      </p:sp>
      <p:sp>
        <p:nvSpPr>
          <p:cNvPr id="125005377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06/16</a:t>
            </a:r>
            <a:br/>
          </a:p>
        </p:txBody>
      </p:sp>
      <p:sp>
        <p:nvSpPr>
          <p:cNvPr id="154376564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06/16</a:t>
            </a:r>
            <a:br/>
          </a:p>
        </p:txBody>
      </p:sp>
      <p:sp>
        <p:nvSpPr>
          <p:cNvPr id="1100606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06/16</a:t>
            </a:r>
            <a:br/>
          </a:p>
        </p:txBody>
      </p:sp>
      <p:sp>
        <p:nvSpPr>
          <p:cNvPr id="67891459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9331038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23370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910561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2454374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9322351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13380790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 - 제출일 : 2023-06-26</a:t>
            </a:r>
          </a:p>
        </p:txBody>
      </p:sp>
      <p:sp>
        <p:nvSpPr>
          <p:cNvPr id="119055328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7531927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0356815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5506156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6402135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5913764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4896228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4039397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369578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1788538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</a:p>
        </p:txBody>
      </p:sp>
      <p:sp>
        <p:nvSpPr>
          <p:cNvPr id="61471407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</a:p>
        </p:txBody>
      </p:sp>
      <p:sp>
        <p:nvSpPr>
          <p:cNvPr id="85036362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CRM 자동 배포 구축</a:t>
            </a:r>
          </a:p>
        </p:txBody>
      </p:sp>
      <p:sp>
        <p:nvSpPr>
          <p:cNvPr id="89841944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17957266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208884086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CRM 자동배포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ITSM-96414 견적서 삭제ITSM-93355 예상변경 작업일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CH Flow 추가 (취약점 점검 수동)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ITSM-12930 서비스요청서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내부 통제 모집단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취약점 점검 회의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거리 및 요율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엔진 서버 재가동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ITSM-96640 변경요청서 삭제ITSM-96641 변경요청서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삭제ITSM-96800 요청정보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사외 네트워크 첨부파일 다운로드 에러</a:t>
            </a:r>
          </a:p>
        </p:txBody>
      </p:sp>
      <p:sp>
        <p:nvSpPr>
          <p:cNvPr id="84354179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</a:p>
        </p:txBody>
      </p:sp>
      <p:sp>
        <p:nvSpPr>
          <p:cNvPr id="163262124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</a:p>
        </p:txBody>
      </p:sp>
      <p:sp>
        <p:nvSpPr>
          <p:cNvPr id="137549114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06/23</a:t>
            </a:r>
            <a:br/>
          </a:p>
        </p:txBody>
      </p:sp>
      <p:sp>
        <p:nvSpPr>
          <p:cNvPr id="61220784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6094743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4077679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07/14</a:t>
            </a:r>
            <a:br/>
          </a:p>
        </p:txBody>
      </p:sp>
      <p:sp>
        <p:nvSpPr>
          <p:cNvPr id="2414598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</a:p>
        </p:txBody>
      </p:sp>
      <p:sp>
        <p:nvSpPr>
          <p:cNvPr id="122702798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CRM 자동 배포 구축</a:t>
            </a:r>
          </a:p>
        </p:txBody>
      </p:sp>
      <p:sp>
        <p:nvSpPr>
          <p:cNvPr id="102515757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71537970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682836231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CRM 자동배포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ITSM-96855 견적서 삭제ITSM-96854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설치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Fortity 교육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CH Flow 추가 (취약점 점검 수동)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사외 네트워크 첨부파일 다운로드 에러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ITSM-96800 견적 공수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 설치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거리 및 요율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ITSM-97064 데이터 작업 삭제ITSM-95835 서비스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청서 반려</a:t>
            </a:r>
          </a:p>
        </p:txBody>
      </p:sp>
      <p:sp>
        <p:nvSpPr>
          <p:cNvPr id="981658593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</a:p>
        </p:txBody>
      </p:sp>
      <p:sp>
        <p:nvSpPr>
          <p:cNvPr id="137981582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</a:p>
        </p:txBody>
      </p:sp>
      <p:sp>
        <p:nvSpPr>
          <p:cNvPr id="109037554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</a:p>
        </p:txBody>
      </p:sp>
      <p:sp>
        <p:nvSpPr>
          <p:cNvPr id="1426059856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3108116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50506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9997054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5104901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3178874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7388641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 - 제출일 : 2023-07-10</a:t>
            </a:r>
          </a:p>
        </p:txBody>
      </p:sp>
      <p:sp>
        <p:nvSpPr>
          <p:cNvPr id="83661298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6099248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8198037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4962521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8618818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3908109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7716204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5760003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0724999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5202489" name="Text">
    </p:cNvPr>
          <p:cNvSpPr>
            <a:spLocks noGrp="1"/>
          </p:cNvSpPr>
          <p:nvPr/>
        </p:nvSpPr>
        <p:spPr>
          <a:xfrm rot="0">
            <a:off x="9702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07/14</a:t>
            </a:r>
            <a:br/>
          </a:p>
        </p:txBody>
      </p:sp>
      <p:sp>
        <p:nvSpPr>
          <p:cNvPr id="1754552175" name="Text">
    </p:cNvPr>
          <p:cNvSpPr>
            <a:spLocks noGrp="1"/>
          </p:cNvSpPr>
          <p:nvPr/>
        </p:nvSpPr>
        <p:spPr>
          <a:xfrm rot="0">
            <a:off x="93345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</a:p>
        </p:txBody>
      </p:sp>
      <p:sp>
        <p:nvSpPr>
          <p:cNvPr id="1759743723" name="Text">
    </p:cNvPr>
          <p:cNvSpPr>
            <a:spLocks noGrp="1"/>
          </p:cNvSpPr>
          <p:nvPr/>
        </p:nvSpPr>
        <p:spPr>
          <a:xfrm rot="0">
            <a:off x="5930900" y="15113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CRM 자동 배포 구축</a:t>
            </a:r>
          </a:p>
        </p:txBody>
      </p:sp>
      <p:sp>
        <p:nvSpPr>
          <p:cNvPr id="2113368004" name="Text">
    </p:cNvPr>
          <p:cNvSpPr>
            <a:spLocks noGrp="1"/>
          </p:cNvSpPr>
          <p:nvPr/>
        </p:nvSpPr>
        <p:spPr>
          <a:xfrm rot="0">
            <a:off x="53086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973569080" name="Text">
    </p:cNvPr>
          <p:cNvSpPr>
            <a:spLocks noGrp="1"/>
          </p:cNvSpPr>
          <p:nvPr/>
        </p:nvSpPr>
        <p:spPr>
          <a:xfrm rot="0">
            <a:off x="889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070029004" name="Text">
    </p:cNvPr>
          <p:cNvSpPr>
            <a:spLocks noGrp="1"/>
          </p:cNvSpPr>
          <p:nvPr/>
        </p:nvSpPr>
        <p:spPr>
          <a:xfrm rot="0">
            <a:off x="711200" y="15113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CRM 자동배포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변경요청서 플로우 추가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ITSM-97055 작업유형 변경ITSM-94570 작업결과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ITSM-97199 긴급변경도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이미지 서버 장애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서비스 설치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ITSM-97136 긴급변경도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서비스 설치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Fortity 실습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ITSM-96159 작업결과 작성ITSM-97116 필드값 수정I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TSM-97455 작업결과 작성ITSM-94434 작업결과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요율 및 거리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atss 사용자 추가</a:t>
            </a:r>
          </a:p>
        </p:txBody>
      </p:sp>
      <p:sp>
        <p:nvSpPr>
          <p:cNvPr id="1269239049" name="Text">
    </p:cNvPr>
          <p:cNvSpPr>
            <a:spLocks noGrp="1"/>
          </p:cNvSpPr>
          <p:nvPr/>
        </p:nvSpPr>
        <p:spPr>
          <a:xfrm rot="0">
            <a:off x="44831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07/07</a:t>
            </a:r>
            <a:br/>
          </a:p>
        </p:txBody>
      </p:sp>
      <p:sp>
        <p:nvSpPr>
          <p:cNvPr id="233358070" name="Text">
    </p:cNvPr>
          <p:cNvSpPr>
            <a:spLocks noGrp="1"/>
          </p:cNvSpPr>
          <p:nvPr/>
        </p:nvSpPr>
        <p:spPr>
          <a:xfrm rot="0">
            <a:off x="48514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07/07</a:t>
            </a:r>
            <a:br/>
          </a:p>
        </p:txBody>
      </p:sp>
      <p:sp>
        <p:nvSpPr>
          <p:cNvPr id="1788659445" name="Text">
    </p:cNvPr>
          <p:cNvSpPr>
            <a:spLocks noGrp="1"/>
          </p:cNvSpPr>
          <p:nvPr/>
        </p:nvSpPr>
        <p:spPr>
          <a:xfrm rot="0">
            <a:off x="4114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07/07</a:t>
            </a:r>
            <a:br/>
          </a:p>
        </p:txBody>
      </p:sp>
      <p:sp>
        <p:nvSpPr>
          <p:cNvPr id="1863905874" name="Text">
    </p:cNvPr>
          <p:cNvSpPr>
            <a:spLocks noGrp="1"/>
          </p:cNvSpPr>
          <p:nvPr/>
        </p:nvSpPr>
        <p:spPr>
          <a:xfrm rot="0">
            <a:off x="6604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80536061" name="Text">
    </p:cNvPr>
          <p:cNvSpPr>
            <a:spLocks noGrp="1"/>
          </p:cNvSpPr>
          <p:nvPr/>
        </p:nvSpPr>
        <p:spPr>
          <a:xfrm rot="0">
            <a:off x="58801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69119469" name="Text">
    </p:cNvPr>
          <p:cNvSpPr>
            <a:spLocks noGrp="1"/>
          </p:cNvSpPr>
          <p:nvPr/>
        </p:nvSpPr>
        <p:spPr>
          <a:xfrm rot="0">
            <a:off x="97028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07/28</a:t>
            </a:r>
            <a:br/>
          </a:p>
        </p:txBody>
      </p:sp>
      <p:sp>
        <p:nvSpPr>
          <p:cNvPr id="1538733188" name="Text">
    </p:cNvPr>
          <p:cNvSpPr>
            <a:spLocks noGrp="1"/>
          </p:cNvSpPr>
          <p:nvPr/>
        </p:nvSpPr>
        <p:spPr>
          <a:xfrm rot="0">
            <a:off x="93345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07/14</a:t>
            </a:r>
            <a:br/>
          </a:p>
        </p:txBody>
      </p:sp>
      <p:sp>
        <p:nvSpPr>
          <p:cNvPr id="1930807234" name="Text">
    </p:cNvPr>
          <p:cNvSpPr>
            <a:spLocks noGrp="1"/>
          </p:cNvSpPr>
          <p:nvPr/>
        </p:nvSpPr>
        <p:spPr>
          <a:xfrm rot="0">
            <a:off x="5930900" y="37846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주출발지 및 차량유형 필드 추가 개발</a:t>
            </a:r>
          </a:p>
        </p:txBody>
      </p:sp>
      <p:sp>
        <p:nvSpPr>
          <p:cNvPr id="1277288400" name="Text">
    </p:cNvPr>
          <p:cNvSpPr>
            <a:spLocks noGrp="1"/>
          </p:cNvSpPr>
          <p:nvPr/>
        </p:nvSpPr>
        <p:spPr>
          <a:xfrm rot="0">
            <a:off x="5308600" y="37846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482216490" name="Text">
    </p:cNvPr>
          <p:cNvSpPr>
            <a:spLocks noGrp="1"/>
          </p:cNvSpPr>
          <p:nvPr/>
        </p:nvSpPr>
        <p:spPr>
          <a:xfrm rot="0">
            <a:off x="88900" y="37846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2127502893" name="Text">
    </p:cNvPr>
          <p:cNvSpPr>
            <a:spLocks noGrp="1"/>
          </p:cNvSpPr>
          <p:nvPr/>
        </p:nvSpPr>
        <p:spPr>
          <a:xfrm rot="0">
            <a:off x="711200" y="37846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CRM 자동배포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ITSM-97469 변경등급 변경ITSM-97629 작업계획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ITSM-97465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ITSM-97761 cts 번호 변경ITSM-97629 요청정보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배차 엔진 룰 분석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ios 임직원 검색 키보드 에러 회의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서비스 설치 지원거리 및 요율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ios 임직원 검색 키보드 에러 해결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주출발지 및 차량유형 필드 추가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ITSM-96735 완료일 변경ITSM-96690 완료일 변경</a:t>
            </a:r>
          </a:p>
        </p:txBody>
      </p:sp>
      <p:sp>
        <p:nvSpPr>
          <p:cNvPr id="599391713" name="Text">
    </p:cNvPr>
          <p:cNvSpPr>
            <a:spLocks noGrp="1"/>
          </p:cNvSpPr>
          <p:nvPr/>
        </p:nvSpPr>
        <p:spPr>
          <a:xfrm rot="0">
            <a:off x="44831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07/14</a:t>
            </a:r>
            <a:br/>
          </a:p>
        </p:txBody>
      </p:sp>
      <p:sp>
        <p:nvSpPr>
          <p:cNvPr id="1629776153" name="Text">
    </p:cNvPr>
          <p:cNvSpPr>
            <a:spLocks noGrp="1"/>
          </p:cNvSpPr>
          <p:nvPr/>
        </p:nvSpPr>
        <p:spPr>
          <a:xfrm rot="0">
            <a:off x="48514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07/14</a:t>
            </a:r>
            <a:br/>
          </a:p>
        </p:txBody>
      </p:sp>
      <p:sp>
        <p:nvSpPr>
          <p:cNvPr id="229097549" name="Text">
    </p:cNvPr>
          <p:cNvSpPr>
            <a:spLocks noGrp="1"/>
          </p:cNvSpPr>
          <p:nvPr/>
        </p:nvSpPr>
        <p:spPr>
          <a:xfrm rot="0">
            <a:off x="41148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07/14</a:t>
            </a:r>
            <a:br/>
          </a:p>
        </p:txBody>
      </p:sp>
      <p:sp>
        <p:nvSpPr>
          <p:cNvPr id="186620322" name="Text">
    </p:cNvPr>
          <p:cNvSpPr>
            <a:spLocks noGrp="1"/>
          </p:cNvSpPr>
          <p:nvPr/>
        </p:nvSpPr>
        <p:spPr>
          <a:xfrm rot="0">
            <a:off x="660400" y="37846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30493397" name="Text">
    </p:cNvPr>
          <p:cNvSpPr>
            <a:spLocks noGrp="1"/>
          </p:cNvSpPr>
          <p:nvPr/>
        </p:nvSpPr>
        <p:spPr>
          <a:xfrm rot="0">
            <a:off x="5880100" y="37846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93063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7944623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3949622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8943394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43708737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 - 제출일 : 2023-07-24</a:t>
            </a:r>
          </a:p>
        </p:txBody>
      </p:sp>
      <p:sp>
        <p:nvSpPr>
          <p:cNvPr id="75200638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466118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2692272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6297037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8438465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7530535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4148549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8416823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666075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9453893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07/28</a:t>
            </a:r>
            <a:br/>
          </a:p>
        </p:txBody>
      </p:sp>
      <p:sp>
        <p:nvSpPr>
          <p:cNvPr id="170340882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07/14</a:t>
            </a:r>
            <a:br/>
          </a:p>
        </p:txBody>
      </p:sp>
      <p:sp>
        <p:nvSpPr>
          <p:cNvPr id="156669498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주출발지 및 차량유형 필드 추가 개발</a:t>
            </a:r>
          </a:p>
        </p:txBody>
      </p:sp>
      <p:sp>
        <p:nvSpPr>
          <p:cNvPr id="74941135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97825114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78969232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주출발지 및 차량유형 필드 추가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ITSM-97629 요청정보 복원ITSM-93937 UAT 완료ITS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M-93519 작업유형 변경ITSM-95496 처리주체 변경RPA 취약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 점검대상 예외처리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자동 배차 엔진 xml log 송부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취약점 자동 점검 / 자동 배포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ITSM-98108 변경수행자 변경ITSM-98080 변경결과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성ITSM-94971 자동배포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ITSM-97975 변경요청서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ITSM-96816</a:t>
            </a:r>
          </a:p>
        </p:txBody>
      </p:sp>
      <p:sp>
        <p:nvSpPr>
          <p:cNvPr id="209410655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07/21</a:t>
            </a:r>
            <a:br/>
          </a:p>
        </p:txBody>
      </p:sp>
      <p:sp>
        <p:nvSpPr>
          <p:cNvPr id="14982547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07/21</a:t>
            </a:r>
            <a:br/>
          </a:p>
        </p:txBody>
      </p:sp>
      <p:sp>
        <p:nvSpPr>
          <p:cNvPr id="81395425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07/21</a:t>
            </a:r>
            <a:br/>
          </a:p>
        </p:txBody>
      </p:sp>
      <p:sp>
        <p:nvSpPr>
          <p:cNvPr id="30707148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5788268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6927145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08/11</a:t>
            </a:r>
            <a:br/>
          </a:p>
        </p:txBody>
      </p:sp>
      <p:sp>
        <p:nvSpPr>
          <p:cNvPr id="87988677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07/14</a:t>
            </a:r>
            <a:br/>
          </a:p>
        </p:txBody>
      </p:sp>
      <p:sp>
        <p:nvSpPr>
          <p:cNvPr id="125083971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주출발지 및 차량유형 필드 추가 개발</a:t>
            </a:r>
          </a:p>
        </p:txBody>
      </p:sp>
      <p:sp>
        <p:nvSpPr>
          <p:cNvPr id="57817635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210214684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49473244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주출발지 및 차량유형 필드 추가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외부망 사용하여 앱 설치 시 속도 지연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인사정보 사진 확대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ITSM-98170 작업자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거리 및 요율 신규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ITSM-98338 솔루션 정보 재작성ITSM-95470 변경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청서 삭제</a:t>
            </a:r>
          </a:p>
        </p:txBody>
      </p:sp>
      <p:sp>
        <p:nvSpPr>
          <p:cNvPr id="164033423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07/27</a:t>
            </a:r>
            <a:br/>
            <a:br/>
          </a:p>
        </p:txBody>
      </p:sp>
      <p:sp>
        <p:nvSpPr>
          <p:cNvPr id="189639260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07/27</a:t>
            </a:r>
            <a:br/>
            <a:br/>
          </a:p>
        </p:txBody>
      </p:sp>
      <p:sp>
        <p:nvSpPr>
          <p:cNvPr id="183505368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07/27</a:t>
            </a:r>
            <a:br/>
            <a:br/>
          </a:p>
        </p:txBody>
      </p:sp>
      <p:sp>
        <p:nvSpPr>
          <p:cNvPr id="17437550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9854127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33948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1754087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5368970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5969459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6312265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 - 제출일 : 2023-08-07</a:t>
            </a:r>
          </a:p>
        </p:txBody>
      </p:sp>
      <p:sp>
        <p:nvSpPr>
          <p:cNvPr id="156351703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2364293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7413940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4518646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9996323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2191071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2022849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1977345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3079451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5223147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08/18</a:t>
            </a:r>
            <a:br/>
          </a:p>
        </p:txBody>
      </p:sp>
      <p:sp>
        <p:nvSpPr>
          <p:cNvPr id="48296719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</a:p>
        </p:txBody>
      </p:sp>
      <p:sp>
        <p:nvSpPr>
          <p:cNvPr id="73498658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주출발지 및 차량유형 필드 추가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인사정보 사진 확대 추가 줌 인ㆍ아웃</a:t>
            </a:r>
          </a:p>
        </p:txBody>
      </p:sp>
      <p:sp>
        <p:nvSpPr>
          <p:cNvPr id="8228993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7401186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40115334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주출발지 및 차량유형 필드 추가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인사정보 사진 확대 추가 줌 인ㆍ아웃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ITSM-98045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거리 및 요율 신규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ITSM-98527 데이터요청서 삭제ITSM-92466 변경결과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작성</a:t>
            </a:r>
          </a:p>
        </p:txBody>
      </p:sp>
      <p:sp>
        <p:nvSpPr>
          <p:cNvPr id="980422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br/>
          </a:p>
        </p:txBody>
      </p:sp>
      <p:sp>
        <p:nvSpPr>
          <p:cNvPr id="96282907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br/>
          </a:p>
        </p:txBody>
      </p:sp>
      <p:sp>
        <p:nvSpPr>
          <p:cNvPr id="201135295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br/>
          </a:p>
        </p:txBody>
      </p:sp>
      <p:sp>
        <p:nvSpPr>
          <p:cNvPr id="99980058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9219255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5556245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09/01</a:t>
            </a:r>
            <a:br/>
          </a:p>
        </p:txBody>
      </p:sp>
      <p:sp>
        <p:nvSpPr>
          <p:cNvPr id="139292489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08/11</a:t>
            </a:r>
            <a:br/>
          </a:p>
        </p:txBody>
      </p:sp>
      <p:sp>
        <p:nvSpPr>
          <p:cNvPr id="143338139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</a:t>
            </a:r>
          </a:p>
        </p:txBody>
      </p:sp>
      <p:sp>
        <p:nvSpPr>
          <p:cNvPr id="109121017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0005586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68337259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주출발지 및 차량유형 필드 추가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인사정보 사진 확대 추가 줌 인ㆍ아웃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ITSM-97503 변경결과 작성ITSM-98641 자동배포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ITSM-98469 대상시스템 변경ITSM-98663 작업유형 변경I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TSM-97061 작업유형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ITSM-98856 견적 재작성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fortify report 출력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취약점 자동 점검 누적 관리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신규 출하처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ITSM-96703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거리 및 요율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</a:t>
            </a:r>
          </a:p>
        </p:txBody>
      </p:sp>
      <p:sp>
        <p:nvSpPr>
          <p:cNvPr id="127933942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09/01</a:t>
            </a:r>
            <a:br/>
          </a:p>
        </p:txBody>
      </p:sp>
      <p:sp>
        <p:nvSpPr>
          <p:cNvPr id="149323501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176368491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08/11</a:t>
            </a:r>
            <a:br/>
          </a:p>
        </p:txBody>
      </p:sp>
      <p:sp>
        <p:nvSpPr>
          <p:cNvPr id="102010948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3144690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67348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7210490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6007172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1253141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2420106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 - 제출일 : 2023-08-21</a:t>
            </a:r>
          </a:p>
        </p:txBody>
      </p:sp>
      <p:sp>
        <p:nvSpPr>
          <p:cNvPr id="199138743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029688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8366374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0679677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9580132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4595832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5966784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6923526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7812394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4653984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09/01</a:t>
            </a:r>
            <a:br/>
          </a:p>
        </p:txBody>
      </p:sp>
      <p:sp>
        <p:nvSpPr>
          <p:cNvPr id="8049302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08/11</a:t>
            </a:r>
            <a:br/>
          </a:p>
        </p:txBody>
      </p:sp>
      <p:sp>
        <p:nvSpPr>
          <p:cNvPr id="132382835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</a:t>
            </a:r>
          </a:p>
        </p:txBody>
      </p:sp>
      <p:sp>
        <p:nvSpPr>
          <p:cNvPr id="130274881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76804795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21013970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ITSM-97115 변경결과 작성ITSM-91167 작업유형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감사 자료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FW Rule Revalidation 결과 예외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시스템 설치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epro 자동배포 재검정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fortify 재검정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요율 및 거리 업데이트</a:t>
            </a:r>
          </a:p>
        </p:txBody>
      </p:sp>
      <p:sp>
        <p:nvSpPr>
          <p:cNvPr id="118098399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08/18</a:t>
            </a:r>
            <a:br/>
          </a:p>
        </p:txBody>
      </p:sp>
      <p:sp>
        <p:nvSpPr>
          <p:cNvPr id="96110156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08/18</a:t>
            </a:r>
            <a:br/>
          </a:p>
        </p:txBody>
      </p:sp>
      <p:sp>
        <p:nvSpPr>
          <p:cNvPr id="79291578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08/18</a:t>
            </a:r>
            <a:br/>
          </a:p>
        </p:txBody>
      </p:sp>
      <p:sp>
        <p:nvSpPr>
          <p:cNvPr id="183711089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397050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19197400" name="Text">
    </p:cNvPr>
          <p:cNvSpPr>
            <a:spLocks noGrp="1"/>
          </p:cNvSpPr>
          <p:nvPr/>
        </p:nvSpPr>
        <p:spPr>
          <a:xfrm rot="0">
            <a:off x="9702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</a:p>
        </p:txBody>
      </p:sp>
      <p:sp>
        <p:nvSpPr>
          <p:cNvPr id="1079650576" name="Text">
    </p:cNvPr>
          <p:cNvSpPr>
            <a:spLocks noGrp="1"/>
          </p:cNvSpPr>
          <p:nvPr/>
        </p:nvSpPr>
        <p:spPr>
          <a:xfrm rot="0">
            <a:off x="93345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</a:p>
        </p:txBody>
      </p:sp>
      <p:sp>
        <p:nvSpPr>
          <p:cNvPr id="763653146" name="Text">
    </p:cNvPr>
          <p:cNvSpPr>
            <a:spLocks noGrp="1"/>
          </p:cNvSpPr>
          <p:nvPr/>
        </p:nvSpPr>
        <p:spPr>
          <a:xfrm rot="0">
            <a:off x="5930900" y="37719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epro 자동배포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fortify 교육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자동배차엔진 라이센스 교체</a:t>
            </a:r>
          </a:p>
        </p:txBody>
      </p:sp>
      <p:sp>
        <p:nvSpPr>
          <p:cNvPr id="62442454" name="Text">
    </p:cNvPr>
          <p:cNvSpPr>
            <a:spLocks noGrp="1"/>
          </p:cNvSpPr>
          <p:nvPr/>
        </p:nvSpPr>
        <p:spPr>
          <a:xfrm rot="0">
            <a:off x="53086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801168952" name="Text">
    </p:cNvPr>
          <p:cNvSpPr>
            <a:spLocks noGrp="1"/>
          </p:cNvSpPr>
          <p:nvPr/>
        </p:nvSpPr>
        <p:spPr>
          <a:xfrm rot="0">
            <a:off x="889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052991609" name="Text">
    </p:cNvPr>
          <p:cNvSpPr>
            <a:spLocks noGrp="1"/>
          </p:cNvSpPr>
          <p:nvPr/>
        </p:nvSpPr>
        <p:spPr>
          <a:xfrm rot="0">
            <a:off x="711200" y="37719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epro 자동배포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ITSM-98542 예상완료변경일 수정ITSM-99222 견적서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거리 및 요율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신규 인원 ASM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이력 탭 활성화변경요청 스텝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감사 자료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ITSM-99443 변경요청서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ITSM-99485 변경결과 작성ITSM-92531 작업유형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ITSM-99489 데이터 작업서 삭제ITSM-92531 작업완료 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현장대리인 및 생산IT지원팀 권한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GCMS 인수인계</a:t>
            </a:r>
          </a:p>
        </p:txBody>
      </p:sp>
      <p:sp>
        <p:nvSpPr>
          <p:cNvPr id="808009479" name="Text">
    </p:cNvPr>
          <p:cNvSpPr>
            <a:spLocks noGrp="1"/>
          </p:cNvSpPr>
          <p:nvPr/>
        </p:nvSpPr>
        <p:spPr>
          <a:xfrm rot="0">
            <a:off x="44831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08/25</a:t>
            </a:r>
            <a:br/>
          </a:p>
        </p:txBody>
      </p:sp>
      <p:sp>
        <p:nvSpPr>
          <p:cNvPr id="1963631791" name="Text">
    </p:cNvPr>
          <p:cNvSpPr>
            <a:spLocks noGrp="1"/>
          </p:cNvSpPr>
          <p:nvPr/>
        </p:nvSpPr>
        <p:spPr>
          <a:xfrm rot="0">
            <a:off x="48514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0825</a:t>
            </a:r>
            <a:br/>
          </a:p>
        </p:txBody>
      </p:sp>
      <p:sp>
        <p:nvSpPr>
          <p:cNvPr id="1544721704" name="Text">
    </p:cNvPr>
          <p:cNvSpPr>
            <a:spLocks noGrp="1"/>
          </p:cNvSpPr>
          <p:nvPr/>
        </p:nvSpPr>
        <p:spPr>
          <a:xfrm rot="0">
            <a:off x="4114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08/25</a:t>
            </a:r>
            <a:br/>
          </a:p>
        </p:txBody>
      </p:sp>
      <p:sp>
        <p:nvSpPr>
          <p:cNvPr id="2046289531" name="Text">
    </p:cNvPr>
          <p:cNvSpPr>
            <a:spLocks noGrp="1"/>
          </p:cNvSpPr>
          <p:nvPr/>
        </p:nvSpPr>
        <p:spPr>
          <a:xfrm rot="0">
            <a:off x="6604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238021" name="Text">
    </p:cNvPr>
          <p:cNvSpPr>
            <a:spLocks noGrp="1"/>
          </p:cNvSpPr>
          <p:nvPr/>
        </p:nvSpPr>
        <p:spPr>
          <a:xfrm rot="0">
            <a:off x="58801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32412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7622862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1122071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619084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4546456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 - 제출일 : 2023-09-04</a:t>
            </a:r>
          </a:p>
        </p:txBody>
      </p:sp>
      <p:sp>
        <p:nvSpPr>
          <p:cNvPr id="47725977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8051281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8730044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0439836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5133827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4067290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9579381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7080191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9577946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262687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09/08</a:t>
            </a:r>
            <a:br/>
          </a:p>
        </p:txBody>
      </p:sp>
      <p:sp>
        <p:nvSpPr>
          <p:cNvPr id="194921061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</a:p>
        </p:txBody>
      </p:sp>
      <p:sp>
        <p:nvSpPr>
          <p:cNvPr id="138023077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epro 자동배포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gcms 인수인계</a:t>
            </a:r>
          </a:p>
        </p:txBody>
      </p:sp>
      <p:sp>
        <p:nvSpPr>
          <p:cNvPr id="161319838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87251213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86318431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epro 자동배포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GCMS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정기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fortify 교육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배차 엔진 라이센스 교체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거리 및 요율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상품권 ERP연계 데이터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ITSM-99832 변경결과 작성</a:t>
            </a:r>
          </a:p>
        </p:txBody>
      </p:sp>
      <p:sp>
        <p:nvSpPr>
          <p:cNvPr id="41195603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09/01</a:t>
            </a:r>
            <a:br/>
          </a:p>
        </p:txBody>
      </p:sp>
      <p:sp>
        <p:nvSpPr>
          <p:cNvPr id="113773221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09/01</a:t>
            </a:r>
            <a:br/>
          </a:p>
        </p:txBody>
      </p:sp>
      <p:sp>
        <p:nvSpPr>
          <p:cNvPr id="132368143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09/01</a:t>
            </a:r>
            <a:br/>
          </a:p>
        </p:txBody>
      </p:sp>
      <p:sp>
        <p:nvSpPr>
          <p:cNvPr id="131842682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6398683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33589004" name="Text">
    </p:cNvPr>
          <p:cNvSpPr>
            <a:spLocks noGrp="1"/>
          </p:cNvSpPr>
          <p:nvPr/>
        </p:nvSpPr>
        <p:spPr>
          <a:xfrm rot="0">
            <a:off x="9702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09/15</a:t>
            </a:r>
            <a:br/>
          </a:p>
        </p:txBody>
      </p:sp>
      <p:sp>
        <p:nvSpPr>
          <p:cNvPr id="419941295" name="Text">
    </p:cNvPr>
          <p:cNvSpPr>
            <a:spLocks noGrp="1"/>
          </p:cNvSpPr>
          <p:nvPr/>
        </p:nvSpPr>
        <p:spPr>
          <a:xfrm rot="0">
            <a:off x="93345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</a:p>
        </p:txBody>
      </p:sp>
      <p:sp>
        <p:nvSpPr>
          <p:cNvPr id="2067159940" name="Text">
    </p:cNvPr>
          <p:cNvSpPr>
            <a:spLocks noGrp="1"/>
          </p:cNvSpPr>
          <p:nvPr/>
        </p:nvSpPr>
        <p:spPr>
          <a:xfrm rot="0">
            <a:off x="5930900" y="3771900"/>
            <a:ext cx="3403600" cy="2578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epro 자동배포 구축</a:t>
            </a:r>
          </a:p>
        </p:txBody>
      </p:sp>
      <p:sp>
        <p:nvSpPr>
          <p:cNvPr id="1761359961" name="Text">
    </p:cNvPr>
          <p:cNvSpPr>
            <a:spLocks noGrp="1"/>
          </p:cNvSpPr>
          <p:nvPr/>
        </p:nvSpPr>
        <p:spPr>
          <a:xfrm rot="0">
            <a:off x="53086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559657009" name="Text">
    </p:cNvPr>
          <p:cNvSpPr>
            <a:spLocks noGrp="1"/>
          </p:cNvSpPr>
          <p:nvPr/>
        </p:nvSpPr>
        <p:spPr>
          <a:xfrm rot="0">
            <a:off x="889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03173382" name="Text">
    </p:cNvPr>
          <p:cNvSpPr>
            <a:spLocks noGrp="1"/>
          </p:cNvSpPr>
          <p:nvPr/>
        </p:nvSpPr>
        <p:spPr>
          <a:xfrm rot="0">
            <a:off x="711200" y="3771900"/>
            <a:ext cx="3403600" cy="2578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epro 자동배포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GCMS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신규 계정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ITSM-99855 변경요청서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ITSM-99980 변경요청서 삭제ITSM-99981 변경요청서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ITSM-98863 변경결과 작성ITSM-90265 작업유형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gcms 상품권 데이터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atss 사용자 부서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atss 거리 및 요율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confluence 산출물 저장소 신규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신규 계정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정기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gcms 오판독 데이터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ITSM-99917 변경수행자 변경</a:t>
            </a:r>
          </a:p>
        </p:txBody>
      </p:sp>
      <p:sp>
        <p:nvSpPr>
          <p:cNvPr id="1325780029" name="Text">
    </p:cNvPr>
          <p:cNvSpPr>
            <a:spLocks noGrp="1"/>
          </p:cNvSpPr>
          <p:nvPr/>
        </p:nvSpPr>
        <p:spPr>
          <a:xfrm rot="0">
            <a:off x="44831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09/08</a:t>
            </a:r>
            <a:br/>
          </a:p>
        </p:txBody>
      </p:sp>
      <p:sp>
        <p:nvSpPr>
          <p:cNvPr id="1177684852" name="Text">
    </p:cNvPr>
          <p:cNvSpPr>
            <a:spLocks noGrp="1"/>
          </p:cNvSpPr>
          <p:nvPr/>
        </p:nvSpPr>
        <p:spPr>
          <a:xfrm rot="0">
            <a:off x="48514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09/08</a:t>
            </a:r>
            <a:br/>
          </a:p>
        </p:txBody>
      </p:sp>
      <p:sp>
        <p:nvSpPr>
          <p:cNvPr id="982835643" name="Text">
    </p:cNvPr>
          <p:cNvSpPr>
            <a:spLocks noGrp="1"/>
          </p:cNvSpPr>
          <p:nvPr/>
        </p:nvSpPr>
        <p:spPr>
          <a:xfrm rot="0">
            <a:off x="4114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09/08</a:t>
            </a:r>
            <a:br/>
          </a:p>
        </p:txBody>
      </p:sp>
      <p:sp>
        <p:nvSpPr>
          <p:cNvPr id="242144658" name="Text">
    </p:cNvPr>
          <p:cNvSpPr>
            <a:spLocks noGrp="1"/>
          </p:cNvSpPr>
          <p:nvPr/>
        </p:nvSpPr>
        <p:spPr>
          <a:xfrm rot="0">
            <a:off x="6604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69317190" name="Text">
    </p:cNvPr>
          <p:cNvSpPr>
            <a:spLocks noGrp="1"/>
          </p:cNvSpPr>
          <p:nvPr/>
        </p:nvSpPr>
        <p:spPr>
          <a:xfrm rot="0">
            <a:off x="58801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21835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1767598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5886784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6335895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5483661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 - 제출일 : 2023-09-18</a:t>
            </a:r>
          </a:p>
        </p:txBody>
      </p:sp>
      <p:sp>
        <p:nvSpPr>
          <p:cNvPr id="146917485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7693141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6796347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9315450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2351254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1095878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0644146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1882491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3710756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3670540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09/22</a:t>
            </a:r>
            <a:br/>
          </a:p>
        </p:txBody>
      </p:sp>
      <p:sp>
        <p:nvSpPr>
          <p:cNvPr id="120237115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09/18</a:t>
            </a:r>
            <a:br/>
          </a:p>
        </p:txBody>
      </p:sp>
      <p:sp>
        <p:nvSpPr>
          <p:cNvPr id="55777975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epro 자동배포 구축</a:t>
            </a:r>
          </a:p>
        </p:txBody>
      </p:sp>
      <p:sp>
        <p:nvSpPr>
          <p:cNvPr id="11171144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45648087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14467095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epro 자동배포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ITSM-100349 서브시스템 변경ITSM-96798 작업자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상품권 기회수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모바일 테스트 판매 이력 상품권 번호 리스트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상품권 모바일 전환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거리 및 요율 수정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ITSM-100523 cts 번호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회수 상품권 현황 조회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ITSM-98863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현장대리인 그룹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신규 계정 생성</a:t>
            </a:r>
          </a:p>
        </p:txBody>
      </p:sp>
      <p:sp>
        <p:nvSpPr>
          <p:cNvPr id="48689742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09/15</a:t>
            </a:r>
            <a:br/>
          </a:p>
        </p:txBody>
      </p:sp>
      <p:sp>
        <p:nvSpPr>
          <p:cNvPr id="159862943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18%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</a:p>
        </p:txBody>
      </p:sp>
      <p:sp>
        <p:nvSpPr>
          <p:cNvPr id="14873927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09/15</a:t>
            </a:r>
            <a:br/>
          </a:p>
        </p:txBody>
      </p:sp>
      <p:sp>
        <p:nvSpPr>
          <p:cNvPr id="50586268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8246404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5299163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09/29</a:t>
            </a:r>
            <a:br/>
          </a:p>
        </p:txBody>
      </p:sp>
      <p:sp>
        <p:nvSpPr>
          <p:cNvPr id="151603620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</a:p>
        </p:txBody>
      </p:sp>
      <p:sp>
        <p:nvSpPr>
          <p:cNvPr id="191274169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epro 자동배포 구축</a:t>
            </a:r>
          </a:p>
        </p:txBody>
      </p:sp>
      <p:sp>
        <p:nvSpPr>
          <p:cNvPr id="92189250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32826343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77923189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epro 자동배포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기준정보 DMS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변경승인자 그룹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ITSM-100685 견적서 삭제ITSM-100594 작업 유형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경ITSM-100695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상품권 수기입금표 오설정으로 내역 삭제 및 상태 전환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상품권 회수 내역 삭제 및 판매 상태 전환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거리 및 요율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ITSM-99016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ITSM-100804	데이터 작업 삭제ITSM-100815 견적서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공수 재반영ITSM-100816 서비스 요청서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sap-mm-공장 기준정보 수정</a:t>
            </a:r>
          </a:p>
        </p:txBody>
      </p:sp>
      <p:sp>
        <p:nvSpPr>
          <p:cNvPr id="128209601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09/22</a:t>
            </a:r>
            <a:br/>
          </a:p>
        </p:txBody>
      </p:sp>
      <p:sp>
        <p:nvSpPr>
          <p:cNvPr id="183790049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09/22</a:t>
            </a:r>
            <a:br/>
          </a:p>
        </p:txBody>
      </p:sp>
      <p:sp>
        <p:nvSpPr>
          <p:cNvPr id="203319321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09/22</a:t>
            </a:r>
            <a:br/>
          </a:p>
        </p:txBody>
      </p:sp>
      <p:sp>
        <p:nvSpPr>
          <p:cNvPr id="118971281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0584543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95434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3878795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5377329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1781359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9928832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 - 제출일 : 2023-10-02</a:t>
            </a:r>
          </a:p>
        </p:txBody>
      </p:sp>
      <p:sp>
        <p:nvSpPr>
          <p:cNvPr id="78756988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6298210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0662056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4814363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4518316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6685930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89848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600724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4104154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4624558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</a:p>
        </p:txBody>
      </p:sp>
      <p:sp>
        <p:nvSpPr>
          <p:cNvPr id="115575592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10/04</a:t>
            </a:r>
            <a:br/>
          </a:p>
        </p:txBody>
      </p:sp>
      <p:sp>
        <p:nvSpPr>
          <p:cNvPr id="33271553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epro 자동배포 구축</a:t>
            </a:r>
          </a:p>
        </p:txBody>
      </p:sp>
      <p:sp>
        <p:nvSpPr>
          <p:cNvPr id="31869771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84712884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84118866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epro 자동배포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ITSM-100946 서비스요청서 삭제ITSM-100953 변경완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료 작성ITSM-100958 변경수행자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모바일 회수 상품권 판매 상태로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gcms veiw 정의서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ITSM-100980 데이터작업 삭제ITSM-100981 데이터작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 삭제ITSM-101007 동료검토 승인 /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판매한 법인고객 코드 수정</a:t>
            </a:r>
          </a:p>
        </p:txBody>
      </p:sp>
      <p:sp>
        <p:nvSpPr>
          <p:cNvPr id="149208904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103936058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35%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212272602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163358258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2123519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7897385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73074069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</a:p>
        </p:txBody>
      </p:sp>
      <p:sp>
        <p:nvSpPr>
          <p:cNvPr id="95925421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epro 자동배포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newebiz sdk , api 변경 및 배포</a:t>
            </a:r>
          </a:p>
        </p:txBody>
      </p:sp>
      <p:sp>
        <p:nvSpPr>
          <p:cNvPr id="158708591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58168221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201752761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ITSM-100450 재배포ITSM-83249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ERP연계 데이터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ITSM-101234 작업유형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로그 데이터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서비스 설치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ITSM-100198 작업결과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newebiz sdk , api 변경 및 배포</a:t>
            </a:r>
          </a:p>
        </p:txBody>
      </p:sp>
      <p:sp>
        <p:nvSpPr>
          <p:cNvPr id="70117321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1071010172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</a:p>
        </p:txBody>
      </p:sp>
      <p:sp>
        <p:nvSpPr>
          <p:cNvPr id="113457566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</a:p>
        </p:txBody>
      </p:sp>
      <p:sp>
        <p:nvSpPr>
          <p:cNvPr id="86686005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2403923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52091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4011949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9333988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6828761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4659333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 - 제출일 : 2023-10-16</a:t>
            </a:r>
          </a:p>
        </p:txBody>
      </p:sp>
      <p:sp>
        <p:nvSpPr>
          <p:cNvPr id="52588073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194141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459984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3368774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0755869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579195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9987204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1676821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1019765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5209221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158480332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</a:p>
        </p:txBody>
      </p:sp>
      <p:sp>
        <p:nvSpPr>
          <p:cNvPr id="136329261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epro 자동배포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newebiz sdk , api 변경 및 배포</a:t>
            </a:r>
            <a:br/>
          </a:p>
        </p:txBody>
      </p:sp>
      <p:sp>
        <p:nvSpPr>
          <p:cNvPr id="190230903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24401472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63444734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ITSM-101310 서비스 요청서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newebiz sdk , api 변경 및 배포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상품권 입고 및 출고 데이터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상품권 입고 내역 조회 수정</a:t>
            </a:r>
            <a:br/>
          </a:p>
        </p:txBody>
      </p:sp>
      <p:sp>
        <p:nvSpPr>
          <p:cNvPr id="170053953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10/12</a:t>
            </a:r>
            <a:br/>
          </a:p>
        </p:txBody>
      </p:sp>
      <p:sp>
        <p:nvSpPr>
          <p:cNvPr id="5331793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10/12</a:t>
            </a:r>
            <a:br/>
          </a:p>
        </p:txBody>
      </p:sp>
      <p:sp>
        <p:nvSpPr>
          <p:cNvPr id="202512072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</a:p>
        </p:txBody>
      </p:sp>
      <p:sp>
        <p:nvSpPr>
          <p:cNvPr id="152524960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8263342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32464870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</a:p>
        </p:txBody>
      </p:sp>
      <p:sp>
        <p:nvSpPr>
          <p:cNvPr id="185256759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</a:p>
        </p:txBody>
      </p:sp>
      <p:sp>
        <p:nvSpPr>
          <p:cNvPr id="213290203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epro 자동배포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newebiz sdk , api 변경 및 배포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처리상태 정보 연동을 위한 DB 정보 지원</a:t>
            </a:r>
          </a:p>
        </p:txBody>
      </p:sp>
      <p:sp>
        <p:nvSpPr>
          <p:cNvPr id="16017967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26561545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205029218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ITSM-101467 요청정보 재작성ITSM-101153 견적서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newebiz sdk , api 변경 및 배포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처리상태 정보 연동을 위한 DB 정보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gcms erp연계 회수처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운전사 코드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ITSM-101624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ITSM-101701 변경요청서 삭제ITSM-101641 작업유형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변경ITSM-99175 배포 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ITSM-99106 배포 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ospm 자동배포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누적미회수총액 불일치 내역 수정</a:t>
            </a:r>
          </a:p>
        </p:txBody>
      </p:sp>
      <p:sp>
        <p:nvSpPr>
          <p:cNvPr id="16586833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</a:p>
        </p:txBody>
      </p:sp>
      <p:sp>
        <p:nvSpPr>
          <p:cNvPr id="163844020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</a:p>
        </p:txBody>
      </p:sp>
      <p:sp>
        <p:nvSpPr>
          <p:cNvPr id="141563244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</a:p>
        </p:txBody>
      </p:sp>
      <p:sp>
        <p:nvSpPr>
          <p:cNvPr id="15565798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9654772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93970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2369017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5114535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6101623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0834215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 - 제출일 : 2023-10-30</a:t>
            </a:r>
          </a:p>
        </p:txBody>
      </p:sp>
      <p:sp>
        <p:nvSpPr>
          <p:cNvPr id="5213813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5606215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6755859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972048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3217368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682953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8164787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6328934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3053527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66696977" name="Text">
    </p:cNvPr>
          <p:cNvSpPr>
            <a:spLocks noGrp="1"/>
          </p:cNvSpPr>
          <p:nvPr/>
        </p:nvSpPr>
        <p:spPr>
          <a:xfrm rot="0">
            <a:off x="9702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</a:p>
        </p:txBody>
      </p:sp>
      <p:sp>
        <p:nvSpPr>
          <p:cNvPr id="2069004040" name="Text">
    </p:cNvPr>
          <p:cNvSpPr>
            <a:spLocks noGrp="1"/>
          </p:cNvSpPr>
          <p:nvPr/>
        </p:nvSpPr>
        <p:spPr>
          <a:xfrm rot="0">
            <a:off x="93345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</a:p>
        </p:txBody>
      </p:sp>
      <p:sp>
        <p:nvSpPr>
          <p:cNvPr id="1240834721" name="Text">
    </p:cNvPr>
          <p:cNvSpPr>
            <a:spLocks noGrp="1"/>
          </p:cNvSpPr>
          <p:nvPr/>
        </p:nvSpPr>
        <p:spPr>
          <a:xfrm rot="0">
            <a:off x="5930900" y="15113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epro 자동배포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newebiz sdk , api 변경 및 배포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Simoms 프로젝트 중 DSV Dashboard 생성을 위한 JIRA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DB 정보 지원</a:t>
            </a:r>
          </a:p>
        </p:txBody>
      </p:sp>
      <p:sp>
        <p:nvSpPr>
          <p:cNvPr id="1463284068" name="Text">
    </p:cNvPr>
          <p:cNvSpPr>
            <a:spLocks noGrp="1"/>
          </p:cNvSpPr>
          <p:nvPr/>
        </p:nvSpPr>
        <p:spPr>
          <a:xfrm rot="0">
            <a:off x="53086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623466526" name="Text">
    </p:cNvPr>
          <p:cNvSpPr>
            <a:spLocks noGrp="1"/>
          </p:cNvSpPr>
          <p:nvPr/>
        </p:nvSpPr>
        <p:spPr>
          <a:xfrm rot="0">
            <a:off x="889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43047473" name="Text">
    </p:cNvPr>
          <p:cNvSpPr>
            <a:spLocks noGrp="1"/>
          </p:cNvSpPr>
          <p:nvPr/>
        </p:nvSpPr>
        <p:spPr>
          <a:xfrm rot="0">
            <a:off x="711200" y="15113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newebiz sdk , api 변경 및 배포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Simoms 프로젝트 중 DSV Dashboard 생성을 위한 JIRA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DB 정보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epro 자동배포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ITSM-99175 배포 상태 변경ITSM-99106 배포 상태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기회수 데이터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ITSM-99175 배포 상태 변경ITSM-99106 배포 상태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ITSM-99175 배포 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ITSM-101640 취약점 점검 설정 변경ITSM-100749 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 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인수인계</a:t>
            </a:r>
          </a:p>
        </p:txBody>
      </p:sp>
      <p:sp>
        <p:nvSpPr>
          <p:cNvPr id="1812127786" name="Text">
    </p:cNvPr>
          <p:cNvSpPr>
            <a:spLocks noGrp="1"/>
          </p:cNvSpPr>
          <p:nvPr/>
        </p:nvSpPr>
        <p:spPr>
          <a:xfrm rot="0">
            <a:off x="44831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</a:p>
        </p:txBody>
      </p:sp>
      <p:sp>
        <p:nvSpPr>
          <p:cNvPr id="81170463" name="Text">
    </p:cNvPr>
          <p:cNvSpPr>
            <a:spLocks noGrp="1"/>
          </p:cNvSpPr>
          <p:nvPr/>
        </p:nvSpPr>
        <p:spPr>
          <a:xfrm rot="0">
            <a:off x="48514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</a:p>
        </p:txBody>
      </p:sp>
      <p:sp>
        <p:nvSpPr>
          <p:cNvPr id="1162053193" name="Text">
    </p:cNvPr>
          <p:cNvSpPr>
            <a:spLocks noGrp="1"/>
          </p:cNvSpPr>
          <p:nvPr/>
        </p:nvSpPr>
        <p:spPr>
          <a:xfrm rot="0">
            <a:off x="4114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</a:p>
        </p:txBody>
      </p:sp>
      <p:sp>
        <p:nvSpPr>
          <p:cNvPr id="2023879395" name="Text">
    </p:cNvPr>
          <p:cNvSpPr>
            <a:spLocks noGrp="1"/>
          </p:cNvSpPr>
          <p:nvPr/>
        </p:nvSpPr>
        <p:spPr>
          <a:xfrm rot="0">
            <a:off x="6604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6184429" name="Text">
    </p:cNvPr>
          <p:cNvSpPr>
            <a:spLocks noGrp="1"/>
          </p:cNvSpPr>
          <p:nvPr/>
        </p:nvSpPr>
        <p:spPr>
          <a:xfrm rot="0">
            <a:off x="58801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59791473" name="Text">
    </p:cNvPr>
          <p:cNvSpPr>
            <a:spLocks noGrp="1"/>
          </p:cNvSpPr>
          <p:nvPr/>
        </p:nvSpPr>
        <p:spPr>
          <a:xfrm rot="0">
            <a:off x="97028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11/10</a:t>
            </a:r>
            <a:br/>
          </a:p>
        </p:txBody>
      </p:sp>
      <p:sp>
        <p:nvSpPr>
          <p:cNvPr id="1788332433" name="Text">
    </p:cNvPr>
          <p:cNvSpPr>
            <a:spLocks noGrp="1"/>
          </p:cNvSpPr>
          <p:nvPr/>
        </p:nvSpPr>
        <p:spPr>
          <a:xfrm rot="0">
            <a:off x="93345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</a:p>
        </p:txBody>
      </p:sp>
      <p:sp>
        <p:nvSpPr>
          <p:cNvPr id="500570314" name="Text">
    </p:cNvPr>
          <p:cNvSpPr>
            <a:spLocks noGrp="1"/>
          </p:cNvSpPr>
          <p:nvPr/>
        </p:nvSpPr>
        <p:spPr>
          <a:xfrm rot="0">
            <a:off x="5930900" y="37846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</a:p>
        </p:txBody>
      </p:sp>
      <p:sp>
        <p:nvSpPr>
          <p:cNvPr id="1421154107" name="Text">
    </p:cNvPr>
          <p:cNvSpPr>
            <a:spLocks noGrp="1"/>
          </p:cNvSpPr>
          <p:nvPr/>
        </p:nvSpPr>
        <p:spPr>
          <a:xfrm rot="0">
            <a:off x="5308600" y="37846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482462004" name="Text">
    </p:cNvPr>
          <p:cNvSpPr>
            <a:spLocks noGrp="1"/>
          </p:cNvSpPr>
          <p:nvPr/>
        </p:nvSpPr>
        <p:spPr>
          <a:xfrm rot="0">
            <a:off x="88900" y="37846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221480572" name="Text">
    </p:cNvPr>
          <p:cNvSpPr>
            <a:spLocks noGrp="1"/>
          </p:cNvSpPr>
          <p:nvPr/>
        </p:nvSpPr>
        <p:spPr>
          <a:xfrm rot="0">
            <a:off x="711200" y="37846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newebiz sdk , api 변경 및 배포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Simoms 프로젝트 중 DSV Dashboard 생성을 위한 JIRA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DB 정보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ITSM-101840 / ITSM-101884 / ITSM-102038 삭제I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TSM-102086 배포 상태 변경ITSM-101218 작업유형 변경IT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SM-102147 예상완료일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운영평가 모집단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요율 및 거리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OZ report 정기점검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ITSM-102257 서브시스템 설정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가용차량관리 운전자 코드 변경</a:t>
            </a:r>
          </a:p>
        </p:txBody>
      </p:sp>
      <p:sp>
        <p:nvSpPr>
          <p:cNvPr id="1702040039" name="Text">
    </p:cNvPr>
          <p:cNvSpPr>
            <a:spLocks noGrp="1"/>
          </p:cNvSpPr>
          <p:nvPr/>
        </p:nvSpPr>
        <p:spPr>
          <a:xfrm rot="0">
            <a:off x="44831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11/02</a:t>
            </a:r>
            <a:br/>
          </a:p>
        </p:txBody>
      </p:sp>
      <p:sp>
        <p:nvSpPr>
          <p:cNvPr id="428072637" name="Text">
    </p:cNvPr>
          <p:cNvSpPr>
            <a:spLocks noGrp="1"/>
          </p:cNvSpPr>
          <p:nvPr/>
        </p:nvSpPr>
        <p:spPr>
          <a:xfrm rot="0">
            <a:off x="48514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11/02</a:t>
            </a:r>
            <a:br/>
          </a:p>
        </p:txBody>
      </p:sp>
      <p:sp>
        <p:nvSpPr>
          <p:cNvPr id="186199248" name="Text">
    </p:cNvPr>
          <p:cNvSpPr>
            <a:spLocks noGrp="1"/>
          </p:cNvSpPr>
          <p:nvPr/>
        </p:nvSpPr>
        <p:spPr>
          <a:xfrm rot="0">
            <a:off x="41148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11/02</a:t>
            </a:r>
            <a:br/>
          </a:p>
        </p:txBody>
      </p:sp>
      <p:sp>
        <p:nvSpPr>
          <p:cNvPr id="837730431" name="Text">
    </p:cNvPr>
          <p:cNvSpPr>
            <a:spLocks noGrp="1"/>
          </p:cNvSpPr>
          <p:nvPr/>
        </p:nvSpPr>
        <p:spPr>
          <a:xfrm rot="0">
            <a:off x="660400" y="37846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90736524" name="Text">
    </p:cNvPr>
          <p:cNvSpPr>
            <a:spLocks noGrp="1"/>
          </p:cNvSpPr>
          <p:nvPr/>
        </p:nvSpPr>
        <p:spPr>
          <a:xfrm rot="0">
            <a:off x="5880100" y="37846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27637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332570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1761891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5195207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3649318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 - 제출일 : 2023-11-13</a:t>
            </a:r>
          </a:p>
        </p:txBody>
      </p:sp>
      <p:sp>
        <p:nvSpPr>
          <p:cNvPr id="144386196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8656296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1082650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6367827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0223869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6173312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8358547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5915343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3138272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26125151" name="Text">
    </p:cNvPr>
          <p:cNvSpPr>
            <a:spLocks noGrp="1"/>
          </p:cNvSpPr>
          <p:nvPr/>
        </p:nvSpPr>
        <p:spPr>
          <a:xfrm rot="0">
            <a:off x="9702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  <a:br/>
          </a:p>
        </p:txBody>
      </p:sp>
      <p:sp>
        <p:nvSpPr>
          <p:cNvPr id="936423829" name="Text">
    </p:cNvPr>
          <p:cNvSpPr>
            <a:spLocks noGrp="1"/>
          </p:cNvSpPr>
          <p:nvPr/>
        </p:nvSpPr>
        <p:spPr>
          <a:xfrm rot="0">
            <a:off x="93345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</a:p>
        </p:txBody>
      </p:sp>
      <p:sp>
        <p:nvSpPr>
          <p:cNvPr id="1379320068" name="Text">
    </p:cNvPr>
          <p:cNvSpPr>
            <a:spLocks noGrp="1"/>
          </p:cNvSpPr>
          <p:nvPr/>
        </p:nvSpPr>
        <p:spPr>
          <a:xfrm rot="0">
            <a:off x="5930900" y="15113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</a:p>
        </p:txBody>
      </p:sp>
      <p:sp>
        <p:nvSpPr>
          <p:cNvPr id="589001328" name="Text">
    </p:cNvPr>
          <p:cNvSpPr>
            <a:spLocks noGrp="1"/>
          </p:cNvSpPr>
          <p:nvPr/>
        </p:nvSpPr>
        <p:spPr>
          <a:xfrm rot="0">
            <a:off x="53086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133829787" name="Text">
    </p:cNvPr>
          <p:cNvSpPr>
            <a:spLocks noGrp="1"/>
          </p:cNvSpPr>
          <p:nvPr/>
        </p:nvSpPr>
        <p:spPr>
          <a:xfrm rot="0">
            <a:off x="889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903858533" name="Text">
    </p:cNvPr>
          <p:cNvSpPr>
            <a:spLocks noGrp="1"/>
          </p:cNvSpPr>
          <p:nvPr/>
        </p:nvSpPr>
        <p:spPr>
          <a:xfrm rot="0">
            <a:off x="711200" y="15113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ITSM-102321 데이터 작업 삭제ITSM-102322	변경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ITSM-102390 삭제ITSM-102338 요청정보 누락 내용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재작성ITSM-102413 요청정보 누락 내용 재작성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사이버보안 컴플라이언스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ITSM-100087 변경결과 작성ITSM-102336 견적서 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제ITSM-102126 견적서 삭제ITSM-102504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HCM 모집단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ITSM-96621 변경결과 작성ITSM-102086 배포 상태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경ITSM-102448 작업 유형 변경ITSM-101228 변경결과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성ITSM-90079 작업 스텝 변경ITSM-102581 한글 서비스명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ITSM-102341 작업 스텝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고객 마스터 복사 저장 에러</a:t>
            </a:r>
          </a:p>
        </p:txBody>
      </p:sp>
      <p:sp>
        <p:nvSpPr>
          <p:cNvPr id="354439855" name="Text">
    </p:cNvPr>
          <p:cNvSpPr>
            <a:spLocks noGrp="1"/>
          </p:cNvSpPr>
          <p:nvPr/>
        </p:nvSpPr>
        <p:spPr>
          <a:xfrm rot="0">
            <a:off x="44831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11/10</a:t>
            </a:r>
            <a:br/>
          </a:p>
        </p:txBody>
      </p:sp>
      <p:sp>
        <p:nvSpPr>
          <p:cNvPr id="1842363017" name="Text">
    </p:cNvPr>
          <p:cNvSpPr>
            <a:spLocks noGrp="1"/>
          </p:cNvSpPr>
          <p:nvPr/>
        </p:nvSpPr>
        <p:spPr>
          <a:xfrm rot="0">
            <a:off x="48514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11/10</a:t>
            </a:r>
            <a:br/>
          </a:p>
        </p:txBody>
      </p:sp>
      <p:sp>
        <p:nvSpPr>
          <p:cNvPr id="139805102" name="Text">
    </p:cNvPr>
          <p:cNvSpPr>
            <a:spLocks noGrp="1"/>
          </p:cNvSpPr>
          <p:nvPr/>
        </p:nvSpPr>
        <p:spPr>
          <a:xfrm rot="0">
            <a:off x="4114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11/10</a:t>
            </a:r>
            <a:br/>
          </a:p>
        </p:txBody>
      </p:sp>
      <p:sp>
        <p:nvSpPr>
          <p:cNvPr id="764484218" name="Text">
    </p:cNvPr>
          <p:cNvSpPr>
            <a:spLocks noGrp="1"/>
          </p:cNvSpPr>
          <p:nvPr/>
        </p:nvSpPr>
        <p:spPr>
          <a:xfrm rot="0">
            <a:off x="6604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84842317" name="Text">
    </p:cNvPr>
          <p:cNvSpPr>
            <a:spLocks noGrp="1"/>
          </p:cNvSpPr>
          <p:nvPr/>
        </p:nvSpPr>
        <p:spPr>
          <a:xfrm rot="0">
            <a:off x="58801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57250784" name="Text">
    </p:cNvPr>
          <p:cNvSpPr>
            <a:spLocks noGrp="1"/>
          </p:cNvSpPr>
          <p:nvPr/>
        </p:nvSpPr>
        <p:spPr>
          <a:xfrm rot="0">
            <a:off x="9702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</a:p>
        </p:txBody>
      </p:sp>
      <p:sp>
        <p:nvSpPr>
          <p:cNvPr id="1948357284" name="Text">
    </p:cNvPr>
          <p:cNvSpPr>
            <a:spLocks noGrp="1"/>
          </p:cNvSpPr>
          <p:nvPr/>
        </p:nvSpPr>
        <p:spPr>
          <a:xfrm rot="0">
            <a:off x="93345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</a:p>
        </p:txBody>
      </p:sp>
      <p:sp>
        <p:nvSpPr>
          <p:cNvPr id="1371935888" name="Text">
    </p:cNvPr>
          <p:cNvSpPr>
            <a:spLocks noGrp="1"/>
          </p:cNvSpPr>
          <p:nvPr/>
        </p:nvSpPr>
        <p:spPr>
          <a:xfrm rot="0">
            <a:off x="5930900" y="39370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</a:p>
        </p:txBody>
      </p:sp>
      <p:sp>
        <p:nvSpPr>
          <p:cNvPr id="2001819405" name="Text">
    </p:cNvPr>
          <p:cNvSpPr>
            <a:spLocks noGrp="1"/>
          </p:cNvSpPr>
          <p:nvPr/>
        </p:nvSpPr>
        <p:spPr>
          <a:xfrm rot="0">
            <a:off x="53086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2123136230" name="Text">
    </p:cNvPr>
          <p:cNvSpPr>
            <a:spLocks noGrp="1"/>
          </p:cNvSpPr>
          <p:nvPr/>
        </p:nvSpPr>
        <p:spPr>
          <a:xfrm rot="0">
            <a:off x="889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04883489" name="Text">
    </p:cNvPr>
          <p:cNvSpPr>
            <a:spLocks noGrp="1"/>
          </p:cNvSpPr>
          <p:nvPr/>
        </p:nvSpPr>
        <p:spPr>
          <a:xfrm rot="0">
            <a:off x="711200" y="39370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ITSM-102532 변경요청 삭제ITSM-102493 작업유형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변경ITSM-102670 데이터작업 삭제ITSM-102663 작업유형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신규 계정 권한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ITSM-101354 변경결과 작성ITSM-101852 서비스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 반려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ITSM-101548 작업유형 변경ITSM-102337 작업유형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변경</a:t>
            </a:r>
          </a:p>
        </p:txBody>
      </p:sp>
      <p:sp>
        <p:nvSpPr>
          <p:cNvPr id="1740866541" name="Text">
    </p:cNvPr>
          <p:cNvSpPr>
            <a:spLocks noGrp="1"/>
          </p:cNvSpPr>
          <p:nvPr/>
        </p:nvSpPr>
        <p:spPr>
          <a:xfrm rot="0">
            <a:off x="44831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</a:p>
        </p:txBody>
      </p:sp>
      <p:sp>
        <p:nvSpPr>
          <p:cNvPr id="441932071" name="Text">
    </p:cNvPr>
          <p:cNvSpPr>
            <a:spLocks noGrp="1"/>
          </p:cNvSpPr>
          <p:nvPr/>
        </p:nvSpPr>
        <p:spPr>
          <a:xfrm rot="0">
            <a:off x="48514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</a:p>
        </p:txBody>
      </p:sp>
      <p:sp>
        <p:nvSpPr>
          <p:cNvPr id="128024007" name="Text">
    </p:cNvPr>
          <p:cNvSpPr>
            <a:spLocks noGrp="1"/>
          </p:cNvSpPr>
          <p:nvPr/>
        </p:nvSpPr>
        <p:spPr>
          <a:xfrm rot="0">
            <a:off x="4114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</a:p>
        </p:txBody>
      </p:sp>
      <p:sp>
        <p:nvSpPr>
          <p:cNvPr id="38627711" name="Text">
    </p:cNvPr>
          <p:cNvSpPr>
            <a:spLocks noGrp="1"/>
          </p:cNvSpPr>
          <p:nvPr/>
        </p:nvSpPr>
        <p:spPr>
          <a:xfrm rot="0">
            <a:off x="6604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45402672" name="Text">
    </p:cNvPr>
          <p:cNvSpPr>
            <a:spLocks noGrp="1"/>
          </p:cNvSpPr>
          <p:nvPr/>
        </p:nvSpPr>
        <p:spPr>
          <a:xfrm rot="0">
            <a:off x="58801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11047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2761982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1450617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39065212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0477607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 - 제출일 : 2023-11-27</a:t>
            </a:r>
          </a:p>
        </p:txBody>
      </p:sp>
      <p:sp>
        <p:nvSpPr>
          <p:cNvPr id="5992862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11411538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7362130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5714601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8891308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7455042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5804557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0150037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7950152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9028976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</a:p>
        </p:txBody>
      </p:sp>
      <p:sp>
        <p:nvSpPr>
          <p:cNvPr id="41449110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</a:p>
        </p:txBody>
      </p:sp>
      <p:sp>
        <p:nvSpPr>
          <p:cNvPr id="129441469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신규 계정 권한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Simoms 프로젝트 PSORMS(전자작업허가) 솔루션 모바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일 인증서 지원</a:t>
            </a:r>
          </a:p>
        </p:txBody>
      </p:sp>
      <p:sp>
        <p:nvSpPr>
          <p:cNvPr id="79867204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89840127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3490766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ITSM-102086 배포상태 변경ITSM-102176 변경결과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작성ITSM-102726 변경결과 작성ITSM-100133 변경결과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- 11월 인프라 취약점 점검 조치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ITSM-103028 변경수행자 변경ITSM-102929 서비스요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ITSM-102431 변경결과 작성ITSM-102706 변경결과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작성ITSM-103099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수기입금표 병합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소스 내 naver 지도 api 소스 수정을 위한 지원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신규 계정 권한 추가</a:t>
            </a:r>
          </a:p>
        </p:txBody>
      </p:sp>
      <p:sp>
        <p:nvSpPr>
          <p:cNvPr id="208472296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</a:p>
        </p:txBody>
      </p:sp>
      <p:sp>
        <p:nvSpPr>
          <p:cNvPr id="8418038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</a:p>
        </p:txBody>
      </p:sp>
      <p:sp>
        <p:nvSpPr>
          <p:cNvPr id="141392634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</a:p>
        </p:txBody>
      </p:sp>
      <p:sp>
        <p:nvSpPr>
          <p:cNvPr id="14523052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1628142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7399993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</a:p>
        </p:txBody>
      </p:sp>
      <p:sp>
        <p:nvSpPr>
          <p:cNvPr id="57522111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</a:p>
        </p:txBody>
      </p:sp>
      <p:sp>
        <p:nvSpPr>
          <p:cNvPr id="178652325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소스 내 naver 지도 api 소스 반영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</a:p>
        </p:txBody>
      </p:sp>
      <p:sp>
        <p:nvSpPr>
          <p:cNvPr id="187429003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81219408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52887517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atss 신규 계정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신규 계정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Simoms 프로젝트 PSORMS(전자작업허가) 솔루션 모바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일 인증서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판매 일자 정보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소스 내 naver 지도 api 소스 반영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ITSM-103395 작업유형 변경ITSM-103430 변경요청서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삭제ITSM-103423 작업유형 변경ITSM-102645 변경결과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ITSM-103420 견적서 삭제ITSM-103419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ITSM-103517 변경결과 작성</a:t>
            </a:r>
          </a:p>
        </p:txBody>
      </p:sp>
      <p:sp>
        <p:nvSpPr>
          <p:cNvPr id="134455760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</a:p>
        </p:txBody>
      </p:sp>
      <p:sp>
        <p:nvSpPr>
          <p:cNvPr id="7424034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</a:p>
        </p:txBody>
      </p:sp>
      <p:sp>
        <p:nvSpPr>
          <p:cNvPr id="209218576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</a:p>
        </p:txBody>
      </p:sp>
      <p:sp>
        <p:nvSpPr>
          <p:cNvPr id="56287693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9743064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32347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1846726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3348323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4861527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4657547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 - 제출일 : 2023-12-11</a:t>
            </a:r>
          </a:p>
        </p:txBody>
      </p:sp>
      <p:sp>
        <p:nvSpPr>
          <p:cNvPr id="51784369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7187968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7724481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5117756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3716215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7664008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4852068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746841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0753047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413855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</a:p>
        </p:txBody>
      </p:sp>
      <p:sp>
        <p:nvSpPr>
          <p:cNvPr id="49380311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</a:p>
        </p:txBody>
      </p:sp>
      <p:sp>
        <p:nvSpPr>
          <p:cNvPr id="8851027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소스 내 naver 지도 api 소스 반영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</a:p>
        </p:txBody>
      </p:sp>
      <p:sp>
        <p:nvSpPr>
          <p:cNvPr id="42767678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94141249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41116854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naver api 반영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2023년 연간예산 월별 집행계획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ITSM-87270 변경요청서 삭제ITSM-100130 변경결과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작성</a:t>
            </a:r>
          </a:p>
        </p:txBody>
      </p:sp>
      <p:sp>
        <p:nvSpPr>
          <p:cNvPr id="69706546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</a:p>
        </p:txBody>
      </p:sp>
      <p:sp>
        <p:nvSpPr>
          <p:cNvPr id="158792114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</a:p>
        </p:txBody>
      </p:sp>
      <p:sp>
        <p:nvSpPr>
          <p:cNvPr id="29421217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</a:p>
        </p:txBody>
      </p:sp>
      <p:sp>
        <p:nvSpPr>
          <p:cNvPr id="10736631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9804368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2421104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</a:p>
        </p:txBody>
      </p:sp>
      <p:sp>
        <p:nvSpPr>
          <p:cNvPr id="172465524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</a:p>
        </p:txBody>
      </p:sp>
      <p:sp>
        <p:nvSpPr>
          <p:cNvPr id="137803123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소스 내 naver 지도 api 소스 반영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</a:p>
        </p:txBody>
      </p:sp>
      <p:sp>
        <p:nvSpPr>
          <p:cNvPr id="180966411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92790639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80852642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naver api 반영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ITSM-103999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ios developer 권한 계정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ITSM-103323 서비스요청서 삭제ITSM-78062 서비스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요청서 삭제ITSM-104175 변경결과 작성ITSM-104174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입사 / 퇴사 계정 주가 및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ITSM-104139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ITSM-101395 요청자 사번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출하처 변경사유 항목 추가 및 기존 항목 변경 요청</a:t>
            </a:r>
          </a:p>
        </p:txBody>
      </p:sp>
      <p:sp>
        <p:nvSpPr>
          <p:cNvPr id="206233338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</a:p>
        </p:txBody>
      </p:sp>
      <p:sp>
        <p:nvSpPr>
          <p:cNvPr id="207957300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</a:p>
        </p:txBody>
      </p:sp>
      <p:sp>
        <p:nvSpPr>
          <p:cNvPr id="95925180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</a:p>
        </p:txBody>
      </p:sp>
      <p:sp>
        <p:nvSpPr>
          <p:cNvPr id="365873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3545901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29982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3059234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6267070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9513225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5547660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 - 제출일 : 2023-12-25</a:t>
            </a:r>
          </a:p>
        </p:txBody>
      </p:sp>
      <p:sp>
        <p:nvSpPr>
          <p:cNvPr id="81383870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4509677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9505414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9637771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2642057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3495162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7529922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8042051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14116870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67223191" name="Text">
    </p:cNvPr>
          <p:cNvSpPr>
            <a:spLocks noGrp="1"/>
          </p:cNvSpPr>
          <p:nvPr/>
        </p:nvSpPr>
        <p:spPr>
          <a:xfrm rot="0">
            <a:off x="9702800" y="1511300"/>
            <a:ext cx="368300" cy="4406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</a:p>
        </p:txBody>
      </p:sp>
      <p:sp>
        <p:nvSpPr>
          <p:cNvPr id="1246104164" name="Text">
    </p:cNvPr>
          <p:cNvSpPr>
            <a:spLocks noGrp="1"/>
          </p:cNvSpPr>
          <p:nvPr/>
        </p:nvSpPr>
        <p:spPr>
          <a:xfrm rot="0">
            <a:off x="9334500" y="1511300"/>
            <a:ext cx="368300" cy="4406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</a:p>
        </p:txBody>
      </p:sp>
      <p:sp>
        <p:nvSpPr>
          <p:cNvPr id="974607209" name="Text">
    </p:cNvPr>
          <p:cNvSpPr>
            <a:spLocks noGrp="1"/>
          </p:cNvSpPr>
          <p:nvPr/>
        </p:nvSpPr>
        <p:spPr>
          <a:xfrm rot="0">
            <a:off x="5930900" y="1511300"/>
            <a:ext cx="3403600" cy="440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소스 내 naver 지도 api 소스 반영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상차계획ㆍ배차계획 화면 가격그룹 항목 추가</a:t>
            </a:r>
            <a:br/>
          </a:p>
        </p:txBody>
      </p:sp>
      <p:sp>
        <p:nvSpPr>
          <p:cNvPr id="950777416" name="Text">
    </p:cNvPr>
          <p:cNvSpPr>
            <a:spLocks noGrp="1"/>
          </p:cNvSpPr>
          <p:nvPr/>
        </p:nvSpPr>
        <p:spPr>
          <a:xfrm rot="0">
            <a:off x="5308600" y="1511300"/>
            <a:ext cx="571500" cy="4406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176024323" name="Text">
    </p:cNvPr>
          <p:cNvSpPr>
            <a:spLocks noGrp="1"/>
          </p:cNvSpPr>
          <p:nvPr/>
        </p:nvSpPr>
        <p:spPr>
          <a:xfrm rot="0">
            <a:off x="88900" y="1511300"/>
            <a:ext cx="571500" cy="4406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022853774" name="Text">
    </p:cNvPr>
          <p:cNvSpPr>
            <a:spLocks noGrp="1"/>
          </p:cNvSpPr>
          <p:nvPr/>
        </p:nvSpPr>
        <p:spPr>
          <a:xfrm rot="0">
            <a:off x="711200" y="1511300"/>
            <a:ext cx="3403600" cy="440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naver api 반영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상차계획ㆍ배차계획 화면 가격그룹 항목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confluence 산출물 권한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ITSM-104368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ITSM-104256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ITSM-104388 대상시스템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ITSM-104223 변경요청서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ITSM-104166 작업 유형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ITSM-104394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ITSM-100681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ITSM-104396 데이터작업서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ITSM-104387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ITSM-104330 작업유형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ITSM-104475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ITSM-104392 서비스요청서 정보 재작성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주문 및 배차 2012~2017 데이터 백업 및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ITSM-93989 cts번호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ITSM-97114 cts번호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ITSM-104496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ITSM-93945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ITSM-104268 작업유형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ITSM-63261 서비스요청서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ITSM-63966 서비스요청서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ITSM-97114 cts번호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ITSM-93989 cts번호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자동 배차 엔진 재설치</a:t>
            </a:r>
            <a:br/>
          </a:p>
        </p:txBody>
      </p:sp>
      <p:sp>
        <p:nvSpPr>
          <p:cNvPr id="1023083106" name="Text">
    </p:cNvPr>
          <p:cNvSpPr>
            <a:spLocks noGrp="1"/>
          </p:cNvSpPr>
          <p:nvPr/>
        </p:nvSpPr>
        <p:spPr>
          <a:xfrm rot="0">
            <a:off x="4483100" y="1511300"/>
            <a:ext cx="368300" cy="4406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12/21</a:t>
            </a:r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</a:p>
        </p:txBody>
      </p:sp>
      <p:sp>
        <p:nvSpPr>
          <p:cNvPr id="1502079555" name="Text">
    </p:cNvPr>
          <p:cNvSpPr>
            <a:spLocks noGrp="1"/>
          </p:cNvSpPr>
          <p:nvPr/>
        </p:nvSpPr>
        <p:spPr>
          <a:xfrm rot="0">
            <a:off x="4851400" y="1511300"/>
            <a:ext cx="368300" cy="4406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68%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18%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12/21</a:t>
            </a:r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</a:p>
        </p:txBody>
      </p:sp>
      <p:sp>
        <p:nvSpPr>
          <p:cNvPr id="1521810653" name="Text">
    </p:cNvPr>
          <p:cNvSpPr>
            <a:spLocks noGrp="1"/>
          </p:cNvSpPr>
          <p:nvPr/>
        </p:nvSpPr>
        <p:spPr>
          <a:xfrm rot="0">
            <a:off x="4114800" y="1511300"/>
            <a:ext cx="368300" cy="4406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12/21</a:t>
            </a:r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</a:p>
        </p:txBody>
      </p:sp>
      <p:sp>
        <p:nvSpPr>
          <p:cNvPr id="1515714295" name="Text">
    </p:cNvPr>
          <p:cNvSpPr>
            <a:spLocks noGrp="1"/>
          </p:cNvSpPr>
          <p:nvPr/>
        </p:nvSpPr>
        <p:spPr>
          <a:xfrm rot="0">
            <a:off x="660400" y="1511300"/>
            <a:ext cx="3454400" cy="4406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46157261" name="Text">
    </p:cNvPr>
          <p:cNvSpPr>
            <a:spLocks noGrp="1"/>
          </p:cNvSpPr>
          <p:nvPr/>
        </p:nvSpPr>
        <p:spPr>
          <a:xfrm rot="0">
            <a:off x="5880100" y="1511300"/>
            <a:ext cx="3454400" cy="4406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61362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3382998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7812054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4181116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5785245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 - 제출일 : 2024-01-01</a:t>
            </a:r>
          </a:p>
        </p:txBody>
      </p:sp>
      <p:sp>
        <p:nvSpPr>
          <p:cNvPr id="55416775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0598945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3375229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815037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7141224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1138795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9393720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2137523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4996707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9328854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</a:p>
        </p:txBody>
      </p:sp>
      <p:sp>
        <p:nvSpPr>
          <p:cNvPr id="188022228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br/>
          </a:p>
        </p:txBody>
      </p:sp>
      <p:sp>
        <p:nvSpPr>
          <p:cNvPr id="156605383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소스 내 naver 지도 api 소스 반영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상차계획ㆍ배차계획 화면 가격그룹 항목 추가및 데이터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삭제</a:t>
            </a:r>
          </a:p>
        </p:txBody>
      </p:sp>
      <p:sp>
        <p:nvSpPr>
          <p:cNvPr id="109212279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71724555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44261552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naver api 반영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상차계획ㆍ배차계획 화면 가격그룹 항목 추가및 데이터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자동 배차 엔진 재가동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영업관리 지사 인원 추가</a:t>
            </a:r>
          </a:p>
        </p:txBody>
      </p:sp>
      <p:sp>
        <p:nvSpPr>
          <p:cNvPr id="120946736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</a:p>
        </p:txBody>
      </p:sp>
      <p:sp>
        <p:nvSpPr>
          <p:cNvPr id="125468195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68%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18%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</a:p>
        </p:txBody>
      </p:sp>
      <p:sp>
        <p:nvSpPr>
          <p:cNvPr id="165699064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</a:p>
        </p:txBody>
      </p:sp>
      <p:sp>
        <p:nvSpPr>
          <p:cNvPr id="140149064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0195826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85339829" name="Text">
    </p:cNvPr>
          <p:cNvSpPr>
            <a:spLocks noGrp="1"/>
          </p:cNvSpPr>
          <p:nvPr/>
        </p:nvSpPr>
        <p:spPr>
          <a:xfrm rot="0">
            <a:off x="9702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</a:p>
        </p:txBody>
      </p:sp>
      <p:sp>
        <p:nvSpPr>
          <p:cNvPr id="1362023891" name="Text">
    </p:cNvPr>
          <p:cNvSpPr>
            <a:spLocks noGrp="1"/>
          </p:cNvSpPr>
          <p:nvPr/>
        </p:nvSpPr>
        <p:spPr>
          <a:xfrm rot="0">
            <a:off x="93345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</a:p>
        </p:txBody>
      </p:sp>
      <p:sp>
        <p:nvSpPr>
          <p:cNvPr id="1255836814" name="Text">
    </p:cNvPr>
          <p:cNvSpPr>
            <a:spLocks noGrp="1"/>
          </p:cNvSpPr>
          <p:nvPr/>
        </p:nvSpPr>
        <p:spPr>
          <a:xfrm rot="0">
            <a:off x="5930900" y="37719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소스 내 naver 지도 api 소스 반영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ebiz 권한 요청 화면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epro 자동 배포 반영</a:t>
            </a:r>
          </a:p>
        </p:txBody>
      </p:sp>
      <p:sp>
        <p:nvSpPr>
          <p:cNvPr id="1613410385" name="Text">
    </p:cNvPr>
          <p:cNvSpPr>
            <a:spLocks noGrp="1"/>
          </p:cNvSpPr>
          <p:nvPr/>
        </p:nvSpPr>
        <p:spPr>
          <a:xfrm rot="0">
            <a:off x="53086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882651932" name="Text">
    </p:cNvPr>
          <p:cNvSpPr>
            <a:spLocks noGrp="1"/>
          </p:cNvSpPr>
          <p:nvPr/>
        </p:nvSpPr>
        <p:spPr>
          <a:xfrm rot="0">
            <a:off x="889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331085841" name="Text">
    </p:cNvPr>
          <p:cNvSpPr>
            <a:spLocks noGrp="1"/>
          </p:cNvSpPr>
          <p:nvPr/>
        </p:nvSpPr>
        <p:spPr>
          <a:xfrm rot="0">
            <a:off x="711200" y="37719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naver api 반영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상차계획ㆍ배차계획 화면 가격그룹 항목 추가및 데이터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ebiz 권한 요청 화면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ITSM-104515 변경결과 작성ITSM-104947 변경결과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작성ITSM-104991 긴급도 변경ITSM-103126 견적서 삭제IT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SM-103198 변경요청서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confluence 서비스 항목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ITSM-104952 서비스요청서 삭제ITSM-104961 견적서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삭제ITSM-105087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confluence 서비스 항목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ITSM-104997 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자동 배차 엔진 재가동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ITSM-105319 변경결과 작성ITSM-105288 배포상태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변경ITSM-105287 배포상태 변경</a:t>
            </a:r>
          </a:p>
        </p:txBody>
      </p:sp>
      <p:sp>
        <p:nvSpPr>
          <p:cNvPr id="219916308" name="Text">
    </p:cNvPr>
          <p:cNvSpPr>
            <a:spLocks noGrp="1"/>
          </p:cNvSpPr>
          <p:nvPr/>
        </p:nvSpPr>
        <p:spPr>
          <a:xfrm rot="0">
            <a:off x="44831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</a:p>
        </p:txBody>
      </p:sp>
      <p:sp>
        <p:nvSpPr>
          <p:cNvPr id="939928030" name="Text">
    </p:cNvPr>
          <p:cNvSpPr>
            <a:spLocks noGrp="1"/>
          </p:cNvSpPr>
          <p:nvPr/>
        </p:nvSpPr>
        <p:spPr>
          <a:xfrm rot="0">
            <a:off x="48514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69%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19%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58%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</a:p>
        </p:txBody>
      </p:sp>
      <p:sp>
        <p:nvSpPr>
          <p:cNvPr id="1842870545" name="Text">
    </p:cNvPr>
          <p:cNvSpPr>
            <a:spLocks noGrp="1"/>
          </p:cNvSpPr>
          <p:nvPr/>
        </p:nvSpPr>
        <p:spPr>
          <a:xfrm rot="0">
            <a:off x="4114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</a:p>
        </p:txBody>
      </p:sp>
      <p:sp>
        <p:nvSpPr>
          <p:cNvPr id="568389578" name="Text">
    </p:cNvPr>
          <p:cNvSpPr>
            <a:spLocks noGrp="1"/>
          </p:cNvSpPr>
          <p:nvPr/>
        </p:nvSpPr>
        <p:spPr>
          <a:xfrm rot="0">
            <a:off x="6604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11269610" name="Text">
    </p:cNvPr>
          <p:cNvSpPr>
            <a:spLocks noGrp="1"/>
          </p:cNvSpPr>
          <p:nvPr/>
        </p:nvSpPr>
        <p:spPr>
          <a:xfrm rot="0">
            <a:off x="58801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441723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1980406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596634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5149952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581028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 - 제출일 : 2024-01-15</a:t>
            </a:r>
          </a:p>
        </p:txBody>
      </p:sp>
      <p:sp>
        <p:nvSpPr>
          <p:cNvPr id="42154331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4738794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2501273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7769450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0689769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6763801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7317540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4461957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4504518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304115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</a:p>
        </p:txBody>
      </p:sp>
      <p:sp>
        <p:nvSpPr>
          <p:cNvPr id="89313965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</a:p>
        </p:txBody>
      </p:sp>
      <p:sp>
        <p:nvSpPr>
          <p:cNvPr id="88085530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GW-mobile sdk 변경 및 테스트</a:t>
            </a:r>
          </a:p>
        </p:txBody>
      </p:sp>
      <p:sp>
        <p:nvSpPr>
          <p:cNvPr id="191154989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2989668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43384357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ebiz 권한 요청 팝업 화면 이미지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ITSM-105287 수동배포ITSM-105288 수동배포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ITSM-105673 삭제ITSM-105548 삭제ITSM-105250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작업유형 변경ITSM-105369 작업유형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atss 사용자 패스워드 초기화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IITSM-105769 작업자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GW-mobile sdk 변경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ITSM-105829 작업자 변경</a:t>
            </a:r>
          </a:p>
        </p:txBody>
      </p:sp>
      <p:sp>
        <p:nvSpPr>
          <p:cNvPr id="172887965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</a:p>
        </p:txBody>
      </p:sp>
      <p:sp>
        <p:nvSpPr>
          <p:cNvPr id="177128619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</a:p>
        </p:txBody>
      </p:sp>
      <p:sp>
        <p:nvSpPr>
          <p:cNvPr id="70283957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</a:p>
        </p:txBody>
      </p:sp>
      <p:sp>
        <p:nvSpPr>
          <p:cNvPr id="122957520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5252121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5210619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</a:p>
        </p:txBody>
      </p:sp>
      <p:sp>
        <p:nvSpPr>
          <p:cNvPr id="87263173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</a:p>
        </p:txBody>
      </p:sp>
      <p:sp>
        <p:nvSpPr>
          <p:cNvPr id="86272806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GW-mobile sdk 변경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epro 자동 배포 셋팅</a:t>
            </a:r>
          </a:p>
        </p:txBody>
      </p:sp>
      <p:sp>
        <p:nvSpPr>
          <p:cNvPr id="118444571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44822561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202288200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epro 자동 배포 셋팅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ITSM-105817 요청정보 작성ITSM-104916 작업자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경ITSM-105821 변경결과 작성ITSM-105635 요청정보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성ITSM-104634 작업유형 변경ITSM-96329 변경수행자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ITSM-105817 견적공수 작성ITSM-96329 배포상태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경ITSM-105934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GW-mobile sdk 변경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ITSM-106025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ITSM-104607 변경결과 작성ITSM-104766 변경결과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작성</a:t>
            </a:r>
          </a:p>
        </p:txBody>
      </p:sp>
      <p:sp>
        <p:nvSpPr>
          <p:cNvPr id="71831000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</a:p>
        </p:txBody>
      </p:sp>
      <p:sp>
        <p:nvSpPr>
          <p:cNvPr id="636414822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72%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</a:p>
        </p:txBody>
      </p:sp>
      <p:sp>
        <p:nvSpPr>
          <p:cNvPr id="164635344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</a:p>
        </p:txBody>
      </p:sp>
      <p:sp>
        <p:nvSpPr>
          <p:cNvPr id="252210886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6451849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214013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5994571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6538626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7649519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4871253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 - 제출일 : 2024-01-29</a:t>
            </a:r>
          </a:p>
        </p:txBody>
      </p:sp>
      <p:sp>
        <p:nvSpPr>
          <p:cNvPr id="195595498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7681906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2467666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2123911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0519080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6484488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7671058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1776298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5785523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64636162" name="Text">
    </p:cNvPr>
          <p:cNvSpPr>
            <a:spLocks noGrp="1"/>
          </p:cNvSpPr>
          <p:nvPr/>
        </p:nvSpPr>
        <p:spPr>
          <a:xfrm rot="0">
            <a:off x="9702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</a:p>
        </p:txBody>
      </p:sp>
      <p:sp>
        <p:nvSpPr>
          <p:cNvPr id="1209929098" name="Text">
    </p:cNvPr>
          <p:cNvSpPr>
            <a:spLocks noGrp="1"/>
          </p:cNvSpPr>
          <p:nvPr/>
        </p:nvSpPr>
        <p:spPr>
          <a:xfrm rot="0">
            <a:off x="93345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</a:p>
        </p:txBody>
      </p:sp>
      <p:sp>
        <p:nvSpPr>
          <p:cNvPr id="590350461" name="Text">
    </p:cNvPr>
          <p:cNvSpPr>
            <a:spLocks noGrp="1"/>
          </p:cNvSpPr>
          <p:nvPr/>
        </p:nvSpPr>
        <p:spPr>
          <a:xfrm rot="0">
            <a:off x="5930900" y="15113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거리 및 요율 추가</a:t>
            </a:r>
          </a:p>
        </p:txBody>
      </p:sp>
      <p:sp>
        <p:nvSpPr>
          <p:cNvPr id="366123087" name="Text">
    </p:cNvPr>
          <p:cNvSpPr>
            <a:spLocks noGrp="1"/>
          </p:cNvSpPr>
          <p:nvPr/>
        </p:nvSpPr>
        <p:spPr>
          <a:xfrm rot="0">
            <a:off x="53086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28614423" name="Text">
    </p:cNvPr>
          <p:cNvSpPr>
            <a:spLocks noGrp="1"/>
          </p:cNvSpPr>
          <p:nvPr/>
        </p:nvSpPr>
        <p:spPr>
          <a:xfrm rot="0">
            <a:off x="889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071689525" name="Text">
    </p:cNvPr>
          <p:cNvSpPr>
            <a:spLocks noGrp="1"/>
          </p:cNvSpPr>
          <p:nvPr/>
        </p:nvSpPr>
        <p:spPr>
          <a:xfrm rot="0">
            <a:off x="711200" y="15113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GW-mobile sdk 변경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ITSM-106245 요청정보 재작성ITSM-105847 작업유형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변경ITSM-106146 gcms 자동배포ITSM-105159 견적서 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제ITSM-102147 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hcm 모집단 문서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신규 직원 등록 및 권한 부여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ITSM-105415 견적서 삭제ITSM-106362	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ITSM-106379 변경수행자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신규 직원 asm 등록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ITSM-98506 상태 변경ITSM-99502 상태 변경ITSM-1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01250 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ITSM-89671 변경요청서 삭제ITSM-50465 변경요청서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삭제</a:t>
            </a:r>
          </a:p>
        </p:txBody>
      </p:sp>
      <p:sp>
        <p:nvSpPr>
          <p:cNvPr id="481311572" name="Text">
    </p:cNvPr>
          <p:cNvSpPr>
            <a:spLocks noGrp="1"/>
          </p:cNvSpPr>
          <p:nvPr/>
        </p:nvSpPr>
        <p:spPr>
          <a:xfrm rot="0">
            <a:off x="44831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</a:p>
        </p:txBody>
      </p:sp>
      <p:sp>
        <p:nvSpPr>
          <p:cNvPr id="497141869" name="Text">
    </p:cNvPr>
          <p:cNvSpPr>
            <a:spLocks noGrp="1"/>
          </p:cNvSpPr>
          <p:nvPr/>
        </p:nvSpPr>
        <p:spPr>
          <a:xfrm rot="0">
            <a:off x="48514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</a:p>
        </p:txBody>
      </p:sp>
      <p:sp>
        <p:nvSpPr>
          <p:cNvPr id="1314413046" name="Text">
    </p:cNvPr>
          <p:cNvSpPr>
            <a:spLocks noGrp="1"/>
          </p:cNvSpPr>
          <p:nvPr/>
        </p:nvSpPr>
        <p:spPr>
          <a:xfrm rot="0">
            <a:off x="4114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</a:p>
        </p:txBody>
      </p:sp>
      <p:sp>
        <p:nvSpPr>
          <p:cNvPr id="1962659343" name="Text">
    </p:cNvPr>
          <p:cNvSpPr>
            <a:spLocks noGrp="1"/>
          </p:cNvSpPr>
          <p:nvPr/>
        </p:nvSpPr>
        <p:spPr>
          <a:xfrm rot="0">
            <a:off x="6604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62406751" name="Text">
    </p:cNvPr>
          <p:cNvSpPr>
            <a:spLocks noGrp="1"/>
          </p:cNvSpPr>
          <p:nvPr/>
        </p:nvSpPr>
        <p:spPr>
          <a:xfrm rot="0">
            <a:off x="58801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63429299" name="Text">
    </p:cNvPr>
          <p:cNvSpPr>
            <a:spLocks noGrp="1"/>
          </p:cNvSpPr>
          <p:nvPr/>
        </p:nvSpPr>
        <p:spPr>
          <a:xfrm rot="0">
            <a:off x="9702800" y="39370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</a:p>
        </p:txBody>
      </p:sp>
      <p:sp>
        <p:nvSpPr>
          <p:cNvPr id="1994788851" name="Text">
    </p:cNvPr>
          <p:cNvSpPr>
            <a:spLocks noGrp="1"/>
          </p:cNvSpPr>
          <p:nvPr/>
        </p:nvSpPr>
        <p:spPr>
          <a:xfrm rot="0">
            <a:off x="9334500" y="39370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</a:p>
        </p:txBody>
      </p:sp>
      <p:sp>
        <p:nvSpPr>
          <p:cNvPr id="1556561046" name="Text">
    </p:cNvPr>
          <p:cNvSpPr>
            <a:spLocks noGrp="1"/>
          </p:cNvSpPr>
          <p:nvPr/>
        </p:nvSpPr>
        <p:spPr>
          <a:xfrm rot="0">
            <a:off x="5930900" y="39370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거리 및 요율 추가</a:t>
            </a:r>
          </a:p>
        </p:txBody>
      </p:sp>
      <p:sp>
        <p:nvSpPr>
          <p:cNvPr id="1422485656" name="Text">
    </p:cNvPr>
          <p:cNvSpPr>
            <a:spLocks noGrp="1"/>
          </p:cNvSpPr>
          <p:nvPr/>
        </p:nvSpPr>
        <p:spPr>
          <a:xfrm rot="0">
            <a:off x="5308600" y="39370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162878020" name="Text">
    </p:cNvPr>
          <p:cNvSpPr>
            <a:spLocks noGrp="1"/>
          </p:cNvSpPr>
          <p:nvPr/>
        </p:nvSpPr>
        <p:spPr>
          <a:xfrm rot="0">
            <a:off x="88900" y="39370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59710090" name="Text">
    </p:cNvPr>
          <p:cNvSpPr>
            <a:spLocks noGrp="1"/>
          </p:cNvSpPr>
          <p:nvPr/>
        </p:nvSpPr>
        <p:spPr>
          <a:xfrm rot="0">
            <a:off x="711200" y="39370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GW-mobile sdk 변경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ITSM-106245 요청정보 재작성ITSM-105847 작업유형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변경ITSM-106146 gcms 자동배포ITSM-105159 견적서 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제ITSM-102147 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hcm 모집단 문서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신규 직원 등록 및 권한 부여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ITSM-105415 견적서 삭제ITSM-106362	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ITSM-106379 변경수행자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신규 직원 asm 등록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ITSM-98506 상태 변경ITSM-99502 상태 변경ITSM-1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01250 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ITSM-89671 변경요청서 삭제ITSM-50465 변경요청서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삭제</a:t>
            </a:r>
          </a:p>
        </p:txBody>
      </p:sp>
      <p:sp>
        <p:nvSpPr>
          <p:cNvPr id="1716106721" name="Text">
    </p:cNvPr>
          <p:cNvSpPr>
            <a:spLocks noGrp="1"/>
          </p:cNvSpPr>
          <p:nvPr/>
        </p:nvSpPr>
        <p:spPr>
          <a:xfrm rot="0">
            <a:off x="4483100" y="39370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</a:p>
        </p:txBody>
      </p:sp>
      <p:sp>
        <p:nvSpPr>
          <p:cNvPr id="2044431384" name="Text">
    </p:cNvPr>
          <p:cNvSpPr>
            <a:spLocks noGrp="1"/>
          </p:cNvSpPr>
          <p:nvPr/>
        </p:nvSpPr>
        <p:spPr>
          <a:xfrm rot="0">
            <a:off x="4851400" y="39370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</a:p>
        </p:txBody>
      </p:sp>
      <p:sp>
        <p:nvSpPr>
          <p:cNvPr id="1017912667" name="Text">
    </p:cNvPr>
          <p:cNvSpPr>
            <a:spLocks noGrp="1"/>
          </p:cNvSpPr>
          <p:nvPr/>
        </p:nvSpPr>
        <p:spPr>
          <a:xfrm rot="0">
            <a:off x="4114800" y="39370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</a:p>
        </p:txBody>
      </p:sp>
      <p:sp>
        <p:nvSpPr>
          <p:cNvPr id="1200360206" name="Text">
    </p:cNvPr>
          <p:cNvSpPr>
            <a:spLocks noGrp="1"/>
          </p:cNvSpPr>
          <p:nvPr/>
        </p:nvSpPr>
        <p:spPr>
          <a:xfrm rot="0">
            <a:off x="660400" y="39370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24610467" name="Text">
    </p:cNvPr>
          <p:cNvSpPr>
            <a:spLocks noGrp="1"/>
          </p:cNvSpPr>
          <p:nvPr/>
        </p:nvSpPr>
        <p:spPr>
          <a:xfrm rot="0">
            <a:off x="5880100" y="39370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00836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5685397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5082650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1484229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2193705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 - 제출일 : 2024-01-29</a:t>
            </a:r>
          </a:p>
        </p:txBody>
      </p:sp>
      <p:sp>
        <p:nvSpPr>
          <p:cNvPr id="154476458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1070835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8057117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7846311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0918489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4528870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7848394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6128008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3377370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16340848" name="Text">
    </p:cNvPr>
          <p:cNvSpPr>
            <a:spLocks noGrp="1"/>
          </p:cNvSpPr>
          <p:nvPr/>
        </p:nvSpPr>
        <p:spPr>
          <a:xfrm rot="0">
            <a:off x="9702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</a:p>
        </p:txBody>
      </p:sp>
      <p:sp>
        <p:nvSpPr>
          <p:cNvPr id="273614004" name="Text">
    </p:cNvPr>
          <p:cNvSpPr>
            <a:spLocks noGrp="1"/>
          </p:cNvSpPr>
          <p:nvPr/>
        </p:nvSpPr>
        <p:spPr>
          <a:xfrm rot="0">
            <a:off x="93345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</a:p>
        </p:txBody>
      </p:sp>
      <p:sp>
        <p:nvSpPr>
          <p:cNvPr id="882267475" name="Text">
    </p:cNvPr>
          <p:cNvSpPr>
            <a:spLocks noGrp="1"/>
          </p:cNvSpPr>
          <p:nvPr/>
        </p:nvSpPr>
        <p:spPr>
          <a:xfrm rot="0">
            <a:off x="5930900" y="15113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거리 및 요율 추가</a:t>
            </a:r>
          </a:p>
        </p:txBody>
      </p:sp>
      <p:sp>
        <p:nvSpPr>
          <p:cNvPr id="2078796252" name="Text">
    </p:cNvPr>
          <p:cNvSpPr>
            <a:spLocks noGrp="1"/>
          </p:cNvSpPr>
          <p:nvPr/>
        </p:nvSpPr>
        <p:spPr>
          <a:xfrm rot="0">
            <a:off x="53086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051428266" name="Text">
    </p:cNvPr>
          <p:cNvSpPr>
            <a:spLocks noGrp="1"/>
          </p:cNvSpPr>
          <p:nvPr/>
        </p:nvSpPr>
        <p:spPr>
          <a:xfrm rot="0">
            <a:off x="889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445551215" name="Text">
    </p:cNvPr>
          <p:cNvSpPr>
            <a:spLocks noGrp="1"/>
          </p:cNvSpPr>
          <p:nvPr/>
        </p:nvSpPr>
        <p:spPr>
          <a:xfrm rot="0">
            <a:off x="711200" y="15113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GW-mobile sdk 변경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ITSM-106245 요청정보 재작성ITSM-105847 작업유형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변경ITSM-106146 gcms 자동배포ITSM-105159 견적서 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제ITSM-102147 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hcm 모집단 문서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신규 직원 등록 및 권한 부여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ITSM-105415 견적서 삭제ITSM-106362	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ITSM-106379 변경수행자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신규 직원 asm 등록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ITSM-98506 상태 변경ITSM-99502 상태 변경ITSM-1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01250 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ITSM-89671 변경요청서 삭제ITSM-50465 변경요청서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삭제</a:t>
            </a:r>
          </a:p>
        </p:txBody>
      </p:sp>
      <p:sp>
        <p:nvSpPr>
          <p:cNvPr id="1343465268" name="Text">
    </p:cNvPr>
          <p:cNvSpPr>
            <a:spLocks noGrp="1"/>
          </p:cNvSpPr>
          <p:nvPr/>
        </p:nvSpPr>
        <p:spPr>
          <a:xfrm rot="0">
            <a:off x="44831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</a:p>
        </p:txBody>
      </p:sp>
      <p:sp>
        <p:nvSpPr>
          <p:cNvPr id="343805411" name="Text">
    </p:cNvPr>
          <p:cNvSpPr>
            <a:spLocks noGrp="1"/>
          </p:cNvSpPr>
          <p:nvPr/>
        </p:nvSpPr>
        <p:spPr>
          <a:xfrm rot="0">
            <a:off x="48514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</a:p>
        </p:txBody>
      </p:sp>
      <p:sp>
        <p:nvSpPr>
          <p:cNvPr id="1981434899" name="Text">
    </p:cNvPr>
          <p:cNvSpPr>
            <a:spLocks noGrp="1"/>
          </p:cNvSpPr>
          <p:nvPr/>
        </p:nvSpPr>
        <p:spPr>
          <a:xfrm rot="0">
            <a:off x="4114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</a:p>
        </p:txBody>
      </p:sp>
      <p:sp>
        <p:nvSpPr>
          <p:cNvPr id="1791798427" name="Text">
    </p:cNvPr>
          <p:cNvSpPr>
            <a:spLocks noGrp="1"/>
          </p:cNvSpPr>
          <p:nvPr/>
        </p:nvSpPr>
        <p:spPr>
          <a:xfrm rot="0">
            <a:off x="6604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57165553" name="Text">
    </p:cNvPr>
          <p:cNvSpPr>
            <a:spLocks noGrp="1"/>
          </p:cNvSpPr>
          <p:nvPr/>
        </p:nvSpPr>
        <p:spPr>
          <a:xfrm rot="0">
            <a:off x="58801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30274018" name="Text">
    </p:cNvPr>
          <p:cNvSpPr>
            <a:spLocks noGrp="1"/>
          </p:cNvSpPr>
          <p:nvPr/>
        </p:nvSpPr>
        <p:spPr>
          <a:xfrm rot="0">
            <a:off x="9702800" y="39370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</a:p>
        </p:txBody>
      </p:sp>
      <p:sp>
        <p:nvSpPr>
          <p:cNvPr id="1736452686" name="Text">
    </p:cNvPr>
          <p:cNvSpPr>
            <a:spLocks noGrp="1"/>
          </p:cNvSpPr>
          <p:nvPr/>
        </p:nvSpPr>
        <p:spPr>
          <a:xfrm rot="0">
            <a:off x="9334500" y="39370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</a:p>
        </p:txBody>
      </p:sp>
      <p:sp>
        <p:nvSpPr>
          <p:cNvPr id="1747450449" name="Text">
    </p:cNvPr>
          <p:cNvSpPr>
            <a:spLocks noGrp="1"/>
          </p:cNvSpPr>
          <p:nvPr/>
        </p:nvSpPr>
        <p:spPr>
          <a:xfrm rot="0">
            <a:off x="5930900" y="39370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거리 및 요율 추가</a:t>
            </a:r>
          </a:p>
        </p:txBody>
      </p:sp>
      <p:sp>
        <p:nvSpPr>
          <p:cNvPr id="328253344" name="Text">
    </p:cNvPr>
          <p:cNvSpPr>
            <a:spLocks noGrp="1"/>
          </p:cNvSpPr>
          <p:nvPr/>
        </p:nvSpPr>
        <p:spPr>
          <a:xfrm rot="0">
            <a:off x="5308600" y="39370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605984956" name="Text">
    </p:cNvPr>
          <p:cNvSpPr>
            <a:spLocks noGrp="1"/>
          </p:cNvSpPr>
          <p:nvPr/>
        </p:nvSpPr>
        <p:spPr>
          <a:xfrm rot="0">
            <a:off x="88900" y="39370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118438443" name="Text">
    </p:cNvPr>
          <p:cNvSpPr>
            <a:spLocks noGrp="1"/>
          </p:cNvSpPr>
          <p:nvPr/>
        </p:nvSpPr>
        <p:spPr>
          <a:xfrm rot="0">
            <a:off x="711200" y="39370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GW-mobile sdk 변경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ITSM-106245 요청정보 재작성ITSM-105847 작업유형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변경ITSM-106146 gcms 자동배포ITSM-105159 견적서 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제ITSM-102147 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hcm 모집단 문서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신규 직원 등록 및 권한 부여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ITSM-105415 견적서 삭제ITSM-106362	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ITSM-106379 변경수행자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신규 직원 asm 등록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ITSM-98506 상태 변경ITSM-99502 상태 변경ITSM-1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01250 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ITSM-89671 변경요청서 삭제ITSM-50465 변경요청서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삭제</a:t>
            </a:r>
          </a:p>
        </p:txBody>
      </p:sp>
      <p:sp>
        <p:nvSpPr>
          <p:cNvPr id="352885597" name="Text">
    </p:cNvPr>
          <p:cNvSpPr>
            <a:spLocks noGrp="1"/>
          </p:cNvSpPr>
          <p:nvPr/>
        </p:nvSpPr>
        <p:spPr>
          <a:xfrm rot="0">
            <a:off x="4483100" y="39370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</a:p>
        </p:txBody>
      </p:sp>
      <p:sp>
        <p:nvSpPr>
          <p:cNvPr id="57891811" name="Text">
    </p:cNvPr>
          <p:cNvSpPr>
            <a:spLocks noGrp="1"/>
          </p:cNvSpPr>
          <p:nvPr/>
        </p:nvSpPr>
        <p:spPr>
          <a:xfrm rot="0">
            <a:off x="4851400" y="39370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</a:p>
        </p:txBody>
      </p:sp>
      <p:sp>
        <p:nvSpPr>
          <p:cNvPr id="1408821321" name="Text">
    </p:cNvPr>
          <p:cNvSpPr>
            <a:spLocks noGrp="1"/>
          </p:cNvSpPr>
          <p:nvPr/>
        </p:nvSpPr>
        <p:spPr>
          <a:xfrm rot="0">
            <a:off x="4114800" y="39370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br/>
          </a:p>
        </p:txBody>
      </p:sp>
      <p:sp>
        <p:nvSpPr>
          <p:cNvPr id="1105274177" name="Text">
    </p:cNvPr>
          <p:cNvSpPr>
            <a:spLocks noGrp="1"/>
          </p:cNvSpPr>
          <p:nvPr/>
        </p:nvSpPr>
        <p:spPr>
          <a:xfrm rot="0">
            <a:off x="660400" y="39370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83282515" name="Text">
    </p:cNvPr>
          <p:cNvSpPr>
            <a:spLocks noGrp="1"/>
          </p:cNvSpPr>
          <p:nvPr/>
        </p:nvSpPr>
        <p:spPr>
          <a:xfrm rot="0">
            <a:off x="5880100" y="39370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2574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0288900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3409561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6721231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7069974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 - 제출일 : 2024-02-05</a:t>
            </a:r>
          </a:p>
        </p:txBody>
      </p:sp>
      <p:sp>
        <p:nvSpPr>
          <p:cNvPr id="90458639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8804983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5608002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5463828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4009458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1636030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6461364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095480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8361054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77696538" name="Text">
    </p:cNvPr>
          <p:cNvSpPr>
            <a:spLocks noGrp="1"/>
          </p:cNvSpPr>
          <p:nvPr/>
        </p:nvSpPr>
        <p:spPr>
          <a:xfrm rot="0">
            <a:off x="9702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</a:p>
        </p:txBody>
      </p:sp>
      <p:sp>
        <p:nvSpPr>
          <p:cNvPr id="621538694" name="Text">
    </p:cNvPr>
          <p:cNvSpPr>
            <a:spLocks noGrp="1"/>
          </p:cNvSpPr>
          <p:nvPr/>
        </p:nvSpPr>
        <p:spPr>
          <a:xfrm rot="0">
            <a:off x="93345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</a:p>
        </p:txBody>
      </p:sp>
      <p:sp>
        <p:nvSpPr>
          <p:cNvPr id="1054046274" name="Text">
    </p:cNvPr>
          <p:cNvSpPr>
            <a:spLocks noGrp="1"/>
          </p:cNvSpPr>
          <p:nvPr/>
        </p:nvSpPr>
        <p:spPr>
          <a:xfrm rot="0">
            <a:off x="5930900" y="15113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epro 자동배포 셋팅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취약점 점검 장애</a:t>
            </a:r>
            <a:br/>
          </a:p>
        </p:txBody>
      </p:sp>
      <p:sp>
        <p:nvSpPr>
          <p:cNvPr id="1848761529" name="Text">
    </p:cNvPr>
          <p:cNvSpPr>
            <a:spLocks noGrp="1"/>
          </p:cNvSpPr>
          <p:nvPr/>
        </p:nvSpPr>
        <p:spPr>
          <a:xfrm rot="0">
            <a:off x="53086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348540133" name="Text">
    </p:cNvPr>
          <p:cNvSpPr>
            <a:spLocks noGrp="1"/>
          </p:cNvSpPr>
          <p:nvPr/>
        </p:nvSpPr>
        <p:spPr>
          <a:xfrm rot="0">
            <a:off x="889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859908646" name="Text">
    </p:cNvPr>
          <p:cNvSpPr>
            <a:spLocks noGrp="1"/>
          </p:cNvSpPr>
          <p:nvPr/>
        </p:nvSpPr>
        <p:spPr>
          <a:xfrm rot="0">
            <a:off x="711200" y="15113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요율 및 거리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ITSM-97564 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ITSM-98503 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ITSM-105723 동료검토자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ITSM-82617 작업담당자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ITSM-95572 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ITSM-99234 배포수행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OOME 오류 발생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사용자명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ITSM-106597 변경수행자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취약점 점검 장애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epro 자동배포 셋팅</a:t>
            </a:r>
            <a:br/>
          </a:p>
        </p:txBody>
      </p:sp>
      <p:sp>
        <p:nvSpPr>
          <p:cNvPr id="1265598679" name="Text">
    </p:cNvPr>
          <p:cNvSpPr>
            <a:spLocks noGrp="1"/>
          </p:cNvSpPr>
          <p:nvPr/>
        </p:nvSpPr>
        <p:spPr>
          <a:xfrm rot="0">
            <a:off x="44831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</a:p>
        </p:txBody>
      </p:sp>
      <p:sp>
        <p:nvSpPr>
          <p:cNvPr id="735795479" name="Text">
    </p:cNvPr>
          <p:cNvSpPr>
            <a:spLocks noGrp="1"/>
          </p:cNvSpPr>
          <p:nvPr/>
        </p:nvSpPr>
        <p:spPr>
          <a:xfrm rot="0">
            <a:off x="48514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77%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</a:p>
        </p:txBody>
      </p:sp>
      <p:sp>
        <p:nvSpPr>
          <p:cNvPr id="224168429" name="Text">
    </p:cNvPr>
          <p:cNvSpPr>
            <a:spLocks noGrp="1"/>
          </p:cNvSpPr>
          <p:nvPr/>
        </p:nvSpPr>
        <p:spPr>
          <a:xfrm rot="0">
            <a:off x="4114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</a:p>
        </p:txBody>
      </p:sp>
      <p:sp>
        <p:nvSpPr>
          <p:cNvPr id="1016538788" name="Text">
    </p:cNvPr>
          <p:cNvSpPr>
            <a:spLocks noGrp="1"/>
          </p:cNvSpPr>
          <p:nvPr/>
        </p:nvSpPr>
        <p:spPr>
          <a:xfrm rot="0">
            <a:off x="6604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9362393" name="Text">
    </p:cNvPr>
          <p:cNvSpPr>
            <a:spLocks noGrp="1"/>
          </p:cNvSpPr>
          <p:nvPr/>
        </p:nvSpPr>
        <p:spPr>
          <a:xfrm rot="0">
            <a:off x="58801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49676102" name="Text">
    </p:cNvPr>
          <p:cNvSpPr>
            <a:spLocks noGrp="1"/>
          </p:cNvSpPr>
          <p:nvPr/>
        </p:nvSpPr>
        <p:spPr>
          <a:xfrm rot="0">
            <a:off x="97028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324107791" name="Text">
    </p:cNvPr>
          <p:cNvSpPr>
            <a:spLocks noGrp="1"/>
          </p:cNvSpPr>
          <p:nvPr/>
        </p:nvSpPr>
        <p:spPr>
          <a:xfrm rot="0">
            <a:off x="93345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</a:p>
        </p:txBody>
      </p:sp>
      <p:sp>
        <p:nvSpPr>
          <p:cNvPr id="376883399" name="Text">
    </p:cNvPr>
          <p:cNvSpPr>
            <a:spLocks noGrp="1"/>
          </p:cNvSpPr>
          <p:nvPr/>
        </p:nvSpPr>
        <p:spPr>
          <a:xfrm rot="0">
            <a:off x="5930900" y="37846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취약점 점검 장애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BI Dash Board 버전 오류</a:t>
            </a:r>
          </a:p>
        </p:txBody>
      </p:sp>
      <p:sp>
        <p:nvSpPr>
          <p:cNvPr id="1450818920" name="Text">
    </p:cNvPr>
          <p:cNvSpPr>
            <a:spLocks noGrp="1"/>
          </p:cNvSpPr>
          <p:nvPr/>
        </p:nvSpPr>
        <p:spPr>
          <a:xfrm rot="0">
            <a:off x="5308600" y="37846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886303554" name="Text">
    </p:cNvPr>
          <p:cNvSpPr>
            <a:spLocks noGrp="1"/>
          </p:cNvSpPr>
          <p:nvPr/>
        </p:nvSpPr>
        <p:spPr>
          <a:xfrm rot="0">
            <a:off x="88900" y="37846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758927942" name="Text">
    </p:cNvPr>
          <p:cNvSpPr>
            <a:spLocks noGrp="1"/>
          </p:cNvSpPr>
          <p:nvPr/>
        </p:nvSpPr>
        <p:spPr>
          <a:xfrm rot="0">
            <a:off x="711200" y="37846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취약점 점검 장애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epro 자동배포 셋팅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ITSM-102752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ITSM-106250 작업유형 변경ITSM-101543 변경결과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ITSM-107060 작업유형 변경ITSM-107094 변경결과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BI Dash Board 버전 오류</a:t>
            </a:r>
          </a:p>
        </p:txBody>
      </p:sp>
      <p:sp>
        <p:nvSpPr>
          <p:cNvPr id="1212666219" name="Text">
    </p:cNvPr>
          <p:cNvSpPr>
            <a:spLocks noGrp="1"/>
          </p:cNvSpPr>
          <p:nvPr/>
        </p:nvSpPr>
        <p:spPr>
          <a:xfrm rot="0">
            <a:off x="44831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</a:p>
        </p:txBody>
      </p:sp>
      <p:sp>
        <p:nvSpPr>
          <p:cNvPr id="1406052342" name="Text">
    </p:cNvPr>
          <p:cNvSpPr>
            <a:spLocks noGrp="1"/>
          </p:cNvSpPr>
          <p:nvPr/>
        </p:nvSpPr>
        <p:spPr>
          <a:xfrm rot="0">
            <a:off x="48514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79%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</a:p>
        </p:txBody>
      </p:sp>
      <p:sp>
        <p:nvSpPr>
          <p:cNvPr id="1443880040" name="Text">
    </p:cNvPr>
          <p:cNvSpPr>
            <a:spLocks noGrp="1"/>
          </p:cNvSpPr>
          <p:nvPr/>
        </p:nvSpPr>
        <p:spPr>
          <a:xfrm rot="0">
            <a:off x="41148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</a:p>
        </p:txBody>
      </p:sp>
      <p:sp>
        <p:nvSpPr>
          <p:cNvPr id="116056003" name="Text">
    </p:cNvPr>
          <p:cNvSpPr>
            <a:spLocks noGrp="1"/>
          </p:cNvSpPr>
          <p:nvPr/>
        </p:nvSpPr>
        <p:spPr>
          <a:xfrm rot="0">
            <a:off x="660400" y="37846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92719356" name="Text">
    </p:cNvPr>
          <p:cNvSpPr>
            <a:spLocks noGrp="1"/>
          </p:cNvSpPr>
          <p:nvPr/>
        </p:nvSpPr>
        <p:spPr>
          <a:xfrm rot="0">
            <a:off x="5880100" y="37846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71303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2671491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8065382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2598852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92369169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 - 제출일 : 2024-02-19</a:t>
            </a:r>
          </a:p>
        </p:txBody>
      </p:sp>
      <p:sp>
        <p:nvSpPr>
          <p:cNvPr id="137432228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9644813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4362955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5808938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2485648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8231769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8305044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2913809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3383894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5526572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</a:p>
        </p:txBody>
      </p:sp>
      <p:sp>
        <p:nvSpPr>
          <p:cNvPr id="95967237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</a:p>
        </p:txBody>
      </p:sp>
      <p:sp>
        <p:nvSpPr>
          <p:cNvPr id="45997214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취약점 점검 장애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ebiz 권한 요청 화면 수정</a:t>
            </a:r>
            <a:br/>
          </a:p>
        </p:txBody>
      </p:sp>
      <p:sp>
        <p:nvSpPr>
          <p:cNvPr id="153336539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07245670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49469681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취약점 점검 장애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atss 설치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ebiz 권한 요청 화면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ITSM-107111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ITSM-107334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거리 및 요율 수정</a:t>
            </a:r>
            <a:br/>
          </a:p>
        </p:txBody>
      </p:sp>
      <p:sp>
        <p:nvSpPr>
          <p:cNvPr id="137841459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60140748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213545472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1689947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4835796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12512264" name="Text">
    </p:cNvPr>
          <p:cNvSpPr>
            <a:spLocks noGrp="1"/>
          </p:cNvSpPr>
          <p:nvPr/>
        </p:nvSpPr>
        <p:spPr>
          <a:xfrm rot="0">
            <a:off x="9702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1294613863" name="Text">
    </p:cNvPr>
          <p:cNvSpPr>
            <a:spLocks noGrp="1"/>
          </p:cNvSpPr>
          <p:nvPr/>
        </p:nvSpPr>
        <p:spPr>
          <a:xfrm rot="0">
            <a:off x="93345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</a:p>
        </p:txBody>
      </p:sp>
      <p:sp>
        <p:nvSpPr>
          <p:cNvPr id="1112054790" name="Text">
    </p:cNvPr>
          <p:cNvSpPr>
            <a:spLocks noGrp="1"/>
          </p:cNvSpPr>
          <p:nvPr/>
        </p:nvSpPr>
        <p:spPr>
          <a:xfrm rot="0">
            <a:off x="5930900" y="37719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1252620314" name="Text">
    </p:cNvPr>
          <p:cNvSpPr>
            <a:spLocks noGrp="1"/>
          </p:cNvSpPr>
          <p:nvPr/>
        </p:nvSpPr>
        <p:spPr>
          <a:xfrm rot="0">
            <a:off x="53086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336584344" name="Text">
    </p:cNvPr>
          <p:cNvSpPr>
            <a:spLocks noGrp="1"/>
          </p:cNvSpPr>
          <p:nvPr/>
        </p:nvSpPr>
        <p:spPr>
          <a:xfrm rot="0">
            <a:off x="889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408722191" name="Text">
    </p:cNvPr>
          <p:cNvSpPr>
            <a:spLocks noGrp="1"/>
          </p:cNvSpPr>
          <p:nvPr/>
        </p:nvSpPr>
        <p:spPr>
          <a:xfrm rot="0">
            <a:off x="711200" y="37719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취약점 점검 장애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ITSM-107089 작업 유형 변경ITSM-106656 CTS 번호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신규계정 생성 및 그룹권한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요청문서 list 송부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ITSM-107377 견적 재반영ITSM-107582 변경결과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성ITSM-97994 변경요청서 삭제ITSM-107603 변경요청서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삭제ITSM-107601 변경요청서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atss 거리 및 요율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ebiz 권한 요청 화면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ITSM-107348 변경결과 작성ITSM-107547 변경결과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작성ITSM-100864 변경결과 작성ITSM-104487 담당자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ITSM-104415 담당자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거리 및 요율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ITSM-104733 변경요청서 삭제 및 작업유형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atss 설치 지원</a:t>
            </a:r>
          </a:p>
        </p:txBody>
      </p:sp>
      <p:sp>
        <p:nvSpPr>
          <p:cNvPr id="1431927771" name="Text">
    </p:cNvPr>
          <p:cNvSpPr>
            <a:spLocks noGrp="1"/>
          </p:cNvSpPr>
          <p:nvPr/>
        </p:nvSpPr>
        <p:spPr>
          <a:xfrm rot="0">
            <a:off x="44831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</a:p>
        </p:txBody>
      </p:sp>
      <p:sp>
        <p:nvSpPr>
          <p:cNvPr id="1412538562" name="Text">
    </p:cNvPr>
          <p:cNvSpPr>
            <a:spLocks noGrp="1"/>
          </p:cNvSpPr>
          <p:nvPr/>
        </p:nvSpPr>
        <p:spPr>
          <a:xfrm rot="0">
            <a:off x="48514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</a:p>
        </p:txBody>
      </p:sp>
      <p:sp>
        <p:nvSpPr>
          <p:cNvPr id="1321548980" name="Text">
    </p:cNvPr>
          <p:cNvSpPr>
            <a:spLocks noGrp="1"/>
          </p:cNvSpPr>
          <p:nvPr/>
        </p:nvSpPr>
        <p:spPr>
          <a:xfrm rot="0">
            <a:off x="4114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</a:p>
        </p:txBody>
      </p:sp>
      <p:sp>
        <p:nvSpPr>
          <p:cNvPr id="645064574" name="Text">
    </p:cNvPr>
          <p:cNvSpPr>
            <a:spLocks noGrp="1"/>
          </p:cNvSpPr>
          <p:nvPr/>
        </p:nvSpPr>
        <p:spPr>
          <a:xfrm rot="0">
            <a:off x="6604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54980296" name="Text">
    </p:cNvPr>
          <p:cNvSpPr>
            <a:spLocks noGrp="1"/>
          </p:cNvSpPr>
          <p:nvPr/>
        </p:nvSpPr>
        <p:spPr>
          <a:xfrm rot="0">
            <a:off x="58801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12458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504799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2659535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6796509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5263265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 - 제출일 : 2024-03-04</a:t>
            </a:r>
          </a:p>
        </p:txBody>
      </p:sp>
      <p:sp>
        <p:nvSpPr>
          <p:cNvPr id="19429880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7028955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3739502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1170475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9214279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4213725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5272362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6949901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9784350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3528592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</a:p>
        </p:txBody>
      </p:sp>
      <p:sp>
        <p:nvSpPr>
          <p:cNvPr id="149681668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</a:p>
        </p:txBody>
      </p:sp>
      <p:sp>
        <p:nvSpPr>
          <p:cNvPr id="40835922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52166213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00843234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50420518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그룹웨어 모바일 설치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ITSM-107981 담당자 변경ITSM-107975 데이터작업서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삭제ITSM-99840 변경요청서 삭제ITSM-107959 견적서 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자체개선 시 자동배포 단계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ITSM-95672 작업유형 변경</a:t>
            </a:r>
          </a:p>
        </p:txBody>
      </p:sp>
      <p:sp>
        <p:nvSpPr>
          <p:cNvPr id="203570312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149451328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104530040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62396993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5009661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3743688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</a:p>
        </p:txBody>
      </p:sp>
      <p:sp>
        <p:nvSpPr>
          <p:cNvPr id="152208113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</a:p>
        </p:txBody>
      </p:sp>
      <p:sp>
        <p:nvSpPr>
          <p:cNvPr id="200602364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67685012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53084677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24144289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BI DashBoard S24 설치 이슈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ITSM-104414 변경요청서 삭제ITSM-108237 변경요청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삭제ITSM-108212 담당자 변경ITSM-108244 변경결과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작성ITSM-96798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퇴사자 계정정리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인사 이동으로 인한 사용자 지사 변겅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ITSM-107840 변경결과 작성ITSM-108417 변경결과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작성ITSM-108417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prm 자동배포 이슈</a:t>
            </a:r>
          </a:p>
        </p:txBody>
      </p:sp>
      <p:sp>
        <p:nvSpPr>
          <p:cNvPr id="897392923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</a:p>
        </p:txBody>
      </p:sp>
      <p:sp>
        <p:nvSpPr>
          <p:cNvPr id="58639768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</a:p>
        </p:txBody>
      </p:sp>
      <p:sp>
        <p:nvSpPr>
          <p:cNvPr id="26116377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</a:p>
        </p:txBody>
      </p:sp>
      <p:sp>
        <p:nvSpPr>
          <p:cNvPr id="82233476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3988222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96571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3603092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4872368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7384585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8922645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 - 제출일 : 2024-03-18</a:t>
            </a:r>
          </a:p>
        </p:txBody>
      </p:sp>
      <p:sp>
        <p:nvSpPr>
          <p:cNvPr id="125900225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0698810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6905100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7375467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0144044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2497007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8825469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6427698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117415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1587245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</a:p>
        </p:txBody>
      </p:sp>
      <p:sp>
        <p:nvSpPr>
          <p:cNvPr id="101924104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</a:p>
        </p:txBody>
      </p:sp>
      <p:sp>
        <p:nvSpPr>
          <p:cNvPr id="169437125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210715080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53089322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54171104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ITSM-107746 상태 변경ITSM-108513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ITSM-108493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G/W 설치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ITSM-107916 변경결과 작성ITSM-108618 작업유형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변경ITSM-108495 작업유형 변경ITSM-108680 변경결과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성ITSM-107346 배포상태 변경ITSM-107634 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정기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ITSM-108703 견적서 삭제ITSM-108714 동료검토자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ITSM-104329 예상완료일 변경ITSM-108727 배포상태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</a:t>
            </a:r>
          </a:p>
        </p:txBody>
      </p:sp>
      <p:sp>
        <p:nvSpPr>
          <p:cNvPr id="88597524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</a:p>
        </p:txBody>
      </p:sp>
      <p:sp>
        <p:nvSpPr>
          <p:cNvPr id="22450425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</a:p>
        </p:txBody>
      </p:sp>
      <p:sp>
        <p:nvSpPr>
          <p:cNvPr id="88406434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</a:p>
        </p:txBody>
      </p:sp>
      <p:sp>
        <p:nvSpPr>
          <p:cNvPr id="151419996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2854820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2183608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</a:p>
        </p:txBody>
      </p:sp>
      <p:sp>
        <p:nvSpPr>
          <p:cNvPr id="59857028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</a:p>
        </p:txBody>
      </p:sp>
      <p:sp>
        <p:nvSpPr>
          <p:cNvPr id="214629961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106777835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5168508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26408280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상차계획 누락 주문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ITSM-108447 배포ITSM-108721 변경결과 작성ITSM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-108898 대상시스템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ITSM-108811 작업유형 변경ITSM-108617 변경결과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작성ITSM-108923 요청정보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CRM 자동배포 스크립트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ITSM-108923 예상공수 작성ITSM-109007 요청정보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작성ITSM-108292 배포상태 변경ITSM-109010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ITSM-109138 현작업자 변경ITSM-108253 배포상태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변경</a:t>
            </a:r>
          </a:p>
        </p:txBody>
      </p:sp>
      <p:sp>
        <p:nvSpPr>
          <p:cNvPr id="153221627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</a:p>
        </p:txBody>
      </p:sp>
      <p:sp>
        <p:nvSpPr>
          <p:cNvPr id="129033139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</a:p>
        </p:txBody>
      </p:sp>
      <p:sp>
        <p:nvSpPr>
          <p:cNvPr id="178550992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</a:p>
        </p:txBody>
      </p:sp>
      <p:sp>
        <p:nvSpPr>
          <p:cNvPr id="166559588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4265111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30725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8138083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9615032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5347673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62772793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 - 제출일 : 2024-04-01</a:t>
            </a:r>
          </a:p>
        </p:txBody>
      </p:sp>
      <p:sp>
        <p:nvSpPr>
          <p:cNvPr id="104867847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1869972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3968203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7278329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6963075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3340548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8626534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9433980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8956023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3988774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</a:p>
        </p:txBody>
      </p:sp>
      <p:sp>
        <p:nvSpPr>
          <p:cNvPr id="94928834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</a:p>
        </p:txBody>
      </p:sp>
      <p:sp>
        <p:nvSpPr>
          <p:cNvPr id="116139329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162352250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95775841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80082045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ITSM-109163 작엽결과 작성 ITSM-109203 변경요청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삭제ITSM-109157 취약점ITSM-109171 작업유형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부작업 생성ITSM-109212 작업유형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ITSM-108999 배포 및 작엽결과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goolge FCM 정책 만료로 인한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ITSM-109337 작엽결과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취약점 점검 장애</a:t>
            </a:r>
          </a:p>
        </p:txBody>
      </p:sp>
      <p:sp>
        <p:nvSpPr>
          <p:cNvPr id="170746112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03/27</a:t>
            </a:r>
            <a:br/>
          </a:p>
        </p:txBody>
      </p:sp>
      <p:sp>
        <p:nvSpPr>
          <p:cNvPr id="57255139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03/27</a:t>
            </a:r>
            <a:br/>
          </a:p>
        </p:txBody>
      </p:sp>
      <p:sp>
        <p:nvSpPr>
          <p:cNvPr id="158987032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03/27</a:t>
            </a:r>
            <a:br/>
          </a:p>
        </p:txBody>
      </p:sp>
      <p:sp>
        <p:nvSpPr>
          <p:cNvPr id="13392352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7754391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3101335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68490147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</a:p>
        </p:txBody>
      </p:sp>
      <p:sp>
        <p:nvSpPr>
          <p:cNvPr id="194436050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29439158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67805402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51492055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ITSM-109698 작업자 변경ITSM-109330 작업유형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경ITSM-109672 작업자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전자문서 별 JIRA 재연동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44384 70659 52453 76771 80826 8986448076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64731 84467작업공수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ITSM-109410 긴급도 수정ITSM-109409 긴급도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ebiz push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ITSM-109889 견적 정보 재작성ITSM-109885 견적 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보 재작성ITSM-109942 견적서 삭제ITSM-107346 재배포</a:t>
            </a:r>
          </a:p>
        </p:txBody>
      </p:sp>
      <p:sp>
        <p:nvSpPr>
          <p:cNvPr id="23132832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</a:p>
        </p:txBody>
      </p:sp>
      <p:sp>
        <p:nvSpPr>
          <p:cNvPr id="209382447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</a:p>
        </p:txBody>
      </p:sp>
      <p:sp>
        <p:nvSpPr>
          <p:cNvPr id="80640555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</a:p>
        </p:txBody>
      </p:sp>
      <p:sp>
        <p:nvSpPr>
          <p:cNvPr id="87324294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1042905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50760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1409444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579085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7064244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61755126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 - 제출일 : 2024-04-15</a:t>
            </a:r>
          </a:p>
        </p:txBody>
      </p:sp>
      <p:sp>
        <p:nvSpPr>
          <p:cNvPr id="98851362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6167289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9742291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0061466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7101384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4478518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7268940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8707575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116550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7336454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</a:p>
        </p:txBody>
      </p:sp>
      <p:sp>
        <p:nvSpPr>
          <p:cNvPr id="14049247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</a:p>
        </p:txBody>
      </p:sp>
      <p:sp>
        <p:nvSpPr>
          <p:cNvPr id="208339666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39905113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204136820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21726139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ebiz push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ITSM-109515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ITSM-108150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ITSM-107461 예상완료일 변경결과ITSM-109112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결과 작성ITSM-110090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ITSM-110165 변경결과 작성</a:t>
            </a:r>
          </a:p>
        </p:txBody>
      </p:sp>
      <p:sp>
        <p:nvSpPr>
          <p:cNvPr id="1153614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160082011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108513649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143244145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3296904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8679253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</a:p>
        </p:txBody>
      </p:sp>
      <p:sp>
        <p:nvSpPr>
          <p:cNvPr id="189401993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</a:p>
        </p:txBody>
      </p:sp>
      <p:sp>
        <p:nvSpPr>
          <p:cNvPr id="793351463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80986214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25678695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42394231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ITSM-105389 상태 변경ITSM-110269 데이터작업서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ITSM-110160 견적서 삭제ITSM-110103 배포 상태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IOS key 및 profile 갱신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정기점검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ITSM-87269 변경요청서 삭제ITSM-102699 견적서 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제ITSM-97993 변경요청서 삭제</a:t>
            </a:r>
          </a:p>
        </p:txBody>
      </p:sp>
      <p:sp>
        <p:nvSpPr>
          <p:cNvPr id="205150772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</a:p>
        </p:txBody>
      </p:sp>
      <p:sp>
        <p:nvSpPr>
          <p:cNvPr id="171536608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</a:p>
        </p:txBody>
      </p:sp>
      <p:sp>
        <p:nvSpPr>
          <p:cNvPr id="168962900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</a:p>
        </p:txBody>
      </p:sp>
      <p:sp>
        <p:nvSpPr>
          <p:cNvPr id="153587424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9873673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2685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0107703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7517191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548252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99009844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 - 제출일 : 2024-04-29</a:t>
            </a:r>
          </a:p>
        </p:txBody>
      </p:sp>
      <p:sp>
        <p:nvSpPr>
          <p:cNvPr id="192485412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6479787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3008113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0032715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7245174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8955445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284739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8177838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902746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7192954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</a:p>
        </p:txBody>
      </p:sp>
      <p:sp>
        <p:nvSpPr>
          <p:cNvPr id="199745086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</a:p>
        </p:txBody>
      </p:sp>
      <p:sp>
        <p:nvSpPr>
          <p:cNvPr id="124754933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50020634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37955431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35509123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ITSM-110552 변경수행자 변경ITSM-110554 배포상태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IOS 만료된 Profile 변경 후  배포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ITSM-110554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GW_ mobile webview scroll 장애 원인 분석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Fortify 취약점 점검 교육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GW_mobile 설치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ITSM-110695 견적서 삭제ITSM-110818 데이터작업서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삭제</a:t>
            </a:r>
          </a:p>
        </p:txBody>
      </p:sp>
      <p:sp>
        <p:nvSpPr>
          <p:cNvPr id="204782186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</a:p>
        </p:txBody>
      </p:sp>
      <p:sp>
        <p:nvSpPr>
          <p:cNvPr id="166292391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</a:p>
        </p:txBody>
      </p:sp>
      <p:sp>
        <p:nvSpPr>
          <p:cNvPr id="166125735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</a:p>
        </p:txBody>
      </p:sp>
      <p:sp>
        <p:nvSpPr>
          <p:cNvPr id="45832652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6346634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