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4787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1674342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7366676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5275900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1239365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97390027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2160430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1872952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974306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7795198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9311582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2195090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7485772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5020027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7289137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200676749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</a:p>
        </p:txBody>
      </p:sp>
      <p:sp>
        <p:nvSpPr>
          <p:cNvPr id="9468203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ITSM-112364 e-Biz 장기미사용 계정 관리방안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ITSM-113634 CCS(법인카드정산)시스템 적요란 글자수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증액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ITSM-114479 e-biz 내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ITSM-114798 그리드 라이선스 갱신</a:t>
            </a:r>
          </a:p>
        </p:txBody>
      </p:sp>
      <p:sp>
        <p:nvSpPr>
          <p:cNvPr id="167614365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84514264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59441646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ITSM-112364 e-Biz 장기미사용 계정 관리방안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ITSM-113634 CCS(법인카드정산)시스템 적요란 글자수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증액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ITSM-114479 e-biz 내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ITSM-114798 그리드 라이선스 갱신</a:t>
            </a:r>
          </a:p>
        </p:txBody>
      </p:sp>
      <p:sp>
        <p:nvSpPr>
          <p:cNvPr id="6234461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60100742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32175583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</a:p>
        </p:txBody>
      </p:sp>
      <p:sp>
        <p:nvSpPr>
          <p:cNvPr id="108284293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692659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0511654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84395747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</a:p>
        </p:txBody>
      </p:sp>
      <p:sp>
        <p:nvSpPr>
          <p:cNvPr id="60664592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</a:p>
        </p:txBody>
      </p:sp>
      <p:sp>
        <p:nvSpPr>
          <p:cNvPr id="35577230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9482749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46247129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</a:p>
        </p:txBody>
      </p:sp>
      <p:sp>
        <p:nvSpPr>
          <p:cNvPr id="91589517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1215536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</a:p>
        </p:txBody>
      </p:sp>
      <p:sp>
        <p:nvSpPr>
          <p:cNvPr id="180313014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</a:p>
        </p:txBody>
      </p:sp>
      <p:sp>
        <p:nvSpPr>
          <p:cNvPr id="161969416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2955381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9878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2271569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743028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733659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9715745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36427458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920930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867504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2722931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7156344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0090135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3313884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6052993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49394765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9372285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14034743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</a:p>
        </p:txBody>
      </p:sp>
      <p:sp>
        <p:nvSpPr>
          <p:cNvPr id="198299096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시스템추가보완</a:t>
            </a:r>
          </a:p>
        </p:txBody>
      </p:sp>
      <p:sp>
        <p:nvSpPr>
          <p:cNvPr id="189728006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88714439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88976650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시스템추가보완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주유원복 신청 작업 보완 요청</a:t>
            </a:r>
          </a:p>
        </p:txBody>
      </p:sp>
      <p:sp>
        <p:nvSpPr>
          <p:cNvPr id="139349581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</a:p>
        </p:txBody>
      </p:sp>
      <p:sp>
        <p:nvSpPr>
          <p:cNvPr id="32350836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57721138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</a:p>
        </p:txBody>
      </p:sp>
      <p:sp>
        <p:nvSpPr>
          <p:cNvPr id="136833187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5228346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3073031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90023156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</a:p>
        </p:txBody>
      </p:sp>
      <p:sp>
        <p:nvSpPr>
          <p:cNvPr id="47373632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208753318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66708851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36844285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ITSM-114751 견적서 삭제,ITSM-113287 배포상태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자동 배차 엔진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ITSM-113591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신규 사용자 계정 추가 및 권한 부여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ITSM-114842 견적서 삭제,ITSM-113591 배포상태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경,ITSM-112188 산출물 제거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자동 배차 엔진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신규 사용자 계정 추가 및 권한 부여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신규 사용자 계정 추가 및 권한 부여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외주 업체 설치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신규 사용자 계정 추가 및 권한 부여</a:t>
            </a:r>
          </a:p>
        </p:txBody>
      </p:sp>
      <p:sp>
        <p:nvSpPr>
          <p:cNvPr id="68689554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</a:p>
        </p:txBody>
      </p:sp>
      <p:sp>
        <p:nvSpPr>
          <p:cNvPr id="102932687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</a:p>
        </p:txBody>
      </p:sp>
      <p:sp>
        <p:nvSpPr>
          <p:cNvPr id="21999611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</a:p>
        </p:txBody>
      </p:sp>
      <p:sp>
        <p:nvSpPr>
          <p:cNvPr id="151653950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7572592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56539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3523526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811411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4134056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1498582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36399703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3138784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7193407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992181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134843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694204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1012329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7970479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5373109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0977803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br/>
          </a:p>
        </p:txBody>
      </p:sp>
      <p:sp>
        <p:nvSpPr>
          <p:cNvPr id="127488865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br/>
          </a:p>
        </p:txBody>
      </p:sp>
      <p:sp>
        <p:nvSpPr>
          <p:cNvPr id="11778772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 입금' 작업 재가동을 위한 A360 Migratio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n (보류)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'유럽 터미널사의 당사 재고 현황 수집' 작업 안정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'정유해외마케팅팀 - Daily Naphtha/Gasoline/Je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t/Diesel Market Movement 작성 및 보고' 작업 개발을 위한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터뷰 및 프로세스 정리</a:t>
            </a:r>
          </a:p>
        </p:txBody>
      </p:sp>
      <p:sp>
        <p:nvSpPr>
          <p:cNvPr id="119686457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42089567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97781227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OCR 사용 작업들 에러 발생 원인확인 및 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'유럽 터미널사의 당사 재고 현황 수집' 작업 운영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전환, 모니터링 및 작업 보완         - 담당자 요청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외화송금' 작업 현업 요청으로 인한 프로세스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문서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OCR 사용 작업들 모니터링 (#1,#2,#4)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'항공급유 매출입력' 작업 수행 및 담당자 요청 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'#2 외화지급계좌 증빙대사' 작업 OCR 정상작동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및 재수행 로직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설치 불가 현업문의</a:t>
            </a:r>
          </a:p>
        </p:txBody>
      </p:sp>
      <p:sp>
        <p:nvSpPr>
          <p:cNvPr id="147910676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</a:p>
        </p:txBody>
      </p:sp>
      <p:sp>
        <p:nvSpPr>
          <p:cNvPr id="71612703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</a:p>
        </p:txBody>
      </p:sp>
      <p:sp>
        <p:nvSpPr>
          <p:cNvPr id="200371999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</a:p>
        </p:txBody>
      </p:sp>
      <p:sp>
        <p:nvSpPr>
          <p:cNvPr id="44939426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866953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2362548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60239143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</a:p>
        </p:txBody>
      </p:sp>
      <p:sp>
        <p:nvSpPr>
          <p:cNvPr id="20408008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CCS(법인카드정산)시스템 적요란 글자수 증액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법인카드 관련 제요청서 요청내역 추가 요청</a:t>
            </a:r>
          </a:p>
        </p:txBody>
      </p:sp>
      <p:sp>
        <p:nvSpPr>
          <p:cNvPr id="75761956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92670516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96378397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CCS(법인카드정산)시스템 적요란 글자수 증액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법인카드 관련 제요청서 요청내역 추가 요청</a:t>
            </a:r>
          </a:p>
        </p:txBody>
      </p:sp>
      <p:sp>
        <p:nvSpPr>
          <p:cNvPr id="170464591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6817404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110062383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</a:p>
        </p:txBody>
      </p:sp>
      <p:sp>
        <p:nvSpPr>
          <p:cNvPr id="176430331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1257393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60780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1153936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6580064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6703832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7842314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05894604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5256226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805237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2975025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5858333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9251225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5260070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3972605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8953651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09528037" name="Text">
    </p:cNvPr>
          <p:cNvSpPr>
            <a:spLocks noGrp="1"/>
          </p:cNvSpPr>
          <p:nvPr/>
        </p:nvSpPr>
        <p:spPr>
          <a:xfrm rot="0">
            <a:off x="9702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br/>
          </a:p>
        </p:txBody>
      </p:sp>
      <p:sp>
        <p:nvSpPr>
          <p:cNvPr id="131331326" name="Text">
    </p:cNvPr>
          <p:cNvSpPr>
            <a:spLocks noGrp="1"/>
          </p:cNvSpPr>
          <p:nvPr/>
        </p:nvSpPr>
        <p:spPr>
          <a:xfrm rot="0">
            <a:off x="93345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</a:p>
        </p:txBody>
      </p:sp>
      <p:sp>
        <p:nvSpPr>
          <p:cNvPr id="896526962" name="Text">
    </p:cNvPr>
          <p:cNvSpPr>
            <a:spLocks noGrp="1"/>
          </p:cNvSpPr>
          <p:nvPr/>
        </p:nvSpPr>
        <p:spPr>
          <a:xfrm rot="0">
            <a:off x="5930900" y="15113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</a:p>
        </p:txBody>
      </p:sp>
      <p:sp>
        <p:nvSpPr>
          <p:cNvPr id="238436333" name="Text">
    </p:cNvPr>
          <p:cNvSpPr>
            <a:spLocks noGrp="1"/>
          </p:cNvSpPr>
          <p:nvPr/>
        </p:nvSpPr>
        <p:spPr>
          <a:xfrm rot="0">
            <a:off x="53086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394631114" name="Text">
    </p:cNvPr>
          <p:cNvSpPr>
            <a:spLocks noGrp="1"/>
          </p:cNvSpPr>
          <p:nvPr/>
        </p:nvSpPr>
        <p:spPr>
          <a:xfrm rot="0">
            <a:off x="889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271663444" name="Text">
    </p:cNvPr>
          <p:cNvSpPr>
            <a:spLocks noGrp="1"/>
          </p:cNvSpPr>
          <p:nvPr/>
        </p:nvSpPr>
        <p:spPr>
          <a:xfrm rot="0">
            <a:off x="711200" y="15113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ITSM-114708, ITSM-114702, ITSM-114713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ITSM-114735, ITSM-114745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ITSM-114754, ITSM-114780, ITSM-114784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ITSM-114800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ITSM-114823, ITSM-114861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ITSM-114886, ITSM-114945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프로시저 수정(SP_AdjustManUpdate) -&gt; 스케줄러 호출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(하루한번) -&gt; 정산서 점검인력 데이터 자동수정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ITSM-114973, ITSM-114982, ITSM-115011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ITSM-115026</a:t>
            </a:r>
          </a:p>
        </p:txBody>
      </p:sp>
      <p:sp>
        <p:nvSpPr>
          <p:cNvPr id="28984357" name="Text">
    </p:cNvPr>
          <p:cNvSpPr>
            <a:spLocks noGrp="1"/>
          </p:cNvSpPr>
          <p:nvPr/>
        </p:nvSpPr>
        <p:spPr>
          <a:xfrm rot="0">
            <a:off x="44831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</a:p>
        </p:txBody>
      </p:sp>
      <p:sp>
        <p:nvSpPr>
          <p:cNvPr id="1045224104" name="Text">
    </p:cNvPr>
          <p:cNvSpPr>
            <a:spLocks noGrp="1"/>
          </p:cNvSpPr>
          <p:nvPr/>
        </p:nvSpPr>
        <p:spPr>
          <a:xfrm rot="0">
            <a:off x="48514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</a:p>
        </p:txBody>
      </p:sp>
      <p:sp>
        <p:nvSpPr>
          <p:cNvPr id="1857208986" name="Text">
    </p:cNvPr>
          <p:cNvSpPr>
            <a:spLocks noGrp="1"/>
          </p:cNvSpPr>
          <p:nvPr/>
        </p:nvSpPr>
        <p:spPr>
          <a:xfrm rot="0">
            <a:off x="4114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</a:p>
        </p:txBody>
      </p:sp>
      <p:sp>
        <p:nvSpPr>
          <p:cNvPr id="1158668979" name="Text">
    </p:cNvPr>
          <p:cNvSpPr>
            <a:spLocks noGrp="1"/>
          </p:cNvSpPr>
          <p:nvPr/>
        </p:nvSpPr>
        <p:spPr>
          <a:xfrm rot="0">
            <a:off x="6604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73755227" name="Text">
    </p:cNvPr>
          <p:cNvSpPr>
            <a:spLocks noGrp="1"/>
          </p:cNvSpPr>
          <p:nvPr/>
        </p:nvSpPr>
        <p:spPr>
          <a:xfrm rot="0">
            <a:off x="58801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17407905" name="Text">
    </p:cNvPr>
          <p:cNvSpPr>
            <a:spLocks noGrp="1"/>
          </p:cNvSpPr>
          <p:nvPr/>
        </p:nvSpPr>
        <p:spPr>
          <a:xfrm rot="0">
            <a:off x="9702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911782393" name="Text">
    </p:cNvPr>
          <p:cNvSpPr>
            <a:spLocks noGrp="1"/>
          </p:cNvSpPr>
          <p:nvPr/>
        </p:nvSpPr>
        <p:spPr>
          <a:xfrm rot="0">
            <a:off x="93345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</a:p>
        </p:txBody>
      </p:sp>
      <p:sp>
        <p:nvSpPr>
          <p:cNvPr id="217634811" name="Text">
    </p:cNvPr>
          <p:cNvSpPr>
            <a:spLocks noGrp="1"/>
          </p:cNvSpPr>
          <p:nvPr/>
        </p:nvSpPr>
        <p:spPr>
          <a:xfrm rot="0">
            <a:off x="5930900" y="39370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사용자 응대</a:t>
            </a:r>
          </a:p>
        </p:txBody>
      </p:sp>
      <p:sp>
        <p:nvSpPr>
          <p:cNvPr id="586890986" name="Text">
    </p:cNvPr>
          <p:cNvSpPr>
            <a:spLocks noGrp="1"/>
          </p:cNvSpPr>
          <p:nvPr/>
        </p:nvSpPr>
        <p:spPr>
          <a:xfrm rot="0">
            <a:off x="53086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550241040" name="Text">
    </p:cNvPr>
          <p:cNvSpPr>
            <a:spLocks noGrp="1"/>
          </p:cNvSpPr>
          <p:nvPr/>
        </p:nvSpPr>
        <p:spPr>
          <a:xfrm rot="0">
            <a:off x="889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792885276" name="Text">
    </p:cNvPr>
          <p:cNvSpPr>
            <a:spLocks noGrp="1"/>
          </p:cNvSpPr>
          <p:nvPr/>
        </p:nvSpPr>
        <p:spPr>
          <a:xfrm rot="0">
            <a:off x="711200" y="39370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ITSM-114619 LMS 학습자료실 안전 동영상 9건 업로드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기존 자료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ITSM-114714 PSM 주요절차 동영상에 대한 웹페이지 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련</a:t>
            </a:r>
          </a:p>
        </p:txBody>
      </p:sp>
      <p:sp>
        <p:nvSpPr>
          <p:cNvPr id="1699689728" name="Text">
    </p:cNvPr>
          <p:cNvSpPr>
            <a:spLocks noGrp="1"/>
          </p:cNvSpPr>
          <p:nvPr/>
        </p:nvSpPr>
        <p:spPr>
          <a:xfrm rot="0">
            <a:off x="44831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</a:p>
        </p:txBody>
      </p:sp>
      <p:sp>
        <p:nvSpPr>
          <p:cNvPr id="507009837" name="Text">
    </p:cNvPr>
          <p:cNvSpPr>
            <a:spLocks noGrp="1"/>
          </p:cNvSpPr>
          <p:nvPr/>
        </p:nvSpPr>
        <p:spPr>
          <a:xfrm rot="0">
            <a:off x="48514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</a:p>
        </p:txBody>
      </p:sp>
      <p:sp>
        <p:nvSpPr>
          <p:cNvPr id="1960582071" name="Text">
    </p:cNvPr>
          <p:cNvSpPr>
            <a:spLocks noGrp="1"/>
          </p:cNvSpPr>
          <p:nvPr/>
        </p:nvSpPr>
        <p:spPr>
          <a:xfrm rot="0">
            <a:off x="4114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</a:p>
        </p:txBody>
      </p:sp>
      <p:sp>
        <p:nvSpPr>
          <p:cNvPr id="1214390184" name="Text">
    </p:cNvPr>
          <p:cNvSpPr>
            <a:spLocks noGrp="1"/>
          </p:cNvSpPr>
          <p:nvPr/>
        </p:nvSpPr>
        <p:spPr>
          <a:xfrm rot="0">
            <a:off x="6604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19367569" name="Text">
    </p:cNvPr>
          <p:cNvSpPr>
            <a:spLocks noGrp="1"/>
          </p:cNvSpPr>
          <p:nvPr/>
        </p:nvSpPr>
        <p:spPr>
          <a:xfrm rot="0">
            <a:off x="58801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7282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8141084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5700441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9075665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9214030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73471705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6890330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8552495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6442191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9246939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4585880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9876831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9266635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8681198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7797783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22987817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</a:p>
        </p:txBody>
      </p:sp>
      <p:sp>
        <p:nvSpPr>
          <p:cNvPr id="28528584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구현- 관리자 페이지 IP 검증 기능 구현- 세션타임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GCMS 제작사 부서코드 [510A] 등록에 따른 재고 및 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스템 영향도 검토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ERP Upgrade 지원 [시스템 프로세스 확인 요청]</a:t>
            </a:r>
          </a:p>
        </p:txBody>
      </p:sp>
      <p:sp>
        <p:nvSpPr>
          <p:cNvPr id="167531039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5279374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33202155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구현- 관리자 페이지 IP 검증 기능 구현- 세션타임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[멤버십마케팅팀] 지류상품권 재고 이관 DB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[멤버십마케팅팀] 이중 판매된 데이터 데이터 삭제 및 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고정리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[인사후생팀] 이관출고 데이터 상태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ERP Upgrade 오더 할당 상태 값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DS Upgrade 지원 [GCMS, EWS]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하계 휴가</a:t>
            </a:r>
          </a:p>
        </p:txBody>
      </p:sp>
      <p:sp>
        <p:nvSpPr>
          <p:cNvPr id="18012139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</a:p>
        </p:txBody>
      </p:sp>
      <p:sp>
        <p:nvSpPr>
          <p:cNvPr id="82133449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75%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</a:p>
        </p:txBody>
      </p:sp>
      <p:sp>
        <p:nvSpPr>
          <p:cNvPr id="53600452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</a:p>
        </p:txBody>
      </p:sp>
      <p:sp>
        <p:nvSpPr>
          <p:cNvPr id="156050660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7552247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4953694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</a:p>
        </p:txBody>
      </p:sp>
      <p:sp>
        <p:nvSpPr>
          <p:cNvPr id="68837590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</a:p>
        </p:txBody>
      </p:sp>
      <p:sp>
        <p:nvSpPr>
          <p:cNvPr id="187520448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smartsuite Framework 1.0.9 버전 업그레이드 검토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반영 (운영)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공수/일정 공유 (JEUS 업그레이드)</a:t>
            </a:r>
          </a:p>
        </p:txBody>
      </p:sp>
      <p:sp>
        <p:nvSpPr>
          <p:cNvPr id="54370300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7865823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50255862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운영 'URL Rewrite' 모듈 활성화 (HTTP 통신 제한, 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TTPS 접근)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smartsuite Framework 1.0.9 버전 업그레이드 검토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반영 (운영)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V240726-0000501 상태변경 요청 (완료 -&gt; 처리중)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공수/일정 공유 (JEUS 업그레이드)</a:t>
            </a:r>
          </a:p>
        </p:txBody>
      </p:sp>
      <p:sp>
        <p:nvSpPr>
          <p:cNvPr id="148846308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</a:p>
        </p:txBody>
      </p:sp>
      <p:sp>
        <p:nvSpPr>
          <p:cNvPr id="96989770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</a:p>
        </p:txBody>
      </p:sp>
      <p:sp>
        <p:nvSpPr>
          <p:cNvPr id="5129261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</a:p>
        </p:txBody>
      </p:sp>
      <p:sp>
        <p:nvSpPr>
          <p:cNvPr id="103551351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0807636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58540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8010229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4530068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4764219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7194506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06997993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0997244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7865515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0359504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3568660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9939330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8388448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7213444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42093278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5018085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</a:p>
        </p:txBody>
      </p:sp>
      <p:sp>
        <p:nvSpPr>
          <p:cNvPr id="209438085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</a:p>
        </p:txBody>
      </p:sp>
      <p:sp>
        <p:nvSpPr>
          <p:cNvPr id="30992318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2024.6월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6월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SGI서울보증 차세대시스템 구축에 따른 전자보증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SAP ERP TS 기능 변경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영업시설물 지원관리 시스템 관련 EAI PO번호 연동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 프로젝트 진행사항 공유 및 업무 인수인계</a:t>
            </a:r>
          </a:p>
        </p:txBody>
      </p:sp>
      <p:sp>
        <p:nvSpPr>
          <p:cNvPr id="126905488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77273529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213398729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2024.6월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6월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SAP ERP TS 기능 변경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영업시설물 지원관리 시스템 관련 EAI PO번호 연동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Upgrade 프로젝트 수행을 위한 AS-IS 소스 migrati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on및 산출물 현행화</a:t>
            </a:r>
          </a:p>
        </p:txBody>
      </p:sp>
      <p:sp>
        <p:nvSpPr>
          <p:cNvPr id="63717150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</a:p>
        </p:txBody>
      </p:sp>
      <p:sp>
        <p:nvSpPr>
          <p:cNvPr id="133124690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</a:p>
        </p:txBody>
      </p:sp>
      <p:sp>
        <p:nvSpPr>
          <p:cNvPr id="42009665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</a:p>
        </p:txBody>
      </p:sp>
      <p:sp>
        <p:nvSpPr>
          <p:cNvPr id="199082663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23606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