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1"/>
    <p:sldId id="275" r:id="rId33"/>
    <p:sldId id="276" r:id="rId35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slides/slide18.xml" Type="http://schemas.openxmlformats.org/officeDocument/2006/relationships/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slides/slide19.xml" Type="http://schemas.openxmlformats.org/officeDocument/2006/relationships/slide"/><Relationship Id="rId32" Target="notesSlides/notesSlide6.xml" Type="http://schemas.openxmlformats.org/officeDocument/2006/relationships/notesSlide"/><Relationship Id="rId33" Target="slides/slide20.xml" Type="http://schemas.openxmlformats.org/officeDocument/2006/relationships/slide"/><Relationship Id="rId34" Target="notesSlides/notesSlide7.xml" Type="http://schemas.openxmlformats.org/officeDocument/2006/relationships/notesSlide"/><Relationship Id="rId35" Target="slides/slide21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2024-07-29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[2024.08.20 ~ 2024.08.26]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8월 5주차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1264259050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 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광복절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Off-Duty 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08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96908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61620686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60803863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410186553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311400379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70091382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94459408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624129150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36081043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32395508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531748663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247824366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444080102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48451525" name="Frame"/>
          <p:cNvSpPr>
            <a:spLocks noGrp="1"/>
          </p:cNvSpPr>
          <p:nvPr/>
        </p:nvSpPr>
        <p:spPr>
          <a:xfrm>
            <a:off x="25400" y="50927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708815987" name="Text">
    </p:cNvPr>
          <p:cNvSpPr>
            <a:spLocks noGrp="1"/>
          </p:cNvSpPr>
          <p:nvPr/>
        </p:nvSpPr>
        <p:spPr>
          <a:xfrm rot="0">
            <a:off x="152400" y="5118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658367971" name="Text">
    </p:cNvPr>
          <p:cNvSpPr>
            <a:spLocks noGrp="1"/>
          </p:cNvSpPr>
          <p:nvPr/>
        </p:nvSpPr>
        <p:spPr>
          <a:xfrm rot="0">
            <a:off x="6451600" y="5651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0057735" name="Text">
    </p:cNvPr>
          <p:cNvSpPr>
            <a:spLocks noGrp="1"/>
          </p:cNvSpPr>
          <p:nvPr/>
        </p:nvSpPr>
        <p:spPr>
          <a:xfrm rot="0">
            <a:off x="2057400" y="5651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79292896" name="Text">
    </p:cNvPr>
          <p:cNvSpPr>
            <a:spLocks noGrp="1"/>
          </p:cNvSpPr>
          <p:nvPr/>
        </p:nvSpPr>
        <p:spPr>
          <a:xfrm rot="0">
            <a:off x="101600" y="5651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2635187" name="Text">
    </p:cNvPr>
          <p:cNvSpPr>
            <a:spLocks noGrp="1"/>
          </p:cNvSpPr>
          <p:nvPr/>
        </p:nvSpPr>
        <p:spPr>
          <a:xfrm rot="0">
            <a:off x="101600" y="5410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622071570" name="Text">
    </p:cNvPr>
          <p:cNvSpPr>
            <a:spLocks noGrp="1"/>
          </p:cNvSpPr>
          <p:nvPr/>
        </p:nvSpPr>
        <p:spPr>
          <a:xfrm rot="0">
            <a:off x="2057400" y="5410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649681055" name="Text">
    </p:cNvPr>
          <p:cNvSpPr>
            <a:spLocks noGrp="1"/>
          </p:cNvSpPr>
          <p:nvPr/>
        </p:nvSpPr>
        <p:spPr>
          <a:xfrm rot="0">
            <a:off x="6451600" y="5410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603497886" name="Text">
    </p:cNvPr>
          <p:cNvSpPr>
            <a:spLocks noGrp="1"/>
          </p:cNvSpPr>
          <p:nvPr/>
        </p:nvSpPr>
        <p:spPr>
          <a:xfrm rot="0">
            <a:off x="101600" y="5943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5595782" name="Text">
    </p:cNvPr>
          <p:cNvSpPr>
            <a:spLocks noGrp="1"/>
          </p:cNvSpPr>
          <p:nvPr/>
        </p:nvSpPr>
        <p:spPr>
          <a:xfrm rot="0">
            <a:off x="6451600" y="5943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29108253" name="Text">
    </p:cNvPr>
          <p:cNvSpPr>
            <a:spLocks noGrp="1"/>
          </p:cNvSpPr>
          <p:nvPr/>
        </p:nvSpPr>
        <p:spPr>
          <a:xfrm rot="0">
            <a:off x="2057400" y="5943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05726022" name="Text">
    </p:cNvPr>
          <p:cNvSpPr>
            <a:spLocks noGrp="1"/>
          </p:cNvSpPr>
          <p:nvPr/>
        </p:nvSpPr>
        <p:spPr>
          <a:xfrm rot="0">
            <a:off x="1244600" y="5943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6563257" name="Text">
    </p:cNvPr>
          <p:cNvSpPr>
            <a:spLocks noGrp="1"/>
          </p:cNvSpPr>
          <p:nvPr/>
        </p:nvSpPr>
        <p:spPr>
          <a:xfrm rot="0">
            <a:off x="1244600" y="5651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0079338" name="Text">
    </p:cNvPr>
          <p:cNvSpPr>
            <a:spLocks noGrp="1"/>
          </p:cNvSpPr>
          <p:nvPr/>
        </p:nvSpPr>
        <p:spPr>
          <a:xfrm rot="0">
            <a:off x="1244600" y="5410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747635226" name="Text">
    </p:cNvPr>
          <p:cNvSpPr>
            <a:spLocks noGrp="1"/>
          </p:cNvSpPr>
          <p:nvPr/>
        </p:nvSpPr>
        <p:spPr>
          <a:xfrm rot="0">
            <a:off x="8102600" y="5943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0990912" name="Text">
    </p:cNvPr>
          <p:cNvSpPr>
            <a:spLocks noGrp="1"/>
          </p:cNvSpPr>
          <p:nvPr/>
        </p:nvSpPr>
        <p:spPr>
          <a:xfrm rot="0">
            <a:off x="8102600" y="5410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998931624" name="Text">
    </p:cNvPr>
          <p:cNvSpPr>
            <a:spLocks noGrp="1"/>
          </p:cNvSpPr>
          <p:nvPr/>
        </p:nvSpPr>
        <p:spPr>
          <a:xfrm rot="0">
            <a:off x="8102600" y="5651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17315436" name="Frame"/>
          <p:cNvSpPr>
            <a:spLocks noGrp="1"/>
          </p:cNvSpPr>
          <p:nvPr/>
        </p:nvSpPr>
        <p:spPr>
          <a:xfrm>
            <a:off x="101600" y="2984500"/>
            <a:ext cx="9779000" cy="194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547479216" name="Text">
    </p:cNvPr>
          <p:cNvSpPr>
            <a:spLocks noGrp="1"/>
          </p:cNvSpPr>
          <p:nvPr/>
        </p:nvSpPr>
        <p:spPr>
          <a:xfrm rot="0">
            <a:off x="165100" y="30480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63777668" name="Text">
    </p:cNvPr>
          <p:cNvSpPr>
            <a:spLocks noGrp="1"/>
          </p:cNvSpPr>
          <p:nvPr/>
        </p:nvSpPr>
        <p:spPr>
          <a:xfrm rot="0">
            <a:off x="152400" y="30099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2094502425" name="Text">
    </p:cNvPr>
          <p:cNvSpPr>
            <a:spLocks noGrp="1"/>
          </p:cNvSpPr>
          <p:nvPr/>
        </p:nvSpPr>
        <p:spPr>
          <a:xfrm rot="0">
            <a:off x="165100" y="32639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324054548" name="Text">
    </p:cNvPr>
          <p:cNvSpPr>
            <a:spLocks noGrp="1"/>
          </p:cNvSpPr>
          <p:nvPr/>
        </p:nvSpPr>
        <p:spPr>
          <a:xfrm rot="0">
            <a:off x="901700" y="32639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11754279" name="Text">
    </p:cNvPr>
          <p:cNvSpPr>
            <a:spLocks noGrp="1"/>
          </p:cNvSpPr>
          <p:nvPr/>
        </p:nvSpPr>
        <p:spPr>
          <a:xfrm rot="0">
            <a:off x="5549900" y="32639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360368401" name="Text">
    </p:cNvPr>
          <p:cNvSpPr>
            <a:spLocks noGrp="1"/>
          </p:cNvSpPr>
          <p:nvPr/>
        </p:nvSpPr>
        <p:spPr>
          <a:xfrm rot="0">
            <a:off x="6121400" y="32639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434310397" name="Frame"/>
          <p:cNvSpPr>
            <a:spLocks noGrp="1"/>
          </p:cNvSpPr>
          <p:nvPr/>
        </p:nvSpPr>
        <p:spPr>
          <a:xfrm>
            <a:off x="165100" y="43053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086533534" name="Text">
    </p:cNvPr>
          <p:cNvSpPr>
            <a:spLocks noGrp="1"/>
          </p:cNvSpPr>
          <p:nvPr/>
        </p:nvSpPr>
        <p:spPr>
          <a:xfrm rot="0">
            <a:off x="165100" y="4279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727723250" name="Text">
    </p:cNvPr>
          <p:cNvSpPr>
            <a:spLocks noGrp="1"/>
          </p:cNvSpPr>
          <p:nvPr/>
        </p:nvSpPr>
        <p:spPr>
          <a:xfrm rot="0">
            <a:off x="965200" y="43307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ITSM-107407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SGI서울보증 차세대시스템 구축에 따른 전자보증 시스템 테스트</a:t>
            </a:r>
          </a:p>
        </p:txBody>
      </p:sp>
      <p:sp>
        <p:nvSpPr>
          <p:cNvPr id="1754356430" name="Text">
    </p:cNvPr>
          <p:cNvSpPr>
            <a:spLocks noGrp="1"/>
          </p:cNvSpPr>
          <p:nvPr/>
        </p:nvSpPr>
        <p:spPr>
          <a:xfrm rot="0">
            <a:off x="7239000" y="43307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07234847" name="Text">
    </p:cNvPr>
          <p:cNvSpPr>
            <a:spLocks noGrp="1"/>
          </p:cNvSpPr>
          <p:nvPr/>
        </p:nvSpPr>
        <p:spPr>
          <a:xfrm rot="0">
            <a:off x="5549900" y="43307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</a:p>
        </p:txBody>
      </p:sp>
      <p:sp>
        <p:nvSpPr>
          <p:cNvPr id="176609570" name="Text">
    </p:cNvPr>
          <p:cNvSpPr>
            <a:spLocks noGrp="1"/>
          </p:cNvSpPr>
          <p:nvPr/>
        </p:nvSpPr>
        <p:spPr>
          <a:xfrm rot="0">
            <a:off x="901700" y="4279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8107068" name="Text">
    </p:cNvPr>
          <p:cNvSpPr>
            <a:spLocks noGrp="1"/>
          </p:cNvSpPr>
          <p:nvPr/>
        </p:nvSpPr>
        <p:spPr>
          <a:xfrm rot="0">
            <a:off x="6121400" y="4279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6605133" name="Text">
    </p:cNvPr>
          <p:cNvSpPr>
            <a:spLocks noGrp="1"/>
          </p:cNvSpPr>
          <p:nvPr/>
        </p:nvSpPr>
        <p:spPr>
          <a:xfrm rot="0">
            <a:off x="5549900" y="4279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6038728" name="Frame"/>
          <p:cNvSpPr>
            <a:spLocks noGrp="1"/>
          </p:cNvSpPr>
          <p:nvPr/>
        </p:nvSpPr>
        <p:spPr>
          <a:xfrm>
            <a:off x="165100" y="36068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676574647" name="Text">
    </p:cNvPr>
          <p:cNvSpPr>
            <a:spLocks noGrp="1"/>
          </p:cNvSpPr>
          <p:nvPr/>
        </p:nvSpPr>
        <p:spPr>
          <a:xfrm rot="0">
            <a:off x="165100" y="36068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402605842" name="Text">
    </p:cNvPr>
          <p:cNvSpPr>
            <a:spLocks noGrp="1"/>
          </p:cNvSpPr>
          <p:nvPr/>
        </p:nvSpPr>
        <p:spPr>
          <a:xfrm rot="0">
            <a:off x="965200" y="36830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1643164110" name="Text">
    </p:cNvPr>
          <p:cNvSpPr>
            <a:spLocks noGrp="1"/>
          </p:cNvSpPr>
          <p:nvPr/>
        </p:nvSpPr>
        <p:spPr>
          <a:xfrm rot="0">
            <a:off x="7239000" y="36830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959490137" name="Text">
    </p:cNvPr>
          <p:cNvSpPr>
            <a:spLocks noGrp="1"/>
          </p:cNvSpPr>
          <p:nvPr/>
        </p:nvSpPr>
        <p:spPr>
          <a:xfrm rot="0">
            <a:off x="5549900" y="36830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</a:p>
        </p:txBody>
      </p:sp>
      <p:sp>
        <p:nvSpPr>
          <p:cNvPr id="1098948474" name="Text">
    </p:cNvPr>
          <p:cNvSpPr>
            <a:spLocks noGrp="1"/>
          </p:cNvSpPr>
          <p:nvPr/>
        </p:nvSpPr>
        <p:spPr>
          <a:xfrm rot="0">
            <a:off x="901700" y="36068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6800217" name="Text">
    </p:cNvPr>
          <p:cNvSpPr>
            <a:spLocks noGrp="1"/>
          </p:cNvSpPr>
          <p:nvPr/>
        </p:nvSpPr>
        <p:spPr>
          <a:xfrm rot="0">
            <a:off x="6121400" y="36068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38301060" name="Text">
    </p:cNvPr>
          <p:cNvSpPr>
            <a:spLocks noGrp="1"/>
          </p:cNvSpPr>
          <p:nvPr/>
        </p:nvSpPr>
        <p:spPr>
          <a:xfrm rot="0">
            <a:off x="5549900" y="36068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593126" name="Frame"/>
          <p:cNvSpPr>
            <a:spLocks noGrp="1"/>
          </p:cNvSpPr>
          <p:nvPr/>
        </p:nvSpPr>
        <p:spPr>
          <a:xfrm>
            <a:off x="127000" y="1384300"/>
            <a:ext cx="9779000" cy="1460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287877036" name="Frame"/>
          <p:cNvSpPr>
            <a:spLocks noGrp="1"/>
          </p:cNvSpPr>
          <p:nvPr/>
        </p:nvSpPr>
        <p:spPr>
          <a:xfrm>
            <a:off x="152400" y="2070100"/>
            <a:ext cx="9664700" cy="774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13115937" name="Text">
    </p:cNvPr>
          <p:cNvSpPr>
            <a:spLocks noGrp="1"/>
          </p:cNvSpPr>
          <p:nvPr/>
        </p:nvSpPr>
        <p:spPr>
          <a:xfrm rot="0">
            <a:off x="152400" y="20447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2110920673" name="Text">
    </p:cNvPr>
          <p:cNvSpPr>
            <a:spLocks noGrp="1"/>
          </p:cNvSpPr>
          <p:nvPr/>
        </p:nvSpPr>
        <p:spPr>
          <a:xfrm rot="0">
            <a:off x="952500" y="2095500"/>
            <a:ext cx="45974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[RPA] A11 '윤활유 빌링'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CCS(법인카드정산)시스템 적요란 글자수 증액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[VOC] 스팸 메일 및 중복 접수 (홈페이지,HMP) 종료 처리 단순화 기능 요청 건 개선안 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ERP Upgrade에 따른 EAI 연동 테스트 지원</a:t>
            </a:r>
          </a:p>
        </p:txBody>
      </p:sp>
      <p:sp>
        <p:nvSpPr>
          <p:cNvPr id="518632585" name="Text">
    </p:cNvPr>
          <p:cNvSpPr>
            <a:spLocks noGrp="1"/>
          </p:cNvSpPr>
          <p:nvPr/>
        </p:nvSpPr>
        <p:spPr>
          <a:xfrm rot="0">
            <a:off x="7226300" y="20955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240529129" name="Text">
    </p:cNvPr>
          <p:cNvSpPr>
            <a:spLocks noGrp="1"/>
          </p:cNvSpPr>
          <p:nvPr/>
        </p:nvSpPr>
        <p:spPr>
          <a:xfrm rot="0">
            <a:off x="6108700" y="2044700"/>
            <a:ext cx="7620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059147261" name="Text">
    </p:cNvPr>
          <p:cNvSpPr>
            <a:spLocks noGrp="1"/>
          </p:cNvSpPr>
          <p:nvPr/>
        </p:nvSpPr>
        <p:spPr>
          <a:xfrm rot="0">
            <a:off x="5537200" y="20955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</a:p>
        </p:txBody>
      </p:sp>
      <p:sp>
        <p:nvSpPr>
          <p:cNvPr id="1386293479" name="Text">
    </p:cNvPr>
          <p:cNvSpPr>
            <a:spLocks noGrp="1"/>
          </p:cNvSpPr>
          <p:nvPr/>
        </p:nvSpPr>
        <p:spPr>
          <a:xfrm rot="0">
            <a:off x="889000" y="20447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943814" name="Text">
    </p:cNvPr>
          <p:cNvSpPr>
            <a:spLocks noGrp="1"/>
          </p:cNvSpPr>
          <p:nvPr/>
        </p:nvSpPr>
        <p:spPr>
          <a:xfrm rot="0">
            <a:off x="7124700" y="2044700"/>
            <a:ext cx="26543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29988792" name="Text">
    </p:cNvPr>
          <p:cNvSpPr>
            <a:spLocks noGrp="1"/>
          </p:cNvSpPr>
          <p:nvPr/>
        </p:nvSpPr>
        <p:spPr>
          <a:xfrm rot="0">
            <a:off x="5537200" y="20447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9269640" name="Rectangle"/>
          <p:cNvSpPr>
            <a:spLocks noGrp="1"/>
          </p:cNvSpPr>
          <p:nvPr/>
        </p:nvSpPr>
        <p:spPr>
          <a:xfrm>
            <a:off x="6870700" y="2044700"/>
            <a:ext cx="254000" cy="800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553652136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557924333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591439114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 반제품 제조원가 검증 개선(ZPCOR2080)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부서발생비용 결재요청 PTI OPEN 로직 수정(ZEAM4100, ZEAM4200)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기성보고서 (4501187708 2023 ESG 보고서 디자인용역)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ITSM-115687 ZSDT8060 로직 수정</a:t>
            </a:r>
          </a:p>
        </p:txBody>
      </p:sp>
      <p:sp>
        <p:nvSpPr>
          <p:cNvPr id="920128220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394542816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732679836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</a:p>
        </p:txBody>
      </p:sp>
      <p:sp>
        <p:nvSpPr>
          <p:cNvPr id="224740886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65507212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97641777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7034408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19450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5179478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7070107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3309378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7836566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5294582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2483700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4559092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2771233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1112044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7559071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133509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4097406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5191021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7908492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36079171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10237871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124013567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25819988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44434604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반제품 제조원가 검증 개선 (ZPCOR2080)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반제전표 생성 로직 수정(ZFIR7032_1)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ZEAM8000 CP 결재문서 증빙청부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부서발생비용 결재요청 PTI OPEN 로직 수정 (ZEAM4100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ZEAM4200)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고정자산 Migration 프로그램 생성(ZFIB9060_MIG)</a:t>
            </a:r>
          </a:p>
        </p:txBody>
      </p:sp>
      <p:sp>
        <p:nvSpPr>
          <p:cNvPr id="82121897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78391765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27914858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190536338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6284114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8877378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05805426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111051837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 2건 미착 명시 예외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ZEPR2240 프로그램 로직 수정 요청</a:t>
            </a:r>
          </a:p>
        </p:txBody>
      </p:sp>
      <p:sp>
        <p:nvSpPr>
          <p:cNvPr id="48074290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68209809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58411779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 2건 미착 명시 예외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기성보고서 (4501187708 2023 ESG 보고서 디자인용역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ZEPR2240 프로그램 로직 수정 요청</a:t>
            </a:r>
          </a:p>
        </p:txBody>
      </p:sp>
      <p:sp>
        <p:nvSpPr>
          <p:cNvPr id="36509586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90036138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120215011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114178675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7568844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09123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7229287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0849672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2454875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1265672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63394534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5970057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660935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4735290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8250313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6559639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1772355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4143382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7515592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0111540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</a:p>
        </p:txBody>
      </p:sp>
      <p:sp>
        <p:nvSpPr>
          <p:cNvPr id="139874901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</a:p>
        </p:txBody>
      </p:sp>
      <p:sp>
        <p:nvSpPr>
          <p:cNvPr id="97297236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28672565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447542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70594612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기존 배치잡 재설정 작업 (ZTD_40_D_DELETE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SHIP SCHEDULE 외 2건)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'24년도 2분기 용인/온산공장 NT서버 보안패치 작업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해당 SAP 시스템 서비스 점검작업(OSKPRO, hqhrcont)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'24년 8월 SAP시스템 인프라 취약점 조치 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(hqbwdev, OSKPRO, OSKPRO2)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용인 2024년도 상반기 FW Rule Revalidation 수행 결과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검증에 따른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162200854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59345915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115562773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190991646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2876418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4352582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77235289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</a:p>
        </p:txBody>
      </p:sp>
      <p:sp>
        <p:nvSpPr>
          <p:cNvPr id="53926447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27942609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83061913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19931428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9 (복습)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12</a:t>
            </a:r>
          </a:p>
        </p:txBody>
      </p:sp>
      <p:sp>
        <p:nvSpPr>
          <p:cNvPr id="113995215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</a:p>
        </p:txBody>
      </p:sp>
      <p:sp>
        <p:nvSpPr>
          <p:cNvPr id="48018003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102004966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45691839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4671154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68807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2708470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281172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6762506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7669140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01457400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569496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751466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306947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6371979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0952986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3207230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7192737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5508618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1336848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97600623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0614401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8852985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0413499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50404802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12233535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74351317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22745061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207629459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234618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4955246" name="Text">
    </p:cNvPr>
          <p:cNvSpPr>
            <a:spLocks noGrp="1"/>
          </p:cNvSpPr>
          <p:nvPr/>
        </p:nvSpPr>
        <p:spPr>
          <a:xfrm rot="0">
            <a:off x="9702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</a:p>
        </p:txBody>
      </p:sp>
      <p:sp>
        <p:nvSpPr>
          <p:cNvPr id="1334395644" name="Text">
    </p:cNvPr>
          <p:cNvSpPr>
            <a:spLocks noGrp="1"/>
          </p:cNvSpPr>
          <p:nvPr/>
        </p:nvSpPr>
        <p:spPr>
          <a:xfrm rot="0">
            <a:off x="93345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</a:p>
        </p:txBody>
      </p:sp>
      <p:sp>
        <p:nvSpPr>
          <p:cNvPr id="969988450" name="Text">
    </p:cNvPr>
          <p:cNvSpPr>
            <a:spLocks noGrp="1"/>
          </p:cNvSpPr>
          <p:nvPr/>
        </p:nvSpPr>
        <p:spPr>
          <a:xfrm rot="0">
            <a:off x="5930900" y="37719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변경- 사무직 Job 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otation 관련 HCM 시스템 개발</a:t>
            </a:r>
          </a:p>
        </p:txBody>
      </p:sp>
      <p:sp>
        <p:nvSpPr>
          <p:cNvPr id="1537104929" name="Text">
    </p:cNvPr>
          <p:cNvSpPr>
            <a:spLocks noGrp="1"/>
          </p:cNvSpPr>
          <p:nvPr/>
        </p:nvSpPr>
        <p:spPr>
          <a:xfrm rot="0">
            <a:off x="53086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624323287" name="Text">
    </p:cNvPr>
          <p:cNvSpPr>
            <a:spLocks noGrp="1"/>
          </p:cNvSpPr>
          <p:nvPr/>
        </p:nvSpPr>
        <p:spPr>
          <a:xfrm rot="0">
            <a:off x="889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539836975" name="Text">
    </p:cNvPr>
          <p:cNvSpPr>
            <a:spLocks noGrp="1"/>
          </p:cNvSpPr>
          <p:nvPr/>
        </p:nvSpPr>
        <p:spPr>
          <a:xfrm rot="0">
            <a:off x="711200" y="37719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연차휴가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근태기록부 예외자 결재 오류 외 문의 대응- 배우자 출산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휴가 예외 처리(출산일 90일 초과 2차 신청)- [ITSM-115636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] 해외출장명령서 완결문서 목록 조회시 기안자 한글성명 동시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표기 요청 건에 대한 분석(cp 결재로 이관)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이사비신청서 최종결재승인시 오류 원인 조사 및 후속조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치(전기보류 해제요청)- 8월급여작업 지원 : 주택자금 이자 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로드 내용 수정 및 후속조치 외- [ITSM-115753] HCM 병가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[ITSM-115752] SF FTP 접속 정보 변경에 따른 리포트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수정- 생활안정자금 신청정보 삭제문의 대응- ERP upgrade 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rj 지원 : 전자결재 결재직위 생성 로직문의 대응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계획근무 및 퇴직예정일 관련 문의 대응- 방문교통비 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력오류 문의 대응- Job Rotation 관련 면담관리 개발 업무 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석 및 설계</a:t>
            </a:r>
          </a:p>
        </p:txBody>
      </p:sp>
      <p:sp>
        <p:nvSpPr>
          <p:cNvPr id="520721537" name="Text">
    </p:cNvPr>
          <p:cNvSpPr>
            <a:spLocks noGrp="1"/>
          </p:cNvSpPr>
          <p:nvPr/>
        </p:nvSpPr>
        <p:spPr>
          <a:xfrm rot="0">
            <a:off x="44831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br/>
          </a:p>
        </p:txBody>
      </p:sp>
      <p:sp>
        <p:nvSpPr>
          <p:cNvPr id="920632341" name="Text">
    </p:cNvPr>
          <p:cNvSpPr>
            <a:spLocks noGrp="1"/>
          </p:cNvSpPr>
          <p:nvPr/>
        </p:nvSpPr>
        <p:spPr>
          <a:xfrm rot="0">
            <a:off x="48514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br/>
          </a:p>
        </p:txBody>
      </p:sp>
      <p:sp>
        <p:nvSpPr>
          <p:cNvPr id="547952843" name="Text">
    </p:cNvPr>
          <p:cNvSpPr>
            <a:spLocks noGrp="1"/>
          </p:cNvSpPr>
          <p:nvPr/>
        </p:nvSpPr>
        <p:spPr>
          <a:xfrm rot="0">
            <a:off x="4114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br/>
          </a:p>
        </p:txBody>
      </p:sp>
      <p:sp>
        <p:nvSpPr>
          <p:cNvPr id="1793002187" name="Text">
    </p:cNvPr>
          <p:cNvSpPr>
            <a:spLocks noGrp="1"/>
          </p:cNvSpPr>
          <p:nvPr/>
        </p:nvSpPr>
        <p:spPr>
          <a:xfrm rot="0">
            <a:off x="6604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8473869" name="Text">
    </p:cNvPr>
          <p:cNvSpPr>
            <a:spLocks noGrp="1"/>
          </p:cNvSpPr>
          <p:nvPr/>
        </p:nvSpPr>
        <p:spPr>
          <a:xfrm rot="0">
            <a:off x="58801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18000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4998128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906423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5503395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4773185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76505312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275607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4392164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8084226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7811814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1397288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5871942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3200325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5787433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6823186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07170632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</a:p>
        </p:txBody>
      </p:sp>
      <p:sp>
        <p:nvSpPr>
          <p:cNvPr id="164197030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 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교대근무 대근자 정보 Interface Table Attribute로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업무 인수인계 30%</a:t>
            </a:r>
          </a:p>
        </p:txBody>
      </p:sp>
      <p:sp>
        <p:nvSpPr>
          <p:cNvPr id="48510624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67052900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54010138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평균임금 조회 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업무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특근확인서 중복신청에 따른 삭제 요청</a:t>
            </a:r>
          </a:p>
        </p:txBody>
      </p:sp>
      <p:sp>
        <p:nvSpPr>
          <p:cNvPr id="123020943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7381887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8/19</a:t>
            </a:r>
            <a:br/>
          </a:p>
        </p:txBody>
      </p:sp>
      <p:sp>
        <p:nvSpPr>
          <p:cNvPr id="199605886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130275719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395205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0391987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31310926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181270994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38783648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85900297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83677114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ITSM-115143ERP Upgrade 프로젝트 소스 수정사항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ITSM-115036PP 인보이스 출력 관련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ITSM-115687ZSDT8060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</a:p>
        </p:txBody>
      </p:sp>
      <p:sp>
        <p:nvSpPr>
          <p:cNvPr id="6346832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208034577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168169249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</a:p>
        </p:txBody>
      </p:sp>
      <p:sp>
        <p:nvSpPr>
          <p:cNvPr id="143496725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382173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83708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6015326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0430920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0953378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0514342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020861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2348417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4573242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2780881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6150112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9530477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064797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1322700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3778668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3960623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25835073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47643739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ITSM-114479 e-biz 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ITSM-115820SSO 연동 작업 및 리얼 그리드 재반영</a:t>
            </a:r>
          </a:p>
        </p:txBody>
      </p:sp>
      <p:sp>
        <p:nvSpPr>
          <p:cNvPr id="100602211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205248085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92055062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ITSM-113634 CCS(법인카드정산)시스템 적요란 글자수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증액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ITSM-114479 e-biz 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ITSM-115820SSO 연동 작업 및 리얼 그리드 재반영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ITSM-115839거래처 삭제 (주)마포주유소</a:t>
            </a:r>
          </a:p>
        </p:txBody>
      </p:sp>
      <p:sp>
        <p:nvSpPr>
          <p:cNvPr id="7271856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17213135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110983755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12338664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0324651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234460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16556883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39698505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</a:p>
        </p:txBody>
      </p:sp>
      <p:sp>
        <p:nvSpPr>
          <p:cNvPr id="101395987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76522969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70447715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[ITSM-115541]LIMS와 인터페이스용 제품탱크별 Leve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l 정보 View 생성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24년 8월 인프라 취약점 조치</a:t>
            </a:r>
          </a:p>
        </p:txBody>
      </p:sp>
      <p:sp>
        <p:nvSpPr>
          <p:cNvPr id="104835298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</a:p>
        </p:txBody>
      </p:sp>
      <p:sp>
        <p:nvSpPr>
          <p:cNvPr id="209221263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</a:p>
        </p:txBody>
      </p:sp>
      <p:sp>
        <p:nvSpPr>
          <p:cNvPr id="80457978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14718242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8655560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5990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651734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3018116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8699591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4435601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0673851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8345441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4241824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8188564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536158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0670599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5042265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3153350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1088063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6449942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93642523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207860034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권한부여 및 직전1년 미거래시 거래처마스터 자동 오더보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</a:p>
        </p:txBody>
      </p:sp>
      <p:sp>
        <p:nvSpPr>
          <p:cNvPr id="146742653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77420479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53684104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권한부여 및 직전1년 미거래시 거래처마스터 자동 오더보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</a:p>
        </p:txBody>
      </p:sp>
      <p:sp>
        <p:nvSpPr>
          <p:cNvPr id="12209013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77684803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25%</a:t>
            </a:r>
            <a:br/>
          </a:p>
        </p:txBody>
      </p:sp>
      <p:sp>
        <p:nvSpPr>
          <p:cNvPr id="3323008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13860060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003479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6073865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27997847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</a:p>
        </p:txBody>
      </p:sp>
      <p:sp>
        <p:nvSpPr>
          <p:cNvPr id="139371037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SAP 개발로 인한 ATSS DB TEST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google 정책 사항 변경으로 e-biz 소스 수정 및 배포</a:t>
            </a:r>
          </a:p>
        </p:txBody>
      </p:sp>
      <p:sp>
        <p:nvSpPr>
          <p:cNvPr id="175341292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12956106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70080163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ITSM-113287 배포상태 변경ITSM-115638 견적서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 배차 엔진 재가동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기준정보(EAMS) 명칭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ITSM-114885 변경등급 변경ITSM-115677 견적서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제ITSM-115754 견적서 공수 변경ITSM-108193 변경결과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SAP 개발로 인한 ATSS DB TEST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정기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정기 점검 배치로 인한 CPU 과부화로 서버 재가동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google 정책 사항 변경으로 e-biz 소스 수정 및 배포</a:t>
            </a:r>
          </a:p>
        </p:txBody>
      </p:sp>
      <p:sp>
        <p:nvSpPr>
          <p:cNvPr id="61412522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153190298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136770642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89566370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794363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40623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8353961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2148864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5403685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779062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12053617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332067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517331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578425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9387292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3409396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6932650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7284241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8541458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40030776" name="Text">
    </p:cNvPr>
          <p:cNvSpPr>
            <a:spLocks noGrp="1"/>
          </p:cNvSpPr>
          <p:nvPr/>
        </p:nvSpPr>
        <p:spPr>
          <a:xfrm rot="0">
            <a:off x="97028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</a:p>
        </p:txBody>
      </p:sp>
      <p:sp>
        <p:nvSpPr>
          <p:cNvPr id="482649346" name="Text">
    </p:cNvPr>
          <p:cNvSpPr>
            <a:spLocks noGrp="1"/>
          </p:cNvSpPr>
          <p:nvPr/>
        </p:nvSpPr>
        <p:spPr>
          <a:xfrm rot="0">
            <a:off x="93345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</a:p>
        </p:txBody>
      </p:sp>
      <p:sp>
        <p:nvSpPr>
          <p:cNvPr id="1179613754" name="Text">
    </p:cNvPr>
          <p:cNvSpPr>
            <a:spLocks noGrp="1"/>
          </p:cNvSpPr>
          <p:nvPr/>
        </p:nvSpPr>
        <p:spPr>
          <a:xfrm rot="0">
            <a:off x="5930900" y="1511300"/>
            <a:ext cx="3403600" cy="3340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A360 Migratio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 (보류)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'정유해외마케팅팀 - Daily Naphtha/Gasoline/Je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t/Diesel Market Movement 작성 및 보고' 작업 개발</a:t>
            </a:r>
          </a:p>
        </p:txBody>
      </p:sp>
      <p:sp>
        <p:nvSpPr>
          <p:cNvPr id="1686469666" name="Text">
    </p:cNvPr>
          <p:cNvSpPr>
            <a:spLocks noGrp="1"/>
          </p:cNvSpPr>
          <p:nvPr/>
        </p:nvSpPr>
        <p:spPr>
          <a:xfrm rot="0">
            <a:off x="5308600" y="1511300"/>
            <a:ext cx="5715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732535115" name="Text">
    </p:cNvPr>
          <p:cNvSpPr>
            <a:spLocks noGrp="1"/>
          </p:cNvSpPr>
          <p:nvPr/>
        </p:nvSpPr>
        <p:spPr>
          <a:xfrm rot="0">
            <a:off x="88900" y="1511300"/>
            <a:ext cx="5715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586570772" name="Text">
    </p:cNvPr>
          <p:cNvSpPr>
            <a:spLocks noGrp="1"/>
          </p:cNvSpPr>
          <p:nvPr/>
        </p:nvSpPr>
        <p:spPr>
          <a:xfrm rot="0">
            <a:off x="711200" y="1511300"/>
            <a:ext cx="3403600" cy="3340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'금융정보 취합 및 보고' 작업 에러 원인 확인 및 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당자 전달        - 메일 수신 내역 하나 누락. 담당자 조치 필요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'윤활유 빌링'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Spoke 서버 DB 연결정보 'PO_TAS 개발서버 확인 내용 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층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A11-&gt;A360 '#3 외화입금내역 반제 자동화' 작업 SAP U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pgrade 회의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'항공급유 및 매출입력'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특정PC에서 RPA Control Room에 PDF업로드 불가. 보안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팀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작업 담당자 문의.         - RPA 입력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내역은 남아있으나, 담당자의 SAP 화면에서 조회가 안됨.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로이터 보안패치 정상가동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외화지급계좌' 작업 오류 확인 및 수정         -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SAP 특정 T-CODE명 변경 관계로 인한 RPA 탐색불가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'유럽 터미널사의 당사 재고현황 수집' 작업 오류처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리문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MTE큐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'구매요구서 및 기술검수증 생성' 작업 수행 및 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류확인, 재수행</a:t>
            </a:r>
          </a:p>
        </p:txBody>
      </p:sp>
      <p:sp>
        <p:nvSpPr>
          <p:cNvPr id="1664223574" name="Text">
    </p:cNvPr>
          <p:cNvSpPr>
            <a:spLocks noGrp="1"/>
          </p:cNvSpPr>
          <p:nvPr/>
        </p:nvSpPr>
        <p:spPr>
          <a:xfrm rot="0">
            <a:off x="44831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</a:p>
        </p:txBody>
      </p:sp>
      <p:sp>
        <p:nvSpPr>
          <p:cNvPr id="748232062" name="Text">
    </p:cNvPr>
          <p:cNvSpPr>
            <a:spLocks noGrp="1"/>
          </p:cNvSpPr>
          <p:nvPr/>
        </p:nvSpPr>
        <p:spPr>
          <a:xfrm rot="0">
            <a:off x="48514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</a:p>
        </p:txBody>
      </p:sp>
      <p:sp>
        <p:nvSpPr>
          <p:cNvPr id="1745059229" name="Text">
    </p:cNvPr>
          <p:cNvSpPr>
            <a:spLocks noGrp="1"/>
          </p:cNvSpPr>
          <p:nvPr/>
        </p:nvSpPr>
        <p:spPr>
          <a:xfrm rot="0">
            <a:off x="41148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</a:p>
        </p:txBody>
      </p:sp>
      <p:sp>
        <p:nvSpPr>
          <p:cNvPr id="1073039119" name="Text">
    </p:cNvPr>
          <p:cNvSpPr>
            <a:spLocks noGrp="1"/>
          </p:cNvSpPr>
          <p:nvPr/>
        </p:nvSpPr>
        <p:spPr>
          <a:xfrm rot="0">
            <a:off x="660400" y="1511300"/>
            <a:ext cx="34544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91751710" name="Text">
    </p:cNvPr>
          <p:cNvSpPr>
            <a:spLocks noGrp="1"/>
          </p:cNvSpPr>
          <p:nvPr/>
        </p:nvSpPr>
        <p:spPr>
          <a:xfrm rot="0">
            <a:off x="5880100" y="1511300"/>
            <a:ext cx="34544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91029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3435547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1992813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9455945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0926557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1273053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7678947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7838773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1564592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3140084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9045074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3746920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7917573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0638796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6774638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36848934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</a:p>
        </p:txBody>
      </p:sp>
      <p:sp>
        <p:nvSpPr>
          <p:cNvPr id="152263531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마곡 업무용차량 배차관리를 위한 차량사용신청서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(비용신청서 포함) 및 GAS 일부 변경</a:t>
            </a:r>
          </a:p>
        </p:txBody>
      </p:sp>
      <p:sp>
        <p:nvSpPr>
          <p:cNvPr id="8817732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47068334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1913877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CCS(법인카드정산)시스템 적요란 글자수 증액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마곡 업무용차량 배차관리를 위한 차량사용신청서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(비용신청서 포함) 및 GAS 일부 변경</a:t>
            </a:r>
          </a:p>
        </p:txBody>
      </p:sp>
      <p:sp>
        <p:nvSpPr>
          <p:cNvPr id="152736189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43570035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</a:p>
        </p:txBody>
      </p:sp>
      <p:sp>
        <p:nvSpPr>
          <p:cNvPr id="114793283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</a:p>
        </p:txBody>
      </p:sp>
      <p:sp>
        <p:nvSpPr>
          <p:cNvPr id="92734762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743497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27191138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1218753672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</a:p>
        </p:txBody>
      </p:sp>
      <p:sp>
        <p:nvSpPr>
          <p:cNvPr id="1324969250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ITSM-115639OSPM(외주용역관리) 결재 대행자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지정 기능 추가 요청</a:t>
            </a:r>
          </a:p>
        </p:txBody>
      </p:sp>
      <p:sp>
        <p:nvSpPr>
          <p:cNvPr id="2112812694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424258016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956927232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ITSM-115603, ITSM-115635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ITSM-115662, ITSM-115654, ITSM-115648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TSM-115650, ITSM-115469, ITSM-115644, ITSM-115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668, ITSM-115674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ITSM-115719, ITSM-115727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ITSM-115767, ITSM-115771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ITSM-115783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</a:p>
        </p:txBody>
      </p:sp>
      <p:sp>
        <p:nvSpPr>
          <p:cNvPr id="1008498558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910978093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</a:p>
        </p:txBody>
      </p:sp>
      <p:sp>
        <p:nvSpPr>
          <p:cNvPr id="1094738551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</a:p>
        </p:txBody>
      </p:sp>
      <p:sp>
        <p:nvSpPr>
          <p:cNvPr id="886343378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06479537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11914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9329218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1560160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4528071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2961679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5056610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3636078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4125485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9544851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1591253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7078576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9908160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0425384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2324117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06213345" name="Text">
    </p:cNvPr>
          <p:cNvSpPr>
            <a:spLocks noGrp="1"/>
          </p:cNvSpPr>
          <p:nvPr/>
        </p:nvSpPr>
        <p:spPr>
          <a:xfrm rot="0">
            <a:off x="97028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971109926" name="Text">
    </p:cNvPr>
          <p:cNvSpPr>
            <a:spLocks noGrp="1"/>
          </p:cNvSpPr>
          <p:nvPr/>
        </p:nvSpPr>
        <p:spPr>
          <a:xfrm rot="0">
            <a:off x="93345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</a:p>
        </p:txBody>
      </p:sp>
      <p:sp>
        <p:nvSpPr>
          <p:cNvPr id="1268554261" name="Text">
    </p:cNvPr>
          <p:cNvSpPr>
            <a:spLocks noGrp="1"/>
          </p:cNvSpPr>
          <p:nvPr/>
        </p:nvSpPr>
        <p:spPr>
          <a:xfrm rot="0">
            <a:off x="5930900" y="15113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</a:p>
        </p:txBody>
      </p:sp>
      <p:sp>
        <p:nvSpPr>
          <p:cNvPr id="892469347" name="Text">
    </p:cNvPr>
          <p:cNvSpPr>
            <a:spLocks noGrp="1"/>
          </p:cNvSpPr>
          <p:nvPr/>
        </p:nvSpPr>
        <p:spPr>
          <a:xfrm rot="0">
            <a:off x="5308600" y="15113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538919897" name="Text">
    </p:cNvPr>
          <p:cNvSpPr>
            <a:spLocks noGrp="1"/>
          </p:cNvSpPr>
          <p:nvPr/>
        </p:nvSpPr>
        <p:spPr>
          <a:xfrm rot="0">
            <a:off x="88900" y="15113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871488012" name="Text">
    </p:cNvPr>
          <p:cNvSpPr>
            <a:spLocks noGrp="1"/>
          </p:cNvSpPr>
          <p:nvPr/>
        </p:nvSpPr>
        <p:spPr>
          <a:xfrm rot="0">
            <a:off x="711200" y="15113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안전보건교육절차 최상배 대리 , 시험 재응시 가능하도록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[LMS]안전-elearning 교육과정에 등록된 수강인원 및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료인원 통계.(2024.08.20 기준)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HQLMSDEV 서버 드라이브 정리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작업허가절차 시험 응시 오류 확인 및 수정 완료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이러닝 교육 후 시험 응시시 튕김으로 인해 재응시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처리(최상배 대리)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 회수후, 작성중인 문서에서 조회 안 됨.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SOB-01-002 직제규정 국문 조회 안됨. 상태 변경요청.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출장비신청서 회수후 작성중인 문서 조회 안됨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(이상배 계장)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멘토링활동비 신청서 작성시 직급-생산직, 직책-계장 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경우 10만원으로 지원금액 제한되도록 로직 수정 적용</a:t>
            </a:r>
          </a:p>
        </p:txBody>
      </p:sp>
      <p:sp>
        <p:nvSpPr>
          <p:cNvPr id="479371861" name="Text">
    </p:cNvPr>
          <p:cNvSpPr>
            <a:spLocks noGrp="1"/>
          </p:cNvSpPr>
          <p:nvPr/>
        </p:nvSpPr>
        <p:spPr>
          <a:xfrm rot="0">
            <a:off x="44831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</a:p>
        </p:txBody>
      </p:sp>
      <p:sp>
        <p:nvSpPr>
          <p:cNvPr id="956729532" name="Text">
    </p:cNvPr>
          <p:cNvSpPr>
            <a:spLocks noGrp="1"/>
          </p:cNvSpPr>
          <p:nvPr/>
        </p:nvSpPr>
        <p:spPr>
          <a:xfrm rot="0">
            <a:off x="48514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</a:p>
        </p:txBody>
      </p:sp>
      <p:sp>
        <p:nvSpPr>
          <p:cNvPr id="1667044814" name="Text">
    </p:cNvPr>
          <p:cNvSpPr>
            <a:spLocks noGrp="1"/>
          </p:cNvSpPr>
          <p:nvPr/>
        </p:nvSpPr>
        <p:spPr>
          <a:xfrm rot="0">
            <a:off x="41148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</a:p>
        </p:txBody>
      </p:sp>
      <p:sp>
        <p:nvSpPr>
          <p:cNvPr id="1589744147" name="Text">
    </p:cNvPr>
          <p:cNvSpPr>
            <a:spLocks noGrp="1"/>
          </p:cNvSpPr>
          <p:nvPr/>
        </p:nvSpPr>
        <p:spPr>
          <a:xfrm rot="0">
            <a:off x="660400" y="15113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72730004" name="Text">
    </p:cNvPr>
          <p:cNvSpPr>
            <a:spLocks noGrp="1"/>
          </p:cNvSpPr>
          <p:nvPr/>
        </p:nvSpPr>
        <p:spPr>
          <a:xfrm rot="0">
            <a:off x="5880100" y="15113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0351545" name="Text">
    </p:cNvPr>
          <p:cNvSpPr>
            <a:spLocks noGrp="1"/>
          </p:cNvSpPr>
          <p:nvPr/>
        </p:nvSpPr>
        <p:spPr>
          <a:xfrm rot="0">
            <a:off x="97028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</a:p>
        </p:txBody>
      </p:sp>
      <p:sp>
        <p:nvSpPr>
          <p:cNvPr id="1375649618" name="Text">
    </p:cNvPr>
          <p:cNvSpPr>
            <a:spLocks noGrp="1"/>
          </p:cNvSpPr>
          <p:nvPr/>
        </p:nvSpPr>
        <p:spPr>
          <a:xfrm rot="0">
            <a:off x="93345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66973300" name="Text">
    </p:cNvPr>
          <p:cNvSpPr>
            <a:spLocks noGrp="1"/>
          </p:cNvSpPr>
          <p:nvPr/>
        </p:nvSpPr>
        <p:spPr>
          <a:xfrm rot="0">
            <a:off x="5930900" y="40894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JDK 1.5 -&gt; JDK1.8 업그레이드 검토[서버 OS EOS]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[SAP DS Upgrade] 문의 사항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JDK 1.5 -&gt; JDK1.8 업그레이드 검토[서버 OS EOS] </a:t>
            </a:r>
          </a:p>
        </p:txBody>
      </p:sp>
      <p:sp>
        <p:nvSpPr>
          <p:cNvPr id="339609900" name="Text">
    </p:cNvPr>
          <p:cNvSpPr>
            <a:spLocks noGrp="1"/>
          </p:cNvSpPr>
          <p:nvPr/>
        </p:nvSpPr>
        <p:spPr>
          <a:xfrm rot="0">
            <a:off x="5308600" y="40894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135352056" name="Text">
    </p:cNvPr>
          <p:cNvSpPr>
            <a:spLocks noGrp="1"/>
          </p:cNvSpPr>
          <p:nvPr/>
        </p:nvSpPr>
        <p:spPr>
          <a:xfrm rot="0">
            <a:off x="88900" y="40894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541854829" name="Text">
    </p:cNvPr>
          <p:cNvSpPr>
            <a:spLocks noGrp="1"/>
          </p:cNvSpPr>
          <p:nvPr/>
        </p:nvSpPr>
        <p:spPr>
          <a:xfrm rot="0">
            <a:off x="711200" y="40894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JDK 1.5 -&gt; JDK1.8 업그레이드 검토[서버 OS EOS]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SP414 투자 예산 장기 미 집행 시나리오 확인 및 감액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 완료 건 모니터링 데이터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[SAP DS Upgrade] 문의 사항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지원 [시스템 프로세스 확인 요청]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외부 감사인 전산 감사 사전 요청 자료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JDK 1.5 -&gt; JDK1.8 업그레이드 검토[서버 OS EOS]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모바일 상품권 8월 데이터 조회 에러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- 24년 상반기 방화벽 정책 Rule Revalidation 확인 요청</a:t>
            </a:r>
          </a:p>
        </p:txBody>
      </p:sp>
      <p:sp>
        <p:nvSpPr>
          <p:cNvPr id="931405099" name="Text">
    </p:cNvPr>
          <p:cNvSpPr>
            <a:spLocks noGrp="1"/>
          </p:cNvSpPr>
          <p:nvPr/>
        </p:nvSpPr>
        <p:spPr>
          <a:xfrm rot="0">
            <a:off x="44831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1402410398" name="Text">
    </p:cNvPr>
          <p:cNvSpPr>
            <a:spLocks noGrp="1"/>
          </p:cNvSpPr>
          <p:nvPr/>
        </p:nvSpPr>
        <p:spPr>
          <a:xfrm rot="0">
            <a:off x="48514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453934134" name="Text">
    </p:cNvPr>
          <p:cNvSpPr>
            <a:spLocks noGrp="1"/>
          </p:cNvSpPr>
          <p:nvPr/>
        </p:nvSpPr>
        <p:spPr>
          <a:xfrm rot="0">
            <a:off x="41148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1983288452" name="Text">
    </p:cNvPr>
          <p:cNvSpPr>
            <a:spLocks noGrp="1"/>
          </p:cNvSpPr>
          <p:nvPr/>
        </p:nvSpPr>
        <p:spPr>
          <a:xfrm rot="0">
            <a:off x="660400" y="40894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40804908" name="Text">
    </p:cNvPr>
          <p:cNvSpPr>
            <a:spLocks noGrp="1"/>
          </p:cNvSpPr>
          <p:nvPr/>
        </p:nvSpPr>
        <p:spPr>
          <a:xfrm rot="0">
            <a:off x="5880100" y="40894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2455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4595373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4181701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1361030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0685151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7666988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3729725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2545306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7351810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8492933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261493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1655265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9751432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967296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31386756" name="Text">
    </p:cNvPr>
          <p:cNvSpPr>
            <a:spLocks noGrp="1"/>
          </p:cNvSpPr>
          <p:nvPr/>
        </p:nvSpPr>
        <p:spPr>
          <a:xfrm rot="0">
            <a:off x="97028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</a:p>
        </p:txBody>
      </p:sp>
      <p:sp>
        <p:nvSpPr>
          <p:cNvPr id="1291507660" name="Text">
    </p:cNvPr>
          <p:cNvSpPr>
            <a:spLocks noGrp="1"/>
          </p:cNvSpPr>
          <p:nvPr/>
        </p:nvSpPr>
        <p:spPr>
          <a:xfrm rot="0">
            <a:off x="93345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</a:p>
        </p:txBody>
      </p:sp>
      <p:sp>
        <p:nvSpPr>
          <p:cNvPr id="245125424" name="Text">
    </p:cNvPr>
          <p:cNvSpPr>
            <a:spLocks noGrp="1"/>
          </p:cNvSpPr>
          <p:nvPr/>
        </p:nvSpPr>
        <p:spPr>
          <a:xfrm rot="0">
            <a:off x="5930900" y="1511300"/>
            <a:ext cx="3403600" cy="3340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'김민주' 팀장님 VOC Summary 및 완료보고서  수신자 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</a:p>
        </p:txBody>
      </p:sp>
      <p:sp>
        <p:nvSpPr>
          <p:cNvPr id="1588869107" name="Text">
    </p:cNvPr>
          <p:cNvSpPr>
            <a:spLocks noGrp="1"/>
          </p:cNvSpPr>
          <p:nvPr/>
        </p:nvSpPr>
        <p:spPr>
          <a:xfrm rot="0">
            <a:off x="5308600" y="1511300"/>
            <a:ext cx="5715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798695260" name="Text">
    </p:cNvPr>
          <p:cNvSpPr>
            <a:spLocks noGrp="1"/>
          </p:cNvSpPr>
          <p:nvPr/>
        </p:nvSpPr>
        <p:spPr>
          <a:xfrm rot="0">
            <a:off x="88900" y="1511300"/>
            <a:ext cx="5715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902166996" name="Text">
    </p:cNvPr>
          <p:cNvSpPr>
            <a:spLocks noGrp="1"/>
          </p:cNvSpPr>
          <p:nvPr/>
        </p:nvSpPr>
        <p:spPr>
          <a:xfrm rot="0">
            <a:off x="711200" y="1511300"/>
            <a:ext cx="3403600" cy="3340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[2024 상반기 방화벽 정책 Revalidation] (이여진 사원님)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여부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선사 사용자 ID : VA100005, 에스제이탱커 계정 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태 확인 (비밀번호 오류로 인한 잠금)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개발(DEV) Windows 보안 패치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ROB_JOB_LOPAS_SHIPMENT_2 중복키(8건) 제거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재실행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운영(PRD) Windows 보안 패치 점검 (18:30~22:30)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스팸 메일 및 중복 접수 (홈페이지,HMP) 종료 처리 단순화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기능 요청 건 개선안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'김민주' 팀장님 VOC Summary 및 완료보고서  수신자 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보너스카드 &gt; 주유소 찾기 &gt; 품질정보 내 초저유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황 경유-1 세탄지수 법적규격 수정 요청 (하기임에도 혹한기로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설정)</a:t>
            </a:r>
          </a:p>
        </p:txBody>
      </p:sp>
      <p:sp>
        <p:nvSpPr>
          <p:cNvPr id="1497115533" name="Text">
    </p:cNvPr>
          <p:cNvSpPr>
            <a:spLocks noGrp="1"/>
          </p:cNvSpPr>
          <p:nvPr/>
        </p:nvSpPr>
        <p:spPr>
          <a:xfrm rot="0">
            <a:off x="44831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br/>
          </a:p>
        </p:txBody>
      </p:sp>
      <p:sp>
        <p:nvSpPr>
          <p:cNvPr id="650675446" name="Text">
    </p:cNvPr>
          <p:cNvSpPr>
            <a:spLocks noGrp="1"/>
          </p:cNvSpPr>
          <p:nvPr/>
        </p:nvSpPr>
        <p:spPr>
          <a:xfrm rot="0">
            <a:off x="48514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br/>
          </a:p>
        </p:txBody>
      </p:sp>
      <p:sp>
        <p:nvSpPr>
          <p:cNvPr id="1373507212" name="Text">
    </p:cNvPr>
          <p:cNvSpPr>
            <a:spLocks noGrp="1"/>
          </p:cNvSpPr>
          <p:nvPr/>
        </p:nvSpPr>
        <p:spPr>
          <a:xfrm rot="0">
            <a:off x="4114800" y="1511300"/>
            <a:ext cx="3683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br/>
          </a:p>
        </p:txBody>
      </p:sp>
      <p:sp>
        <p:nvSpPr>
          <p:cNvPr id="1263486522" name="Text">
    </p:cNvPr>
          <p:cNvSpPr>
            <a:spLocks noGrp="1"/>
          </p:cNvSpPr>
          <p:nvPr/>
        </p:nvSpPr>
        <p:spPr>
          <a:xfrm rot="0">
            <a:off x="660400" y="1511300"/>
            <a:ext cx="34544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39303581" name="Text">
    </p:cNvPr>
          <p:cNvSpPr>
            <a:spLocks noGrp="1"/>
          </p:cNvSpPr>
          <p:nvPr/>
        </p:nvSpPr>
        <p:spPr>
          <a:xfrm rot="0">
            <a:off x="5880100" y="1511300"/>
            <a:ext cx="3454400" cy="334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34852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0644914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297070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3980758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3402436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0853311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3287961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3274345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6030706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3788956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8119841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9075975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7884667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9680296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387947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206630130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</a:p>
        </p:txBody>
      </p:sp>
      <p:sp>
        <p:nvSpPr>
          <p:cNvPr id="40833424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2024.6월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7월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2024.7월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</a:p>
        </p:txBody>
      </p:sp>
      <p:sp>
        <p:nvSpPr>
          <p:cNvPr id="13695775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212814649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33033268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2024.6월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7월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2024.7월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Upgrade에 따른 EAI 연동 테스트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EIS시스템 Upgrade에 따른  소스 및 문서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EIS시스템 Upgrade에 따른 업무 및 Longview소스 설명</a:t>
            </a:r>
          </a:p>
        </p:txBody>
      </p:sp>
      <p:sp>
        <p:nvSpPr>
          <p:cNvPr id="165765986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61838612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49884346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14713116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305518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1745552408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순현국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 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광복절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Off-Duty 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08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