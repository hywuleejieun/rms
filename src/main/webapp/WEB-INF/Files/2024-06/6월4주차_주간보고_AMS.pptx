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30"/>
    <p:sldId id="274" r:id="rId32"/>
    <p:sldId id="275" r:id="rId34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slides/slide18.xml" Type="http://schemas.openxmlformats.org/officeDocument/2006/relationships/slide"/><Relationship Id="rId31" Target="notesSlides/notesSlide6.xml" Type="http://schemas.openxmlformats.org/officeDocument/2006/relationships/notesSlide"/><Relationship Id="rId32" Target="slides/slide19.xml" Type="http://schemas.openxmlformats.org/officeDocument/2006/relationships/slide"/><Relationship Id="rId33" Target="notesSlides/notesSlide7.xml" Type="http://schemas.openxmlformats.org/officeDocument/2006/relationships/notesSlide"/><Relationship Id="rId34" Target="slides/slide20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2024-05-31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[2024.06.18 ~ 2024.06.24]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6월 4주차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072053922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현충일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 Duty 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err="1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에쓰오일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창립기념일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06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981391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2122976675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606263509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453017875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646225693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39291003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74912727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919927636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883615460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73202107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844621009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591964052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077340383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35634173" name="Frame"/>
          <p:cNvSpPr>
            <a:spLocks noGrp="1"/>
          </p:cNvSpPr>
          <p:nvPr/>
        </p:nvSpPr>
        <p:spPr>
          <a:xfrm>
            <a:off x="25400" y="52451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612025325" name="Text">
    </p:cNvPr>
          <p:cNvSpPr>
            <a:spLocks noGrp="1"/>
          </p:cNvSpPr>
          <p:nvPr/>
        </p:nvSpPr>
        <p:spPr>
          <a:xfrm rot="0">
            <a:off x="152400" y="52705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09568636" name="Text">
    </p:cNvPr>
          <p:cNvSpPr>
            <a:spLocks noGrp="1"/>
          </p:cNvSpPr>
          <p:nvPr/>
        </p:nvSpPr>
        <p:spPr>
          <a:xfrm rot="0">
            <a:off x="6451600" y="58039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95858787" name="Text">
    </p:cNvPr>
          <p:cNvSpPr>
            <a:spLocks noGrp="1"/>
          </p:cNvSpPr>
          <p:nvPr/>
        </p:nvSpPr>
        <p:spPr>
          <a:xfrm rot="0">
            <a:off x="2057400" y="58039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53187291" name="Text">
    </p:cNvPr>
          <p:cNvSpPr>
            <a:spLocks noGrp="1"/>
          </p:cNvSpPr>
          <p:nvPr/>
        </p:nvSpPr>
        <p:spPr>
          <a:xfrm rot="0">
            <a:off x="101600" y="58039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79292103" name="Text">
    </p:cNvPr>
          <p:cNvSpPr>
            <a:spLocks noGrp="1"/>
          </p:cNvSpPr>
          <p:nvPr/>
        </p:nvSpPr>
        <p:spPr>
          <a:xfrm rot="0">
            <a:off x="101600" y="55626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624754475" name="Text">
    </p:cNvPr>
          <p:cNvSpPr>
            <a:spLocks noGrp="1"/>
          </p:cNvSpPr>
          <p:nvPr/>
        </p:nvSpPr>
        <p:spPr>
          <a:xfrm rot="0">
            <a:off x="2057400" y="55626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356493429" name="Text">
    </p:cNvPr>
          <p:cNvSpPr>
            <a:spLocks noGrp="1"/>
          </p:cNvSpPr>
          <p:nvPr/>
        </p:nvSpPr>
        <p:spPr>
          <a:xfrm rot="0">
            <a:off x="6451600" y="55626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072436882" name="Text">
    </p:cNvPr>
          <p:cNvSpPr>
            <a:spLocks noGrp="1"/>
          </p:cNvSpPr>
          <p:nvPr/>
        </p:nvSpPr>
        <p:spPr>
          <a:xfrm rot="0">
            <a:off x="101600" y="60960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83447546" name="Text">
    </p:cNvPr>
          <p:cNvSpPr>
            <a:spLocks noGrp="1"/>
          </p:cNvSpPr>
          <p:nvPr/>
        </p:nvSpPr>
        <p:spPr>
          <a:xfrm rot="0">
            <a:off x="6451600" y="60960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90702433" name="Text">
    </p:cNvPr>
          <p:cNvSpPr>
            <a:spLocks noGrp="1"/>
          </p:cNvSpPr>
          <p:nvPr/>
        </p:nvSpPr>
        <p:spPr>
          <a:xfrm rot="0">
            <a:off x="2057400" y="60960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77434009" name="Text">
    </p:cNvPr>
          <p:cNvSpPr>
            <a:spLocks noGrp="1"/>
          </p:cNvSpPr>
          <p:nvPr/>
        </p:nvSpPr>
        <p:spPr>
          <a:xfrm rot="0">
            <a:off x="1244600" y="60960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3751731" name="Text">
    </p:cNvPr>
          <p:cNvSpPr>
            <a:spLocks noGrp="1"/>
          </p:cNvSpPr>
          <p:nvPr/>
        </p:nvSpPr>
        <p:spPr>
          <a:xfrm rot="0">
            <a:off x="1244600" y="58039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7430979" name="Text">
    </p:cNvPr>
          <p:cNvSpPr>
            <a:spLocks noGrp="1"/>
          </p:cNvSpPr>
          <p:nvPr/>
        </p:nvSpPr>
        <p:spPr>
          <a:xfrm rot="0">
            <a:off x="1244600" y="55626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337205517" name="Text">
    </p:cNvPr>
          <p:cNvSpPr>
            <a:spLocks noGrp="1"/>
          </p:cNvSpPr>
          <p:nvPr/>
        </p:nvSpPr>
        <p:spPr>
          <a:xfrm rot="0">
            <a:off x="8102600" y="60960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68316119" name="Text">
    </p:cNvPr>
          <p:cNvSpPr>
            <a:spLocks noGrp="1"/>
          </p:cNvSpPr>
          <p:nvPr/>
        </p:nvSpPr>
        <p:spPr>
          <a:xfrm rot="0">
            <a:off x="8102600" y="55626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785064699" name="Text">
    </p:cNvPr>
          <p:cNvSpPr>
            <a:spLocks noGrp="1"/>
          </p:cNvSpPr>
          <p:nvPr/>
        </p:nvSpPr>
        <p:spPr>
          <a:xfrm rot="0">
            <a:off x="8102600" y="58039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37296158" name="Frame"/>
          <p:cNvSpPr>
            <a:spLocks noGrp="1"/>
          </p:cNvSpPr>
          <p:nvPr/>
        </p:nvSpPr>
        <p:spPr>
          <a:xfrm>
            <a:off x="101600" y="2984500"/>
            <a:ext cx="9779000" cy="209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895728428" name="Text">
    </p:cNvPr>
          <p:cNvSpPr>
            <a:spLocks noGrp="1"/>
          </p:cNvSpPr>
          <p:nvPr/>
        </p:nvSpPr>
        <p:spPr>
          <a:xfrm rot="0">
            <a:off x="165100" y="30480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54472573" name="Text">
    </p:cNvPr>
          <p:cNvSpPr>
            <a:spLocks noGrp="1"/>
          </p:cNvSpPr>
          <p:nvPr/>
        </p:nvSpPr>
        <p:spPr>
          <a:xfrm rot="0">
            <a:off x="152400" y="30099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862254309" name="Text">
    </p:cNvPr>
          <p:cNvSpPr>
            <a:spLocks noGrp="1"/>
          </p:cNvSpPr>
          <p:nvPr/>
        </p:nvSpPr>
        <p:spPr>
          <a:xfrm rot="0">
            <a:off x="165100" y="32639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647107104" name="Text">
    </p:cNvPr>
          <p:cNvSpPr>
            <a:spLocks noGrp="1"/>
          </p:cNvSpPr>
          <p:nvPr/>
        </p:nvSpPr>
        <p:spPr>
          <a:xfrm rot="0">
            <a:off x="901700" y="32639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45618578" name="Text">
    </p:cNvPr>
          <p:cNvSpPr>
            <a:spLocks noGrp="1"/>
          </p:cNvSpPr>
          <p:nvPr/>
        </p:nvSpPr>
        <p:spPr>
          <a:xfrm rot="0">
            <a:off x="5549900" y="32639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880655514" name="Text">
    </p:cNvPr>
          <p:cNvSpPr>
            <a:spLocks noGrp="1"/>
          </p:cNvSpPr>
          <p:nvPr/>
        </p:nvSpPr>
        <p:spPr>
          <a:xfrm rot="0">
            <a:off x="6121400" y="32639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691326368" name="Frame"/>
          <p:cNvSpPr>
            <a:spLocks noGrp="1"/>
          </p:cNvSpPr>
          <p:nvPr/>
        </p:nvSpPr>
        <p:spPr>
          <a:xfrm>
            <a:off x="165100" y="44577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619430085" name="Text">
    </p:cNvPr>
          <p:cNvSpPr>
            <a:spLocks noGrp="1"/>
          </p:cNvSpPr>
          <p:nvPr/>
        </p:nvSpPr>
        <p:spPr>
          <a:xfrm rot="0">
            <a:off x="165100" y="44323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594594678" name="Text">
    </p:cNvPr>
          <p:cNvSpPr>
            <a:spLocks noGrp="1"/>
          </p:cNvSpPr>
          <p:nvPr/>
        </p:nvSpPr>
        <p:spPr>
          <a:xfrm rot="0">
            <a:off x="965200" y="44831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구매관련 기안지 RODA 자동화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배우자 동반 무급휴직 신청서 개발 요청</a:t>
            </a:r>
          </a:p>
        </p:txBody>
      </p:sp>
      <p:sp>
        <p:nvSpPr>
          <p:cNvPr id="1804854363" name="Text">
    </p:cNvPr>
          <p:cNvSpPr>
            <a:spLocks noGrp="1"/>
          </p:cNvSpPr>
          <p:nvPr/>
        </p:nvSpPr>
        <p:spPr>
          <a:xfrm rot="0">
            <a:off x="7239000" y="44831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945705502" name="Text">
    </p:cNvPr>
          <p:cNvSpPr>
            <a:spLocks noGrp="1"/>
          </p:cNvSpPr>
          <p:nvPr/>
        </p:nvSpPr>
        <p:spPr>
          <a:xfrm rot="0">
            <a:off x="5549900" y="44831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</a:p>
        </p:txBody>
      </p:sp>
      <p:sp>
        <p:nvSpPr>
          <p:cNvPr id="670920710" name="Text">
    </p:cNvPr>
          <p:cNvSpPr>
            <a:spLocks noGrp="1"/>
          </p:cNvSpPr>
          <p:nvPr/>
        </p:nvSpPr>
        <p:spPr>
          <a:xfrm rot="0">
            <a:off x="901700" y="44323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10202026" name="Text">
    </p:cNvPr>
          <p:cNvSpPr>
            <a:spLocks noGrp="1"/>
          </p:cNvSpPr>
          <p:nvPr/>
        </p:nvSpPr>
        <p:spPr>
          <a:xfrm rot="0">
            <a:off x="6121400" y="44323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52366150" name="Text">
    </p:cNvPr>
          <p:cNvSpPr>
            <a:spLocks noGrp="1"/>
          </p:cNvSpPr>
          <p:nvPr/>
        </p:nvSpPr>
        <p:spPr>
          <a:xfrm rot="0">
            <a:off x="5549900" y="44323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07320999" name="Frame"/>
          <p:cNvSpPr>
            <a:spLocks noGrp="1"/>
          </p:cNvSpPr>
          <p:nvPr/>
        </p:nvSpPr>
        <p:spPr>
          <a:xfrm>
            <a:off x="165100" y="3606800"/>
            <a:ext cx="9639300" cy="82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654882710" name="Text">
    </p:cNvPr>
          <p:cNvSpPr>
            <a:spLocks noGrp="1"/>
          </p:cNvSpPr>
          <p:nvPr/>
        </p:nvSpPr>
        <p:spPr>
          <a:xfrm rot="0">
            <a:off x="165100" y="36068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946734972" name="Text">
    </p:cNvPr>
          <p:cNvSpPr>
            <a:spLocks noGrp="1"/>
          </p:cNvSpPr>
          <p:nvPr/>
        </p:nvSpPr>
        <p:spPr>
          <a:xfrm rot="0">
            <a:off x="965200" y="3683000"/>
            <a:ext cx="4584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원화 Usance 차입금 도입 관련 ERP 시스템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*LLC(Life Cycle Costing), 정성평가 관련 로직 반영 및 인터페이스 수정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ITSM-107407 자영대리점 거래처 관리업무 간소화 추진(1차)</a:t>
            </a:r>
          </a:p>
        </p:txBody>
      </p:sp>
      <p:sp>
        <p:nvSpPr>
          <p:cNvPr id="2145046259" name="Text">
    </p:cNvPr>
          <p:cNvSpPr>
            <a:spLocks noGrp="1"/>
          </p:cNvSpPr>
          <p:nvPr/>
        </p:nvSpPr>
        <p:spPr>
          <a:xfrm rot="0">
            <a:off x="7239000" y="36830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492773392" name="Text">
    </p:cNvPr>
          <p:cNvSpPr>
            <a:spLocks noGrp="1"/>
          </p:cNvSpPr>
          <p:nvPr/>
        </p:nvSpPr>
        <p:spPr>
          <a:xfrm rot="0">
            <a:off x="5549900" y="36830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</a:p>
        </p:txBody>
      </p:sp>
      <p:sp>
        <p:nvSpPr>
          <p:cNvPr id="984568478" name="Text">
    </p:cNvPr>
          <p:cNvSpPr>
            <a:spLocks noGrp="1"/>
          </p:cNvSpPr>
          <p:nvPr/>
        </p:nvSpPr>
        <p:spPr>
          <a:xfrm rot="0">
            <a:off x="901700" y="36068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6247174" name="Text">
    </p:cNvPr>
          <p:cNvSpPr>
            <a:spLocks noGrp="1"/>
          </p:cNvSpPr>
          <p:nvPr/>
        </p:nvSpPr>
        <p:spPr>
          <a:xfrm rot="0">
            <a:off x="6121400" y="36068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63748128" name="Text">
    </p:cNvPr>
          <p:cNvSpPr>
            <a:spLocks noGrp="1"/>
          </p:cNvSpPr>
          <p:nvPr/>
        </p:nvSpPr>
        <p:spPr>
          <a:xfrm rot="0">
            <a:off x="5549900" y="36068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6769385" name="Frame"/>
          <p:cNvSpPr>
            <a:spLocks noGrp="1"/>
          </p:cNvSpPr>
          <p:nvPr/>
        </p:nvSpPr>
        <p:spPr>
          <a:xfrm>
            <a:off x="127000" y="1384300"/>
            <a:ext cx="9779000" cy="1460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985959297" name="Frame"/>
          <p:cNvSpPr>
            <a:spLocks noGrp="1"/>
          </p:cNvSpPr>
          <p:nvPr/>
        </p:nvSpPr>
        <p:spPr>
          <a:xfrm>
            <a:off x="152400" y="22225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59526411" name="Text">
    </p:cNvPr>
          <p:cNvSpPr>
            <a:spLocks noGrp="1"/>
          </p:cNvSpPr>
          <p:nvPr/>
        </p:nvSpPr>
        <p:spPr>
          <a:xfrm rot="0">
            <a:off x="152400" y="21971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2021675270" name="Text">
    </p:cNvPr>
          <p:cNvSpPr>
            <a:spLocks noGrp="1"/>
          </p:cNvSpPr>
          <p:nvPr/>
        </p:nvSpPr>
        <p:spPr>
          <a:xfrm rot="0">
            <a:off x="952500" y="22479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[e-Biz] ITSM-112365 e-Biz 개인정보처리방침의 수탁업체 변경요청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[Mobile] 학력 정보 조회 시 구분 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ERP System 상 화학물질위험성평가(CHARM) Check 항목 추가 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법인카드 WBS 마스터 전송 개발 CCS , EAI</a:t>
            </a:r>
          </a:p>
        </p:txBody>
      </p:sp>
      <p:sp>
        <p:nvSpPr>
          <p:cNvPr id="1751596029" name="Text">
    </p:cNvPr>
          <p:cNvSpPr>
            <a:spLocks noGrp="1"/>
          </p:cNvSpPr>
          <p:nvPr/>
        </p:nvSpPr>
        <p:spPr>
          <a:xfrm rot="0">
            <a:off x="7226300" y="22479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687717933" name="Text">
    </p:cNvPr>
          <p:cNvSpPr>
            <a:spLocks noGrp="1"/>
          </p:cNvSpPr>
          <p:nvPr/>
        </p:nvSpPr>
        <p:spPr>
          <a:xfrm rot="0">
            <a:off x="6108700" y="21971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2096238787" name="Text">
    </p:cNvPr>
          <p:cNvSpPr>
            <a:spLocks noGrp="1"/>
          </p:cNvSpPr>
          <p:nvPr/>
        </p:nvSpPr>
        <p:spPr>
          <a:xfrm rot="0">
            <a:off x="5537200" y="22479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</a:p>
        </p:txBody>
      </p:sp>
      <p:sp>
        <p:nvSpPr>
          <p:cNvPr id="100693562" name="Text">
    </p:cNvPr>
          <p:cNvSpPr>
            <a:spLocks noGrp="1"/>
          </p:cNvSpPr>
          <p:nvPr/>
        </p:nvSpPr>
        <p:spPr>
          <a:xfrm rot="0">
            <a:off x="889000" y="21971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66502612" name="Text">
    </p:cNvPr>
          <p:cNvSpPr>
            <a:spLocks noGrp="1"/>
          </p:cNvSpPr>
          <p:nvPr/>
        </p:nvSpPr>
        <p:spPr>
          <a:xfrm rot="0">
            <a:off x="7124700" y="21971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05942004" name="Text">
    </p:cNvPr>
          <p:cNvSpPr>
            <a:spLocks noGrp="1"/>
          </p:cNvSpPr>
          <p:nvPr/>
        </p:nvSpPr>
        <p:spPr>
          <a:xfrm rot="0">
            <a:off x="5537200" y="21971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53528781" name="Rectangle"/>
          <p:cNvSpPr>
            <a:spLocks noGrp="1"/>
          </p:cNvSpPr>
          <p:nvPr/>
        </p:nvSpPr>
        <p:spPr>
          <a:xfrm>
            <a:off x="6870700" y="21971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507267120" name="Frame"/>
          <p:cNvSpPr>
            <a:spLocks noGrp="1"/>
          </p:cNvSpPr>
          <p:nvPr/>
        </p:nvSpPr>
        <p:spPr>
          <a:xfrm>
            <a:off x="152400" y="1371600"/>
            <a:ext cx="9639300" cy="82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9194254" name="Text">
    </p:cNvPr>
          <p:cNvSpPr>
            <a:spLocks noGrp="1"/>
          </p:cNvSpPr>
          <p:nvPr/>
        </p:nvSpPr>
        <p:spPr>
          <a:xfrm rot="0">
            <a:off x="152400" y="13716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2008357056" name="Text">
    </p:cNvPr>
          <p:cNvSpPr>
            <a:spLocks noGrp="1"/>
          </p:cNvSpPr>
          <p:nvPr/>
        </p:nvSpPr>
        <p:spPr>
          <a:xfrm rot="0">
            <a:off x="939800" y="1422400"/>
            <a:ext cx="4610100" cy="774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수불 자재 관련 로직 수정- 1500 SSAD 자재 증감물량 다른 항차에 반영(ZCOR6332)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*발주 생성 및 기성보고서 전송 RFC 함수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ZPRR1000(고정자산 마스터 영업데이터 관리) 영업5조직 매핑기준 보완 및 자동화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ZTDR5130 수송비 정산 화면 수정</a:t>
            </a:r>
          </a:p>
        </p:txBody>
      </p:sp>
      <p:sp>
        <p:nvSpPr>
          <p:cNvPr id="771902687" name="Text">
    </p:cNvPr>
          <p:cNvSpPr>
            <a:spLocks noGrp="1"/>
          </p:cNvSpPr>
          <p:nvPr/>
        </p:nvSpPr>
        <p:spPr>
          <a:xfrm rot="0">
            <a:off x="7226300" y="14478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384381671" name="Text">
    </p:cNvPr>
          <p:cNvSpPr>
            <a:spLocks noGrp="1"/>
          </p:cNvSpPr>
          <p:nvPr/>
        </p:nvSpPr>
        <p:spPr>
          <a:xfrm rot="0">
            <a:off x="6108700" y="1371600"/>
            <a:ext cx="7620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955422120" name="Text">
    </p:cNvPr>
          <p:cNvSpPr>
            <a:spLocks noGrp="1"/>
          </p:cNvSpPr>
          <p:nvPr/>
        </p:nvSpPr>
        <p:spPr>
          <a:xfrm rot="0">
            <a:off x="5537200" y="14478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</a:p>
        </p:txBody>
      </p:sp>
      <p:sp>
        <p:nvSpPr>
          <p:cNvPr id="731982561" name="Text">
    </p:cNvPr>
          <p:cNvSpPr>
            <a:spLocks noGrp="1"/>
          </p:cNvSpPr>
          <p:nvPr/>
        </p:nvSpPr>
        <p:spPr>
          <a:xfrm rot="0">
            <a:off x="889000" y="13716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02255870" name="Text">
    </p:cNvPr>
          <p:cNvSpPr>
            <a:spLocks noGrp="1"/>
          </p:cNvSpPr>
          <p:nvPr/>
        </p:nvSpPr>
        <p:spPr>
          <a:xfrm rot="0">
            <a:off x="7124700" y="1371600"/>
            <a:ext cx="26543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15216162" name="Text">
    </p:cNvPr>
          <p:cNvSpPr>
            <a:spLocks noGrp="1"/>
          </p:cNvSpPr>
          <p:nvPr/>
        </p:nvSpPr>
        <p:spPr>
          <a:xfrm rot="0">
            <a:off x="5537200" y="13716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53317343" name="Rectangle"/>
          <p:cNvSpPr>
            <a:spLocks noGrp="1"/>
          </p:cNvSpPr>
          <p:nvPr/>
        </p:nvSpPr>
        <p:spPr>
          <a:xfrm>
            <a:off x="6870700" y="1371600"/>
            <a:ext cx="254000" cy="8255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71551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4654325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5573258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6596485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9103406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44444831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9899810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8356320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5810950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2333081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0717025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0680753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3471858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4058442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6007280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</a:p>
        </p:txBody>
      </p:sp>
      <p:sp>
        <p:nvSpPr>
          <p:cNvPr id="75132076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85797998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[CO] PP 제조원가 검증 프로그램 개발(ZPCOR2050~ZPC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OR2090)</a:t>
            </a:r>
          </a:p>
        </p:txBody>
      </p:sp>
      <p:sp>
        <p:nvSpPr>
          <p:cNvPr id="17302580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41330176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97037053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제품 제조원가 검증(ZPCOR2090)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수불 자재 관련 로직 수정- 1500 SSAD 자재 증감물량 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른 항차에 반영(ZCOR6332)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제품별 원가내역 조회 Report 레이아웃 수정(ZPCOR2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040)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테이블 데이터 수정 및 수량 로직 수정(ZPCOR2040)</a:t>
            </a:r>
          </a:p>
        </p:txBody>
      </p:sp>
      <p:sp>
        <p:nvSpPr>
          <p:cNvPr id="152872468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134356116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153275841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63625709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3045832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7551620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130997946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</a:p>
        </p:txBody>
      </p:sp>
      <p:sp>
        <p:nvSpPr>
          <p:cNvPr id="26238132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임차 Loss/Gain 전기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원화 Usance 차입금 도입 관련 ERP 시스템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및 제품 구입 비용문서 조회 프로그램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입고/납품완료 불일치 모니터링 i/f 필드 추가 (전기일, 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빙일, 입력일)</a:t>
            </a:r>
          </a:p>
        </p:txBody>
      </p:sp>
      <p:sp>
        <p:nvSpPr>
          <p:cNvPr id="171811824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82429520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2330636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임차 Loss/Gain 전기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원화 Usance 차입금 도입 관련 ERP 시스템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및 제품 구입 비용문서 조회 프로그램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신고세관과 Code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수입 첨가제 비용 문서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입고/납품완료 불일치 모니터링 i/f 필드 추가 (전기일, 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빙일, 입력일)</a:t>
            </a:r>
          </a:p>
        </p:txBody>
      </p:sp>
      <p:sp>
        <p:nvSpPr>
          <p:cNvPr id="34506072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82885521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</a:p>
        </p:txBody>
      </p:sp>
      <p:sp>
        <p:nvSpPr>
          <p:cNvPr id="95801784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</a:p>
        </p:txBody>
      </p:sp>
      <p:sp>
        <p:nvSpPr>
          <p:cNvPr id="192120145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7306103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32310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275414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4372250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5735490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5205592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47596883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760452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455278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4520106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7386084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3260097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3234791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625990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0113339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2606592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</a:p>
        </p:txBody>
      </p:sp>
      <p:sp>
        <p:nvSpPr>
          <p:cNvPr id="152633356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</a:p>
        </p:txBody>
      </p:sp>
      <p:sp>
        <p:nvSpPr>
          <p:cNvPr id="136863314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66736974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39119787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49717242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2024년 1st 운영평가용 내부통제 관련 증빙자료 취합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2024년 6월 SAP시스템 인프라 취약점 조치 작업 업무지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S/4HANA(ERP)에 이관된 기존 ZDBC 패키지 BC사용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프로그램 확인 정리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신규 SSL VPN 장비의 SBC/VDI DDC와의 연동 테스트에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따른 SAP 서비스 확인 야간작업 업무지원(22:00~02:00)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136765475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128915599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138807011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</a:p>
        </p:txBody>
      </p:sp>
      <p:sp>
        <p:nvSpPr>
          <p:cNvPr id="159255068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9768233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7708011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165670472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</a:p>
        </p:txBody>
      </p:sp>
      <p:sp>
        <p:nvSpPr>
          <p:cNvPr id="160682476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148643473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77819198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91772074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5</a:t>
            </a:r>
          </a:p>
        </p:txBody>
      </p:sp>
      <p:sp>
        <p:nvSpPr>
          <p:cNvPr id="148497937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123360735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</a:p>
        </p:txBody>
      </p:sp>
      <p:sp>
        <p:nvSpPr>
          <p:cNvPr id="197094164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</a:p>
        </p:txBody>
      </p:sp>
      <p:sp>
        <p:nvSpPr>
          <p:cNvPr id="150264439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7280776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54698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9373968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7350216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1818703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3070746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69513930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9803693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2117329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3121368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8678300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219687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1617258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239006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2486215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2785645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br/>
            <a:br/>
          </a:p>
        </p:txBody>
      </p:sp>
      <p:sp>
        <p:nvSpPr>
          <p:cNvPr id="140836832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br/>
          </a:p>
        </p:txBody>
      </p:sp>
      <p:sp>
        <p:nvSpPr>
          <p:cNvPr id="170585644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구매요구서 내 LCC, 정성평가 체크박스 추가 요청* LLC(L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ife Cycle Costing), 정성평가 관련 로직 반영 및 인터페이스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</a:t>
            </a:r>
          </a:p>
        </p:txBody>
      </p:sp>
      <p:sp>
        <p:nvSpPr>
          <p:cNvPr id="133759509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72363861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201288630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SHBE 대상 일반용역 사후평가표 수정 요청* 발주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기성보고서 전송 RFC 함수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구매요구서 내 LCC, 정성평가 체크박스 추가 요청* LLC(L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ife Cycle Costing), 정성평가 관련 로직 반영 및 인터페이스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</a:t>
            </a:r>
          </a:p>
        </p:txBody>
      </p:sp>
      <p:sp>
        <p:nvSpPr>
          <p:cNvPr id="201684925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br/>
            <a:br/>
          </a:p>
        </p:txBody>
      </p:sp>
      <p:sp>
        <p:nvSpPr>
          <p:cNvPr id="173992402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</a:p>
        </p:txBody>
      </p:sp>
      <p:sp>
        <p:nvSpPr>
          <p:cNvPr id="111539942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br/>
          </a:p>
        </p:txBody>
      </p:sp>
      <p:sp>
        <p:nvSpPr>
          <p:cNvPr id="167871779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8995866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35754972" name="Text">
    </p:cNvPr>
          <p:cNvSpPr>
            <a:spLocks noGrp="1"/>
          </p:cNvSpPr>
          <p:nvPr/>
        </p:nvSpPr>
        <p:spPr>
          <a:xfrm rot="0">
            <a:off x="9702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2025228419" name="Text">
    </p:cNvPr>
          <p:cNvSpPr>
            <a:spLocks noGrp="1"/>
          </p:cNvSpPr>
          <p:nvPr/>
        </p:nvSpPr>
        <p:spPr>
          <a:xfrm rot="0">
            <a:off x="93345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</a:p>
        </p:txBody>
      </p:sp>
      <p:sp>
        <p:nvSpPr>
          <p:cNvPr id="1698635974" name="Text">
    </p:cNvPr>
          <p:cNvSpPr>
            <a:spLocks noGrp="1"/>
          </p:cNvSpPr>
          <p:nvPr/>
        </p:nvSpPr>
        <p:spPr>
          <a:xfrm rot="0">
            <a:off x="5930900" y="37719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</a:t>
            </a:r>
          </a:p>
        </p:txBody>
      </p:sp>
      <p:sp>
        <p:nvSpPr>
          <p:cNvPr id="865002694" name="Text">
    </p:cNvPr>
          <p:cNvSpPr>
            <a:spLocks noGrp="1"/>
          </p:cNvSpPr>
          <p:nvPr/>
        </p:nvSpPr>
        <p:spPr>
          <a:xfrm rot="0">
            <a:off x="53086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2023146767" name="Text">
    </p:cNvPr>
          <p:cNvSpPr>
            <a:spLocks noGrp="1"/>
          </p:cNvSpPr>
          <p:nvPr/>
        </p:nvSpPr>
        <p:spPr>
          <a:xfrm rot="0">
            <a:off x="889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883472398" name="Text">
    </p:cNvPr>
          <p:cNvSpPr>
            <a:spLocks noGrp="1"/>
          </p:cNvSpPr>
          <p:nvPr/>
        </p:nvSpPr>
        <p:spPr>
          <a:xfrm rot="0">
            <a:off x="711200" y="37719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[ITSM-112248]생산직 상반기 1/2차 평가 테스트 및 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 수정- [ITSM-105121] 배우자 동반 무급휴직 신청서   EA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I연동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ERP 업그레이드 프로젝트팀에 UI5관련 설명 및 소스 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달- [ITSM-112248]생산직 상반기 1/2차 평가 테스트 및 오류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수정- [ITSM-112796] 생활안정자금 추가 대출확정시 보험가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입기간 계산기준 변경(대출총액-&gt;대출잔액)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[ITSM-112760] 의료비/학자금 무급휴직기간 신청제한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해제- ERP 업그레이드 프로젝트 일정소개 회의참석- [ITSM-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112248]생산직 상반기 평가항목별 상세현황 화면 개발(50%)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연차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[ITSM-112884] 자격/면허등록 신청시 필수입력값 조정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 제 증명 출력오류 외 문의 대응- 2024년 공장휴양소 신청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당첨 관련 세팅 및 관련로직 점검</a:t>
            </a:r>
          </a:p>
        </p:txBody>
      </p:sp>
      <p:sp>
        <p:nvSpPr>
          <p:cNvPr id="671979341" name="Text">
    </p:cNvPr>
          <p:cNvSpPr>
            <a:spLocks noGrp="1"/>
          </p:cNvSpPr>
          <p:nvPr/>
        </p:nvSpPr>
        <p:spPr>
          <a:xfrm rot="0">
            <a:off x="44831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br/>
          </a:p>
        </p:txBody>
      </p:sp>
      <p:sp>
        <p:nvSpPr>
          <p:cNvPr id="1818361438" name="Text">
    </p:cNvPr>
          <p:cNvSpPr>
            <a:spLocks noGrp="1"/>
          </p:cNvSpPr>
          <p:nvPr/>
        </p:nvSpPr>
        <p:spPr>
          <a:xfrm rot="0">
            <a:off x="48514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br/>
          </a:p>
        </p:txBody>
      </p:sp>
      <p:sp>
        <p:nvSpPr>
          <p:cNvPr id="579989600" name="Text">
    </p:cNvPr>
          <p:cNvSpPr>
            <a:spLocks noGrp="1"/>
          </p:cNvSpPr>
          <p:nvPr/>
        </p:nvSpPr>
        <p:spPr>
          <a:xfrm rot="0">
            <a:off x="4114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br/>
          </a:p>
        </p:txBody>
      </p:sp>
      <p:sp>
        <p:nvSpPr>
          <p:cNvPr id="1401443572" name="Text">
    </p:cNvPr>
          <p:cNvSpPr>
            <a:spLocks noGrp="1"/>
          </p:cNvSpPr>
          <p:nvPr/>
        </p:nvSpPr>
        <p:spPr>
          <a:xfrm rot="0">
            <a:off x="6604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02331191" name="Text">
    </p:cNvPr>
          <p:cNvSpPr>
            <a:spLocks noGrp="1"/>
          </p:cNvSpPr>
          <p:nvPr/>
        </p:nvSpPr>
        <p:spPr>
          <a:xfrm rot="0">
            <a:off x="58801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91727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0499469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1705004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683474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0325991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43460924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2001974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9834338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8565698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1025786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7604543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8835242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4512544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9203177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6006988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</a:p>
        </p:txBody>
      </p:sp>
      <p:sp>
        <p:nvSpPr>
          <p:cNvPr id="127293134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</a:p>
        </p:txBody>
      </p:sp>
      <p:sp>
        <p:nvSpPr>
          <p:cNvPr id="9988905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 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생산직평가 시스템 변경 요청 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교대근무 대근자 정보 Interface Table Attribute로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70%</a:t>
            </a:r>
          </a:p>
        </p:txBody>
      </p:sp>
      <p:sp>
        <p:nvSpPr>
          <p:cNvPr id="158677705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73604473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45403547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생산직평가 시스템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인사기록카드 표기 관련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SF 연동 Data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사용당시 정보 표기 및 신청자 직위 정보 점검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평균임금 조회 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노조회비 공제비율 조정요청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교대근무 대근자 정보 Interface Table Attribute로 추가</a:t>
            </a:r>
          </a:p>
        </p:txBody>
      </p:sp>
      <p:sp>
        <p:nvSpPr>
          <p:cNvPr id="106092035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13313246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</a:p>
        </p:txBody>
      </p:sp>
      <p:sp>
        <p:nvSpPr>
          <p:cNvPr id="28849117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17576659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6756918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6106954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15256186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</a:p>
        </p:txBody>
      </p:sp>
      <p:sp>
        <p:nvSpPr>
          <p:cNvPr id="3245015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47256016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210346023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74802187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ITSM-109418자가수송 실거리 내용 입력/수정 시 조회 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ITSM-111624수출신고 관련 T-CODE 에러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ITSM-111844ZPRR1000(고정자산 마스터 영업데이터 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리) 영업5조직 매핑기준 보완 및 자동화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ITSM-112761소매가격지원제도 개선에 따른 시스템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ITSM-112024ZTDR5130 수송비 정산 화면 수정</a:t>
            </a:r>
          </a:p>
        </p:txBody>
      </p:sp>
      <p:sp>
        <p:nvSpPr>
          <p:cNvPr id="142091056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49931997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</a:p>
        </p:txBody>
      </p:sp>
      <p:sp>
        <p:nvSpPr>
          <p:cNvPr id="164943325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62777314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5839341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53200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3056992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3308721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066034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7606778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97425584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0316844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4279516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9440432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2143262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8361554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5757738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342641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4138491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2963104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45530538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</a:p>
        </p:txBody>
      </p:sp>
      <p:sp>
        <p:nvSpPr>
          <p:cNvPr id="60363902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ITSM-110540 ISIMS Web 서버 전환작업(API반영)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ITSM-112364 e-Biz 장기미사용 계정 관리방안 보완</a:t>
            </a:r>
          </a:p>
        </p:txBody>
      </p:sp>
      <p:sp>
        <p:nvSpPr>
          <p:cNvPr id="201503711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60632651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60803377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ITSM-110540 ISIMS Web 서버 전환작업(API반영)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ITSM-112407 법인카드 WBS 마스터 전송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ITSM-112364 e-Biz 장기미사용 계정 관리방안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ITSM-112365 e-Biz 개인정보처리방침의 수탁업체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경요청</a:t>
            </a:r>
          </a:p>
        </p:txBody>
      </p:sp>
      <p:sp>
        <p:nvSpPr>
          <p:cNvPr id="70781120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8025946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</a:p>
        </p:txBody>
      </p:sp>
      <p:sp>
        <p:nvSpPr>
          <p:cNvPr id="56072879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</a:p>
        </p:txBody>
      </p:sp>
      <p:sp>
        <p:nvSpPr>
          <p:cNvPr id="98993274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2124118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4037847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75144187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</a:p>
        </p:txBody>
      </p:sp>
      <p:sp>
        <p:nvSpPr>
          <p:cNvPr id="50536083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[ITSM-112945]일일 출하업무 Data 검증 기능 개발</a:t>
            </a:r>
          </a:p>
        </p:txBody>
      </p:sp>
      <p:sp>
        <p:nvSpPr>
          <p:cNvPr id="58754391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10347104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03687029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[ITSM-112945]일일 출하업무 Data 검증 기능 개발</a:t>
            </a:r>
          </a:p>
        </p:txBody>
      </p:sp>
      <p:sp>
        <p:nvSpPr>
          <p:cNvPr id="151387698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34422468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</a:p>
        </p:txBody>
      </p:sp>
      <p:sp>
        <p:nvSpPr>
          <p:cNvPr id="101871150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</a:p>
        </p:txBody>
      </p:sp>
      <p:sp>
        <p:nvSpPr>
          <p:cNvPr id="178201836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7737238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45397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4930045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6961241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0060697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8687882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0806327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8128078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7994616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5445904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2716787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9553830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4484964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1225202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5977302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5763867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</a:p>
        </p:txBody>
      </p:sp>
      <p:sp>
        <p:nvSpPr>
          <p:cNvPr id="17747899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88164239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</a:p>
        </p:txBody>
      </p:sp>
      <p:sp>
        <p:nvSpPr>
          <p:cNvPr id="166490677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00542208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29736824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CI시설물명(개업판촉물) 변경 및 자재번호 등록 요청</a:t>
            </a:r>
          </a:p>
        </p:txBody>
      </p:sp>
      <p:sp>
        <p:nvSpPr>
          <p:cNvPr id="113637872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112771117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88%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</a:p>
        </p:txBody>
      </p:sp>
      <p:sp>
        <p:nvSpPr>
          <p:cNvPr id="33959786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</a:p>
        </p:txBody>
      </p:sp>
      <p:sp>
        <p:nvSpPr>
          <p:cNvPr id="130935159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9607778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5398728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144956975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</a:p>
        </p:txBody>
      </p:sp>
      <p:sp>
        <p:nvSpPr>
          <p:cNvPr id="107466749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학력 정보 조회 시 구분 설정</a:t>
            </a:r>
          </a:p>
        </p:txBody>
      </p:sp>
      <p:sp>
        <p:nvSpPr>
          <p:cNvPr id="54514369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9843459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74854654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운영평가 관련 모집단 자료 회신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ITSM-112620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배차 엔진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IOS 협의문 출력 시 스크롤 오류 수정 및 배포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ITSM-112438 변경결과 작성ITSM-111940 변경요청서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삭제ITSM-109154 변경요청서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SAP 개발 소스 git 사용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ITSM-109244 상태 변경ITSM-107063 서비스 종료IT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SM-112586 작업유형 변경결과ITSM-112946 변경요청서 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ITSM-110821 상태 변경ITSM-113021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학력 정보 조회 시 구분 설정</a:t>
            </a:r>
          </a:p>
        </p:txBody>
      </p:sp>
      <p:sp>
        <p:nvSpPr>
          <p:cNvPr id="149271763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15170829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47324528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82625362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6759406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43144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4409342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679028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389385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6072904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75594483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8753006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2717676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1085424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5417443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7858178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2652247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4315489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5801012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1977054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171469798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</a:p>
        </p:txBody>
      </p:sp>
      <p:sp>
        <p:nvSpPr>
          <p:cNvPr id="149142348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재가동을 위한 A360 Migratio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n (보류)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 작업을 위한 미사용중인 인터페이스 사전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인터페이스별 RFC/IDOC 명 재확인 및 Excel 정리</a:t>
            </a:r>
          </a:p>
        </p:txBody>
      </p:sp>
      <p:sp>
        <p:nvSpPr>
          <p:cNvPr id="86634789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7134623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13278299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 작업을 위한 미사용중인 인터페이스 사전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인터페이스별 RFC/IDOC 명 재확인 및 Excel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외화송금' 새벽 작업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 A360 '법인영업팀 - 항공급유' 작업 실행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'배우자 동반 휴가 신청서'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'ERP와 e-Pro간 입고/납품'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RPA 작업 완료 메일 중복 발송 발생 논의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MTE Studio 큐 정리</a:t>
            </a:r>
          </a:p>
        </p:txBody>
      </p:sp>
      <p:sp>
        <p:nvSpPr>
          <p:cNvPr id="83179510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43227807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41550032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208090883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1941022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3219646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83500874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</a:p>
        </p:txBody>
      </p:sp>
      <p:sp>
        <p:nvSpPr>
          <p:cNvPr id="135712162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배우자 동반 무급휴직 신청서 개발 요청</a:t>
            </a:r>
          </a:p>
        </p:txBody>
      </p:sp>
      <p:sp>
        <p:nvSpPr>
          <p:cNvPr id="86501324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7197260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73395271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ERP System 상 화학물질위험성평가(CHARM) Che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ck 항목 추가 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배우자 동반 무급휴직 신청서 개발 요청</a:t>
            </a:r>
          </a:p>
        </p:txBody>
      </p:sp>
      <p:sp>
        <p:nvSpPr>
          <p:cNvPr id="38668046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55447535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</a:p>
        </p:txBody>
      </p:sp>
      <p:sp>
        <p:nvSpPr>
          <p:cNvPr id="144584981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</a:p>
        </p:txBody>
      </p:sp>
      <p:sp>
        <p:nvSpPr>
          <p:cNvPr id="164252484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3836307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55194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5641812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8381981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4477344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1059578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06689174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0543652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6353279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3064943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0674880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9354739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9516590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4748968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653609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20161306" name="Text">
    </p:cNvPr>
          <p:cNvSpPr>
            <a:spLocks noGrp="1"/>
          </p:cNvSpPr>
          <p:nvPr/>
        </p:nvSpPr>
        <p:spPr>
          <a:xfrm rot="0">
            <a:off x="9702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1917362835" name="Text">
    </p:cNvPr>
          <p:cNvSpPr>
            <a:spLocks noGrp="1"/>
          </p:cNvSpPr>
          <p:nvPr/>
        </p:nvSpPr>
        <p:spPr>
          <a:xfrm rot="0">
            <a:off x="93345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</a:p>
        </p:txBody>
      </p:sp>
      <p:sp>
        <p:nvSpPr>
          <p:cNvPr id="818635851" name="Text">
    </p:cNvPr>
          <p:cNvSpPr>
            <a:spLocks noGrp="1"/>
          </p:cNvSpPr>
          <p:nvPr/>
        </p:nvSpPr>
        <p:spPr>
          <a:xfrm rot="0">
            <a:off x="5930900" y="15113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구매관련 기안지 RODA 자동화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ITSM-112346(VPN사용자 등록 신청서)</a:t>
            </a:r>
          </a:p>
        </p:txBody>
      </p:sp>
      <p:sp>
        <p:nvSpPr>
          <p:cNvPr id="1633510450" name="Text">
    </p:cNvPr>
          <p:cNvSpPr>
            <a:spLocks noGrp="1"/>
          </p:cNvSpPr>
          <p:nvPr/>
        </p:nvSpPr>
        <p:spPr>
          <a:xfrm rot="0">
            <a:off x="53086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757976601" name="Text">
    </p:cNvPr>
          <p:cNvSpPr>
            <a:spLocks noGrp="1"/>
          </p:cNvSpPr>
          <p:nvPr/>
        </p:nvSpPr>
        <p:spPr>
          <a:xfrm rot="0">
            <a:off x="889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440843541" name="Text">
    </p:cNvPr>
          <p:cNvSpPr>
            <a:spLocks noGrp="1"/>
          </p:cNvSpPr>
          <p:nvPr/>
        </p:nvSpPr>
        <p:spPr>
          <a:xfrm rot="0">
            <a:off x="711200" y="15113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구매관련 기안지 RODA 자동화- 완료 이후 추가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정전달 받아서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ITSM-112346(VPN사용자 등록 신청서)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ITSM-112766별도 메일요청(최상원책임) - 기안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 내용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VPN사용사 등록신청서(협력업체) 수정(계약기간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필드 추가 및 사용기간 설정과 연계)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ITSM-112837, ITSM-112847, ITSM-112872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ITSM-112913, ITSM-112948, ITSM-112960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ITSM-112973, ITSM-112961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ITSM-113007메일요청 - 기안지 내용 수정(A56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-24-0171)</a:t>
            </a:r>
          </a:p>
        </p:txBody>
      </p:sp>
      <p:sp>
        <p:nvSpPr>
          <p:cNvPr id="1908701994" name="Text">
    </p:cNvPr>
          <p:cNvSpPr>
            <a:spLocks noGrp="1"/>
          </p:cNvSpPr>
          <p:nvPr/>
        </p:nvSpPr>
        <p:spPr>
          <a:xfrm rot="0">
            <a:off x="44831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</a:p>
        </p:txBody>
      </p:sp>
      <p:sp>
        <p:nvSpPr>
          <p:cNvPr id="2066935252" name="Text">
    </p:cNvPr>
          <p:cNvSpPr>
            <a:spLocks noGrp="1"/>
          </p:cNvSpPr>
          <p:nvPr/>
        </p:nvSpPr>
        <p:spPr>
          <a:xfrm rot="0">
            <a:off x="48514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</a:p>
        </p:txBody>
      </p:sp>
      <p:sp>
        <p:nvSpPr>
          <p:cNvPr id="950843821" name="Text">
    </p:cNvPr>
          <p:cNvSpPr>
            <a:spLocks noGrp="1"/>
          </p:cNvSpPr>
          <p:nvPr/>
        </p:nvSpPr>
        <p:spPr>
          <a:xfrm rot="0">
            <a:off x="4114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</a:p>
        </p:txBody>
      </p:sp>
      <p:sp>
        <p:nvSpPr>
          <p:cNvPr id="397219256" name="Text">
    </p:cNvPr>
          <p:cNvSpPr>
            <a:spLocks noGrp="1"/>
          </p:cNvSpPr>
          <p:nvPr/>
        </p:nvSpPr>
        <p:spPr>
          <a:xfrm rot="0">
            <a:off x="6604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64058956" name="Text">
    </p:cNvPr>
          <p:cNvSpPr>
            <a:spLocks noGrp="1"/>
          </p:cNvSpPr>
          <p:nvPr/>
        </p:nvSpPr>
        <p:spPr>
          <a:xfrm rot="0">
            <a:off x="58801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1638777" name="Text">
    </p:cNvPr>
          <p:cNvSpPr>
            <a:spLocks noGrp="1"/>
          </p:cNvSpPr>
          <p:nvPr/>
        </p:nvSpPr>
        <p:spPr>
          <a:xfrm rot="0">
            <a:off x="9702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1953406271" name="Text">
    </p:cNvPr>
          <p:cNvSpPr>
            <a:spLocks noGrp="1"/>
          </p:cNvSpPr>
          <p:nvPr/>
        </p:nvSpPr>
        <p:spPr>
          <a:xfrm rot="0">
            <a:off x="93345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</a:p>
        </p:txBody>
      </p:sp>
      <p:sp>
        <p:nvSpPr>
          <p:cNvPr id="185685727" name="Text">
    </p:cNvPr>
          <p:cNvSpPr>
            <a:spLocks noGrp="1"/>
          </p:cNvSpPr>
          <p:nvPr/>
        </p:nvSpPr>
        <p:spPr>
          <a:xfrm rot="0">
            <a:off x="5930900" y="39370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</a:p>
        </p:txBody>
      </p:sp>
      <p:sp>
        <p:nvSpPr>
          <p:cNvPr id="1605201584" name="Text">
    </p:cNvPr>
          <p:cNvSpPr>
            <a:spLocks noGrp="1"/>
          </p:cNvSpPr>
          <p:nvPr/>
        </p:nvSpPr>
        <p:spPr>
          <a:xfrm rot="0">
            <a:off x="53086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736709340" name="Text">
    </p:cNvPr>
          <p:cNvSpPr>
            <a:spLocks noGrp="1"/>
          </p:cNvSpPr>
          <p:nvPr/>
        </p:nvSpPr>
        <p:spPr>
          <a:xfrm rot="0">
            <a:off x="889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736698486" name="Text">
    </p:cNvPr>
          <p:cNvSpPr>
            <a:spLocks noGrp="1"/>
          </p:cNvSpPr>
          <p:nvPr/>
        </p:nvSpPr>
        <p:spPr>
          <a:xfrm rot="0">
            <a:off x="711200" y="39370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휴넷 스마트러닝 교육이력 배치 재실행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교육결과보고 및 교육출장비신청서 메뉴얼 교체요청(이상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준 계장님)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부서지침서'정기적검토를 통한 CDU3-P-3246  U-6460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 정상 운전 절차외 17건 개정 품의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 기능개선 관련하여  관련부서 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OOM 화상회의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 SOM-1-100 대기오염관리절차 기존 개정목록 다운 받아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메일로 전달</a:t>
            </a:r>
          </a:p>
        </p:txBody>
      </p:sp>
      <p:sp>
        <p:nvSpPr>
          <p:cNvPr id="1713762295" name="Text">
    </p:cNvPr>
          <p:cNvSpPr>
            <a:spLocks noGrp="1"/>
          </p:cNvSpPr>
          <p:nvPr/>
        </p:nvSpPr>
        <p:spPr>
          <a:xfrm rot="0">
            <a:off x="44831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</a:p>
        </p:txBody>
      </p:sp>
      <p:sp>
        <p:nvSpPr>
          <p:cNvPr id="1388959085" name="Text">
    </p:cNvPr>
          <p:cNvSpPr>
            <a:spLocks noGrp="1"/>
          </p:cNvSpPr>
          <p:nvPr/>
        </p:nvSpPr>
        <p:spPr>
          <a:xfrm rot="0">
            <a:off x="48514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</a:p>
        </p:txBody>
      </p:sp>
      <p:sp>
        <p:nvSpPr>
          <p:cNvPr id="355207452" name="Text">
    </p:cNvPr>
          <p:cNvSpPr>
            <a:spLocks noGrp="1"/>
          </p:cNvSpPr>
          <p:nvPr/>
        </p:nvSpPr>
        <p:spPr>
          <a:xfrm rot="0">
            <a:off x="4114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</a:p>
        </p:txBody>
      </p:sp>
      <p:sp>
        <p:nvSpPr>
          <p:cNvPr id="1837404565" name="Text">
    </p:cNvPr>
          <p:cNvSpPr>
            <a:spLocks noGrp="1"/>
          </p:cNvSpPr>
          <p:nvPr/>
        </p:nvSpPr>
        <p:spPr>
          <a:xfrm rot="0">
            <a:off x="6604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13908869" name="Text">
    </p:cNvPr>
          <p:cNvSpPr>
            <a:spLocks noGrp="1"/>
          </p:cNvSpPr>
          <p:nvPr/>
        </p:nvSpPr>
        <p:spPr>
          <a:xfrm rot="0">
            <a:off x="58801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81312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9976324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929246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7361499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5329782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69484516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8368893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8730159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4874849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9896736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5395492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8773045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3452274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6097350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6825902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</a:p>
        </p:txBody>
      </p:sp>
      <p:sp>
        <p:nvSpPr>
          <p:cNvPr id="24003975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</a:p>
        </p:txBody>
      </p:sp>
      <p:sp>
        <p:nvSpPr>
          <p:cNvPr id="50997973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맴버십마케팅팀 요청 SP062 시나리오 검출되지 않은 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이터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DS Upgrade 회의  (8층회의실 오전10시)</a:t>
            </a:r>
          </a:p>
        </p:txBody>
      </p:sp>
      <p:sp>
        <p:nvSpPr>
          <p:cNvPr id="65030379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69038554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52522077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 상품권 회수 현황 ERP 연계 오류 확인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 미회수 현황 데이터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WMS  입고 예정 정보 배치 오류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IAMS IT Process 운영 평가 모집단 자료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ERP Upgrade 업무 프로세스 문의 내용 확인 요청 (자재마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스터 IF, E-IOM IF)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ERP Upgrade 담당자 운영 서버 접속 오류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맴버십마케팅팀 요청 SP062 시나리오 검출되지 않은 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이터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- 06/18 휴가</a:t>
            </a:r>
          </a:p>
        </p:txBody>
      </p:sp>
      <p:sp>
        <p:nvSpPr>
          <p:cNvPr id="75460286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</a:p>
        </p:txBody>
      </p:sp>
      <p:sp>
        <p:nvSpPr>
          <p:cNvPr id="48247101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</a:p>
        </p:txBody>
      </p:sp>
      <p:sp>
        <p:nvSpPr>
          <p:cNvPr id="190486079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</a:p>
        </p:txBody>
      </p:sp>
      <p:sp>
        <p:nvSpPr>
          <p:cNvPr id="52770421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3444377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8557040" name="Text">
    </p:cNvPr>
          <p:cNvSpPr>
            <a:spLocks noGrp="1"/>
          </p:cNvSpPr>
          <p:nvPr/>
        </p:nvSpPr>
        <p:spPr>
          <a:xfrm rot="0">
            <a:off x="9702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</a:p>
        </p:txBody>
      </p:sp>
      <p:sp>
        <p:nvSpPr>
          <p:cNvPr id="1302298987" name="Text">
    </p:cNvPr>
          <p:cNvSpPr>
            <a:spLocks noGrp="1"/>
          </p:cNvSpPr>
          <p:nvPr/>
        </p:nvSpPr>
        <p:spPr>
          <a:xfrm rot="0">
            <a:off x="93345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</a:p>
        </p:txBody>
      </p:sp>
      <p:sp>
        <p:nvSpPr>
          <p:cNvPr id="1943101637" name="Text">
    </p:cNvPr>
          <p:cNvSpPr>
            <a:spLocks noGrp="1"/>
          </p:cNvSpPr>
          <p:nvPr/>
        </p:nvSpPr>
        <p:spPr>
          <a:xfrm rot="0">
            <a:off x="5930900" y="37719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2024년 2분기 웹 서비스 모의해킹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ITSM-112563 VOC 관리자 웹페이지내 열람/조회 기록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페이지 생성 -ISMS-P 권고사항 관련 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 SAP DS 이전 계획 회의 (ERP Upgrade 프로젝트)</a:t>
            </a:r>
          </a:p>
        </p:txBody>
      </p:sp>
      <p:sp>
        <p:nvSpPr>
          <p:cNvPr id="1326013186" name="Text">
    </p:cNvPr>
          <p:cNvSpPr>
            <a:spLocks noGrp="1"/>
          </p:cNvSpPr>
          <p:nvPr/>
        </p:nvSpPr>
        <p:spPr>
          <a:xfrm rot="0">
            <a:off x="53086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798080712" name="Text">
    </p:cNvPr>
          <p:cNvSpPr>
            <a:spLocks noGrp="1"/>
          </p:cNvSpPr>
          <p:nvPr/>
        </p:nvSpPr>
        <p:spPr>
          <a:xfrm rot="0">
            <a:off x="889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518983199" name="Text">
    </p:cNvPr>
          <p:cNvSpPr>
            <a:spLocks noGrp="1"/>
          </p:cNvSpPr>
          <p:nvPr/>
        </p:nvSpPr>
        <p:spPr>
          <a:xfrm rot="0">
            <a:off x="711200" y="37719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2024년 2분기 웹 서비스 모의해킹 정보 회신 및 테스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트 계정 생성 (개발서버 / 운영 필요 시, 요청)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'ROB_JOB_LOPAS_SHIPMENT_1 / ROB_J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OB_SCH_LOPAS_ORDER' 배치 중단 점검  (SAP DS 회의를 통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해 개선될 예정)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2024년 2분기 웹 서비스 모의해킹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ITSM-112563 VOC 관리자 웹페이지내 열람/조회 기록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페이지 생성 -ISMS-P 권고사항 관련 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V240612-0000082-1 처리부서 최종의견 미등록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변경 (최종의견 여부 변경)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 [문서번호 : Z11-24-0188] 모의해킹 취약점 테스트를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위한 임시계정 권한 부여 및 안내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PKG_ERP_ETL 내 프로시저 'MERGE_ACCOUNT_MAST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ER' 수정 (ON 조건 중, 누락된 PK로 인해 에러 발생)</a:t>
            </a:r>
          </a:p>
        </p:txBody>
      </p:sp>
      <p:sp>
        <p:nvSpPr>
          <p:cNvPr id="572939459" name="Text">
    </p:cNvPr>
          <p:cNvSpPr>
            <a:spLocks noGrp="1"/>
          </p:cNvSpPr>
          <p:nvPr/>
        </p:nvSpPr>
        <p:spPr>
          <a:xfrm rot="0">
            <a:off x="44831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</a:p>
        </p:txBody>
      </p:sp>
      <p:sp>
        <p:nvSpPr>
          <p:cNvPr id="670225102" name="Text">
    </p:cNvPr>
          <p:cNvSpPr>
            <a:spLocks noGrp="1"/>
          </p:cNvSpPr>
          <p:nvPr/>
        </p:nvSpPr>
        <p:spPr>
          <a:xfrm rot="0">
            <a:off x="48514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</a:p>
        </p:txBody>
      </p:sp>
      <p:sp>
        <p:nvSpPr>
          <p:cNvPr id="672621616" name="Text">
    </p:cNvPr>
          <p:cNvSpPr>
            <a:spLocks noGrp="1"/>
          </p:cNvSpPr>
          <p:nvPr/>
        </p:nvSpPr>
        <p:spPr>
          <a:xfrm rot="0">
            <a:off x="4114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</a:p>
        </p:txBody>
      </p:sp>
      <p:sp>
        <p:nvSpPr>
          <p:cNvPr id="1019873293" name="Text">
    </p:cNvPr>
          <p:cNvSpPr>
            <a:spLocks noGrp="1"/>
          </p:cNvSpPr>
          <p:nvPr/>
        </p:nvSpPr>
        <p:spPr>
          <a:xfrm rot="0">
            <a:off x="6604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8329747" name="Text">
    </p:cNvPr>
          <p:cNvSpPr>
            <a:spLocks noGrp="1"/>
          </p:cNvSpPr>
          <p:nvPr/>
        </p:nvSpPr>
        <p:spPr>
          <a:xfrm rot="0">
            <a:off x="58801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12798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4186304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4498281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4815140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1138072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5677831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4967679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3276388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5341828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5314318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8882862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7300203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1111667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6028917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321544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05891466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211166762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2024.5월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System 상 화학물질위험성평가(CHARM) Check 항목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배우자 동반 무급휴직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입고/납품완료 불일치 모니터링 i/f 필드 추가</a:t>
            </a:r>
          </a:p>
        </p:txBody>
      </p:sp>
      <p:sp>
        <p:nvSpPr>
          <p:cNvPr id="116806766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13600162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31782241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2024.5월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ERP와 e-Pro간 입고/납품완료 불일치 점검 및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System 상 화학물질위험성평가(CHARM) Check 항목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법인카드 WBS 마스터 전송 개발 CCS , 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배우자 동반 무급휴직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입고/납품완료 불일치 모니터링 i/f 필드 추가</a:t>
            </a:r>
          </a:p>
        </p:txBody>
      </p:sp>
      <p:sp>
        <p:nvSpPr>
          <p:cNvPr id="7286847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99963586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121229980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144306837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4524120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072053922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현충일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 Duty 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이재원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배영식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이지은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err="1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에쓰오일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창립기념일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06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