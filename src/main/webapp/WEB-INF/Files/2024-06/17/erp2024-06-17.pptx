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832356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2343357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212921774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8344785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727612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9812405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9827393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2306799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758181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47169632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8878540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3856034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3305920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2755778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810593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</a:p>
        </p:txBody>
      </p:sp>
      <p:sp>
        <p:nvSpPr>
          <p:cNvPr id="15070946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br/>
          </a:p>
        </p:txBody>
      </p:sp>
      <p:sp>
        <p:nvSpPr>
          <p:cNvPr id="186215517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[CO] PP 제조원가 검증 프로그램 개발(ZPCOR2050~ZPC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OR2090)</a:t>
            </a:r>
          </a:p>
        </p:txBody>
      </p:sp>
      <p:sp>
        <p:nvSpPr>
          <p:cNvPr id="4606791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90338576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62046498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외부 조사 대응을 위한 조회용 T-code 개발 요청(ZCOR66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00_D 등)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해외이관 물량 및 판매현황 집계 프로그램 저장로직 수정(Z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FIR5400)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반제품 제조원가 검증(ZPCOR2080)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 제품 제조원가 검증 (ZPCOR2090)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오후 반차</a:t>
            </a:r>
          </a:p>
        </p:txBody>
      </p:sp>
      <p:sp>
        <p:nvSpPr>
          <p:cNvPr id="100294641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8848464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61493388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40422645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55492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64274450" name="Text">
    </p:cNvPr>
          <p:cNvSpPr>
            <a:spLocks noGrp="1"/>
          </p:cNvSpPr>
          <p:nvPr/>
        </p:nvSpPr>
        <p:spPr>
          <a:xfrm rot="0">
            <a:off x="9702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440844255" name="Text">
    </p:cNvPr>
          <p:cNvSpPr>
            <a:spLocks noGrp="1"/>
          </p:cNvSpPr>
          <p:nvPr/>
        </p:nvSpPr>
        <p:spPr>
          <a:xfrm rot="0">
            <a:off x="93345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107962260" name="Text">
    </p:cNvPr>
          <p:cNvSpPr>
            <a:spLocks noGrp="1"/>
          </p:cNvSpPr>
          <p:nvPr/>
        </p:nvSpPr>
        <p:spPr>
          <a:xfrm rot="0">
            <a:off x="59309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</a:p>
        </p:txBody>
      </p:sp>
      <p:sp>
        <p:nvSpPr>
          <p:cNvPr id="1277721834" name="Text">
    </p:cNvPr>
          <p:cNvSpPr>
            <a:spLocks noGrp="1"/>
          </p:cNvSpPr>
          <p:nvPr/>
        </p:nvSpPr>
        <p:spPr>
          <a:xfrm rot="0">
            <a:off x="53086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452074142" name="Text">
    </p:cNvPr>
          <p:cNvSpPr>
            <a:spLocks noGrp="1"/>
          </p:cNvSpPr>
          <p:nvPr/>
        </p:nvSpPr>
        <p:spPr>
          <a:xfrm rot="0">
            <a:off x="88900" y="37719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904259160" name="Text">
    </p:cNvPr>
          <p:cNvSpPr>
            <a:spLocks noGrp="1"/>
          </p:cNvSpPr>
          <p:nvPr/>
        </p:nvSpPr>
        <p:spPr>
          <a:xfrm rot="0">
            <a:off x="711200" y="37719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영업시설지원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ERP와 e-Pro간 입고/납품완료 불일치 점검 및 모니터링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포트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관련 개선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ZLBR2050에서 구매발주 삭제 시 오류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Vendor Master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UET- 울산에너지터미널 (구. 성운탱크터미널) VGO 재고-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민간 비축 보고 재고에서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영세 신고를 위한 해외이관분 및 하역기준 판매에 대한 정산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프로그램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임차 Loss/Gain 전기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원화 Usance 차입금 도입 관련 ERP 시스템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원유 및 제품 구입 비용문서 조회 프로그램 보완 요청</a:t>
            </a:r>
          </a:p>
        </p:txBody>
      </p:sp>
      <p:sp>
        <p:nvSpPr>
          <p:cNvPr id="640696313" name="Text">
    </p:cNvPr>
          <p:cNvSpPr>
            <a:spLocks noGrp="1"/>
          </p:cNvSpPr>
          <p:nvPr/>
        </p:nvSpPr>
        <p:spPr>
          <a:xfrm rot="0">
            <a:off x="44831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</a:p>
        </p:txBody>
      </p:sp>
      <p:sp>
        <p:nvSpPr>
          <p:cNvPr id="703650041" name="Text">
    </p:cNvPr>
          <p:cNvSpPr>
            <a:spLocks noGrp="1"/>
          </p:cNvSpPr>
          <p:nvPr/>
        </p:nvSpPr>
        <p:spPr>
          <a:xfrm rot="0">
            <a:off x="48514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593236403" name="Text">
    </p:cNvPr>
          <p:cNvSpPr>
            <a:spLocks noGrp="1"/>
          </p:cNvSpPr>
          <p:nvPr/>
        </p:nvSpPr>
        <p:spPr>
          <a:xfrm rot="0">
            <a:off x="4114800" y="37719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957478054" name="Text">
    </p:cNvPr>
          <p:cNvSpPr>
            <a:spLocks noGrp="1"/>
          </p:cNvSpPr>
          <p:nvPr/>
        </p:nvSpPr>
        <p:spPr>
          <a:xfrm rot="0">
            <a:off x="6604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1298442" name="Text">
    </p:cNvPr>
          <p:cNvSpPr>
            <a:spLocks noGrp="1"/>
          </p:cNvSpPr>
          <p:nvPr/>
        </p:nvSpPr>
        <p:spPr>
          <a:xfrm rot="0">
            <a:off x="5880100" y="37719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31347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583746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0719300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16965035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590045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94027063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3685638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2943537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070864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3720166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7166991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851676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158378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925154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46955916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</a:p>
        </p:txBody>
      </p:sp>
      <p:sp>
        <p:nvSpPr>
          <p:cNvPr id="1755522276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</a:p>
        </p:txBody>
      </p:sp>
      <p:sp>
        <p:nvSpPr>
          <p:cNvPr id="189259797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165161171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88409847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24856263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상반기 DR 재해복구 모의훈련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비계획운송비 MR8M 역분개 시 오류 관련 Notes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적용작업 업무지원(Note 1377622-MIRO/MR8M: M8281 wi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th unplanned delivery costs)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신규 SSL VPN 장비의 SBC/VDI DDC와의 연동 테스트에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따른 SAP 서비스 확인 야간작업 업무지원(22:00~02:00)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Content Server MaxDB 데이타파일 추가 및 Aut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oLog 파일 삭제작업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2024년 1st 운영평가용 내부통제 관련 증빙자료 취합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전달</a:t>
            </a:r>
          </a:p>
        </p:txBody>
      </p:sp>
      <p:sp>
        <p:nvSpPr>
          <p:cNvPr id="864172148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06/18</a:t>
            </a:r>
            <a:br/>
            <a:br/>
          </a:p>
        </p:txBody>
      </p:sp>
      <p:sp>
        <p:nvSpPr>
          <p:cNvPr id="1639231677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</a:p>
        </p:txBody>
      </p:sp>
      <p:sp>
        <p:nvSpPr>
          <p:cNvPr id="841803389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</a:p>
        </p:txBody>
      </p:sp>
      <p:sp>
        <p:nvSpPr>
          <p:cNvPr id="1013821664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4262273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8011557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06/21</a:t>
            </a:r>
            <a:br/>
          </a:p>
        </p:txBody>
      </p:sp>
      <p:sp>
        <p:nvSpPr>
          <p:cNvPr id="254877337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</a:p>
        </p:txBody>
      </p:sp>
      <p:sp>
        <p:nvSpPr>
          <p:cNvPr id="1586119983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865948185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826353379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906175364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짧고 굵게 배우는 JSP 웹 프로그래밍과 스프링 프레임워크: CH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3</a:t>
            </a:r>
          </a:p>
        </p:txBody>
      </p:sp>
      <p:sp>
        <p:nvSpPr>
          <p:cNvPr id="984398678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668819840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</a:p>
        </p:txBody>
      </p:sp>
      <p:sp>
        <p:nvSpPr>
          <p:cNvPr id="1538686770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</a:p>
        </p:txBody>
      </p:sp>
      <p:sp>
        <p:nvSpPr>
          <p:cNvPr id="1954965699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32896014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7508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835256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4651997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97427715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8576740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505242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140259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525618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7355661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71142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6373885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69447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38038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13793310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9936111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br/>
          </a:p>
        </p:txBody>
      </p:sp>
      <p:sp>
        <p:nvSpPr>
          <p:cNvPr id="1863838976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15409891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73778950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33400514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12873140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SHBE 대상 일반용역 사후평가표 수정 요청* 발주 생성 및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기성보고서 전송 RFC 함수 로직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구매요구서 내 LCC, 정성평가 체크박스 추가 요청* LLC(L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ife Cycle Costing), 정성평가 관련 로직 반영 및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 </a:t>
            </a:r>
          </a:p>
        </p:txBody>
      </p:sp>
      <p:sp>
        <p:nvSpPr>
          <p:cNvPr id="81352451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br/>
            <a:br/>
          </a:p>
        </p:txBody>
      </p:sp>
      <p:sp>
        <p:nvSpPr>
          <p:cNvPr id="44530352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</a:p>
        </p:txBody>
      </p:sp>
      <p:sp>
        <p:nvSpPr>
          <p:cNvPr id="129455265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05/29</a:t>
            </a:r>
            <a:br/>
            <a:br/>
            <a:br/>
          </a:p>
        </p:txBody>
      </p:sp>
      <p:sp>
        <p:nvSpPr>
          <p:cNvPr id="90688603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3888661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62703429" name="Text">
    </p:cNvPr>
          <p:cNvSpPr>
            <a:spLocks noGrp="1"/>
          </p:cNvSpPr>
          <p:nvPr/>
        </p:nvSpPr>
        <p:spPr>
          <a:xfrm rot="0">
            <a:off x="9702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643187981" name="Text">
    </p:cNvPr>
          <p:cNvSpPr>
            <a:spLocks noGrp="1"/>
          </p:cNvSpPr>
          <p:nvPr/>
        </p:nvSpPr>
        <p:spPr>
          <a:xfrm rot="0">
            <a:off x="93345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</a:p>
        </p:txBody>
      </p:sp>
      <p:sp>
        <p:nvSpPr>
          <p:cNvPr id="2145309441" name="Text">
    </p:cNvPr>
          <p:cNvSpPr>
            <a:spLocks noGrp="1"/>
          </p:cNvSpPr>
          <p:nvPr/>
        </p:nvSpPr>
        <p:spPr>
          <a:xfrm rot="0">
            <a:off x="59309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</a:t>
            </a:r>
          </a:p>
        </p:txBody>
      </p:sp>
      <p:sp>
        <p:nvSpPr>
          <p:cNvPr id="1258792873" name="Text">
    </p:cNvPr>
          <p:cNvSpPr>
            <a:spLocks noGrp="1"/>
          </p:cNvSpPr>
          <p:nvPr/>
        </p:nvSpPr>
        <p:spPr>
          <a:xfrm rot="0">
            <a:off x="53086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000297096" name="Text">
    </p:cNvPr>
          <p:cNvSpPr>
            <a:spLocks noGrp="1"/>
          </p:cNvSpPr>
          <p:nvPr/>
        </p:nvSpPr>
        <p:spPr>
          <a:xfrm rot="0">
            <a:off x="88900" y="37719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804591323" name="Text">
    </p:cNvPr>
          <p:cNvSpPr>
            <a:spLocks noGrp="1"/>
          </p:cNvSpPr>
          <p:nvPr/>
        </p:nvSpPr>
        <p:spPr>
          <a:xfrm rot="0">
            <a:off x="711200" y="3771900"/>
            <a:ext cx="3403600" cy="273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   :본 평가 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화면 수정(20%)- [ITSM-112367] 당연퇴직자 주택자금 및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활안정자금 중도상환 신청 등록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[ITSM-112366] New Healthcare 신청시 입사일자 체크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기준 추가- [ITSM-112478] 특근명령서  작성시 결재선 안내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팝업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[ITSM-112248] 생산직평가 시스템 변경   :본 평가 웹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화면 수정(50%)- [ITSM-112547] 중식비예외자 신청금액 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정- 인사기록카드용 어학점수 환산로직 수정(등급연계삭제)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ITSM-112594 국내출장 반영기간 수정- 특근명령서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성시, 대근사유대상자 조회 관련(공통코드(TMT1)에 '2040'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추가 안내) - [ITSM-112248] 생산직평가 시스템 변경   :본 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웹화면 수정(80%)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생산직 다면평가 대상자 및 평가자 리스트 작성 지원- [I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TSM-112248]생산직 상반기 1/2차 평가 테스트 및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- 문의 대응 : 제증명 출력 오류 외</a:t>
            </a:r>
          </a:p>
        </p:txBody>
      </p:sp>
      <p:sp>
        <p:nvSpPr>
          <p:cNvPr id="649764607" name="Text">
    </p:cNvPr>
          <p:cNvSpPr>
            <a:spLocks noGrp="1"/>
          </p:cNvSpPr>
          <p:nvPr/>
        </p:nvSpPr>
        <p:spPr>
          <a:xfrm rot="0">
            <a:off x="44831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</a:p>
        </p:txBody>
      </p:sp>
      <p:sp>
        <p:nvSpPr>
          <p:cNvPr id="1349934958" name="Text">
    </p:cNvPr>
          <p:cNvSpPr>
            <a:spLocks noGrp="1"/>
          </p:cNvSpPr>
          <p:nvPr/>
        </p:nvSpPr>
        <p:spPr>
          <a:xfrm rot="0">
            <a:off x="48514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</a:p>
        </p:txBody>
      </p:sp>
      <p:sp>
        <p:nvSpPr>
          <p:cNvPr id="289164538" name="Text">
    </p:cNvPr>
          <p:cNvSpPr>
            <a:spLocks noGrp="1"/>
          </p:cNvSpPr>
          <p:nvPr/>
        </p:nvSpPr>
        <p:spPr>
          <a:xfrm rot="0">
            <a:off x="4114800" y="37719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br/>
            <a:br/>
          </a:p>
        </p:txBody>
      </p:sp>
      <p:sp>
        <p:nvSpPr>
          <p:cNvPr id="377013192" name="Text">
    </p:cNvPr>
          <p:cNvSpPr>
            <a:spLocks noGrp="1"/>
          </p:cNvSpPr>
          <p:nvPr/>
        </p:nvSpPr>
        <p:spPr>
          <a:xfrm rot="0">
            <a:off x="6604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82434718" name="Text">
    </p:cNvPr>
          <p:cNvSpPr>
            <a:spLocks noGrp="1"/>
          </p:cNvSpPr>
          <p:nvPr/>
        </p:nvSpPr>
        <p:spPr>
          <a:xfrm rot="0">
            <a:off x="5880100" y="37719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0223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1360756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2432667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2221265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8464877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7288316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6436702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4873322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60235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4785019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1308554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789384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592076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6764442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56705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158139816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49682329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 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 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SF 연동 Data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인사기록카드 표기 관련 수정 요청 10%</a:t>
            </a:r>
          </a:p>
        </p:txBody>
      </p:sp>
      <p:sp>
        <p:nvSpPr>
          <p:cNvPr id="15112891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56197509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31567168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DC 퇴직연금 계산 관련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생산직평가 시스템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정년후 재고용 대상자(박노환 계장) 근태단말기 사번 연동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요청(긴급)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인사기록카드 표기 관련 수정 요청</a:t>
            </a:r>
          </a:p>
        </p:txBody>
      </p:sp>
      <p:sp>
        <p:nvSpPr>
          <p:cNvPr id="198259595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</a:p>
        </p:txBody>
      </p:sp>
      <p:sp>
        <p:nvSpPr>
          <p:cNvPr id="2648253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</a:p>
        </p:txBody>
      </p:sp>
      <p:sp>
        <p:nvSpPr>
          <p:cNvPr id="47050787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06/14</a:t>
            </a:r>
            <a:br/>
          </a:p>
        </p:txBody>
      </p:sp>
      <p:sp>
        <p:nvSpPr>
          <p:cNvPr id="14964801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817627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318524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29793523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</a:p>
        </p:txBody>
      </p:sp>
      <p:sp>
        <p:nvSpPr>
          <p:cNvPr id="1114549977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223831971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0820655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0330120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ITSM-107407자영대리점 거래처 관리업무 간소화 추진(1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ITSM-109418자가수송 실거리 내용 입력/수정 시 조회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 FNL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ITSM-111624수출신고 관련 T-CODE 에러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ITSM-111844ZPRR1000(고정자산 마스터 영업데이터 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리) 영업5조직 매핑기준 보완 및 자동화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ITSM-112024ZTDR5130 수송비 정산 화면 수정</a:t>
            </a:r>
          </a:p>
        </p:txBody>
      </p:sp>
      <p:sp>
        <p:nvSpPr>
          <p:cNvPr id="118891386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06/28</a:t>
            </a:r>
            <a:br/>
          </a:p>
        </p:txBody>
      </p:sp>
      <p:sp>
        <p:nvSpPr>
          <p:cNvPr id="188753094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172737540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05/21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</a:p>
        </p:txBody>
      </p:sp>
      <p:sp>
        <p:nvSpPr>
          <p:cNvPr id="13349224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0584920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