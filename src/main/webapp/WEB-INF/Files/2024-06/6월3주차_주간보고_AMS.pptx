
<file path=[Content_Types].xml><?xml version="1.0" encoding="utf-8"?>
<Types xmlns="http://schemas.openxmlformats.org/package/2006/content-types">
  <Default ContentType="image/x-emf" Extension="emf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6"/>
    <p:sldId id="257" r:id="rId10"/>
    <p:sldId id="258" r:id="rId12"/>
    <p:sldId id="259" r:id="rId13"/>
    <p:sldId id="260" r:id="rId14"/>
    <p:sldId id="261" r:id="rId16"/>
    <p:sldId id="262" r:id="rId18"/>
    <p:sldId id="263" r:id="rId19"/>
    <p:sldId id="264" r:id="rId20"/>
    <p:sldId id="265" r:id="rId21"/>
    <p:sldId id="266" r:id="rId22"/>
    <p:sldId id="267" r:id="rId23"/>
    <p:sldId id="268" r:id="rId24"/>
    <p:sldId id="269" r:id="rId25"/>
    <p:sldId id="270" r:id="rId26"/>
    <p:sldId id="271" r:id="rId27"/>
    <p:sldId id="272" r:id="rId28"/>
    <p:sldId id="273" r:id="rId29"/>
    <p:sldId id="274" r:id="rId31"/>
    <p:sldId id="275" r:id="rId33"/>
    <p:sldId id="276" r:id="rId35"/>
  </p:sldIdLst>
  <p:sldSz cx="10160000" cy="69215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2.xml" Type="http://schemas.openxmlformats.org/officeDocument/2006/relationships/slide"/><Relationship Id="rId11" Target="notesSlides/notesSlide2.xml" Type="http://schemas.openxmlformats.org/officeDocument/2006/relationships/notesSlide"/><Relationship Id="rId12" Target="slides/slide3.xml" Type="http://schemas.openxmlformats.org/officeDocument/2006/relationships/slide"/><Relationship Id="rId13" Target="slides/slide4.xml" Type="http://schemas.openxmlformats.org/officeDocument/2006/relationships/slide"/><Relationship Id="rId14" Target="slides/slide5.xml" Type="http://schemas.openxmlformats.org/officeDocument/2006/relationships/slide"/><Relationship Id="rId15" Target="notesSlides/notesSlide3.xml" Type="http://schemas.openxmlformats.org/officeDocument/2006/relationships/notesSlide"/><Relationship Id="rId16" Target="slides/slide6.xml" Type="http://schemas.openxmlformats.org/officeDocument/2006/relationships/slide"/><Relationship Id="rId17" Target="notesSlides/notesSlide4.xml" Type="http://schemas.openxmlformats.org/officeDocument/2006/relationships/notesSlide"/><Relationship Id="rId18" Target="slides/slide7.xml" Type="http://schemas.openxmlformats.org/officeDocument/2006/relationships/slide"/><Relationship Id="rId19" Target="slides/slide8.xml" Type="http://schemas.openxmlformats.org/officeDocument/2006/relationships/slide"/><Relationship Id="rId2" Target="presProps.xml" Type="http://schemas.openxmlformats.org/officeDocument/2006/relationships/presProps"/><Relationship Id="rId20" Target="slides/slide9.xml" Type="http://schemas.openxmlformats.org/officeDocument/2006/relationships/slide"/><Relationship Id="rId21" Target="slides/slide10.xml" Type="http://schemas.openxmlformats.org/officeDocument/2006/relationships/slide"/><Relationship Id="rId22" Target="slides/slide11.xml" Type="http://schemas.openxmlformats.org/officeDocument/2006/relationships/slide"/><Relationship Id="rId23" Target="slides/slide12.xml" Type="http://schemas.openxmlformats.org/officeDocument/2006/relationships/slide"/><Relationship Id="rId24" Target="slides/slide13.xml" Type="http://schemas.openxmlformats.org/officeDocument/2006/relationships/slide"/><Relationship Id="rId25" Target="slides/slide14.xml" Type="http://schemas.openxmlformats.org/officeDocument/2006/relationships/slide"/><Relationship Id="rId26" Target="slides/slide15.xml" Type="http://schemas.openxmlformats.org/officeDocument/2006/relationships/slide"/><Relationship Id="rId27" Target="slides/slide16.xml" Type="http://schemas.openxmlformats.org/officeDocument/2006/relationships/slide"/><Relationship Id="rId28" Target="slides/slide17.xml" Type="http://schemas.openxmlformats.org/officeDocument/2006/relationships/slide"/><Relationship Id="rId29" Target="slides/slide18.xml" Type="http://schemas.openxmlformats.org/officeDocument/2006/relationships/slide"/><Relationship Id="rId3" Target="viewProps.xml" Type="http://schemas.openxmlformats.org/officeDocument/2006/relationships/viewProps"/><Relationship Id="rId30" Target="notesSlides/notesSlide5.xml" Type="http://schemas.openxmlformats.org/officeDocument/2006/relationships/notesSlide"/><Relationship Id="rId31" Target="slides/slide19.xml" Type="http://schemas.openxmlformats.org/officeDocument/2006/relationships/slide"/><Relationship Id="rId32" Target="notesSlides/notesSlide6.xml" Type="http://schemas.openxmlformats.org/officeDocument/2006/relationships/notesSlide"/><Relationship Id="rId33" Target="slides/slide20.xml" Type="http://schemas.openxmlformats.org/officeDocument/2006/relationships/slide"/><Relationship Id="rId34" Target="notesSlides/notesSlide7.xml" Type="http://schemas.openxmlformats.org/officeDocument/2006/relationships/notesSlide"/><Relationship Id="rId35" Target="slides/slide21.xml" Type="http://schemas.openxmlformats.org/officeDocument/2006/relationships/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notesMasters/notesMaster1.xml" Type="http://schemas.openxmlformats.org/officeDocument/2006/relationships/notesMaster"/><Relationship Id="rId8" Target="theme/theme2.xml" Type="http://schemas.openxmlformats.org/officeDocument/2006/relationships/theme"/><Relationship Id="rId9" Target="notesSlides/notesSlide1.xml" Type="http://schemas.openxmlformats.org/officeDocument/2006/relationships/notesSlide"/></Relationships>
</file>

<file path=ppt/notesMasters/_rels/notesMaster1.xml.rels><?xml version="1.0" encoding="UTF-8" standalone="no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4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5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6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7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notesSlide1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fld id="{AF56D908-C2A0-4594-8043-7B2A2764A612}" type="datetime1">
              <a:rPr lang="ko-KR" altLang="en-US" sz="1200" b="0">
                <a:solidFill>
                  <a:schemeClr val="tx1"/>
                </a:solidFill>
                <a:latin typeface="Times New Roman"/>
                <a:ea typeface="굴림"/>
              </a:rPr>
              <a:pPr lvl="0">
                <a:defRPr/>
              </a:pPr>
              <a:t>2023-04-11</a:t>
            </a:fld>
            <a:endParaRPr lang="en-US" altLang="ko-KR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r>
              <a:rPr lang="ko-KR" altLang="en-US" sz="1200" b="0">
                <a:solidFill>
                  <a:schemeClr val="tx1"/>
                </a:solidFill>
                <a:latin typeface="Times New Roman"/>
                <a:ea typeface="굴림"/>
              </a:rPr>
              <a:t>ITS GSR Proposed Layout 4Q</a:t>
            </a:r>
            <a:endParaRPr lang="en-US" altLang="ko-KR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fld id="{65D332B1-6798-497D-875F-C7FAE08D878A}" type="slidenum">
              <a:rPr lang="en-US" altLang="en-US" sz="1200" b="0">
                <a:solidFill>
                  <a:schemeClr val="tx1"/>
                </a:solidFill>
                <a:latin typeface="Times New Roman"/>
                <a:ea typeface="굴림"/>
              </a:rPr>
              <a:pPr lvl="0">
                <a:defRPr/>
              </a:pPr>
              <a:t>1</a:t>
            </a:fld>
            <a:endParaRPr lang="en-US" altLang="en-US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2788" y="746125"/>
            <a:ext cx="5373687" cy="3721100"/>
          </a:xfrm>
          <a:ln/>
        </p:spPr>
      </p:sp>
      <p:sp>
        <p:nvSpPr>
          <p:cNvPr id="1127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spcBef>
                <a:spcPct val="30000"/>
              </a:spcBef>
              <a:spcAft>
                <a:spcPct val="0"/>
              </a:spcAft>
              <a:defRPr/>
            </a:pPr>
            <a:endParaRPr lang="ko-KR" altLang="en-US"/>
          </a:p>
        </p:txBody>
      </p:sp>
    </p:spTree>
  </p:cSld>
</p:notes>
</file>

<file path=ppt/notesSlides/notesSlide2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ko-KR" altLang="en-US" smtClean="0"/>
              <a:pPr lvl="0">
                <a:defRPr/>
              </a:pPr>
              <a:t>1</a:t>
            </a:fld>
            <a:endParaRPr lang="ko-KR" altLang="en-US"/>
          </a:p>
        </p:txBody>
      </p:sp>
    </p:spTree>
  </p:cSld>
</p:notes>
</file>

<file path=ppt/notesSlides/notesSlide3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98500" y="741363"/>
            <a:ext cx="5340350" cy="3697287"/>
          </a:xfrm>
          <a:ln/>
        </p:spPr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30000"/>
              </a:spcBef>
              <a:spcAft>
                <a:spcPct val="0"/>
              </a:spcAft>
            </a:pPr>
            <a:endParaRPr lang="en-NZ" altLang="ko-KR" smtClean="0"/>
          </a:p>
        </p:txBody>
      </p:sp>
    </p:spTree>
  </p:cSld>
</p:notes>
</file>

<file path=ppt/notesSlides/notesSlide4.xml><?xml version="1.0" encoding="utf-8"?>
<p:notes xmlns:p="http://schemas.openxmlformats.org/presentationml/2006/main">
  <p:cSld>
    <p:spTree xmlns:dsp="http://schemas.microsoft.com/office/drawing/2008/diagram" xmlns:a="http://schemas.openxmlformats.org/drawingml/2006/main" xmlns:r="http://schemas.openxmlformats.org/officeDocument/2006/relationships" xmlns:c="http://schemas.openxmlformats.org/drawingml/2006/chart" xmlns:dgm="http://schemas.openxmlformats.org/drawingml/2006/diagram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Rot="1" noChangeAspect="1" noChangeArrowheads="1" noTextEdit="1"/>
          </p:cNvSpPr>
          <p:nvPr>
            <p:ph type="sldImg" idx="0"/>
          </p:nvPr>
        </p:nvSpPr>
        <p:spPr>
          <a:xfrm>
            <a:off x="714375" y="746125"/>
            <a:ext cx="5370513" cy="3719513"/>
          </a:xfrm>
          <a:ln/>
        </p:spPr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</p:notes>
</file>

<file path=ppt/notesSlides/notesSlide5.xml><?xml version="1.0" encoding="utf-8"?>
<p:notes xmlns:p="http://schemas.openxmlformats.org/presentationml/2006/main">
  <p:cSld>
    <p:spTree xmlns:dsp="http://schemas.microsoft.com/office/drawing/2008/diagram" xmlns:a="http://schemas.openxmlformats.org/drawingml/2006/main" xmlns:r="http://schemas.openxmlformats.org/officeDocument/2006/relationships" xmlns:c="http://schemas.openxmlformats.org/drawingml/2006/chart" xmlns:dgm="http://schemas.openxmlformats.org/drawingml/2006/diagram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Rot="1" noChangeAspect="1" noChangeArrowheads="1" noTextEdit="1"/>
          </p:cNvSpPr>
          <p:nvPr>
            <p:ph type="sldImg" idx="0"/>
          </p:nvPr>
        </p:nvSpPr>
        <p:spPr>
          <a:xfrm>
            <a:off x="698500" y="741363"/>
            <a:ext cx="5340350" cy="3697287"/>
          </a:xfrm>
          <a:ln/>
        </p:spPr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</p:notes>
</file>

<file path=ppt/notesSlides/notesSlide6.xml><?xml version="1.0" encoding="utf-8"?>
<p:notes xmlns:p="http://schemas.openxmlformats.org/presentationml/2006/main">
  <p:cSld>
    <p:spTree xmlns:dsp="http://schemas.microsoft.com/office/drawing/2008/diagram" xmlns:a="http://schemas.openxmlformats.org/drawingml/2006/main" xmlns:r="http://schemas.openxmlformats.org/officeDocument/2006/relationships" xmlns:c="http://schemas.openxmlformats.org/drawingml/2006/chart" xmlns:dgm="http://schemas.openxmlformats.org/drawingml/2006/diagram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Rot="1" noChangeAspect="1" noChangeArrowheads="1" noTextEdit="1"/>
          </p:cNvSpPr>
          <p:nvPr>
            <p:ph type="sldImg" idx="0"/>
          </p:nvPr>
        </p:nvSpPr>
        <p:spPr>
          <a:xfrm>
            <a:off x="698500" y="741363"/>
            <a:ext cx="5340350" cy="3697287"/>
          </a:xfrm>
          <a:ln/>
        </p:spPr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</p:notes>
</file>

<file path=ppt/notesSlides/notesSlide7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ko-KR" altLang="en-US" smtClean="0"/>
              <a:pPr lvl="0">
                <a:defRPr/>
              </a:pPr>
              <a:t>1</a:t>
            </a:fld>
            <a:endParaRPr lang="ko-KR" altLang="en-US"/>
          </a:p>
        </p:txBody>
      </p:sp>
    </p:spTree>
  </p:cSld>
</p:note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lIns="0" rIns="0" anchor="b"/>
          <a:lstStyle/>
          <a:p>
            <a:pPr lvl="0" algn="l" marL="372596" indent="-372596">
              <a:spcAft>
                <a:spcPct val="0"/>
              </a:spcAft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050" y="1599162"/>
            <a:ext cx="4372951" cy="2194576"/>
          </a:xfrm>
        </p:spPr>
        <p:txBody>
          <a:bodyPr lIns="45720" rIns="4572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marL="175431" indent="-175431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/>
              <a:t>마스터 텍스트 스타일을 편집합니다</a:t>
            </a:r>
          </a:p>
          <a:p>
            <a:pPr lvl="1" marL="526292" indent="-175431">
              <a:spcAft>
                <a:spcPct val="0"/>
              </a:spcAft>
              <a:defRPr/>
            </a:pPr>
            <a:r>
              <a:rPr lang="ko-KR" altLang="en-US"/>
              <a:t>둘째 수준</a:t>
            </a:r>
          </a:p>
          <a:p>
            <a:pPr lvl="2" marL="875601" indent="-173878">
              <a:spcAft>
                <a:spcPct val="0"/>
              </a:spcAft>
              <a:defRPr/>
            </a:pPr>
            <a:r>
              <a:rPr lang="ko-KR" altLang="en-US"/>
              <a:t>셋째 수준</a:t>
            </a:r>
          </a:p>
          <a:p>
            <a:pPr lvl="3" marL="1235776" indent="-184746">
              <a:spcAft>
                <a:spcPct val="0"/>
              </a:spcAft>
              <a:defRPr/>
            </a:pPr>
            <a:r>
              <a:rPr lang="ko-KR" altLang="en-US"/>
              <a:t>넷째 수준</a:t>
            </a:r>
          </a:p>
          <a:p>
            <a:pPr lvl="4" marL="1586638" indent="-175431">
              <a:spcAft>
                <a:spcPct val="0"/>
              </a:spcAft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33019" y="1599162"/>
            <a:ext cx="4372951" cy="2194576"/>
          </a:xfrm>
        </p:spPr>
        <p:txBody>
          <a:bodyPr lIns="45720" rIns="4572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marL="175431" indent="-175431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/>
              <a:t>마스터 텍스트 스타일을 편집합니다</a:t>
            </a:r>
          </a:p>
          <a:p>
            <a:pPr lvl="1" marL="526292" indent="-175431">
              <a:spcAft>
                <a:spcPct val="0"/>
              </a:spcAft>
              <a:defRPr/>
            </a:pPr>
            <a:r>
              <a:rPr lang="ko-KR" altLang="en-US"/>
              <a:t>둘째 수준</a:t>
            </a:r>
          </a:p>
          <a:p>
            <a:pPr lvl="2" marL="875601" indent="-173878">
              <a:spcAft>
                <a:spcPct val="0"/>
              </a:spcAft>
              <a:defRPr/>
            </a:pPr>
            <a:r>
              <a:rPr lang="ko-KR" altLang="en-US"/>
              <a:t>셋째 수준</a:t>
            </a:r>
          </a:p>
          <a:p>
            <a:pPr lvl="3" marL="1235776" indent="-184746">
              <a:spcAft>
                <a:spcPct val="0"/>
              </a:spcAft>
              <a:defRPr/>
            </a:pPr>
            <a:r>
              <a:rPr lang="ko-KR" altLang="en-US"/>
              <a:t>넷째 수준</a:t>
            </a:r>
          </a:p>
          <a:p>
            <a:pPr lvl="4" marL="1586638" indent="-175431">
              <a:spcAft>
                <a:spcPct val="0"/>
              </a:spcAft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sz="half" idx="3"/>
          </p:nvPr>
        </p:nvSpPr>
        <p:spPr>
          <a:xfrm>
            <a:off x="493781" y="3981637"/>
            <a:ext cx="4372951" cy="2194576"/>
          </a:xfrm>
        </p:spPr>
        <p:txBody>
          <a:bodyPr lIns="45720" rIns="4572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marL="175431" indent="-175431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/>
              <a:t>마스터 텍스트 스타일을 편집합니다</a:t>
            </a:r>
          </a:p>
          <a:p>
            <a:pPr lvl="1" marL="526292" indent="-175431">
              <a:spcAft>
                <a:spcPct val="0"/>
              </a:spcAft>
              <a:defRPr/>
            </a:pPr>
            <a:r>
              <a:rPr lang="ko-KR" altLang="en-US"/>
              <a:t>둘째 수준</a:t>
            </a:r>
          </a:p>
          <a:p>
            <a:pPr lvl="2" marL="875601" indent="-173878">
              <a:spcAft>
                <a:spcPct val="0"/>
              </a:spcAft>
              <a:defRPr/>
            </a:pPr>
            <a:r>
              <a:rPr lang="ko-KR" altLang="en-US"/>
              <a:t>셋째 수준</a:t>
            </a:r>
          </a:p>
          <a:p>
            <a:pPr lvl="3" marL="1235776" indent="-184746">
              <a:spcAft>
                <a:spcPct val="0"/>
              </a:spcAft>
              <a:defRPr/>
            </a:pPr>
            <a:r>
              <a:rPr lang="ko-KR" altLang="en-US"/>
              <a:t>넷째 수준</a:t>
            </a:r>
          </a:p>
          <a:p>
            <a:pPr lvl="4" marL="1586638" indent="-175431">
              <a:spcAft>
                <a:spcPct val="0"/>
              </a:spcAft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half" idx="4"/>
          </p:nvPr>
        </p:nvSpPr>
        <p:spPr>
          <a:xfrm>
            <a:off x="5031750" y="3981637"/>
            <a:ext cx="4372951" cy="2194576"/>
          </a:xfrm>
        </p:spPr>
        <p:txBody>
          <a:bodyPr lIns="45720" rIns="4572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marL="175431" indent="-175431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/>
              <a:t>마스터 텍스트 스타일을 편집합니다</a:t>
            </a:r>
          </a:p>
          <a:p>
            <a:pPr lvl="1" marL="526292" indent="-175431">
              <a:spcAft>
                <a:spcPct val="0"/>
              </a:spcAft>
              <a:defRPr/>
            </a:pPr>
            <a:r>
              <a:rPr lang="ko-KR" altLang="en-US"/>
              <a:t>둘째 수준</a:t>
            </a:r>
          </a:p>
          <a:p>
            <a:pPr lvl="2" marL="875601" indent="-173878">
              <a:spcAft>
                <a:spcPct val="0"/>
              </a:spcAft>
              <a:defRPr/>
            </a:pPr>
            <a:r>
              <a:rPr lang="ko-KR" altLang="en-US"/>
              <a:t>셋째 수준</a:t>
            </a:r>
          </a:p>
          <a:p>
            <a:pPr lvl="3" marL="1235776" indent="-184746">
              <a:spcAft>
                <a:spcPct val="0"/>
              </a:spcAft>
              <a:defRPr/>
            </a:pPr>
            <a:r>
              <a:rPr lang="ko-KR" altLang="en-US"/>
              <a:t>넷째 수준</a:t>
            </a:r>
          </a:p>
          <a:p>
            <a:pPr lvl="4" marL="1586638" indent="-175431">
              <a:spcAft>
                <a:spcPct val="0"/>
              </a:spcAft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10" name="날짜 개체 틀 3"/>
          <p:cNvSpPr>
            <a:spLocks noGrp="1"/>
          </p:cNvSpPr>
          <p:nvPr>
            <p:ph type="dt" sz="half" idx="10"/>
          </p:nvPr>
        </p:nvSpPr>
        <p:spPr>
          <a:xfrm>
            <a:off x="493650" y="6352034"/>
            <a:ext cx="2310957" cy="365046"/>
          </a:xfr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>
            <a:lvl1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 kumimoji="1" lang="ko-KR" altLang="en-US" sz="1200" b="0" i="0" baseline="0">
                <a:solidFill>
                  <a:schemeClr val="tx1"/>
                </a:solidFill>
                <a:ea typeface="바탕"/>
              </a:defRPr>
            </a:lvl1pPr>
          </a:lstStyle>
          <a:p>
            <a: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fld id="{D8D7A7C4-C82A-4D21-9AB0-F0C5A1D3EF09}" type="datetime1">
              <a:rPr kumimoji="1" lang="ko-KR" altLang="en-US" sz="1200" b="0" i="0" baseline="0">
                <a:solidFill>
                  <a:schemeClr val="tx1"/>
                </a:solidFill>
                <a:latin typeface="+mn-lt"/>
                <a:ea typeface="바탕"/>
                <a:cs typeface="+mn-cs"/>
              </a:rPr>
              <a:pPr marL="0" lvl="0" indent="0" algn="l" rtl="0" eaLnBrk="1" latinLnBrk="1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None/>
                <a:defRPr/>
              </a:pPr>
              <a:t>2024-05-31</a:t>
            </a:fld>
            <a:endParaRPr kumimoji="1" lang="ko-KR" altLang="en-US" sz="1200" b="0" i="0" baseline="0">
              <a:solidFill>
                <a:schemeClr val="tx1"/>
              </a:solidFill>
              <a:latin typeface="+mn-lt"/>
              <a:ea typeface="바탕"/>
              <a:cs typeface="+mn-cs"/>
            </a:endParaRPr>
          </a:p>
        </p:txBody>
      </p:sp>
      <p:sp>
        <p:nvSpPr>
          <p:cNvPr id="11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382318" y="6352034"/>
            <a:ext cx="3134767" cy="365046"/>
          </a:xfr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>
            <a:lvl1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 kumimoji="1" lang="ko-KR" altLang="en-US" sz="1200" b="0" i="0" baseline="0">
                <a:solidFill>
                  <a:schemeClr val="tx1"/>
                </a:solidFill>
                <a:ea typeface="바탕"/>
              </a:defRPr>
            </a:lvl1pPr>
          </a:lstStyle>
          <a:p>
            <a: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endParaRPr kumimoji="1" lang="ko-KR" altLang="en-US" sz="1200" b="0" i="0" baseline="0">
              <a:solidFill>
                <a:schemeClr val="tx1"/>
              </a:solidFill>
              <a:ea typeface="바탕"/>
            </a:endParaRPr>
          </a:p>
        </p:txBody>
      </p:sp>
      <p:sp>
        <p:nvSpPr>
          <p:cNvPr id="12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7094854" y="6352034"/>
            <a:ext cx="2310957" cy="365046"/>
          </a:xfr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>
            <a:lvl1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 kumimoji="1" lang="ko-KR" altLang="en-US" sz="1200" b="0" i="0" baseline="0">
                <a:solidFill>
                  <a:schemeClr val="tx1"/>
                </a:solidFill>
                <a:latin typeface="Arial"/>
                <a:ea typeface="Arial"/>
              </a:defRPr>
            </a:lvl1pPr>
          </a:lstStyle>
          <a:p>
            <a: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fld id="{9327EF7B-8B08-4053-A0CD-9D52558E44A8}" type="slidenum">
              <a:rPr kumimoji="1" lang="ko-KR" altLang="en-US" sz="1200" b="0" i="0" baseline="0">
                <a:solidFill>
                  <a:schemeClr val="tx1"/>
                </a:solidFill>
                <a:latin typeface="Arial"/>
                <a:ea typeface="Arial"/>
              </a:rPr>
              <a:pPr marL="0" lvl="0" indent="0" algn="l" rtl="0" eaLnBrk="1" latinLnBrk="1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None/>
                <a:defRPr/>
              </a:pPr>
              <a:t>‹#›</a:t>
            </a:fld>
            <a:endParaRPr kumimoji="1" lang="ko-KR" altLang="en-US" sz="1200" b="0" i="0" baseline="0">
              <a:solidFill>
                <a:schemeClr val="tx1"/>
              </a:solidFill>
              <a:latin typeface="Arial"/>
              <a:ea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13" Target="../media/image3.emf" Type="http://schemas.openxmlformats.org/officeDocument/2006/relationships/imag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223730" y="101530"/>
            <a:ext cx="9055507" cy="43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b" anchorCtr="0" compatLnSpc="1">
            <a:prstTxWarp prst="textNoShape">
              <a:avLst/>
            </a:prstTxWarp>
          </a:bodyPr>
          <a:lstStyle/>
          <a:p>
            <a:pPr lvl="0" algn="l" marL="372596" indent="-372596">
              <a:spcAft>
                <a:spcPct val="0"/>
              </a:spcAft>
            </a:pPr>
            <a:r>
              <a:rPr lang="en-US" altLang="ko-KR"/>
              <a:t>Header text</a:t>
            </a:r>
          </a:p>
        </p:txBody>
      </p:sp>
      <p:sp>
        <p:nvSpPr>
          <p:cNvPr id="1027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5062" y="836032"/>
            <a:ext cx="8911114" cy="52858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5720" tIns="45720" rIns="45720" bIns="45720" numCol="1" anchor="t" anchorCtr="0" compatLnSpc="1">
            <a:prstTxWarp prst="textNoShape">
              <a:avLst/>
            </a:prstTxWarp>
          </a:bodyPr>
          <a:lstStyle/>
          <a:p>
            <a:pPr lvl="0" marL="175431" indent="-175431">
              <a:spcBef>
                <a:spcPct val="0"/>
              </a:spcBef>
              <a:spcAft>
                <a:spcPct val="0"/>
              </a:spcAft>
            </a:pPr>
            <a:r>
              <a:rPr lang="en-US" altLang="ko-KR"/>
              <a:t>Level One Text</a:t>
            </a:r>
          </a:p>
          <a:p>
            <a:pPr lvl="1" marL="526292" indent="-175431">
              <a:spcAft>
                <a:spcPct val="0"/>
              </a:spcAft>
            </a:pPr>
            <a:r>
              <a:rPr lang="en-US" altLang="ko-KR"/>
              <a:t>Level Two Text</a:t>
            </a:r>
          </a:p>
          <a:p>
            <a:pPr lvl="2" marL="875601" indent="-173878">
              <a:spcAft>
                <a:spcPct val="0"/>
              </a:spcAft>
            </a:pPr>
            <a:r>
              <a:rPr lang="en-US" altLang="ko-KR"/>
              <a:t>Level Three Text</a:t>
            </a:r>
          </a:p>
          <a:p>
            <a:pPr lvl="3" marL="1235776" indent="-184746">
              <a:spcAft>
                <a:spcPct val="0"/>
              </a:spcAft>
            </a:pPr>
            <a:r>
              <a:rPr lang="en-US" altLang="ko-KR"/>
              <a:t>Level Four Text</a:t>
            </a:r>
          </a:p>
          <a:p>
            <a:pPr lvl="4" marL="1586638" indent="-175431">
              <a:spcAft>
                <a:spcPct val="0"/>
              </a:spcAft>
            </a:pPr>
            <a:r>
              <a:rPr lang="en-US" altLang="ko-KR"/>
              <a:t>Level Five Text</a:t>
            </a:r>
          </a:p>
        </p:txBody>
      </p:sp>
      <p:sp>
        <p:nvSpPr>
          <p:cNvPr id="1028" name="Line 10"/>
          <p:cNvSpPr>
            <a:spLocks noChangeShapeType="1"/>
          </p:cNvSpPr>
          <p:nvPr/>
        </p:nvSpPr>
        <p:spPr bwMode="auto">
          <a:xfrm>
            <a:off x="152327" y="609177"/>
            <a:ext cx="9406176" cy="0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4"/>
          </a:p>
        </p:txBody>
      </p:sp>
      <p:sp>
        <p:nvSpPr>
          <p:cNvPr id="1029" name="Line 27"/>
          <p:cNvSpPr>
            <a:spLocks noChangeShapeType="1"/>
          </p:cNvSpPr>
          <p:nvPr/>
        </p:nvSpPr>
        <p:spPr bwMode="auto">
          <a:xfrm flipV="1">
            <a:off x="598200" y="6610520"/>
            <a:ext cx="0" cy="21575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 sz="2714"/>
          </a:p>
        </p:txBody>
      </p: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049" y="6512166"/>
            <a:ext cx="852077" cy="3188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4" name="Rectangle 10"/>
          <p:cNvSpPr>
            <a:spLocks noChangeArrowheads="1"/>
          </p:cNvSpPr>
          <p:nvPr/>
        </p:nvSpPr>
        <p:spPr bwMode="auto">
          <a:xfrm>
            <a:off x="4687223" y="6558168"/>
            <a:ext cx="493476" cy="287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latinLnBrk="1" hangingPunct="1">
              <a:defRPr/>
            </a:pPr>
            <a:fld id="{A8DA2539-2289-4BBF-8B15-ACBAB22FB2D8}" type="slidenum">
              <a:rPr kumimoji="1" lang="en-US" altLang="ko-KR" sz="978" smtClean="0">
                <a:solidFill>
                  <a:srgbClr val="000000"/>
                </a:solidFill>
                <a:latin typeface="Arial" panose="020B0604020202020204" pitchFamily="34" charset="0"/>
                <a:ea typeface="아리따M"/>
                <a:cs typeface="아리따M"/>
              </a:rPr>
              <a:pPr algn="ctr" eaLnBrk="1" latinLnBrk="1" hangingPunct="1">
                <a:defRPr/>
              </a:pPr>
              <a:t>‹#›</a:t>
            </a:fld>
            <a:endParaRPr kumimoji="1" lang="en-US" altLang="ko-KR" sz="978">
              <a:solidFill>
                <a:srgbClr val="000000"/>
              </a:solidFill>
              <a:latin typeface="Arial" panose="020B0604020202020204" pitchFamily="34" charset="0"/>
              <a:ea typeface="아리따M"/>
              <a:cs typeface="아리따M"/>
            </a:endParaRPr>
          </a:p>
        </p:txBody>
      </p:sp>
      <p:sp>
        <p:nvSpPr>
          <p:cNvPr id="2" name="MSIPCMContentMarking" descr="{&quot;HashCode&quot;:1183346205,&quot;Placement&quot;:&quot;Footer&quot;,&quot;Top&quot;:517.622253,&quot;Left&quot;:0.0,&quot;SlideWidth&quot;:779,&quot;SlideHeight&quot;:539}">
            <a:extLst>
              <a:ext uri="{FF2B5EF4-FFF2-40B4-BE49-F238E27FC236}">
                <a16:creationId xmlns:a16="http://schemas.microsoft.com/office/drawing/2014/main" id="{06CD49F0-D643-4002-B42C-3477312F1EA3}"/>
              </a:ext>
            </a:extLst>
          </p:cNvPr>
          <p:cNvSpPr txBox="1"/>
          <p:nvPr userDrawn="1"/>
        </p:nvSpPr>
        <p:spPr>
          <a:xfrm>
            <a:off x="0" y="6573803"/>
            <a:ext cx="1757926" cy="279435"/>
          </a:xfrm>
          <a:prstGeom prst="rect">
            <a:avLst/>
          </a:prstGeom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altLang="ko-KR" sz="1100">
                <a:solidFill>
                  <a:srgbClr val="5F5F5F"/>
                </a:solidFill>
                <a:latin typeface="Calibri" panose="020F0502020204030204" pitchFamily="34" charset="0"/>
              </a:rPr>
              <a:t>S-OIL: Company Use Only</a:t>
            </a:r>
            <a:endParaRPr lang="ko-KR" altLang="en-US" sz="1100">
              <a:solidFill>
                <a:srgbClr val="5F5F5F"/>
              </a:solidFill>
              <a:latin typeface="Calibri" panose="020F050202020403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notesSlides/notesSlide1.xml" Type="http://schemas.openxmlformats.org/officeDocument/2006/relationships/notesSlide"/></Relationships>
</file>

<file path=ppt/slides/_rels/slide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6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/Relationships>
</file>

<file path=ppt/slides/_rels/slide7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8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/Relationships>
</file>

<file path=ppt/slides/_rels/slide19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/Relationships>
</file>

<file path=ppt/slides/_rels/slide20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/Relationships>
</file>

<file path=ppt/slides/_rels/slide2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showMasterSp="false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Box 7"/>
          <p:cNvSpPr txBox="1">
            <a:spLocks noChangeArrowheads="1"/>
          </p:cNvSpPr>
          <p:nvPr/>
        </p:nvSpPr>
        <p:spPr>
          <a:xfrm>
            <a:off x="2054393" y="2265519"/>
            <a:ext cx="5763041" cy="50435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altLang="ko-KR" b="0" kumimoji="1" lang="en-US" sz="2740">
                <a:solidFill>
                  <a:srgbClr val="000000"/>
                </a:solidFill>
                <a:latin typeface="HY견고딕"/>
                <a:ea typeface="HY견고딕"/>
              </a:rPr>
              <a:t>ITO </a:t>
            </a:r>
            <a:r>
              <a:rPr altLang="en-US" b="0" kumimoji="1" lang="ko-KR" sz="2740">
                <a:solidFill>
                  <a:srgbClr val="000000"/>
                </a:solidFill>
                <a:latin typeface="HY견고딕"/>
                <a:ea typeface="HY견고딕"/>
              </a:rPr>
              <a:t>운영 주간보고서 </a:t>
            </a:r>
            <a:r>
              <a:rPr altLang="ko-KR" b="0" kumimoji="1" lang="en-US" sz="2740">
                <a:solidFill>
                  <a:srgbClr val="000000"/>
                </a:solidFill>
                <a:latin typeface="HY견고딕"/>
                <a:ea typeface="HY견고딕"/>
              </a:rPr>
              <a:t>(AMS)</a:t>
            </a:r>
            <a:endParaRPr altLang="en-US" b="0" kumimoji="1" lang="ko-KR" sz="2740">
              <a:solidFill>
                <a:srgbClr val="000000"/>
              </a:solidFill>
              <a:latin typeface="HY견고딕"/>
              <a:ea typeface="HY견고딕"/>
            </a:endParaRPr>
          </a:p>
        </p:txBody>
      </p:sp>
      <p:pic>
        <p:nvPicPr>
          <p:cNvPr id="10243" name="Picture 2"/>
          <p:cNvPicPr>
            <a:picLocks noChangeArrowheads="1" noChangeAspect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499459" y="521072"/>
            <a:ext cx="1542506" cy="517276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descr="BD15156_" id="10244" name="Picture 4"/>
          <p:cNvPicPr>
            <a:picLocks noChangeArrowheads="1" noChangeAspect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285470" y="2832502"/>
            <a:ext cx="7322635" cy="86989"/>
          </a:xfrm>
          <a:prstGeom prst="rect">
            <a:avLst/>
          </a:prstGeom>
          <a:noFill/>
          <a:ln>
            <a:noFill/>
          </a:ln>
        </p:spPr>
      </p:pic>
      <p:sp>
        <p:nvSpPr>
          <p:cNvPr id="10245" name="Rectangle 3"/>
          <p:cNvSpPr txBox="1">
            <a:spLocks noChangeArrowheads="1"/>
          </p:cNvSpPr>
          <p:nvPr/>
        </p:nvSpPr>
        <p:spPr>
          <a:xfrm>
            <a:off x="3034575" y="4685685"/>
            <a:ext cx="3808889" cy="372811"/>
          </a:xfrm>
          <a:prstGeom prst="rect">
            <a:avLst/>
          </a:prstGeom>
          <a:noFill/>
          <a:ln>
            <a:noFill/>
          </a:ln>
        </p:spPr>
        <p:txBody>
          <a:bodyPr bIns="46758" lIns="93521" rIns="93521" tIns="18410"/>
          <a:lstStyle>
            <a:lvl1pPr defTabSz="860425" indent="-342900" marL="342900">
              <a:buChar char="•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1pPr>
            <a:lvl2pPr defTabSz="860425" indent="-285750" marL="74295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2pPr>
            <a:lvl3pPr defTabSz="860425" indent="-228600" marL="11430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3pPr>
            <a:lvl4pPr defTabSz="860425" indent="-228600" marL="160020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4pPr>
            <a:lvl5pPr defTabSz="860425" indent="-228600" marL="2057400">
              <a:spcBef>
                <a:spcPct val="20000"/>
              </a:spcBef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5pPr>
            <a:lvl6pPr defTabSz="860425" eaLnBrk="0" fontAlgn="base" hangingPunct="0" indent="-228600" marL="25146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6pPr>
            <a:lvl7pPr defTabSz="860425" eaLnBrk="0" fontAlgn="base" hangingPunct="0" indent="-228600" marL="29718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7pPr>
            <a:lvl8pPr defTabSz="860425" eaLnBrk="0" fontAlgn="base" hangingPunct="0" indent="-228600" marL="34290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8pPr>
            <a:lvl9pPr defTabSz="860425" eaLnBrk="0" fontAlgn="base" hangingPunct="0" indent="-228600" marL="38862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9pPr>
          </a:lstStyle>
          <a:p>
            <a:pPr algn="ctr" eaLnBrk="1" hangingPunct="1" latinLnBrk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Tx/>
              <a:buNone/>
              <a:defRPr/>
            </a:pPr>
            <a:r>
              <a:rPr b="true" lang="en-US" sz="1960">
                <a:latin typeface="맑은 고딕"/>
              </a:rPr>
              <a:t>[2024.06.11 ~ 2024.06.17]</a:t>
            </a:r>
            <a:endParaRPr altLang="ko-KR" kumimoji="0" lang="en-US" sz="1957">
              <a:latin typeface="맑은 고딕"/>
              <a:ea typeface="맑은 고딕"/>
              <a:cs typeface="+mn-cs"/>
            </a:endParaRPr>
          </a:p>
        </p:txBody>
      </p:sp>
      <p:sp>
        <p:nvSpPr>
          <p:cNvPr id="10246" name="TextBox 10"/>
          <p:cNvSpPr txBox="1">
            <a:spLocks noChangeArrowheads="1"/>
          </p:cNvSpPr>
          <p:nvPr/>
        </p:nvSpPr>
        <p:spPr>
          <a:xfrm>
            <a:off x="4171651" y="3559484"/>
            <a:ext cx="1530014" cy="45384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b="true" lang="en-US" sz="1960">
                <a:solidFill>
                  <a:srgbClr val="000000"/>
                </a:solidFill>
                <a:latin typeface="맑은 고딕"/>
              </a:rPr>
              <a:t>6월 3주차</a:t>
            </a:r>
            <a:endParaRPr altLang="en-US" kumimoji="1" lang="ko-KR" sz="2349">
              <a:solidFill>
                <a:srgbClr val="000000"/>
              </a:solidFill>
            </a:endParaRPr>
          </a:p>
        </p:txBody>
      </p:sp>
      <p:sp>
        <p:nvSpPr>
          <p:cNvPr id="9" name="Line 18"/>
          <p:cNvSpPr>
            <a:spLocks noChangeShapeType="1"/>
          </p:cNvSpPr>
          <p:nvPr/>
        </p:nvSpPr>
        <p:spPr bwMode="auto">
          <a:xfrm>
            <a:off x="0" y="1600200"/>
            <a:ext cx="9906000" cy="0"/>
          </a:xfrm>
          <a:prstGeom prst="line">
            <a:avLst/>
          </a:prstGeom>
          <a:noFill/>
          <a:ln w="9525">
            <a:solidFill>
              <a:srgbClr val="BBE0E3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>
              <a:spcBef>
                <a:spcPct val="0"/>
              </a:spcBef>
              <a:spcAft>
                <a:spcPct val="0"/>
              </a:spcAft>
            </a:pPr>
            <a:endParaRPr altLang="en-US" lang="ko-KR" sz="2716"/>
          </a:p>
        </p:txBody>
      </p:sp>
      <p:sp>
        <p:nvSpPr>
          <p:cNvPr id="10" name="Line 18"/>
          <p:cNvSpPr>
            <a:spLocks noChangeShapeType="1"/>
          </p:cNvSpPr>
          <p:nvPr/>
        </p:nvSpPr>
        <p:spPr bwMode="auto">
          <a:xfrm>
            <a:off x="0" y="5257800"/>
            <a:ext cx="9906000" cy="0"/>
          </a:xfrm>
          <a:prstGeom prst="line">
            <a:avLst/>
          </a:prstGeom>
          <a:noFill/>
          <a:ln w="9525">
            <a:solidFill>
              <a:srgbClr val="BBE0E3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>
              <a:spcBef>
                <a:spcPct val="0"/>
              </a:spcBef>
              <a:spcAft>
                <a:spcPct val="0"/>
              </a:spcAft>
            </a:pPr>
            <a:endParaRPr altLang="en-US" lang="ko-KR" sz="2716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6" name="표 3075"/>
          <p:cNvGraphicFramePr/>
          <p:nvPr>
            <p:extLst>
              <p:ext uri="{D42A27DB-BD31-4B8C-83A1-F6EECF244321}">
                <p14:modId xmlns:p14="http://schemas.microsoft.com/office/powerpoint/2010/main" val="2072053922"/>
              </p:ext>
            </p:extLst>
          </p:nvPr>
        </p:nvGraphicFramePr>
        <p:xfrm>
          <a:off x="271440" y="1141189"/>
          <a:ext cx="9318451" cy="5164874"/>
        </p:xfrm>
        <a:graphic>
          <a:graphicData uri="http://schemas.openxmlformats.org/drawingml/2006/table">
            <a:tbl>
              <a:tblPr bandRow="1" firstRow="1"/>
              <a:tblGrid>
                <a:gridCol w="1320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53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50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3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9518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8572"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FF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일</a:t>
                      </a:r>
                      <a:endParaRPr altLang="en-US" b="0" dirty="0" i="0" kumimoji="1" lang="ko-KR" sz="900">
                        <a:solidFill>
                          <a:srgbClr val="FF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월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화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수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목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금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0000FF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토</a:t>
                      </a:r>
                      <a:endParaRPr altLang="en-US" b="0" dirty="0" i="0" kumimoji="1" lang="ko-KR" sz="900">
                        <a:solidFill>
                          <a:srgbClr val="0000FF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1392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4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5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6</a:t>
                      </a:r>
                    </a:p>
                    <a:p>
                      <a:endParaRPr altLang="ko-KR" dirty="0" lang="en-US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r>
                        <a:rPr altLang="en-US" dirty="0" lang="ko-KR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현충일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7</a:t>
                      </a:r>
                    </a:p>
                    <a:p>
                      <a:endParaRPr altLang="ko-KR" dirty="0" lang="en-US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Off Duty Day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6" marT="45716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9176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11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13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14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15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52327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16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17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18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19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20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21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22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49146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23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24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25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26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27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28</a:t>
                      </a:r>
                    </a:p>
                    <a:p>
                      <a:endParaRPr altLang="ko-KR" dirty="0" lang="en-US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r>
                        <a:rPr altLang="en-US" dirty="0" err="1" lang="ko-KR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에쓰오일</a:t>
                      </a:r>
                      <a:r>
                        <a:rPr altLang="en-US" dirty="0" lang="ko-KR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창립기념일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29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14235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30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246" name="TextBox 3245"/>
          <p:cNvSpPr txBox="1"/>
          <p:nvPr/>
        </p:nvSpPr>
        <p:spPr>
          <a:xfrm>
            <a:off x="5639356" y="661884"/>
            <a:ext cx="661884" cy="363427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none">
            <a:noAutofit/>
          </a:bodyPr>
          <a:lstStyle/>
          <a:p>
            <a:pPr algn="r" defTabSz="75524200" eaLnBrk="0" hangingPunct="0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00000"/>
              <a:buFont typeface="Arial"/>
              <a:buChar char="◑"/>
              <a:defRPr/>
            </a:pPr>
            <a:r>
              <a:rPr altLang="en-US" b="0" baseline="0" i="0" kumimoji="1" lang="ko-KR" sz="90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반 차</a:t>
            </a:r>
          </a:p>
          <a:p>
            <a:pPr algn="r" defTabSz="75524200" eaLnBrk="0" hangingPunct="0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50000"/>
              <a:buFont typeface="Wingdings"/>
              <a:buChar char="l"/>
              <a:defRPr/>
            </a:pPr>
            <a:r>
              <a:rPr altLang="en-US" b="0" baseline="0" i="0" kumimoji="1" lang="ko-KR" sz="90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 1day</a:t>
            </a:r>
            <a:endParaRPr altLang="en-US" b="0" i="0" kumimoji="1" lang="ko-KR" sz="900">
              <a:solidFill>
                <a:srgbClr val="3333CC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7" name="TextBox 3246"/>
          <p:cNvSpPr txBox="1"/>
          <p:nvPr/>
        </p:nvSpPr>
        <p:spPr>
          <a:xfrm>
            <a:off x="226954" y="199994"/>
            <a:ext cx="9056616" cy="336468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ctr" bIns="45789" lIns="91577" rIns="91577" tIns="45789" vert="horz" wrap="square">
            <a:noAutofit/>
          </a:bodyPr>
          <a:lstStyle/>
          <a:p>
            <a:pPr algn="l" defTabSz="58846888" eaLnBrk="0" hangingPunct="0" indent="-385813" latinLnBrk="0" lvl="0" marL="38581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별첨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-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2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202</a:t>
            </a:r>
            <a:r>
              <a:rPr altLang="ko-KR" b="1" baseline="0" dirty="0" i="0" kumimoji="1" lang="en-US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4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 </a:t>
            </a:r>
            <a:r>
              <a:rPr altLang="ko-KR" b="1" baseline="0" dirty="0" i="0" kumimoji="1" lang="en-US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06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월 휴가계획서</a:t>
            </a:r>
            <a:endParaRPr altLang="en-US" b="1" dirty="0" i="0" kumimoji="1" lang="ko-KR" sz="160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8" name="TextBox 3247"/>
          <p:cNvSpPr txBox="1"/>
          <p:nvPr/>
        </p:nvSpPr>
        <p:spPr>
          <a:xfrm>
            <a:off x="6777363" y="666628"/>
            <a:ext cx="1447571" cy="355557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square">
            <a:noAutofit/>
          </a:bodyPr>
          <a:lstStyle/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Ø"/>
              <a:defRPr/>
            </a:pP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예비군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/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민방위 훈련 </a:t>
            </a:r>
          </a:p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ü"/>
              <a:defRPr/>
            </a:pP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교육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,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 내부회의 </a:t>
            </a:r>
            <a:endParaRPr altLang="en-US" b="0" dirty="0" i="0" kumimoji="1" lang="ko-KR" sz="90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2" name="TextBox 3251"/>
          <p:cNvSpPr txBox="1"/>
          <p:nvPr/>
        </p:nvSpPr>
        <p:spPr>
          <a:xfrm>
            <a:off x="7853525" y="661884"/>
            <a:ext cx="1676088" cy="355501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square">
            <a:noAutofit/>
          </a:bodyPr>
          <a:lstStyle/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v"/>
              <a:defRPr/>
            </a:pP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경조휴가</a:t>
            </a:r>
          </a:p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Arial"/>
              <a:buChar char="◇"/>
              <a:defRPr/>
            </a:pP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건강검진</a:t>
            </a:r>
            <a:endParaRPr altLang="en-US" b="0" i="0" kumimoji="1" lang="ko-KR" sz="90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3" name="TextBox 3252"/>
          <p:cNvSpPr txBox="1"/>
          <p:nvPr/>
        </p:nvSpPr>
        <p:spPr>
          <a:xfrm>
            <a:off x="722167" y="6401209"/>
            <a:ext cx="3085536" cy="223828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ctr" bIns="45720" lIns="91440" rIns="91440" tIns="45720" vert="horz" wrap="none">
            <a:noAutofit/>
          </a:bodyPr>
          <a:lstStyle/>
          <a:p>
            <a:pPr algn="r" defTabSz="75524200" eaLnBrk="0" hangingPunct="0" indent="0" latinLnBrk="0" lvl="0" marL="0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H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IT운영팀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R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생산IT지원팀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B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Baynex 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Q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Quintet</a:t>
            </a:r>
            <a:endParaRPr altLang="en-US" b="0" i="0" kumimoji="1" lang="ko-KR" sz="90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AutoShape 125"/>
          <p:cNvSpPr>
            <a:spLocks noChangeArrowheads="1"/>
          </p:cNvSpPr>
          <p:nvPr/>
        </p:nvSpPr>
        <p:spPr bwMode="auto">
          <a:xfrm>
            <a:off x="2486232" y="2518720"/>
            <a:ext cx="5711781" cy="391452"/>
          </a:xfrm>
          <a:prstGeom prst="roundRect">
            <a:avLst>
              <a:gd fmla="val 16667" name="adj"/>
            </a:avLst>
          </a:prstGeom>
          <a:solidFill>
            <a:schemeClr val="bg1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63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 lIns="176131" wrap="none"/>
          <a:lstStyle>
            <a:lvl1pPr defTabSz="762000" indent="-342900" marL="3429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762000" indent="-385763" marL="5651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76200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76200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76200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76200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76200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76200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76200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lvl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altLang="en-US" lang="ko-KR" sz="1566">
                <a:solidFill>
                  <a:schemeClr val="tx1"/>
                </a:solidFill>
              </a:rPr>
              <a:t>주간업무 실적 및 계획</a:t>
            </a:r>
          </a:p>
        </p:txBody>
      </p:sp>
      <p:sp>
        <p:nvSpPr>
          <p:cNvPr id="12291" name="Rectangle 3"/>
          <p:cNvSpPr>
            <a:spLocks noChangeArrowheads="1" noGrp="1"/>
          </p:cNvSpPr>
          <p:nvPr>
            <p:ph idx="4294967295" type="subTitle"/>
          </p:nvPr>
        </p:nvSpPr>
        <p:spPr>
          <a:xfrm>
            <a:off x="255577" y="297385"/>
            <a:ext cx="4927323" cy="372811"/>
          </a:xfrm>
        </p:spPr>
        <p:txBody>
          <a:bodyPr anchor="t" anchorCtr="0" bIns="46759" compatLnSpc="1" lIns="93521" numCol="1" rIns="93521" tIns="18410" vert="horz" wrap="square">
            <a:prstTxWarp prst="textNoShape">
              <a:avLst/>
            </a:prstTxWarp>
          </a:bodyPr>
          <a:lstStyle/>
          <a:p>
            <a:pPr defTabSz="894857" eaLnBrk="1" hangingPunct="1" indent="0" marL="0">
              <a:spcBef>
                <a:spcPct val="0"/>
              </a:spcBef>
              <a:spcAft>
                <a:spcPct val="0"/>
              </a:spcAft>
              <a:buNone/>
            </a:pPr>
            <a:r>
              <a:rPr altLang="en-US" b="1" lang="ko-KR" sz="1566">
                <a:latin charset="-127" panose="020B0503020000020004" pitchFamily="50" typeface="맑은 고딕"/>
                <a:ea charset="-127" panose="020B0503020000020004" pitchFamily="50" typeface="맑은 고딕"/>
              </a:rPr>
              <a:t>목차 </a:t>
            </a:r>
          </a:p>
        </p:txBody>
      </p:sp>
      <p:sp>
        <p:nvSpPr>
          <p:cNvPr id="12292" name="AutoShape 88"/>
          <p:cNvSpPr>
            <a:spLocks noChangeArrowheads="1"/>
          </p:cNvSpPr>
          <p:nvPr/>
        </p:nvSpPr>
        <p:spPr bwMode="auto">
          <a:xfrm>
            <a:off x="2487786" y="1943968"/>
            <a:ext cx="5711780" cy="391452"/>
          </a:xfrm>
          <a:prstGeom prst="roundRect">
            <a:avLst>
              <a:gd fmla="val 16667" name="adj"/>
            </a:avLst>
          </a:prstGeom>
          <a:solidFill>
            <a:schemeClr val="bg1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63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 lIns="176131" wrap="none"/>
          <a:lstStyle>
            <a:lvl1pPr defTabSz="762000" indent="-342900" marL="3429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762000" indent="-385763" marL="5651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76200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76200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76200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76200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76200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76200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76200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lvl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altLang="ko-KR" lang="en-US" sz="1566">
                <a:solidFill>
                  <a:schemeClr val="tx1"/>
                </a:solidFill>
              </a:rPr>
              <a:t>Summary</a:t>
            </a:r>
            <a:endParaRPr altLang="en-US" lang="ko-KR" sz="1566">
              <a:solidFill>
                <a:schemeClr val="tx1"/>
              </a:solidFill>
            </a:endParaRPr>
          </a:p>
        </p:txBody>
      </p:sp>
      <p:grpSp>
        <p:nvGrpSpPr>
          <p:cNvPr id="12293" name="Group 89"/>
          <p:cNvGrpSpPr>
            <a:grpSpLocks/>
          </p:cNvGrpSpPr>
          <p:nvPr/>
        </p:nvGrpSpPr>
        <p:grpSpPr bwMode="auto">
          <a:xfrm>
            <a:off x="2046626" y="2487652"/>
            <a:ext cx="539023" cy="487761"/>
            <a:chOff x="2225" y="1060"/>
            <a:chExt cx="294" cy="292"/>
          </a:xfrm>
        </p:grpSpPr>
        <p:grpSp>
          <p:nvGrpSpPr>
            <p:cNvPr id="12303" name="Group 90"/>
            <p:cNvGrpSpPr>
              <a:grpSpLocks/>
            </p:cNvGrpSpPr>
            <p:nvPr/>
          </p:nvGrpSpPr>
          <p:grpSpPr bwMode="auto">
            <a:xfrm>
              <a:off x="2225" y="1060"/>
              <a:ext cx="294" cy="292"/>
              <a:chOff x="-233" y="400"/>
              <a:chExt cx="669" cy="669"/>
            </a:xfrm>
          </p:grpSpPr>
          <p:grpSp>
            <p:nvGrpSpPr>
              <p:cNvPr id="12305" name="Group 91"/>
              <p:cNvGrpSpPr>
                <a:grpSpLocks/>
              </p:cNvGrpSpPr>
              <p:nvPr/>
            </p:nvGrpSpPr>
            <p:grpSpPr bwMode="auto">
              <a:xfrm>
                <a:off x="-233" y="400"/>
                <a:ext cx="669" cy="669"/>
                <a:chOff x="5297" y="1592"/>
                <a:chExt cx="669" cy="669"/>
              </a:xfrm>
            </p:grpSpPr>
            <p:sp>
              <p:nvSpPr>
                <p:cNvPr id="12307" name="Oval 92"/>
                <p:cNvSpPr>
                  <a:spLocks noChangeArrowheads="1"/>
                </p:cNvSpPr>
                <p:nvPr/>
              </p:nvSpPr>
              <p:spPr bwMode="auto">
                <a:xfrm>
                  <a:off x="5297" y="1592"/>
                  <a:ext cx="669" cy="669"/>
                </a:xfrm>
                <a:prstGeom prst="ellipse">
                  <a:avLst/>
                </a:prstGeom>
                <a:solidFill>
                  <a:srgbClr val="EAEEF6"/>
                </a:solidFill>
                <a:ln algn="ctr" w="6350">
                  <a:solidFill>
                    <a:srgbClr val="95AAD3"/>
                  </a:solidFill>
                  <a:round/>
                  <a:headEnd/>
                  <a:tailEnd/>
                </a:ln>
                <a:effectLst>
                  <a:outerShdw algn="ctr" dir="2700000" dist="35921" rotWithShape="0">
                    <a:schemeClr val="bg2"/>
                  </a:outerShdw>
                </a:effectLst>
              </p:spPr>
              <p:txBody>
                <a:bodyPr anchor="ctr" wrap="none"/>
                <a:lstStyle>
                  <a:lvl1pPr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1pPr>
                  <a:lvl2pPr indent="-285750" marL="74295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2pPr>
                  <a:lvl3pPr indent="-228600" marL="11430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3pPr>
                  <a:lvl4pPr indent="-228600" marL="16002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4pPr>
                  <a:lvl5pPr indent="-228600" marL="20574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5pPr>
                  <a:lvl6pPr eaLnBrk="0" fontAlgn="base" hangingPunct="0" indent="-228600" marL="25146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6pPr>
                  <a:lvl7pPr eaLnBrk="0" fontAlgn="base" hangingPunct="0" indent="-228600" marL="29718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7pPr>
                  <a:lvl8pPr eaLnBrk="0" fontAlgn="base" hangingPunct="0" indent="-228600" marL="34290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8pPr>
                  <a:lvl9pPr eaLnBrk="0" fontAlgn="base" hangingPunct="0" indent="-228600" marL="38862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9pPr>
                </a:lstStyle>
                <a:p>
                  <a:pPr algn="r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altLang="en-US" lang="ko-KR" sz="1566">
                    <a:latin charset="-127" panose="02030600000101010101" pitchFamily="18" typeface="새굴림"/>
                    <a:ea charset="-127" panose="02030600000101010101" pitchFamily="18" typeface="새굴림"/>
                  </a:endParaRPr>
                </a:p>
              </p:txBody>
            </p:sp>
            <p:sp>
              <p:nvSpPr>
                <p:cNvPr id="12308" name="Oval 93"/>
                <p:cNvSpPr>
                  <a:spLocks noChangeArrowheads="1"/>
                </p:cNvSpPr>
                <p:nvPr/>
              </p:nvSpPr>
              <p:spPr bwMode="auto">
                <a:xfrm>
                  <a:off x="5343" y="1615"/>
                  <a:ext cx="578" cy="580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95AAD3"/>
                    </a:gs>
                    <a:gs pos="100000">
                      <a:srgbClr val="405F9E"/>
                    </a:gs>
                  </a:gsLst>
                  <a:lin ang="5400000" scaled="1"/>
                </a:gradFill>
                <a:ln>
                  <a:noFill/>
                </a:ln>
                <a:effectLst>
                  <a:outerShdw algn="ctr" dir="2700000" dist="35921" rotWithShape="0">
                    <a:schemeClr val="bg2"/>
                  </a:outerShdw>
                </a:effectLst>
                <a:extLst>
                  <a:ext uri="{91240B29-F687-4F45-9708-019B960494DF}">
                    <a14:hiddenLine xmlns:a14="http://schemas.microsoft.com/office/drawing/2010/main" algn="ctr" w="635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 wrap="none"/>
                <a:lstStyle>
                  <a:lvl1pPr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1pPr>
                  <a:lvl2pPr indent="-285750" marL="74295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2pPr>
                  <a:lvl3pPr indent="-228600" marL="11430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3pPr>
                  <a:lvl4pPr indent="-228600" marL="16002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4pPr>
                  <a:lvl5pPr indent="-228600" marL="20574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5pPr>
                  <a:lvl6pPr eaLnBrk="0" fontAlgn="base" hangingPunct="0" indent="-228600" marL="25146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6pPr>
                  <a:lvl7pPr eaLnBrk="0" fontAlgn="base" hangingPunct="0" indent="-228600" marL="29718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7pPr>
                  <a:lvl8pPr eaLnBrk="0" fontAlgn="base" hangingPunct="0" indent="-228600" marL="34290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8pPr>
                  <a:lvl9pPr eaLnBrk="0" fontAlgn="base" hangingPunct="0" indent="-228600" marL="38862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9pPr>
                </a:lstStyle>
                <a:p>
                  <a:pPr algn="r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altLang="en-US" lang="ko-KR" sz="1566">
                    <a:latin charset="-127" panose="02030600000101010101" pitchFamily="18" typeface="새굴림"/>
                    <a:ea charset="-127" panose="02030600000101010101" pitchFamily="18" typeface="새굴림"/>
                  </a:endParaRPr>
                </a:p>
              </p:txBody>
            </p:sp>
          </p:grpSp>
          <p:sp>
            <p:nvSpPr>
              <p:cNvPr id="12306" name="Oval 94"/>
              <p:cNvSpPr>
                <a:spLocks noChangeArrowheads="1"/>
              </p:cNvSpPr>
              <p:nvPr/>
            </p:nvSpPr>
            <p:spPr bwMode="auto">
              <a:xfrm rot="-1800000">
                <a:off x="-142" y="464"/>
                <a:ext cx="307" cy="194"/>
              </a:xfrm>
              <a:prstGeom prst="ellipse">
                <a:avLst/>
              </a:prstGeom>
              <a:gradFill rotWithShape="1">
                <a:gsLst>
                  <a:gs pos="0">
                    <a:srgbClr val="EAEEF6"/>
                  </a:gs>
                  <a:gs pos="100000">
                    <a:srgbClr val="8299C8"/>
                  </a:gs>
                </a:gsLst>
                <a:lin ang="5400000" scaled="1"/>
              </a:gradFill>
              <a:ln>
                <a:noFill/>
              </a:ln>
              <a:effectLst>
                <a:outerShdw algn="ctr" dir="2700000" dist="35921" rotWithShape="0">
                  <a:schemeClr val="bg2"/>
                </a:outerShdw>
              </a:effectLst>
              <a:extLst>
                <a:ext uri="{91240B29-F687-4F45-9708-019B960494DF}">
                  <a14:hiddenLine xmlns:a14="http://schemas.microsoft.com/office/drawing/2010/main" algn="ctr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wrap="none"/>
              <a:lstStyle>
                <a:lvl1pPr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1pPr>
                <a:lvl2pPr indent="-285750" marL="74295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2pPr>
                <a:lvl3pPr indent="-228600" marL="11430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3pPr>
                <a:lvl4pPr indent="-228600" marL="16002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4pPr>
                <a:lvl5pPr indent="-228600" marL="20574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5pPr>
                <a:lvl6pPr eaLnBrk="0" fontAlgn="base" hangingPunct="0" indent="-228600" marL="25146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6pPr>
                <a:lvl7pPr eaLnBrk="0" fontAlgn="base" hangingPunct="0" indent="-228600" marL="29718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7pPr>
                <a:lvl8pPr eaLnBrk="0" fontAlgn="base" hangingPunct="0" indent="-228600" marL="34290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8pPr>
                <a:lvl9pPr eaLnBrk="0" fontAlgn="base" hangingPunct="0" indent="-228600" marL="38862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9pPr>
              </a:lstStyle>
              <a:p>
                <a:pPr algn="r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altLang="en-US" lang="ko-KR" sz="1566">
                  <a:latin charset="-127" panose="02030600000101010101" pitchFamily="18" typeface="새굴림"/>
                  <a:ea charset="-127" panose="02030600000101010101" pitchFamily="18" typeface="새굴림"/>
                </a:endParaRPr>
              </a:p>
            </p:txBody>
          </p:sp>
        </p:grpSp>
        <p:sp>
          <p:nvSpPr>
            <p:cNvPr id="12304" name="Text Box 95"/>
            <p:cNvSpPr txBox="1">
              <a:spLocks noChangeArrowheads="1"/>
            </p:cNvSpPr>
            <p:nvPr/>
          </p:nvSpPr>
          <p:spPr bwMode="auto">
            <a:xfrm>
              <a:off x="2293" y="1105"/>
              <a:ext cx="163" cy="185"/>
            </a:xfrm>
            <a:prstGeom prst="rect">
              <a:avLst/>
            </a:prstGeom>
            <a:noFill/>
            <a:ln>
              <a:noFill/>
            </a:ln>
            <a:effectLst>
              <a:outerShdw algn="ctr" dir="2700000" dist="35921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wrap="none">
              <a:spAutoFit/>
            </a:bodyPr>
            <a:lstStyle>
              <a:lvl1pPr defTabSz="762000" indent="-187325" marL="187325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defTabSz="762000"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defTabSz="762000"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defTabSz="762000"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defTabSz="762000"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defTabSz="762000"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defTabSz="762000"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defTabSz="762000"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defTabSz="762000"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altLang="ko-KR" lang="en-US" sz="1566">
                  <a:latin charset="-127" panose="02030600000101010101" pitchFamily="18" typeface="새굴림"/>
                  <a:ea charset="-127" panose="02030600000101010101" pitchFamily="18" typeface="새굴림"/>
                </a:rPr>
                <a:t>2</a:t>
              </a:r>
            </a:p>
          </p:txBody>
        </p:sp>
      </p:grpSp>
      <p:grpSp>
        <p:nvGrpSpPr>
          <p:cNvPr id="12294" name="Group 116"/>
          <p:cNvGrpSpPr>
            <a:grpSpLocks/>
          </p:cNvGrpSpPr>
          <p:nvPr/>
        </p:nvGrpSpPr>
        <p:grpSpPr bwMode="auto">
          <a:xfrm>
            <a:off x="2034199" y="1928435"/>
            <a:ext cx="563877" cy="487761"/>
            <a:chOff x="2225" y="1060"/>
            <a:chExt cx="294" cy="292"/>
          </a:xfrm>
        </p:grpSpPr>
        <p:grpSp>
          <p:nvGrpSpPr>
            <p:cNvPr id="12297" name="Group 117"/>
            <p:cNvGrpSpPr>
              <a:grpSpLocks/>
            </p:cNvGrpSpPr>
            <p:nvPr/>
          </p:nvGrpSpPr>
          <p:grpSpPr bwMode="auto">
            <a:xfrm>
              <a:off x="2225" y="1060"/>
              <a:ext cx="294" cy="292"/>
              <a:chOff x="-233" y="400"/>
              <a:chExt cx="669" cy="669"/>
            </a:xfrm>
          </p:grpSpPr>
          <p:grpSp>
            <p:nvGrpSpPr>
              <p:cNvPr id="12299" name="Group 118"/>
              <p:cNvGrpSpPr>
                <a:grpSpLocks/>
              </p:cNvGrpSpPr>
              <p:nvPr/>
            </p:nvGrpSpPr>
            <p:grpSpPr bwMode="auto">
              <a:xfrm>
                <a:off x="-233" y="400"/>
                <a:ext cx="669" cy="669"/>
                <a:chOff x="5297" y="1592"/>
                <a:chExt cx="669" cy="669"/>
              </a:xfrm>
            </p:grpSpPr>
            <p:sp>
              <p:nvSpPr>
                <p:cNvPr id="12301" name="Oval 119"/>
                <p:cNvSpPr>
                  <a:spLocks noChangeArrowheads="1"/>
                </p:cNvSpPr>
                <p:nvPr/>
              </p:nvSpPr>
              <p:spPr bwMode="auto">
                <a:xfrm>
                  <a:off x="5297" y="1592"/>
                  <a:ext cx="669" cy="669"/>
                </a:xfrm>
                <a:prstGeom prst="ellipse">
                  <a:avLst/>
                </a:prstGeom>
                <a:solidFill>
                  <a:srgbClr val="EAEEF6"/>
                </a:solidFill>
                <a:ln algn="ctr" w="6350">
                  <a:solidFill>
                    <a:srgbClr val="95AAD3"/>
                  </a:solidFill>
                  <a:round/>
                  <a:headEnd/>
                  <a:tailEnd/>
                </a:ln>
                <a:effectLst>
                  <a:outerShdw algn="ctr" dir="2700000" dist="35921" rotWithShape="0">
                    <a:schemeClr val="bg2"/>
                  </a:outerShdw>
                </a:effectLst>
              </p:spPr>
              <p:txBody>
                <a:bodyPr anchor="ctr" wrap="none"/>
                <a:lstStyle>
                  <a:lvl1pPr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1pPr>
                  <a:lvl2pPr indent="-285750" marL="74295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2pPr>
                  <a:lvl3pPr indent="-228600" marL="11430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3pPr>
                  <a:lvl4pPr indent="-228600" marL="16002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4pPr>
                  <a:lvl5pPr indent="-228600" marL="20574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5pPr>
                  <a:lvl6pPr eaLnBrk="0" fontAlgn="base" hangingPunct="0" indent="-228600" marL="25146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6pPr>
                  <a:lvl7pPr eaLnBrk="0" fontAlgn="base" hangingPunct="0" indent="-228600" marL="29718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7pPr>
                  <a:lvl8pPr eaLnBrk="0" fontAlgn="base" hangingPunct="0" indent="-228600" marL="34290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8pPr>
                  <a:lvl9pPr eaLnBrk="0" fontAlgn="base" hangingPunct="0" indent="-228600" marL="38862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9pPr>
                </a:lstStyle>
                <a:p>
                  <a:pPr algn="r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altLang="en-US" lang="ko-KR" sz="1566">
                    <a:latin charset="-127" panose="02030600000101010101" pitchFamily="18" typeface="새굴림"/>
                    <a:ea charset="-127" panose="02030600000101010101" pitchFamily="18" typeface="새굴림"/>
                  </a:endParaRPr>
                </a:p>
              </p:txBody>
            </p:sp>
            <p:sp>
              <p:nvSpPr>
                <p:cNvPr id="12302" name="Oval 120"/>
                <p:cNvSpPr>
                  <a:spLocks noChangeArrowheads="1"/>
                </p:cNvSpPr>
                <p:nvPr/>
              </p:nvSpPr>
              <p:spPr bwMode="auto">
                <a:xfrm>
                  <a:off x="5343" y="1615"/>
                  <a:ext cx="579" cy="580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95AAD3"/>
                    </a:gs>
                    <a:gs pos="100000">
                      <a:srgbClr val="405F9E"/>
                    </a:gs>
                  </a:gsLst>
                  <a:lin ang="5400000" scaled="1"/>
                </a:gradFill>
                <a:ln>
                  <a:noFill/>
                </a:ln>
                <a:effectLst>
                  <a:outerShdw algn="ctr" dir="2700000" dist="35921" rotWithShape="0">
                    <a:schemeClr val="bg2"/>
                  </a:outerShdw>
                </a:effectLst>
                <a:extLst>
                  <a:ext uri="{91240B29-F687-4F45-9708-019B960494DF}">
                    <a14:hiddenLine xmlns:a14="http://schemas.microsoft.com/office/drawing/2010/main" algn="ctr" w="635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 wrap="none"/>
                <a:lstStyle>
                  <a:lvl1pPr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1pPr>
                  <a:lvl2pPr indent="-285750" marL="74295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2pPr>
                  <a:lvl3pPr indent="-228600" marL="11430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3pPr>
                  <a:lvl4pPr indent="-228600" marL="16002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4pPr>
                  <a:lvl5pPr indent="-228600" marL="20574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5pPr>
                  <a:lvl6pPr eaLnBrk="0" fontAlgn="base" hangingPunct="0" indent="-228600" marL="25146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6pPr>
                  <a:lvl7pPr eaLnBrk="0" fontAlgn="base" hangingPunct="0" indent="-228600" marL="29718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7pPr>
                  <a:lvl8pPr eaLnBrk="0" fontAlgn="base" hangingPunct="0" indent="-228600" marL="34290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8pPr>
                  <a:lvl9pPr eaLnBrk="0" fontAlgn="base" hangingPunct="0" indent="-228600" marL="38862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9pPr>
                </a:lstStyle>
                <a:p>
                  <a:pPr algn="r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altLang="en-US" lang="ko-KR" sz="1566">
                    <a:latin charset="-127" panose="02030600000101010101" pitchFamily="18" typeface="새굴림"/>
                    <a:ea charset="-127" panose="02030600000101010101" pitchFamily="18" typeface="새굴림"/>
                  </a:endParaRPr>
                </a:p>
              </p:txBody>
            </p:sp>
          </p:grpSp>
          <p:sp>
            <p:nvSpPr>
              <p:cNvPr id="12300" name="Oval 121"/>
              <p:cNvSpPr>
                <a:spLocks noChangeArrowheads="1"/>
              </p:cNvSpPr>
              <p:nvPr/>
            </p:nvSpPr>
            <p:spPr bwMode="auto">
              <a:xfrm rot="-1800000">
                <a:off x="-143" y="464"/>
                <a:ext cx="308" cy="194"/>
              </a:xfrm>
              <a:prstGeom prst="ellipse">
                <a:avLst/>
              </a:prstGeom>
              <a:gradFill rotWithShape="1">
                <a:gsLst>
                  <a:gs pos="0">
                    <a:srgbClr val="EAEEF6"/>
                  </a:gs>
                  <a:gs pos="100000">
                    <a:srgbClr val="8299C8"/>
                  </a:gs>
                </a:gsLst>
                <a:lin ang="5400000" scaled="1"/>
              </a:gradFill>
              <a:ln>
                <a:noFill/>
              </a:ln>
              <a:effectLst>
                <a:outerShdw algn="ctr" dir="2700000" dist="35921" rotWithShape="0">
                  <a:schemeClr val="bg2"/>
                </a:outerShdw>
              </a:effectLst>
              <a:extLst>
                <a:ext uri="{91240B29-F687-4F45-9708-019B960494DF}">
                  <a14:hiddenLine xmlns:a14="http://schemas.microsoft.com/office/drawing/2010/main" algn="ctr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wrap="none"/>
              <a:lstStyle>
                <a:lvl1pPr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1pPr>
                <a:lvl2pPr indent="-285750" marL="74295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2pPr>
                <a:lvl3pPr indent="-228600" marL="11430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3pPr>
                <a:lvl4pPr indent="-228600" marL="16002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4pPr>
                <a:lvl5pPr indent="-228600" marL="20574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5pPr>
                <a:lvl6pPr eaLnBrk="0" fontAlgn="base" hangingPunct="0" indent="-228600" marL="25146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6pPr>
                <a:lvl7pPr eaLnBrk="0" fontAlgn="base" hangingPunct="0" indent="-228600" marL="29718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7pPr>
                <a:lvl8pPr eaLnBrk="0" fontAlgn="base" hangingPunct="0" indent="-228600" marL="34290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8pPr>
                <a:lvl9pPr eaLnBrk="0" fontAlgn="base" hangingPunct="0" indent="-228600" marL="38862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9pPr>
              </a:lstStyle>
              <a:p>
                <a:pPr algn="r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altLang="en-US" lang="ko-KR" sz="1566">
                  <a:latin charset="-127" panose="02030600000101010101" pitchFamily="18" typeface="새굴림"/>
                  <a:ea charset="-127" panose="02030600000101010101" pitchFamily="18" typeface="새굴림"/>
                </a:endParaRPr>
              </a:p>
            </p:txBody>
          </p:sp>
        </p:grpSp>
        <p:sp>
          <p:nvSpPr>
            <p:cNvPr id="12298" name="Text Box 122"/>
            <p:cNvSpPr txBox="1">
              <a:spLocks noChangeArrowheads="1"/>
            </p:cNvSpPr>
            <p:nvPr/>
          </p:nvSpPr>
          <p:spPr bwMode="auto">
            <a:xfrm>
              <a:off x="2295" y="1105"/>
              <a:ext cx="156" cy="185"/>
            </a:xfrm>
            <a:prstGeom prst="rect">
              <a:avLst/>
            </a:prstGeom>
            <a:noFill/>
            <a:ln>
              <a:noFill/>
            </a:ln>
            <a:effectLst>
              <a:outerShdw algn="ctr" dir="2700000" dist="35921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wrap="none">
              <a:spAutoFit/>
            </a:bodyPr>
            <a:lstStyle>
              <a:lvl1pPr defTabSz="762000" indent="-187325" marL="187325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defTabSz="762000"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defTabSz="762000"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defTabSz="762000"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defTabSz="762000"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defTabSz="762000"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defTabSz="762000"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defTabSz="762000"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defTabSz="762000"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altLang="ko-KR" lang="en-US" sz="1566">
                  <a:latin charset="-127" panose="02030600000101010101" pitchFamily="18" typeface="새굴림"/>
                  <a:ea charset="-127" panose="02030600000101010101" pitchFamily="18" typeface="새굴림"/>
                </a:rPr>
                <a:t>1</a:t>
              </a:r>
            </a:p>
          </p:txBody>
        </p:sp>
      </p:grpSp>
      <p:sp>
        <p:nvSpPr>
          <p:cNvPr id="12295" name="AutoShape 125"/>
          <p:cNvSpPr>
            <a:spLocks noChangeArrowheads="1"/>
          </p:cNvSpPr>
          <p:nvPr/>
        </p:nvSpPr>
        <p:spPr bwMode="auto">
          <a:xfrm>
            <a:off x="2492446" y="3130752"/>
            <a:ext cx="5711781" cy="391452"/>
          </a:xfrm>
          <a:prstGeom prst="roundRect">
            <a:avLst>
              <a:gd fmla="val 16667" name="adj"/>
            </a:avLst>
          </a:prstGeom>
          <a:solidFill>
            <a:schemeClr val="bg1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63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 lIns="176131" wrap="none"/>
          <a:lstStyle>
            <a:lvl1pPr defTabSz="762000" indent="-342900" marL="3429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762000" indent="-385763" marL="5651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76200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76200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76200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76200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76200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76200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76200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lvl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charset="2" panose="05000000000000000000" pitchFamily="2" typeface="Wingdings"/>
              <a:buChar char="v"/>
            </a:pPr>
            <a:r>
              <a:rPr altLang="en-US" kumimoji="1" lang="ko-KR" sz="1370">
                <a:solidFill>
                  <a:srgbClr val="000000"/>
                </a:solidFill>
              </a:rPr>
              <a:t>별첨 </a:t>
            </a:r>
            <a:r>
              <a:rPr altLang="ko-KR" kumimoji="1" lang="en-US" sz="1370">
                <a:solidFill>
                  <a:srgbClr val="000000"/>
                </a:solidFill>
              </a:rPr>
              <a:t>1] ERP </a:t>
            </a:r>
            <a:r>
              <a:rPr altLang="en-US" kumimoji="1" lang="ko-KR" sz="1370">
                <a:solidFill>
                  <a:srgbClr val="000000"/>
                </a:solidFill>
              </a:rPr>
              <a:t>사용자 계정 및 보안관리</a:t>
            </a:r>
          </a:p>
        </p:txBody>
      </p:sp>
      <p:sp>
        <p:nvSpPr>
          <p:cNvPr id="12296" name="AutoShape 125"/>
          <p:cNvSpPr>
            <a:spLocks noChangeArrowheads="1"/>
          </p:cNvSpPr>
          <p:nvPr/>
        </p:nvSpPr>
        <p:spPr bwMode="auto">
          <a:xfrm>
            <a:off x="2492446" y="3578125"/>
            <a:ext cx="5711781" cy="391452"/>
          </a:xfrm>
          <a:prstGeom prst="roundRect">
            <a:avLst>
              <a:gd fmla="val 16667" name="adj"/>
            </a:avLst>
          </a:prstGeom>
          <a:solidFill>
            <a:schemeClr val="bg1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63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 lIns="176131" wrap="none"/>
          <a:lstStyle>
            <a:lvl1pPr defTabSz="762000" indent="-342900" marL="3429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762000" indent="-385763" marL="5651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76200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76200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76200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76200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76200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76200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76200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lvl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charset="2" panose="05000000000000000000" pitchFamily="2" typeface="Wingdings"/>
              <a:buChar char="v"/>
            </a:pPr>
            <a:r>
              <a:rPr altLang="en-US" kumimoji="1" lang="ko-KR" sz="1370">
                <a:solidFill>
                  <a:srgbClr val="000000"/>
                </a:solidFill>
              </a:rPr>
              <a:t>별첨 </a:t>
            </a:r>
            <a:r>
              <a:rPr altLang="ko-KR" kumimoji="1" lang="en-US" sz="1370">
                <a:solidFill>
                  <a:srgbClr val="000000"/>
                </a:solidFill>
              </a:rPr>
              <a:t>2] </a:t>
            </a:r>
            <a:r>
              <a:rPr altLang="en-US" kumimoji="1" lang="ko-KR" sz="1370">
                <a:solidFill>
                  <a:srgbClr val="000000"/>
                </a:solidFill>
              </a:rPr>
              <a:t>휴가계획서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814246" name="Text">
    </p:cNvPr>
          <p:cNvSpPr>
            <a:spLocks noGrp="1"/>
          </p:cNvSpPr>
          <p:nvPr/>
        </p:nvSpPr>
        <p:spPr>
          <a:xfrm rot="0">
            <a:off x="8674100" y="76200"/>
            <a:ext cx="762000" cy="508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8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80">
                <a:latin typeface="맑은 고딕"/>
                <a:ea typeface="맑은 고딕"/>
                <a:cs typeface="맑은 고딕"/>
              </a:rPr>
              <a:t>: 완료</a:t>
            </a:r>
            <a:br/>
            <a:r>
              <a:rPr lang="ko" sz="980">
                <a:latin typeface="맑은 고딕"/>
                <a:ea typeface="맑은 고딕"/>
                <a:cs typeface="맑은 고딕"/>
              </a:rPr>
              <a:t>:진행중</a:t>
            </a:r>
            <a:br/>
            <a:r>
              <a:rPr lang="ko" sz="980">
                <a:latin typeface="맑은 고딕"/>
                <a:ea typeface="맑은 고딕"/>
                <a:cs typeface="맑은 고딕"/>
              </a:rPr>
              <a:t>:미완료(문제)</a:t>
            </a:r>
          </a:p>
        </p:txBody>
      </p:sp>
      <p:sp>
        <p:nvSpPr>
          <p:cNvPr id="175483461" name="Rectangle"/>
          <p:cNvSpPr>
            <a:spLocks noGrp="1"/>
          </p:cNvSpPr>
          <p:nvPr/>
        </p:nvSpPr>
        <p:spPr>
          <a:xfrm>
            <a:off x="8420100" y="50800"/>
            <a:ext cx="254000" cy="139700"/>
          </a:xfrm>
          <a:prstGeom prst="rect">
            <a:avLst/>
          </a:prstGeom>
          <a:solidFill>
            <a:srgbClr val="00FF00"/>
          </a:solidFill>
          <a:ln w="12700">
            <a:solidFill>
              <a:srgbClr val="FFFFFF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  <p:sp>
        <p:nvSpPr>
          <p:cNvPr id="371917600" name="Rectangle"/>
          <p:cNvSpPr>
            <a:spLocks noGrp="1"/>
          </p:cNvSpPr>
          <p:nvPr/>
        </p:nvSpPr>
        <p:spPr>
          <a:xfrm>
            <a:off x="8420100" y="228600"/>
            <a:ext cx="254000" cy="139700"/>
          </a:xfrm>
          <a:prstGeom prst="rect">
            <a:avLst/>
          </a:prstGeom>
          <a:solidFill>
            <a:srgbClr val="FFFF00"/>
          </a:solidFill>
          <a:ln w="12700">
            <a:solidFill>
              <a:srgbClr val="FFFFFF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  <p:sp>
        <p:nvSpPr>
          <p:cNvPr id="1559605562" name="Rectangle"/>
          <p:cNvSpPr>
            <a:spLocks noGrp="1"/>
          </p:cNvSpPr>
          <p:nvPr/>
        </p:nvSpPr>
        <p:spPr>
          <a:xfrm>
            <a:off x="8420100" y="406400"/>
            <a:ext cx="254000" cy="139700"/>
          </a:xfrm>
          <a:prstGeom prst="rect">
            <a:avLst/>
          </a:prstGeom>
          <a:solidFill>
            <a:srgbClr val="FF0000"/>
          </a:solidFill>
          <a:ln w="12700">
            <a:solidFill>
              <a:srgbClr val="FFFFFF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  <p:sp>
        <p:nvSpPr>
          <p:cNvPr id="1398624128" name="Text">
    </p:cNvPr>
          <p:cNvSpPr>
            <a:spLocks noGrp="1"/>
          </p:cNvSpPr>
          <p:nvPr/>
        </p:nvSpPr>
        <p:spPr>
          <a:xfrm rot="0">
            <a:off x="127000" y="190500"/>
            <a:ext cx="5181600" cy="381000"/>
          </a:xfrm>
          <a:prstGeom prst="rect">
            <a:avLst/>
          </a:prstGeom>
        </p:spPr>
        <p:txBody>
          <a:bodyPr anchor="b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2. Summary - ①Baynex</a:t>
            </a:r>
          </a:p>
        </p:txBody>
      </p:sp>
      <p:sp>
        <p:nvSpPr>
          <p:cNvPr id="1960697900" name="Text">
    </p:cNvPr>
          <p:cNvSpPr>
            <a:spLocks noGrp="1"/>
          </p:cNvSpPr>
          <p:nvPr/>
        </p:nvSpPr>
        <p:spPr>
          <a:xfrm rot="0">
            <a:off x="190500" y="749300"/>
            <a:ext cx="2108200" cy="2159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l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983682964" name="Text">
    </p:cNvPr>
          <p:cNvSpPr>
            <a:spLocks noGrp="1"/>
          </p:cNvSpPr>
          <p:nvPr/>
        </p:nvSpPr>
        <p:spPr>
          <a:xfrm rot="0">
            <a:off x="165100" y="723900"/>
            <a:ext cx="2108200" cy="2159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l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 금주 업무 실적</a:t>
            </a:r>
          </a:p>
        </p:txBody>
      </p:sp>
      <p:sp>
        <p:nvSpPr>
          <p:cNvPr id="1269613979" name="Text">
    </p:cNvPr>
          <p:cNvSpPr>
            <a:spLocks noGrp="1"/>
          </p:cNvSpPr>
          <p:nvPr/>
        </p:nvSpPr>
        <p:spPr>
          <a:xfrm rot="0">
            <a:off x="152400" y="977900"/>
            <a:ext cx="7366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1916056097" name="Text">
    </p:cNvPr>
          <p:cNvSpPr>
            <a:spLocks noGrp="1"/>
          </p:cNvSpPr>
          <p:nvPr/>
        </p:nvSpPr>
        <p:spPr>
          <a:xfrm rot="0">
            <a:off x="889000" y="977900"/>
            <a:ext cx="46482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777590475" name="Text">
    </p:cNvPr>
          <p:cNvSpPr>
            <a:spLocks noGrp="1"/>
          </p:cNvSpPr>
          <p:nvPr/>
        </p:nvSpPr>
        <p:spPr>
          <a:xfrm rot="0">
            <a:off x="6108700" y="977900"/>
            <a:ext cx="7620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진행율</a:t>
            </a:r>
          </a:p>
        </p:txBody>
      </p:sp>
      <p:sp>
        <p:nvSpPr>
          <p:cNvPr id="1570397966" name="Text">
    </p:cNvPr>
          <p:cNvSpPr>
            <a:spLocks noGrp="1"/>
          </p:cNvSpPr>
          <p:nvPr/>
        </p:nvSpPr>
        <p:spPr>
          <a:xfrm rot="0">
            <a:off x="6870700" y="977900"/>
            <a:ext cx="2540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상</a:t>
            </a:r>
            <a:br/>
            <a:r>
              <a:rPr lang="ko" sz="1000">
                <a:latin typeface="맑은 고딕"/>
                <a:ea typeface="맑은 고딕"/>
                <a:cs typeface="맑은 고딕"/>
              </a:rPr>
              <a:t>태</a:t>
            </a:r>
          </a:p>
        </p:txBody>
      </p:sp>
      <p:sp>
        <p:nvSpPr>
          <p:cNvPr id="1891096891" name="Text">
    </p:cNvPr>
          <p:cNvSpPr>
            <a:spLocks noGrp="1"/>
          </p:cNvSpPr>
          <p:nvPr/>
        </p:nvSpPr>
        <p:spPr>
          <a:xfrm rot="0">
            <a:off x="7124700" y="977900"/>
            <a:ext cx="26543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비고</a:t>
            </a:r>
          </a:p>
        </p:txBody>
      </p:sp>
      <p:sp>
        <p:nvSpPr>
          <p:cNvPr id="667273398" name="Text">
    </p:cNvPr>
          <p:cNvSpPr>
            <a:spLocks noGrp="1"/>
          </p:cNvSpPr>
          <p:nvPr/>
        </p:nvSpPr>
        <p:spPr>
          <a:xfrm rot="0">
            <a:off x="5537200" y="977900"/>
            <a:ext cx="5715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371967805" name="Frame"/>
          <p:cNvSpPr>
            <a:spLocks noGrp="1"/>
          </p:cNvSpPr>
          <p:nvPr/>
        </p:nvSpPr>
        <p:spPr>
          <a:xfrm>
            <a:off x="25400" y="5092700"/>
            <a:ext cx="9855200" cy="11430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1588319780" name="Text">
    </p:cNvPr>
          <p:cNvSpPr>
            <a:spLocks noGrp="1"/>
          </p:cNvSpPr>
          <p:nvPr/>
        </p:nvSpPr>
        <p:spPr>
          <a:xfrm rot="0">
            <a:off x="152400" y="5118100"/>
            <a:ext cx="2476500" cy="228600"/>
          </a:xfrm>
          <a:prstGeom prst="rect">
            <a:avLst/>
          </a:prstGeom>
          <a:solidFill>
            <a:srgbClr val="CCFFCC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ERP 디버깅 권한신청 처리현황</a:t>
            </a:r>
          </a:p>
        </p:txBody>
      </p:sp>
      <p:sp>
        <p:nvSpPr>
          <p:cNvPr id="270246603" name="Text">
    </p:cNvPr>
          <p:cNvSpPr>
            <a:spLocks noGrp="1"/>
          </p:cNvSpPr>
          <p:nvPr/>
        </p:nvSpPr>
        <p:spPr>
          <a:xfrm rot="0">
            <a:off x="6451600" y="5651500"/>
            <a:ext cx="1651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20628486" name="Text">
    </p:cNvPr>
          <p:cNvSpPr>
            <a:spLocks noGrp="1"/>
          </p:cNvSpPr>
          <p:nvPr/>
        </p:nvSpPr>
        <p:spPr>
          <a:xfrm rot="0">
            <a:off x="2057400" y="5651500"/>
            <a:ext cx="43942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84076896" name="Text">
    </p:cNvPr>
          <p:cNvSpPr>
            <a:spLocks noGrp="1"/>
          </p:cNvSpPr>
          <p:nvPr/>
        </p:nvSpPr>
        <p:spPr>
          <a:xfrm rot="0">
            <a:off x="101600" y="5651500"/>
            <a:ext cx="1143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82643509" name="Text">
    </p:cNvPr>
          <p:cNvSpPr>
            <a:spLocks noGrp="1"/>
          </p:cNvSpPr>
          <p:nvPr/>
        </p:nvSpPr>
        <p:spPr>
          <a:xfrm rot="0">
            <a:off x="101600" y="5410200"/>
            <a:ext cx="11430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Date</a:t>
            </a:r>
          </a:p>
        </p:txBody>
      </p:sp>
      <p:sp>
        <p:nvSpPr>
          <p:cNvPr id="828532352" name="Text">
    </p:cNvPr>
          <p:cNvSpPr>
            <a:spLocks noGrp="1"/>
          </p:cNvSpPr>
          <p:nvPr/>
        </p:nvSpPr>
        <p:spPr>
          <a:xfrm rot="0">
            <a:off x="2057400" y="5410200"/>
            <a:ext cx="43942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Text (변경값)</a:t>
            </a:r>
          </a:p>
        </p:txBody>
      </p:sp>
      <p:sp>
        <p:nvSpPr>
          <p:cNvPr id="985352914" name="Text">
    </p:cNvPr>
          <p:cNvSpPr>
            <a:spLocks noGrp="1"/>
          </p:cNvSpPr>
          <p:nvPr/>
        </p:nvSpPr>
        <p:spPr>
          <a:xfrm rot="0">
            <a:off x="6451600" y="5410200"/>
            <a:ext cx="16510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 권한신청서번호</a:t>
            </a:r>
          </a:p>
        </p:txBody>
      </p:sp>
      <p:sp>
        <p:nvSpPr>
          <p:cNvPr id="98038680" name="Text">
    </p:cNvPr>
          <p:cNvSpPr>
            <a:spLocks noGrp="1"/>
          </p:cNvSpPr>
          <p:nvPr/>
        </p:nvSpPr>
        <p:spPr>
          <a:xfrm rot="0">
            <a:off x="101600" y="5943600"/>
            <a:ext cx="1143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35800097" name="Text">
    </p:cNvPr>
          <p:cNvSpPr>
            <a:spLocks noGrp="1"/>
          </p:cNvSpPr>
          <p:nvPr/>
        </p:nvSpPr>
        <p:spPr>
          <a:xfrm rot="0">
            <a:off x="6451600" y="5943600"/>
            <a:ext cx="1651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326984042" name="Text">
    </p:cNvPr>
          <p:cNvSpPr>
            <a:spLocks noGrp="1"/>
          </p:cNvSpPr>
          <p:nvPr/>
        </p:nvSpPr>
        <p:spPr>
          <a:xfrm rot="0">
            <a:off x="2057400" y="5943600"/>
            <a:ext cx="43942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98299521" name="Text">
    </p:cNvPr>
          <p:cNvSpPr>
            <a:spLocks noGrp="1"/>
          </p:cNvSpPr>
          <p:nvPr/>
        </p:nvSpPr>
        <p:spPr>
          <a:xfrm rot="0">
            <a:off x="1244600" y="5943600"/>
            <a:ext cx="812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58901976" name="Text">
    </p:cNvPr>
          <p:cNvSpPr>
            <a:spLocks noGrp="1"/>
          </p:cNvSpPr>
          <p:nvPr/>
        </p:nvSpPr>
        <p:spPr>
          <a:xfrm rot="0">
            <a:off x="1244600" y="5651500"/>
            <a:ext cx="812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14497099" name="Text">
    </p:cNvPr>
          <p:cNvSpPr>
            <a:spLocks noGrp="1"/>
          </p:cNvSpPr>
          <p:nvPr/>
        </p:nvSpPr>
        <p:spPr>
          <a:xfrm rot="0">
            <a:off x="1244600" y="5410200"/>
            <a:ext cx="8128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User</a:t>
            </a:r>
          </a:p>
        </p:txBody>
      </p:sp>
      <p:sp>
        <p:nvSpPr>
          <p:cNvPr id="377066060" name="Text">
    </p:cNvPr>
          <p:cNvSpPr>
            <a:spLocks noGrp="1"/>
          </p:cNvSpPr>
          <p:nvPr/>
        </p:nvSpPr>
        <p:spPr>
          <a:xfrm rot="0">
            <a:off x="8102600" y="5943600"/>
            <a:ext cx="1701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98300447" name="Text">
    </p:cNvPr>
          <p:cNvSpPr>
            <a:spLocks noGrp="1"/>
          </p:cNvSpPr>
          <p:nvPr/>
        </p:nvSpPr>
        <p:spPr>
          <a:xfrm rot="0">
            <a:off x="8102600" y="5410200"/>
            <a:ext cx="17018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구분(일반/긴급)</a:t>
            </a:r>
          </a:p>
        </p:txBody>
      </p:sp>
      <p:sp>
        <p:nvSpPr>
          <p:cNvPr id="659762263" name="Text">
    </p:cNvPr>
          <p:cNvSpPr>
            <a:spLocks noGrp="1"/>
          </p:cNvSpPr>
          <p:nvPr/>
        </p:nvSpPr>
        <p:spPr>
          <a:xfrm rot="0">
            <a:off x="8102600" y="5651500"/>
            <a:ext cx="1701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37303063" name="Frame"/>
          <p:cNvSpPr>
            <a:spLocks noGrp="1"/>
          </p:cNvSpPr>
          <p:nvPr/>
        </p:nvSpPr>
        <p:spPr>
          <a:xfrm>
            <a:off x="101600" y="2832100"/>
            <a:ext cx="9779000" cy="20955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1075949035" name="Text">
    </p:cNvPr>
          <p:cNvSpPr>
            <a:spLocks noGrp="1"/>
          </p:cNvSpPr>
          <p:nvPr/>
        </p:nvSpPr>
        <p:spPr>
          <a:xfrm rot="0">
            <a:off x="165100" y="2895600"/>
            <a:ext cx="2108200" cy="2159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l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827315388" name="Text">
    </p:cNvPr>
          <p:cNvSpPr>
            <a:spLocks noGrp="1"/>
          </p:cNvSpPr>
          <p:nvPr/>
        </p:nvSpPr>
        <p:spPr>
          <a:xfrm rot="0">
            <a:off x="152400" y="2857500"/>
            <a:ext cx="2095500" cy="228600"/>
          </a:xfrm>
          <a:prstGeom prst="rect">
            <a:avLst/>
          </a:prstGeom>
          <a:solidFill>
            <a:srgbClr val="FF9900"/>
          </a:solidFill>
        </p:spPr>
        <p:txBody>
          <a:bodyPr anchor="ctr" bIns="0" lIns="0" rIns="0" rtlCol="0" tIns="0" wrap="square"/>
          <a:lstStyle/>
          <a:p>
            <a:pPr algn="l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 차주 업무 계획</a:t>
            </a:r>
          </a:p>
        </p:txBody>
      </p:sp>
      <p:sp>
        <p:nvSpPr>
          <p:cNvPr id="1382364898" name="Text">
    </p:cNvPr>
          <p:cNvSpPr>
            <a:spLocks noGrp="1"/>
          </p:cNvSpPr>
          <p:nvPr/>
        </p:nvSpPr>
        <p:spPr>
          <a:xfrm rot="0">
            <a:off x="165100" y="3111500"/>
            <a:ext cx="7366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1297255350" name="Text">
    </p:cNvPr>
          <p:cNvSpPr>
            <a:spLocks noGrp="1"/>
          </p:cNvSpPr>
          <p:nvPr/>
        </p:nvSpPr>
        <p:spPr>
          <a:xfrm rot="0">
            <a:off x="901700" y="3111500"/>
            <a:ext cx="46482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3711618" name="Text">
    </p:cNvPr>
          <p:cNvSpPr>
            <a:spLocks noGrp="1"/>
          </p:cNvSpPr>
          <p:nvPr/>
        </p:nvSpPr>
        <p:spPr>
          <a:xfrm rot="0">
            <a:off x="5549900" y="3111500"/>
            <a:ext cx="5715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완료예정</a:t>
            </a:r>
          </a:p>
        </p:txBody>
      </p:sp>
      <p:sp>
        <p:nvSpPr>
          <p:cNvPr id="955664602" name="Text">
    </p:cNvPr>
          <p:cNvSpPr>
            <a:spLocks noGrp="1"/>
          </p:cNvSpPr>
          <p:nvPr/>
        </p:nvSpPr>
        <p:spPr>
          <a:xfrm rot="0">
            <a:off x="6121400" y="3111500"/>
            <a:ext cx="36449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비고</a:t>
            </a:r>
          </a:p>
        </p:txBody>
      </p:sp>
      <p:sp>
        <p:nvSpPr>
          <p:cNvPr id="1138731776" name="Frame"/>
          <p:cNvSpPr>
            <a:spLocks noGrp="1"/>
          </p:cNvSpPr>
          <p:nvPr/>
        </p:nvSpPr>
        <p:spPr>
          <a:xfrm>
            <a:off x="165100" y="4305300"/>
            <a:ext cx="9664700" cy="6223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436836342" name="Text">
    </p:cNvPr>
          <p:cNvSpPr>
            <a:spLocks noGrp="1"/>
          </p:cNvSpPr>
          <p:nvPr/>
        </p:nvSpPr>
        <p:spPr>
          <a:xfrm rot="0">
            <a:off x="165100" y="4279900"/>
            <a:ext cx="7366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WEB</a:t>
            </a:r>
          </a:p>
        </p:txBody>
      </p:sp>
      <p:sp>
        <p:nvSpPr>
          <p:cNvPr id="320451740" name="Text">
    </p:cNvPr>
          <p:cNvSpPr>
            <a:spLocks noGrp="1"/>
          </p:cNvSpPr>
          <p:nvPr/>
        </p:nvSpPr>
        <p:spPr>
          <a:xfrm rot="0">
            <a:off x="965200" y="4330700"/>
            <a:ext cx="45847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[PRM] 영업시설지원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[E-Approval] 구매관련 기안지 RODA 자동화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[LMS] ITSM-108725 엔지니어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[EAI] 법인카드 WBS 마스터 전송 개발 CCS , EAI</a:t>
            </a:r>
          </a:p>
        </p:txBody>
      </p:sp>
      <p:sp>
        <p:nvSpPr>
          <p:cNvPr id="430149309" name="Text">
    </p:cNvPr>
          <p:cNvSpPr>
            <a:spLocks noGrp="1"/>
          </p:cNvSpPr>
          <p:nvPr/>
        </p:nvSpPr>
        <p:spPr>
          <a:xfrm rot="0">
            <a:off x="7239000" y="4330700"/>
            <a:ext cx="25527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664449314" name="Text">
    </p:cNvPr>
          <p:cNvSpPr>
            <a:spLocks noGrp="1"/>
          </p:cNvSpPr>
          <p:nvPr/>
        </p:nvSpPr>
        <p:spPr>
          <a:xfrm rot="0">
            <a:off x="5549900" y="4330700"/>
            <a:ext cx="5715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</a:p>
        </p:txBody>
      </p:sp>
      <p:sp>
        <p:nvSpPr>
          <p:cNvPr id="1912218624" name="Text">
    </p:cNvPr>
          <p:cNvSpPr>
            <a:spLocks noGrp="1"/>
          </p:cNvSpPr>
          <p:nvPr/>
        </p:nvSpPr>
        <p:spPr>
          <a:xfrm rot="0">
            <a:off x="901700" y="4279900"/>
            <a:ext cx="46482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90221815" name="Text">
    </p:cNvPr>
          <p:cNvSpPr>
            <a:spLocks noGrp="1"/>
          </p:cNvSpPr>
          <p:nvPr/>
        </p:nvSpPr>
        <p:spPr>
          <a:xfrm rot="0">
            <a:off x="6121400" y="4279900"/>
            <a:ext cx="36449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09523151" name="Text">
    </p:cNvPr>
          <p:cNvSpPr>
            <a:spLocks noGrp="1"/>
          </p:cNvSpPr>
          <p:nvPr/>
        </p:nvSpPr>
        <p:spPr>
          <a:xfrm rot="0">
            <a:off x="5549900" y="4279900"/>
            <a:ext cx="5715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87651077" name="Frame"/>
          <p:cNvSpPr>
            <a:spLocks noGrp="1"/>
          </p:cNvSpPr>
          <p:nvPr/>
        </p:nvSpPr>
        <p:spPr>
          <a:xfrm>
            <a:off x="165100" y="3454400"/>
            <a:ext cx="9639300" cy="8255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2018583604" name="Text">
    </p:cNvPr>
          <p:cNvSpPr>
            <a:spLocks noGrp="1"/>
          </p:cNvSpPr>
          <p:nvPr/>
        </p:nvSpPr>
        <p:spPr>
          <a:xfrm rot="0">
            <a:off x="165100" y="3454400"/>
            <a:ext cx="7366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</a:t>
            </a:r>
          </a:p>
        </p:txBody>
      </p:sp>
      <p:sp>
        <p:nvSpPr>
          <p:cNvPr id="431412898" name="Text">
    </p:cNvPr>
          <p:cNvSpPr>
            <a:spLocks noGrp="1"/>
          </p:cNvSpPr>
          <p:nvPr/>
        </p:nvSpPr>
        <p:spPr>
          <a:xfrm rot="0">
            <a:off x="965200" y="3530600"/>
            <a:ext cx="4584700" cy="749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[CO] 구분회계기준 비용의 1차원가요소 data 산출 프로그램 생성 (ZCPR1050)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원화 Usance 차입금 도입 관련 ERP 시스템 개발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SHBE 대상 일반용역 사후평가표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*발주 생성 및 기성보고서 전송 RFC 함수 로직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[SD] ITSM-107407 자영대리점 거래처 관리업무 간소화 추진(1차)</a:t>
            </a:r>
          </a:p>
        </p:txBody>
      </p:sp>
      <p:sp>
        <p:nvSpPr>
          <p:cNvPr id="1613969237" name="Text">
    </p:cNvPr>
          <p:cNvSpPr>
            <a:spLocks noGrp="1"/>
          </p:cNvSpPr>
          <p:nvPr/>
        </p:nvSpPr>
        <p:spPr>
          <a:xfrm rot="0">
            <a:off x="7239000" y="3530600"/>
            <a:ext cx="2552700" cy="749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1712742847" name="Text">
    </p:cNvPr>
          <p:cNvSpPr>
            <a:spLocks noGrp="1"/>
          </p:cNvSpPr>
          <p:nvPr/>
        </p:nvSpPr>
        <p:spPr>
          <a:xfrm rot="0">
            <a:off x="5549900" y="3530600"/>
            <a:ext cx="571500" cy="749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</a:p>
        </p:txBody>
      </p:sp>
      <p:sp>
        <p:nvSpPr>
          <p:cNvPr id="387422669" name="Text">
    </p:cNvPr>
          <p:cNvSpPr>
            <a:spLocks noGrp="1"/>
          </p:cNvSpPr>
          <p:nvPr/>
        </p:nvSpPr>
        <p:spPr>
          <a:xfrm rot="0">
            <a:off x="901700" y="3454400"/>
            <a:ext cx="46482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43414859" name="Text">
    </p:cNvPr>
          <p:cNvSpPr>
            <a:spLocks noGrp="1"/>
          </p:cNvSpPr>
          <p:nvPr/>
        </p:nvSpPr>
        <p:spPr>
          <a:xfrm rot="0">
            <a:off x="6121400" y="3454400"/>
            <a:ext cx="36449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03843206" name="Text">
    </p:cNvPr>
          <p:cNvSpPr>
            <a:spLocks noGrp="1"/>
          </p:cNvSpPr>
          <p:nvPr/>
        </p:nvSpPr>
        <p:spPr>
          <a:xfrm rot="0">
            <a:off x="5549900" y="3454400"/>
            <a:ext cx="5715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35922585" name="Frame"/>
          <p:cNvSpPr>
            <a:spLocks noGrp="1"/>
          </p:cNvSpPr>
          <p:nvPr/>
        </p:nvSpPr>
        <p:spPr>
          <a:xfrm>
            <a:off x="127000" y="1384300"/>
            <a:ext cx="9779000" cy="13081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1064828709" name="Frame"/>
          <p:cNvSpPr>
            <a:spLocks noGrp="1"/>
          </p:cNvSpPr>
          <p:nvPr/>
        </p:nvSpPr>
        <p:spPr>
          <a:xfrm>
            <a:off x="152400" y="2070100"/>
            <a:ext cx="9664700" cy="6223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1566324614" name="Text">
    </p:cNvPr>
          <p:cNvSpPr>
            <a:spLocks noGrp="1"/>
          </p:cNvSpPr>
          <p:nvPr/>
        </p:nvSpPr>
        <p:spPr>
          <a:xfrm rot="0">
            <a:off x="152400" y="2044700"/>
            <a:ext cx="7366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WEB</a:t>
            </a:r>
          </a:p>
        </p:txBody>
      </p:sp>
      <p:sp>
        <p:nvSpPr>
          <p:cNvPr id="1190192340" name="Text">
    </p:cNvPr>
          <p:cNvSpPr>
            <a:spLocks noGrp="1"/>
          </p:cNvSpPr>
          <p:nvPr/>
        </p:nvSpPr>
        <p:spPr>
          <a:xfrm rot="0">
            <a:off x="952500" y="2095500"/>
            <a:ext cx="45974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[Mobile] GW mobile goole push 운영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[RPA] A360 '#4 외화송금' 새벽 작업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[ERS] ITSM-112571 ERS 시스템 일부내용 개선요청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[EAI] 24년도 상반기 재해복구 모의훈련</a:t>
            </a:r>
          </a:p>
        </p:txBody>
      </p:sp>
      <p:sp>
        <p:nvSpPr>
          <p:cNvPr id="2086918302" name="Text">
    </p:cNvPr>
          <p:cNvSpPr>
            <a:spLocks noGrp="1"/>
          </p:cNvSpPr>
          <p:nvPr/>
        </p:nvSpPr>
        <p:spPr>
          <a:xfrm rot="0">
            <a:off x="7226300" y="2095500"/>
            <a:ext cx="25527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2087554784" name="Text">
    </p:cNvPr>
          <p:cNvSpPr>
            <a:spLocks noGrp="1"/>
          </p:cNvSpPr>
          <p:nvPr/>
        </p:nvSpPr>
        <p:spPr>
          <a:xfrm rot="0">
            <a:off x="6108700" y="2044700"/>
            <a:ext cx="7620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1085372140" name="Text">
    </p:cNvPr>
          <p:cNvSpPr>
            <a:spLocks noGrp="1"/>
          </p:cNvSpPr>
          <p:nvPr/>
        </p:nvSpPr>
        <p:spPr>
          <a:xfrm rot="0">
            <a:off x="5537200" y="2095500"/>
            <a:ext cx="5715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06/11</a:t>
            </a:r>
          </a:p>
        </p:txBody>
      </p:sp>
      <p:sp>
        <p:nvSpPr>
          <p:cNvPr id="19332202" name="Text">
    </p:cNvPr>
          <p:cNvSpPr>
            <a:spLocks noGrp="1"/>
          </p:cNvSpPr>
          <p:nvPr/>
        </p:nvSpPr>
        <p:spPr>
          <a:xfrm rot="0">
            <a:off x="889000" y="2044700"/>
            <a:ext cx="46482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75846648" name="Text">
    </p:cNvPr>
          <p:cNvSpPr>
            <a:spLocks noGrp="1"/>
          </p:cNvSpPr>
          <p:nvPr/>
        </p:nvSpPr>
        <p:spPr>
          <a:xfrm rot="0">
            <a:off x="7124700" y="2044700"/>
            <a:ext cx="26543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936321514" name="Text">
    </p:cNvPr>
          <p:cNvSpPr>
            <a:spLocks noGrp="1"/>
          </p:cNvSpPr>
          <p:nvPr/>
        </p:nvSpPr>
        <p:spPr>
          <a:xfrm rot="0">
            <a:off x="5537200" y="2044700"/>
            <a:ext cx="5715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41946237" name="Rectangle"/>
          <p:cNvSpPr>
            <a:spLocks noGrp="1"/>
          </p:cNvSpPr>
          <p:nvPr/>
        </p:nvSpPr>
        <p:spPr>
          <a:xfrm>
            <a:off x="6870700" y="2044700"/>
            <a:ext cx="254000" cy="647700"/>
          </a:xfrm>
          <a:prstGeom prst="rect">
            <a:avLst/>
          </a:prstGeom>
          <a:solidFill>
            <a:srgbClr val="00FF00"/>
          </a:solidFill>
          <a:ln w="12700">
            <a:solidFill>
              <a:srgbClr val="000000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  <p:sp>
        <p:nvSpPr>
          <p:cNvPr id="240622527" name="Frame"/>
          <p:cNvSpPr>
            <a:spLocks noGrp="1"/>
          </p:cNvSpPr>
          <p:nvPr/>
        </p:nvSpPr>
        <p:spPr>
          <a:xfrm>
            <a:off x="152400" y="1371600"/>
            <a:ext cx="9639300" cy="6731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1985205550" name="Text">
    </p:cNvPr>
          <p:cNvSpPr>
            <a:spLocks noGrp="1"/>
          </p:cNvSpPr>
          <p:nvPr/>
        </p:nvSpPr>
        <p:spPr>
          <a:xfrm rot="0">
            <a:off x="152400" y="1371600"/>
            <a:ext cx="7366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</a:t>
            </a:r>
          </a:p>
        </p:txBody>
      </p:sp>
      <p:sp>
        <p:nvSpPr>
          <p:cNvPr id="1247368885" name="Text">
    </p:cNvPr>
          <p:cNvSpPr>
            <a:spLocks noGrp="1"/>
          </p:cNvSpPr>
          <p:nvPr/>
        </p:nvSpPr>
        <p:spPr>
          <a:xfrm rot="0">
            <a:off x="939800" y="1422400"/>
            <a:ext cx="4610100" cy="622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[CO] 외부 조사 대응을 위한 조회용 T-code 개발 요청(ZCOR6600_D 등)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[FI] 해외이관 물량 및 판매현황 집계 프로그램 저장로직 수정(ZFIR5400)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ERP와 e-Pro간 입고/납품완료 불일치 점검 및 모니터링 리포트 개발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[BC] 2024년 상반기 DR 재해복구 모의훈련</a:t>
            </a:r>
          </a:p>
        </p:txBody>
      </p:sp>
      <p:sp>
        <p:nvSpPr>
          <p:cNvPr id="1439288734" name="Text">
    </p:cNvPr>
          <p:cNvSpPr>
            <a:spLocks noGrp="1"/>
          </p:cNvSpPr>
          <p:nvPr/>
        </p:nvSpPr>
        <p:spPr>
          <a:xfrm rot="0">
            <a:off x="7226300" y="1447800"/>
            <a:ext cx="25527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1735470843" name="Text">
    </p:cNvPr>
          <p:cNvSpPr>
            <a:spLocks noGrp="1"/>
          </p:cNvSpPr>
          <p:nvPr/>
        </p:nvSpPr>
        <p:spPr>
          <a:xfrm rot="0">
            <a:off x="6108700" y="1371600"/>
            <a:ext cx="7620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258178462" name="Text">
    </p:cNvPr>
          <p:cNvSpPr>
            <a:spLocks noGrp="1"/>
          </p:cNvSpPr>
          <p:nvPr/>
        </p:nvSpPr>
        <p:spPr>
          <a:xfrm rot="0">
            <a:off x="5537200" y="1447800"/>
            <a:ext cx="5715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06/11</a:t>
            </a:r>
          </a:p>
        </p:txBody>
      </p:sp>
      <p:sp>
        <p:nvSpPr>
          <p:cNvPr id="252673593" name="Text">
    </p:cNvPr>
          <p:cNvSpPr>
            <a:spLocks noGrp="1"/>
          </p:cNvSpPr>
          <p:nvPr/>
        </p:nvSpPr>
        <p:spPr>
          <a:xfrm rot="0">
            <a:off x="889000" y="1371600"/>
            <a:ext cx="46482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47203451" name="Text">
    </p:cNvPr>
          <p:cNvSpPr>
            <a:spLocks noGrp="1"/>
          </p:cNvSpPr>
          <p:nvPr/>
        </p:nvSpPr>
        <p:spPr>
          <a:xfrm rot="0">
            <a:off x="7124700" y="1371600"/>
            <a:ext cx="26543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52658656" name="Text">
    </p:cNvPr>
          <p:cNvSpPr>
            <a:spLocks noGrp="1"/>
          </p:cNvSpPr>
          <p:nvPr/>
        </p:nvSpPr>
        <p:spPr>
          <a:xfrm rot="0">
            <a:off x="5537200" y="1371600"/>
            <a:ext cx="5715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49821368" name="Rectangle"/>
          <p:cNvSpPr>
            <a:spLocks noGrp="1"/>
          </p:cNvSpPr>
          <p:nvPr/>
        </p:nvSpPr>
        <p:spPr>
          <a:xfrm>
            <a:off x="6870700" y="1371600"/>
            <a:ext cx="254000" cy="673100"/>
          </a:xfrm>
          <a:prstGeom prst="rect">
            <a:avLst/>
          </a:prstGeom>
          <a:solidFill>
            <a:srgbClr val="00FF00"/>
          </a:solidFill>
          <a:ln w="12700">
            <a:solidFill>
              <a:srgbClr val="000000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97"/>
          <p:cNvSpPr>
            <a:spLocks noChangeArrowheads="1"/>
          </p:cNvSpPr>
          <p:nvPr/>
        </p:nvSpPr>
        <p:spPr bwMode="auto">
          <a:xfrm>
            <a:off x="330140" y="744758"/>
            <a:ext cx="2288130" cy="212814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174">
                <a:solidFill>
                  <a:srgbClr val="000000"/>
                </a:solidFill>
              </a:rPr>
              <a:t>금주 업무 실적</a:t>
            </a:r>
            <a:endParaRPr altLang="ko-KR" kumimoji="1" lang="en-US" sz="1174">
              <a:solidFill>
                <a:srgbClr val="000000"/>
              </a:solidFill>
            </a:endParaRPr>
          </a:p>
        </p:txBody>
      </p:sp>
      <p:sp>
        <p:nvSpPr>
          <p:cNvPr id="7171" name="Rectangle 755"/>
          <p:cNvSpPr>
            <a:spLocks noChangeArrowheads="1"/>
          </p:cNvSpPr>
          <p:nvPr/>
        </p:nvSpPr>
        <p:spPr bwMode="auto">
          <a:xfrm>
            <a:off x="268005" y="296321"/>
            <a:ext cx="7667486" cy="3314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dir="2700000" dist="35921" rotWithShape="0">
                    <a:schemeClr val="bg2"/>
                  </a:outerShdw>
                </a:effectLst>
              </a14:hiddenEffects>
            </a:ext>
          </a:extLst>
        </p:spPr>
        <p:txBody>
          <a:bodyPr anchor="ctr" bIns="44805" lIns="89609" rIns="89609" tIns="44805">
            <a:spAutoFit/>
          </a:bodyPr>
          <a:lstStyle>
            <a:lvl1pPr defTabSz="957263" indent="-381000" marL="381000">
              <a:buChar char="•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1pPr>
            <a:lvl2pPr defTabSz="957263" indent="-285750" marL="74295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2pPr>
            <a:lvl3pPr defTabSz="957263" indent="-228600" marL="11430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3pPr>
            <a:lvl4pPr defTabSz="957263" indent="-228600" marL="160020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4pPr>
            <a:lvl5pPr defTabSz="957263" indent="-228600" marL="2057400">
              <a:spcBef>
                <a:spcPct val="20000"/>
              </a:spcBef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5pPr>
            <a:lvl6pPr defTabSz="957263" eaLnBrk="0" fontAlgn="base" hangingPunct="0" indent="-228600" marL="25146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6pPr>
            <a:lvl7pPr defTabSz="957263" eaLnBrk="0" fontAlgn="base" hangingPunct="0" indent="-228600" marL="29718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7pPr>
            <a:lvl8pPr defTabSz="957263" eaLnBrk="0" fontAlgn="base" hangingPunct="0" indent="-228600" marL="34290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8pPr>
            <a:lvl9pPr defTabSz="957263" eaLnBrk="0" fontAlgn="base" hangingPunct="0" indent="-228600" marL="38862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altLang="ko-KR" lang="en-US" sz="1566">
                <a:solidFill>
                  <a:srgbClr val="000000"/>
                </a:solidFill>
                <a:latin charset="-127" panose="020B0503020000020004" pitchFamily="50" typeface="맑은 고딕"/>
                <a:ea charset="-127" panose="020B0503020000020004" pitchFamily="50" typeface="맑은 고딕"/>
              </a:rPr>
              <a:t>2. Summary – </a:t>
            </a:r>
            <a:r>
              <a:rPr altLang="en-US" lang="ko-KR" sz="1566">
                <a:solidFill>
                  <a:srgbClr val="000000"/>
                </a:solidFill>
                <a:latin charset="-127" panose="020B0503020000020004" pitchFamily="50" typeface="맑은 고딕"/>
                <a:ea charset="-127" panose="020B0503020000020004" pitchFamily="50" typeface="맑은 고딕"/>
              </a:rPr>
              <a:t>②</a:t>
            </a:r>
            <a:r>
              <a:rPr altLang="ko-KR" lang="en-US" sz="1566">
                <a:latin charset="-127" panose="020B0503020000020004" pitchFamily="50" typeface="맑은 고딕"/>
                <a:ea charset="-127" panose="020B0503020000020004" pitchFamily="50" typeface="맑은 고딕"/>
              </a:rPr>
              <a:t>Quintet</a:t>
            </a:r>
            <a:endParaRPr altLang="en-US" lang="ko-KR" sz="1566">
              <a:latin charset="-127" panose="020B0503020000020004" pitchFamily="50" typeface="맑은 고딕"/>
              <a:ea charset="-127" panose="020B0503020000020004" pitchFamily="50" typeface="맑은 고딕"/>
            </a:endParaRPr>
          </a:p>
        </p:txBody>
      </p:sp>
      <p:sp>
        <p:nvSpPr>
          <p:cNvPr id="7172" name="Rectangle 1382"/>
          <p:cNvSpPr>
            <a:spLocks noChangeArrowheads="1"/>
          </p:cNvSpPr>
          <p:nvPr/>
        </p:nvSpPr>
        <p:spPr bwMode="auto">
          <a:xfrm>
            <a:off x="330140" y="5740430"/>
            <a:ext cx="2311430" cy="223687"/>
          </a:xfrm>
          <a:prstGeom prst="rect">
            <a:avLst/>
          </a:prstGeom>
          <a:solidFill>
            <a:srgbClr val="CCFFCC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ko-KR" kumimoji="1" lang="en-US" sz="1174">
                <a:solidFill>
                  <a:srgbClr val="000000"/>
                </a:solidFill>
              </a:rPr>
              <a:t>ISSUE</a:t>
            </a:r>
            <a:r>
              <a:rPr altLang="en-US" kumimoji="1" lang="ko-KR" sz="1174">
                <a:solidFill>
                  <a:srgbClr val="000000"/>
                </a:solidFill>
              </a:rPr>
              <a:t> 및 공지사항</a:t>
            </a:r>
            <a:endParaRPr altLang="ko-KR" kumimoji="1" lang="en-US" sz="1174">
              <a:solidFill>
                <a:srgbClr val="000000"/>
              </a:solidFill>
            </a:endParaRPr>
          </a:p>
        </p:txBody>
      </p:sp>
      <p:graphicFrame>
        <p:nvGraphicFramePr>
          <p:cNvPr id="20" name="Group 3691"/>
          <p:cNvGraphicFramePr>
            <a:graphicFrameLocks noGrp="1"/>
          </p:cNvGraphicFramePr>
          <p:nvPr/>
        </p:nvGraphicFramePr>
        <p:xfrm>
          <a:off x="468391" y="5964118"/>
          <a:ext cx="8809220" cy="568537"/>
        </p:xfrm>
        <a:graphic>
          <a:graphicData uri="http://schemas.openxmlformats.org/drawingml/2006/table">
            <a:tbl>
              <a:tblPr/>
              <a:tblGrid>
                <a:gridCol w="88092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68537"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charset="0" panose="020B0604020202020204" pitchFamily="34" typeface="Arial"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typeface="Arial"/>
                      </a:endParaRPr>
                    </a:p>
                  </a:txBody>
                  <a:tcPr anchor="ctr" horzOverflow="overflow" marB="45823" marL="88066" marR="88066" marT="4582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7179" name="Group 240"/>
          <p:cNvGrpSpPr>
            <a:grpSpLocks/>
          </p:cNvGrpSpPr>
          <p:nvPr/>
        </p:nvGrpSpPr>
        <p:grpSpPr bwMode="auto">
          <a:xfrm>
            <a:off x="8218216" y="73699"/>
            <a:ext cx="1059407" cy="591838"/>
            <a:chOff x="5222" y="377"/>
            <a:chExt cx="682" cy="381"/>
          </a:xfrm>
        </p:grpSpPr>
        <p:sp>
          <p:nvSpPr>
            <p:cNvPr id="7236" name="Rectangle 94"/>
            <p:cNvSpPr>
              <a:spLocks noChangeArrowheads="1"/>
            </p:cNvSpPr>
            <p:nvPr/>
          </p:nvSpPr>
          <p:spPr bwMode="auto">
            <a:xfrm>
              <a:off x="5222" y="406"/>
              <a:ext cx="144" cy="96"/>
            </a:xfrm>
            <a:prstGeom prst="rect">
              <a:avLst/>
            </a:prstGeom>
            <a:solidFill>
              <a:srgbClr val="00FF00"/>
            </a:solidFill>
            <a:ln>
              <a:noFill/>
            </a:ln>
            <a:effectLst>
              <a:prstShdw dir="2700000" dist="17961" prst="shdw17">
                <a:srgbClr val="009900"/>
              </a:prstShdw>
            </a:effectLst>
            <a:extLst>
              <a:ext uri="{91240B29-F687-4F45-9708-019B960494DF}">
                <a14:hiddenLine xmlns:a14="http://schemas.microsoft.com/office/drawing/2010/main" algn="ctr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lIns="0" rIns="0" wrap="none"/>
            <a:lstStyle>
              <a:lvl1pPr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r">
                <a:spcBef>
                  <a:spcPct val="0"/>
                </a:spcBef>
                <a:spcAft>
                  <a:spcPct val="0"/>
                </a:spcAft>
              </a:pPr>
              <a:endParaRPr altLang="en-US" b="0" lang="ko-KR" sz="783">
                <a:solidFill>
                  <a:srgbClr val="FF6600"/>
                </a:solidFill>
              </a:endParaRPr>
            </a:p>
          </p:txBody>
        </p:sp>
        <p:sp>
          <p:nvSpPr>
            <p:cNvPr id="7237" name="Rectangle 95"/>
            <p:cNvSpPr>
              <a:spLocks noChangeArrowheads="1"/>
            </p:cNvSpPr>
            <p:nvPr/>
          </p:nvSpPr>
          <p:spPr bwMode="auto">
            <a:xfrm>
              <a:off x="5222" y="518"/>
              <a:ext cx="144" cy="96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ffectLst>
              <a:prstShdw dir="2700000" dist="17961" prst="shdw17">
                <a:srgbClr val="999900"/>
              </a:prstShdw>
            </a:effectLst>
            <a:extLst>
              <a:ext uri="{91240B29-F687-4F45-9708-019B960494DF}">
                <a14:hiddenLine xmlns:a14="http://schemas.microsoft.com/office/drawing/2010/main" algn="ctr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lIns="0" rIns="0" wrap="none"/>
            <a:lstStyle>
              <a:lvl1pPr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r">
                <a:spcBef>
                  <a:spcPct val="0"/>
                </a:spcBef>
                <a:spcAft>
                  <a:spcPct val="0"/>
                </a:spcAft>
              </a:pPr>
              <a:endParaRPr altLang="en-US" b="0" lang="ko-KR" sz="783">
                <a:solidFill>
                  <a:srgbClr val="FF6600"/>
                </a:solidFill>
              </a:endParaRPr>
            </a:p>
          </p:txBody>
        </p:sp>
        <p:sp>
          <p:nvSpPr>
            <p:cNvPr id="7238" name="Rectangle 96"/>
            <p:cNvSpPr>
              <a:spLocks noChangeArrowheads="1"/>
            </p:cNvSpPr>
            <p:nvPr/>
          </p:nvSpPr>
          <p:spPr bwMode="auto">
            <a:xfrm>
              <a:off x="5222" y="622"/>
              <a:ext cx="144" cy="9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>
              <a:prstShdw dir="2700000" dist="17961" prst="shdw17">
                <a:srgbClr val="990000"/>
              </a:prstShdw>
            </a:effectLst>
            <a:extLst>
              <a:ext uri="{91240B29-F687-4F45-9708-019B960494DF}">
                <a14:hiddenLine xmlns:a14="http://schemas.microsoft.com/office/drawing/2010/main" algn="ctr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lIns="0" rIns="0" wrap="none"/>
            <a:lstStyle>
              <a:lvl1pPr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r">
                <a:spcBef>
                  <a:spcPct val="0"/>
                </a:spcBef>
                <a:spcAft>
                  <a:spcPct val="0"/>
                </a:spcAft>
              </a:pPr>
              <a:endParaRPr altLang="en-US" b="0" lang="ko-KR" sz="783">
                <a:solidFill>
                  <a:srgbClr val="FF6600"/>
                </a:solidFill>
              </a:endParaRPr>
            </a:p>
          </p:txBody>
        </p:sp>
        <p:sp>
          <p:nvSpPr>
            <p:cNvPr id="29" name="Text Box 97"/>
            <p:cNvSpPr txBox="1">
              <a:spLocks noChangeArrowheads="1"/>
            </p:cNvSpPr>
            <p:nvPr/>
          </p:nvSpPr>
          <p:spPr bwMode="auto">
            <a:xfrm>
              <a:off x="5395" y="377"/>
              <a:ext cx="207" cy="156"/>
            </a:xfrm>
            <a:prstGeom prst="rect">
              <a:avLst/>
            </a:prstGeom>
            <a:noFill/>
            <a:ln algn="ctr" w="9525">
              <a:noFill/>
              <a:miter lim="800000"/>
              <a:headEnd/>
              <a:tailEnd/>
            </a:ln>
            <a:effectLst>
              <a:prstShdw dir="2700000" dist="17961" prst="shdw17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lIns="0" rIns="0" wrap="none">
              <a:spAutoFit/>
            </a:bodyPr>
            <a:lstStyle/>
            <a:p>
              <a:pPr algn="ctr" defTabSz="842035" eaLnBrk="1" hangingPunct="1" indent="-177107" marL="177107">
                <a:spcBef>
                  <a:spcPct val="40000"/>
                </a:spcBef>
                <a:spcAft>
                  <a:spcPct val="0"/>
                </a:spcAft>
                <a:defRPr/>
              </a:pPr>
              <a:r>
                <a:rPr altLang="ko-KR" b="0" lang="en-US" sz="979">
                  <a:solidFill>
                    <a:srgbClr val="000000"/>
                  </a:solidFill>
                </a:rPr>
                <a:t>: </a:t>
              </a:r>
              <a:r>
                <a:rPr altLang="en-US" b="0" lang="ko-KR" sz="979">
                  <a:solidFill>
                    <a:srgbClr val="000000"/>
                  </a:solidFill>
                </a:rPr>
                <a:t>완료</a:t>
              </a:r>
              <a:endParaRPr altLang="ko-KR" b="0" lang="en-US" sz="979">
                <a:solidFill>
                  <a:srgbClr val="000000"/>
                </a:solidFill>
              </a:endParaRPr>
            </a:p>
          </p:txBody>
        </p:sp>
        <p:sp>
          <p:nvSpPr>
            <p:cNvPr id="30" name="Text Box 98"/>
            <p:cNvSpPr txBox="1">
              <a:spLocks noChangeArrowheads="1"/>
            </p:cNvSpPr>
            <p:nvPr/>
          </p:nvSpPr>
          <p:spPr bwMode="auto">
            <a:xfrm>
              <a:off x="5397" y="489"/>
              <a:ext cx="288" cy="156"/>
            </a:xfrm>
            <a:prstGeom prst="rect">
              <a:avLst/>
            </a:prstGeom>
            <a:noFill/>
            <a:ln algn="ctr" w="9525">
              <a:noFill/>
              <a:miter lim="800000"/>
              <a:headEnd/>
              <a:tailEnd/>
            </a:ln>
            <a:effectLst>
              <a:prstShdw dir="2700000" dist="17961" prst="shdw17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lIns="0" rIns="0" wrap="none">
              <a:spAutoFit/>
            </a:bodyPr>
            <a:lstStyle/>
            <a:p>
              <a:pPr algn="ctr" defTabSz="842035" eaLnBrk="1" hangingPunct="1" indent="-177107" marL="177107">
                <a:spcBef>
                  <a:spcPct val="40000"/>
                </a:spcBef>
                <a:spcAft>
                  <a:spcPct val="0"/>
                </a:spcAft>
                <a:defRPr/>
              </a:pPr>
              <a:r>
                <a:rPr altLang="ko-KR" b="0" lang="en-US" sz="979">
                  <a:solidFill>
                    <a:srgbClr val="000000"/>
                  </a:solidFill>
                </a:rPr>
                <a:t>: </a:t>
              </a:r>
              <a:r>
                <a:rPr altLang="en-US" b="0" lang="ko-KR" sz="979">
                  <a:solidFill>
                    <a:srgbClr val="000000"/>
                  </a:solidFill>
                </a:rPr>
                <a:t>진행중</a:t>
              </a:r>
              <a:endParaRPr altLang="ko-KR" b="0" lang="en-US" sz="979">
                <a:solidFill>
                  <a:srgbClr val="000000"/>
                </a:solidFill>
              </a:endParaRPr>
            </a:p>
          </p:txBody>
        </p:sp>
        <p:sp>
          <p:nvSpPr>
            <p:cNvPr id="31" name="Text Box 99"/>
            <p:cNvSpPr txBox="1">
              <a:spLocks noChangeArrowheads="1"/>
            </p:cNvSpPr>
            <p:nvPr/>
          </p:nvSpPr>
          <p:spPr bwMode="auto">
            <a:xfrm>
              <a:off x="5406" y="602"/>
              <a:ext cx="498" cy="156"/>
            </a:xfrm>
            <a:prstGeom prst="rect">
              <a:avLst/>
            </a:prstGeom>
            <a:noFill/>
            <a:ln algn="ctr" w="9525">
              <a:noFill/>
              <a:miter lim="800000"/>
              <a:headEnd/>
              <a:tailEnd/>
            </a:ln>
            <a:effectLst>
              <a:prstShdw dir="2700000" dist="17961" prst="shdw17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lIns="0" rIns="0" wrap="none">
              <a:spAutoFit/>
            </a:bodyPr>
            <a:lstStyle/>
            <a:p>
              <a:pPr algn="ctr" defTabSz="842035" eaLnBrk="1" hangingPunct="1" indent="-177107" marL="177107">
                <a:spcBef>
                  <a:spcPct val="40000"/>
                </a:spcBef>
                <a:spcAft>
                  <a:spcPct val="0"/>
                </a:spcAft>
                <a:defRPr/>
              </a:pPr>
              <a:r>
                <a:rPr altLang="ko-KR" b="0" lang="en-US" sz="979">
                  <a:solidFill>
                    <a:srgbClr val="000000"/>
                  </a:solidFill>
                </a:rPr>
                <a:t>: </a:t>
              </a:r>
              <a:r>
                <a:rPr altLang="en-US" b="0" lang="ko-KR" sz="979">
                  <a:solidFill>
                    <a:srgbClr val="000000"/>
                  </a:solidFill>
                </a:rPr>
                <a:t>미완료</a:t>
              </a:r>
              <a:r>
                <a:rPr altLang="ko-KR" b="0" lang="en-US" sz="979">
                  <a:solidFill>
                    <a:srgbClr val="000000"/>
                  </a:solidFill>
                </a:rPr>
                <a:t>(</a:t>
              </a:r>
              <a:r>
                <a:rPr altLang="en-US" b="0" lang="ko-KR" sz="979">
                  <a:solidFill>
                    <a:srgbClr val="000000"/>
                  </a:solidFill>
                </a:rPr>
                <a:t>문제</a:t>
              </a:r>
              <a:r>
                <a:rPr altLang="ko-KR" b="0" lang="en-US" sz="979">
                  <a:solidFill>
                    <a:srgbClr val="000000"/>
                  </a:solidFill>
                </a:rPr>
                <a:t>)</a:t>
              </a:r>
            </a:p>
          </p:txBody>
        </p:sp>
      </p:grpSp>
      <p:graphicFrame>
        <p:nvGraphicFramePr>
          <p:cNvPr id="15" name="Group 3690"/>
          <p:cNvGraphicFramePr>
            <a:graphicFrameLocks noGrp="1"/>
          </p:cNvGraphicFramePr>
          <p:nvPr/>
        </p:nvGraphicFramePr>
        <p:xfrm>
          <a:off x="479264" y="1043008"/>
          <a:ext cx="8798347" cy="2816279"/>
        </p:xfrm>
        <a:graphic>
          <a:graphicData uri="http://schemas.openxmlformats.org/drawingml/2006/table">
            <a:tbl>
              <a:tblPr/>
              <a:tblGrid>
                <a:gridCol w="8232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469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10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64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3861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19605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구분 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업무 내용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완료일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err="1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진행율</a:t>
                      </a: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상태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비고</a:t>
                      </a:r>
                      <a:endParaRPr altLang="ko-KR" b="0" baseline="0" cap="none" dirty="0" i="0" kumimoji="1" lang="en-US" normalizeH="0" smtClean="0" strike="noStrike" sz="11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33753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CRM/BI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err="1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키오스크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즉발카드 등록 연동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홈페이지 중복로그인 제한 개발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err="1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현대차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="0" baseline="0" dirty="0" err="1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인카페이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연동</a:t>
                      </a:r>
                      <a:r>
                        <a:rPr altLang="ko-KR" b="0" baseline="0" dirty="0" lang="en-US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_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테스트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마케팅 플랫폼 필드테스트 지원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err="1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상품권 제휴관련 성능저하 개선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786" marL="88066" marR="88066" marT="4578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786" marL="88066" marR="88066" marT="4578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50%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70%</a:t>
                      </a:r>
                    </a:p>
                  </a:txBody>
                  <a:tcPr anchor="ctr" horzOverflow="overflow" marB="45786" marL="88066" marR="88066" marT="45786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mtClean="0" strike="noStrike" sz="1000" u="none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921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VOC/PRM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VOC Summary </a:t>
                      </a:r>
                      <a:r>
                        <a:rPr altLang="en-US" b="0" baseline="0" cap="none" dirty="0" i="0" kern="1200" kumimoji="1" lang="ko-KR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발송 </a:t>
                      </a:r>
                      <a:r>
                        <a:rPr altLang="en-US" b="0" baseline="0" cap="none" dirty="0" err="1" i="0" kern="1200" kumimoji="1" lang="ko-KR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로직</a:t>
                      </a:r>
                      <a:r>
                        <a:rPr altLang="en-US" b="0" baseline="0" cap="none" dirty="0" i="0" kern="1200" kumimoji="1" lang="ko-KR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변경</a:t>
                      </a:r>
                    </a:p>
                  </a:txBody>
                  <a:tcPr anchor="ctr" horzOverflow="overflow" marB="45783" marL="88066" marR="88066" marT="4578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1/15</a:t>
                      </a:r>
                    </a:p>
                  </a:txBody>
                  <a:tcPr anchor="ctr" horzOverflow="overflow" marB="45783" marL="88066" marR="88066" marT="4578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</a:p>
                  </a:txBody>
                  <a:tcPr anchor="ctr" horzOverflow="overflow" marB="45786" marL="88066" marR="88066" marT="45786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mtClean="0" strike="noStrike" sz="1000" u="none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211" name="Rectangle 3082"/>
          <p:cNvSpPr>
            <a:spLocks noChangeArrowheads="1"/>
          </p:cNvSpPr>
          <p:nvPr/>
        </p:nvSpPr>
        <p:spPr bwMode="auto">
          <a:xfrm>
            <a:off x="330140" y="3950936"/>
            <a:ext cx="2311430" cy="245434"/>
          </a:xfrm>
          <a:prstGeom prst="rect">
            <a:avLst/>
          </a:prstGeom>
          <a:solidFill>
            <a:srgbClr val="FF9900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174">
                <a:solidFill>
                  <a:srgbClr val="000000"/>
                </a:solidFill>
              </a:rPr>
              <a:t>차주 업무 계획</a:t>
            </a:r>
            <a:endParaRPr altLang="ko-KR" kumimoji="1" lang="en-US" sz="1174">
              <a:solidFill>
                <a:srgbClr val="000000"/>
              </a:solidFill>
            </a:endParaRPr>
          </a:p>
        </p:txBody>
      </p:sp>
      <p:graphicFrame>
        <p:nvGraphicFramePr>
          <p:cNvPr id="16" name="Group 3690"/>
          <p:cNvGraphicFramePr>
            <a:graphicFrameLocks noGrp="1"/>
          </p:cNvGraphicFramePr>
          <p:nvPr/>
        </p:nvGraphicFramePr>
        <p:xfrm>
          <a:off x="479264" y="4249185"/>
          <a:ext cx="8798347" cy="1143651"/>
        </p:xfrm>
        <a:graphic>
          <a:graphicData uri="http://schemas.openxmlformats.org/drawingml/2006/table">
            <a:tbl>
              <a:tblPr/>
              <a:tblGrid>
                <a:gridCol w="8201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63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10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807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7202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구분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업무 내용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완료일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비고</a:t>
                      </a:r>
                      <a:endParaRPr altLang="ko-KR" b="0" baseline="0" cap="none" dirty="0" i="0" kumimoji="1" lang="en-US" normalizeH="0" smtClean="0" strike="noStrike" sz="11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8703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6004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VOC/PRM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ern="1200" kumimoji="0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37">
            <a:extLst>
              <a:ext uri="{FF2B5EF4-FFF2-40B4-BE49-F238E27FC236}">
                <a16:creationId xmlns:a16="http://schemas.microsoft.com/office/drawing/2014/main" id="{95DBC0E4-3FED-4168-A811-F22F73E27A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2179" y="296320"/>
            <a:ext cx="8761066" cy="3314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bIns="44805" lIns="89609" rIns="89609" tIns="44805">
            <a:spAutoFit/>
          </a:bodyPr>
          <a:lstStyle>
            <a:lvl1pPr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ko-KR" kumimoji="1" lang="en-US" sz="1566">
                <a:solidFill>
                  <a:srgbClr val="000000"/>
                </a:solidFill>
              </a:rPr>
              <a:t>3. </a:t>
            </a:r>
            <a:r>
              <a:rPr altLang="en-US" kumimoji="1" lang="ko-KR" sz="1566">
                <a:solidFill>
                  <a:srgbClr val="000000"/>
                </a:solidFill>
              </a:rPr>
              <a:t>주간업무 실적 및 계획</a:t>
            </a:r>
            <a:r>
              <a:rPr altLang="ko-KR" kumimoji="1" lang="en-US" sz="1566">
                <a:solidFill>
                  <a:srgbClr val="000000"/>
                </a:solidFill>
              </a:rPr>
              <a:t>(CP(IT Winner))</a:t>
            </a:r>
          </a:p>
        </p:txBody>
      </p:sp>
      <p:graphicFrame>
        <p:nvGraphicFramePr>
          <p:cNvPr id="7" name="Group 108">
            <a:extLst>
              <a:ext uri="{FF2B5EF4-FFF2-40B4-BE49-F238E27FC236}">
                <a16:creationId xmlns:a16="http://schemas.microsoft.com/office/drawing/2014/main" id="{D1918DE1-D523-480A-B775-91AD5D4C84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1939277"/>
              </p:ext>
            </p:extLst>
          </p:nvPr>
        </p:nvGraphicFramePr>
        <p:xfrm>
          <a:off x="255578" y="1117570"/>
          <a:ext cx="4846547" cy="2400406"/>
        </p:xfrm>
        <a:graphic>
          <a:graphicData uri="http://schemas.openxmlformats.org/drawingml/2006/table">
            <a:tbl>
              <a:tblPr/>
              <a:tblGrid>
                <a:gridCol w="5964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351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64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649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4684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  <a:endParaRPr altLang="ko-KR" b="1" baseline="0" cap="none" i="0" kumimoji="1" lang="en-US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1" baseline="0" cap="none" i="0" kumimoji="1" lang="ko-KR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진행율</a:t>
                      </a:r>
                      <a:endParaRPr altLang="ko-KR" b="1" baseline="0" cap="none" i="0" kumimoji="1" lang="en-US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완료일</a:t>
                      </a:r>
                      <a:endParaRPr altLang="ko-KR" b="1" baseline="0" cap="none" i="0" kumimoji="1" lang="en-US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92881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CP/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이영주</a:t>
                      </a:r>
                      <a:endParaRPr altLang="ko-KR" b="0" baseline="0" cap="none" dirty="0" i="0" kumimoji="1" lang="en-US" normalizeH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6" marL="88066" marR="88066" marT="45756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indent="-169863" marL="169863"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indent="-177800" marL="536575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indent="-177800" marL="8937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indent="-188913" marL="12620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indent="-177800" marL="1620838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177800" marL="20780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177800" marL="25352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177800" marL="29924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177800" marL="34496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더보기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메뉴 권한 중복 조회 이슈 수정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ERS 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규정관리지안지 누락 배치 재 실행 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ADOBE FLASH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종료에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따른 운영 반영 작업</a:t>
                      </a: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자원예약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본사 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20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년도 화상 전체 자료 작성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전직원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품질 만족도 조사 설문 생성 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유가 조회 권한 기능 변경 및 권한 추가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정유제품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Spread HSK 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누락 데이터 등록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안전수업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/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안전지킴이가이드북 메뉴 전환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유가 연동 배치 변경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(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범위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:3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일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-&gt;15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일로 변경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)</a:t>
                      </a:r>
                    </a:p>
                  </a:txBody>
                  <a:tcPr horzOverflow="overflow" marB="45772" marL="88066" marR="88066" marT="4577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indent="-177800" marL="536575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indent="-177800" marL="8937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indent="-188913" marL="12620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indent="-177800" marL="1620838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177800" marL="20780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177800" marL="25352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177800" marL="29924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177800" marL="34496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01/13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01/15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72" marL="88066" marR="88066" marT="4577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indent="-177800" marL="536575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indent="-177800" marL="8937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indent="-188913" marL="12620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indent="-177800" marL="1620838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177800" marL="20780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177800" marL="25352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177800" marL="29924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177800" marL="34496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01/13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01/15</a:t>
                      </a:r>
                    </a:p>
                  </a:txBody>
                  <a:tcPr horzOverflow="overflow" marB="45772" marL="88066" marR="88066" marT="4577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indent="-177800" marL="536575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indent="-177800" marL="8937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indent="-188913" marL="12620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indent="-177800" marL="1620838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177800" marL="20780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177800" marL="25352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177800" marL="29924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177800" marL="34496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72" marL="88066" marR="88066" marT="4577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Group 109">
            <a:extLst>
              <a:ext uri="{FF2B5EF4-FFF2-40B4-BE49-F238E27FC236}">
                <a16:creationId xmlns:a16="http://schemas.microsoft.com/office/drawing/2014/main" id="{7721BB07-7B10-4642-8619-4B25D434FC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6118837"/>
              </p:ext>
            </p:extLst>
          </p:nvPr>
        </p:nvGraphicFramePr>
        <p:xfrm>
          <a:off x="5176687" y="1117570"/>
          <a:ext cx="4399173" cy="1944545"/>
        </p:xfrm>
        <a:graphic>
          <a:graphicData uri="http://schemas.openxmlformats.org/drawingml/2006/table">
            <a:tbl>
              <a:tblPr/>
              <a:tblGrid>
                <a:gridCol w="6601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459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58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71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3976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</a:p>
                  </a:txBody>
                  <a:tcPr anchor="ctr" horzOverflow="overflow" marB="45729" marL="88066" marR="88066" marT="4572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29" marL="88066" marR="88066" marT="4572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729" marL="88066" marR="88066" marT="4572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anchor="ctr" horzOverflow="overflow" marB="45729" marL="88066" marR="88066" marT="4572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48287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i="0" kumimoji="1" lang="en-US" normalizeH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CP/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이영주</a:t>
                      </a:r>
                      <a:endParaRPr altLang="ko-KR" b="0" baseline="0" cap="none" i="0" kumimoji="1" lang="en-US" normalizeH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L="88066" marR="88066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>
                        <a:spcBef>
                          <a:spcPts val="35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>
                        <a:spcBef>
                          <a:spcPts val="35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>
                        <a:spcBef>
                          <a:spcPts val="35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>
                        <a:spcBef>
                          <a:spcPts val="35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228600" marL="251460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20603050405020304" pitchFamily="18" typeface="Times New Roman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228600" marL="297180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20603050405020304" pitchFamily="18" typeface="Times New Roman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228600" marL="342900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20603050405020304" pitchFamily="18" typeface="Times New Roman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228600" marL="388620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20603050405020304" pitchFamily="18" typeface="Times New Roman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CP 1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월 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2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회차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정기점검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(WAS/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배치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재기동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)</a:t>
                      </a: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rtl="0"/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ADOBE FLASH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종료에 따른 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HTML5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전환 </a:t>
                      </a: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rtl="0"/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  ( * 1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차 개발 완료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,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테스트 및 보완 예정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)</a:t>
                      </a:r>
                      <a:endParaRPr altLang="en-US" dirty="0" kern="1200" kumimoji="1" lang="ko-KR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817" marL="88066" marR="88066" marT="5358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endParaRPr altLang="ko-KR" b="0" baseline="0" cap="none" dirty="0" i="0" kern="1200" kumimoji="1" lang="en-US" noProof="0" normalizeH="0" smtClean="0" spc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817" marL="88066" marR="88066" marT="5358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01/20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01/29</a:t>
                      </a:r>
                    </a:p>
                  </a:txBody>
                  <a:tcPr horzOverflow="overflow" marB="45817" marL="88066" marR="88066" marT="5358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184" name="Rectangle 136">
            <a:extLst>
              <a:ext uri="{FF2B5EF4-FFF2-40B4-BE49-F238E27FC236}">
                <a16:creationId xmlns:a16="http://schemas.microsoft.com/office/drawing/2014/main" id="{546AF6F6-150A-4F5D-B79C-9EC68A793C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76687" y="760293"/>
            <a:ext cx="4399174" cy="310676"/>
          </a:xfrm>
          <a:prstGeom prst="rect">
            <a:avLst/>
          </a:prstGeom>
          <a:solidFill>
            <a:srgbClr val="C7CDFD"/>
          </a:solidFill>
          <a:ln algn="ctr" w="9525">
            <a:noFill/>
            <a:miter lim="800000"/>
            <a:headEnd/>
            <a:tailEnd/>
          </a:ln>
          <a:effectLst>
            <a:outerShdw algn="ctr" dir="2700000" dist="35921" rotWithShape="0">
              <a:schemeClr val="bg2"/>
            </a:outerShdw>
          </a:effectLst>
        </p:spPr>
        <p:txBody>
          <a:bodyPr anchor="ctr"/>
          <a:lstStyle/>
          <a:p>
            <a:pPr algn="ctr" defTabSz="789214" eaLnBrk="1" hangingPunct="1" indent="-242357" marL="242357">
              <a:spcBef>
                <a:spcPct val="0"/>
              </a:spcBef>
              <a:spcAft>
                <a:spcPct val="0"/>
              </a:spcAft>
              <a:defRPr/>
            </a:pPr>
            <a:r>
              <a:rPr altLang="en-US" kumimoji="1" lang="ko-KR" sz="1370">
                <a:solidFill>
                  <a:srgbClr val="000000"/>
                </a:solidFill>
              </a:rPr>
              <a:t>차주 업무 계획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  <p:sp>
        <p:nvSpPr>
          <p:cNvPr id="6185" name="Rectangle 136">
            <a:extLst>
              <a:ext uri="{FF2B5EF4-FFF2-40B4-BE49-F238E27FC236}">
                <a16:creationId xmlns:a16="http://schemas.microsoft.com/office/drawing/2014/main" id="{227A3DDD-F02B-4FC8-A75A-DDE02A45CE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577" y="744759"/>
            <a:ext cx="4846547" cy="310676"/>
          </a:xfrm>
          <a:prstGeom prst="rect">
            <a:avLst/>
          </a:prstGeom>
          <a:solidFill>
            <a:srgbClr val="C7CDFD"/>
          </a:solidFill>
          <a:ln algn="ctr" w="9525">
            <a:noFill/>
            <a:miter lim="800000"/>
            <a:headEnd/>
            <a:tailEnd/>
          </a:ln>
          <a:effectLst>
            <a:outerShdw algn="ctr" dir="2700000" dist="35921" rotWithShape="0">
              <a:schemeClr val="bg2"/>
            </a:outerShdw>
          </a:effectLst>
        </p:spPr>
        <p:txBody>
          <a:bodyPr anchor="ctr"/>
          <a:lstStyle/>
          <a:p>
            <a:pPr algn="ctr" defTabSz="789214" eaLnBrk="1" hangingPunct="1" indent="-242357" marL="242357">
              <a:spcBef>
                <a:spcPct val="0"/>
              </a:spcBef>
              <a:spcAft>
                <a:spcPct val="0"/>
              </a:spcAft>
              <a:defRPr/>
            </a:pPr>
            <a:r>
              <a:rPr altLang="en-US" kumimoji="1" lang="ko-KR" sz="1370">
                <a:solidFill>
                  <a:srgbClr val="000000"/>
                </a:solidFill>
              </a:rPr>
              <a:t>금주 업무 실적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8323565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823433574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129217741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583447854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872761250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598124055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398273934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123067992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557581811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247169632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888785401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938560342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433059203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627557782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458105934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br/>
          </a:p>
        </p:txBody>
      </p:sp>
      <p:sp>
        <p:nvSpPr>
          <p:cNvPr id="150709460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  <a:br/>
            <a:br/>
          </a:p>
        </p:txBody>
      </p:sp>
      <p:sp>
        <p:nvSpPr>
          <p:cNvPr id="1862155173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구분회계기준 비용의 1차원가요소 data 산출 프로그램 생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성 (ZCPR1050)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[CO] PP 제조원가 검증 프로그램 개발(ZPCOR2050~ZPC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OR2090)</a:t>
            </a:r>
          </a:p>
        </p:txBody>
      </p:sp>
      <p:sp>
        <p:nvSpPr>
          <p:cNvPr id="460679123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FI/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CO/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강민경</a:t>
            </a:r>
          </a:p>
        </p:txBody>
      </p:sp>
      <p:sp>
        <p:nvSpPr>
          <p:cNvPr id="1903385767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FI/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CO/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강민경</a:t>
            </a:r>
          </a:p>
        </p:txBody>
      </p:sp>
      <p:sp>
        <p:nvSpPr>
          <p:cNvPr id="620464985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외부 조사 대응을 위한 조회용 T-code 개발 요청(ZCOR66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00_D 등)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해외이관 물량 및 판매현황 집계 프로그램 저장로직 수정(Z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FIR5400)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PP 반제품 제조원가 검증(ZPCOR2080)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PP 제품 제조원가 검증 (ZPCOR2090)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오후 반차</a:t>
            </a:r>
          </a:p>
        </p:txBody>
      </p:sp>
      <p:sp>
        <p:nvSpPr>
          <p:cNvPr id="1002946416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</a:p>
        </p:txBody>
      </p:sp>
      <p:sp>
        <p:nvSpPr>
          <p:cNvPr id="188484644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</a:p>
        </p:txBody>
      </p:sp>
      <p:sp>
        <p:nvSpPr>
          <p:cNvPr id="1614933888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</a:p>
        </p:txBody>
      </p:sp>
      <p:sp>
        <p:nvSpPr>
          <p:cNvPr id="404226450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05549278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964274450" name="Text">
    </p:cNvPr>
          <p:cNvSpPr>
            <a:spLocks noGrp="1"/>
          </p:cNvSpPr>
          <p:nvPr/>
        </p:nvSpPr>
        <p:spPr>
          <a:xfrm rot="0">
            <a:off x="9702800" y="37719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</a:p>
        </p:txBody>
      </p:sp>
      <p:sp>
        <p:nvSpPr>
          <p:cNvPr id="440844255" name="Text">
    </p:cNvPr>
          <p:cNvSpPr>
            <a:spLocks noGrp="1"/>
          </p:cNvSpPr>
          <p:nvPr/>
        </p:nvSpPr>
        <p:spPr>
          <a:xfrm rot="0">
            <a:off x="9334500" y="37719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</a:p>
        </p:txBody>
      </p:sp>
      <p:sp>
        <p:nvSpPr>
          <p:cNvPr id="1107962260" name="Text">
    </p:cNvPr>
          <p:cNvSpPr>
            <a:spLocks noGrp="1"/>
          </p:cNvSpPr>
          <p:nvPr/>
        </p:nvSpPr>
        <p:spPr>
          <a:xfrm rot="0">
            <a:off x="5930900" y="3771900"/>
            <a:ext cx="3403600" cy="2273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산업안전보건관리비 관련 개선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원유 임차 Loss/Gain 전기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원화 Usance 차입금 도입 관련 ERP 시스템 개발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원유 및 제품 구입 비용문서 조회 프로그램 보완 요청</a:t>
            </a:r>
          </a:p>
        </p:txBody>
      </p:sp>
      <p:sp>
        <p:nvSpPr>
          <p:cNvPr id="1277721834" name="Text">
    </p:cNvPr>
          <p:cNvSpPr>
            <a:spLocks noGrp="1"/>
          </p:cNvSpPr>
          <p:nvPr/>
        </p:nvSpPr>
        <p:spPr>
          <a:xfrm rot="0">
            <a:off x="5308600" y="3771900"/>
            <a:ext cx="5715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김원기</a:t>
            </a:r>
          </a:p>
        </p:txBody>
      </p:sp>
      <p:sp>
        <p:nvSpPr>
          <p:cNvPr id="452074142" name="Text">
    </p:cNvPr>
          <p:cNvSpPr>
            <a:spLocks noGrp="1"/>
          </p:cNvSpPr>
          <p:nvPr/>
        </p:nvSpPr>
        <p:spPr>
          <a:xfrm rot="0">
            <a:off x="88900" y="3771900"/>
            <a:ext cx="5715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김원기</a:t>
            </a:r>
          </a:p>
        </p:txBody>
      </p:sp>
      <p:sp>
        <p:nvSpPr>
          <p:cNvPr id="904259160" name="Text">
    </p:cNvPr>
          <p:cNvSpPr>
            <a:spLocks noGrp="1"/>
          </p:cNvSpPr>
          <p:nvPr/>
        </p:nvSpPr>
        <p:spPr>
          <a:xfrm rot="0">
            <a:off x="711200" y="3771900"/>
            <a:ext cx="3403600" cy="2273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영업시설지원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ERP와 e-Pro간 입고/납품완료 불일치 점검 및 모니터링 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포트 개발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산업안전보건관리비 관련 개선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ZLBR2050에서 구매발주 삭제 시 오류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Vendor Master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UET- 울산에너지터미널 (구. 성운탱크터미널) VGO 재고-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민간 비축 보고 재고에서 확인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영세 신고를 위한 해외이관분 및 하역기준 판매에 대한 정산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프로그램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원유 임차 Loss/Gain 전기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원화 Usance 차입금 도입 관련 ERP 시스템 개발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원유 및 제품 구입 비용문서 조회 프로그램 보완 요청</a:t>
            </a:r>
          </a:p>
        </p:txBody>
      </p:sp>
      <p:sp>
        <p:nvSpPr>
          <p:cNvPr id="640696313" name="Text">
    </p:cNvPr>
          <p:cNvSpPr>
            <a:spLocks noGrp="1"/>
          </p:cNvSpPr>
          <p:nvPr/>
        </p:nvSpPr>
        <p:spPr>
          <a:xfrm rot="0">
            <a:off x="4483100" y="37719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</a:p>
        </p:txBody>
      </p:sp>
      <p:sp>
        <p:nvSpPr>
          <p:cNvPr id="703650041" name="Text">
    </p:cNvPr>
          <p:cNvSpPr>
            <a:spLocks noGrp="1"/>
          </p:cNvSpPr>
          <p:nvPr/>
        </p:nvSpPr>
        <p:spPr>
          <a:xfrm rot="0">
            <a:off x="4851400" y="37719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[보류]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</a:p>
        </p:txBody>
      </p:sp>
      <p:sp>
        <p:nvSpPr>
          <p:cNvPr id="593236403" name="Text">
    </p:cNvPr>
          <p:cNvSpPr>
            <a:spLocks noGrp="1"/>
          </p:cNvSpPr>
          <p:nvPr/>
        </p:nvSpPr>
        <p:spPr>
          <a:xfrm rot="0">
            <a:off x="4114800" y="37719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</a:p>
        </p:txBody>
      </p:sp>
      <p:sp>
        <p:nvSpPr>
          <p:cNvPr id="957478054" name="Text">
    </p:cNvPr>
          <p:cNvSpPr>
            <a:spLocks noGrp="1"/>
          </p:cNvSpPr>
          <p:nvPr/>
        </p:nvSpPr>
        <p:spPr>
          <a:xfrm rot="0">
            <a:off x="660400" y="3771900"/>
            <a:ext cx="34544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11298442" name="Text">
    </p:cNvPr>
          <p:cNvSpPr>
            <a:spLocks noGrp="1"/>
          </p:cNvSpPr>
          <p:nvPr/>
        </p:nvSpPr>
        <p:spPr>
          <a:xfrm rot="0">
            <a:off x="5880100" y="3771900"/>
            <a:ext cx="34544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8313478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335837465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707193002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169650357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259004522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940270636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636856383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529435374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410708649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937201667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071669911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788516769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471583787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79251542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946955916" name="Text">
    </p:cNvPr>
          <p:cNvSpPr>
            <a:spLocks noGrp="1"/>
          </p:cNvSpPr>
          <p:nvPr/>
        </p:nvSpPr>
        <p:spPr>
          <a:xfrm rot="0">
            <a:off x="9702800" y="15113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06/24</a:t>
            </a:r>
            <a:br/>
          </a:p>
        </p:txBody>
      </p:sp>
      <p:sp>
        <p:nvSpPr>
          <p:cNvPr id="1755522276" name="Text">
    </p:cNvPr>
          <p:cNvSpPr>
            <a:spLocks noGrp="1"/>
          </p:cNvSpPr>
          <p:nvPr/>
        </p:nvSpPr>
        <p:spPr>
          <a:xfrm rot="0">
            <a:off x="9334500" y="15113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06/18</a:t>
            </a:r>
            <a:br/>
          </a:p>
        </p:txBody>
      </p:sp>
      <p:sp>
        <p:nvSpPr>
          <p:cNvPr id="189259797" name="Text">
    </p:cNvPr>
          <p:cNvSpPr>
            <a:spLocks noGrp="1"/>
          </p:cNvSpPr>
          <p:nvPr/>
        </p:nvSpPr>
        <p:spPr>
          <a:xfrm rot="0">
            <a:off x="5930900" y="1511300"/>
            <a:ext cx="3403600" cy="2273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정기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이관 / 변경</a:t>
            </a:r>
          </a:p>
        </p:txBody>
      </p:sp>
      <p:sp>
        <p:nvSpPr>
          <p:cNvPr id="1165161171" name="Text">
    </p:cNvPr>
          <p:cNvSpPr>
            <a:spLocks noGrp="1"/>
          </p:cNvSpPr>
          <p:nvPr/>
        </p:nvSpPr>
        <p:spPr>
          <a:xfrm rot="0">
            <a:off x="5308600" y="1511300"/>
            <a:ext cx="5715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BC/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박남신</a:t>
            </a:r>
          </a:p>
        </p:txBody>
      </p:sp>
      <p:sp>
        <p:nvSpPr>
          <p:cNvPr id="1988409847" name="Text">
    </p:cNvPr>
          <p:cNvSpPr>
            <a:spLocks noGrp="1"/>
          </p:cNvSpPr>
          <p:nvPr/>
        </p:nvSpPr>
        <p:spPr>
          <a:xfrm rot="0">
            <a:off x="88900" y="1511300"/>
            <a:ext cx="5715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BC/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박남신</a:t>
            </a:r>
          </a:p>
        </p:txBody>
      </p:sp>
      <p:sp>
        <p:nvSpPr>
          <p:cNvPr id="124856263" name="Text">
    </p:cNvPr>
          <p:cNvSpPr>
            <a:spLocks noGrp="1"/>
          </p:cNvSpPr>
          <p:nvPr/>
        </p:nvSpPr>
        <p:spPr>
          <a:xfrm rot="0">
            <a:off x="711200" y="1511300"/>
            <a:ext cx="3403600" cy="2273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정기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이관 /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2024년 상반기 DR 재해복구 모의훈련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ERP운영 비계획운송비 MR8M 역분개 시 오류 관련 Notes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적용작업 업무지원(Note 1377622-MIRO/MR8M: M8281 wi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th unplanned delivery costs)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신규 SSL VPN 장비의 SBC/VDI DDC와의 연동 테스트에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따른 SAP 서비스 확인 야간작업 업무지원(22:00~02:00)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HCM운영 Content Server MaxDB 데이타파일 추가 및 Aut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oLog 파일 삭제작업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고도화 프로젝트 BC관련  업무지원(삼성SDS)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2024년 1st 운영평가용 내부통제 관련 증빙자료 취합 및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전달</a:t>
            </a:r>
          </a:p>
        </p:txBody>
      </p:sp>
      <p:sp>
        <p:nvSpPr>
          <p:cNvPr id="864172148" name="Text">
    </p:cNvPr>
          <p:cNvSpPr>
            <a:spLocks noGrp="1"/>
          </p:cNvSpPr>
          <p:nvPr/>
        </p:nvSpPr>
        <p:spPr>
          <a:xfrm rot="0">
            <a:off x="4483100" y="15113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06/18</a:t>
            </a:r>
            <a:br/>
            <a:br/>
          </a:p>
        </p:txBody>
      </p:sp>
      <p:sp>
        <p:nvSpPr>
          <p:cNvPr id="1639231677" name="Text">
    </p:cNvPr>
          <p:cNvSpPr>
            <a:spLocks noGrp="1"/>
          </p:cNvSpPr>
          <p:nvPr/>
        </p:nvSpPr>
        <p:spPr>
          <a:xfrm rot="0">
            <a:off x="4851400" y="15113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br/>
          </a:p>
        </p:txBody>
      </p:sp>
      <p:sp>
        <p:nvSpPr>
          <p:cNvPr id="841803389" name="Text">
    </p:cNvPr>
          <p:cNvSpPr>
            <a:spLocks noGrp="1"/>
          </p:cNvSpPr>
          <p:nvPr/>
        </p:nvSpPr>
        <p:spPr>
          <a:xfrm rot="0">
            <a:off x="4114800" y="15113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06/12</a:t>
            </a:r>
            <a:br/>
            <a:br/>
          </a:p>
        </p:txBody>
      </p:sp>
      <p:sp>
        <p:nvSpPr>
          <p:cNvPr id="1013821664" name="Text">
    </p:cNvPr>
          <p:cNvSpPr>
            <a:spLocks noGrp="1"/>
          </p:cNvSpPr>
          <p:nvPr/>
        </p:nvSpPr>
        <p:spPr>
          <a:xfrm rot="0">
            <a:off x="660400" y="1511300"/>
            <a:ext cx="34544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04262273" name="Text">
    </p:cNvPr>
          <p:cNvSpPr>
            <a:spLocks noGrp="1"/>
          </p:cNvSpPr>
          <p:nvPr/>
        </p:nvSpPr>
        <p:spPr>
          <a:xfrm rot="0">
            <a:off x="5880100" y="1511300"/>
            <a:ext cx="34544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18011557" name="Text">
    </p:cNvPr>
          <p:cNvSpPr>
            <a:spLocks noGrp="1"/>
          </p:cNvSpPr>
          <p:nvPr/>
        </p:nvSpPr>
        <p:spPr>
          <a:xfrm rot="0">
            <a:off x="9702800" y="37846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06/21</a:t>
            </a:r>
            <a:br/>
          </a:p>
        </p:txBody>
      </p:sp>
      <p:sp>
        <p:nvSpPr>
          <p:cNvPr id="254877337" name="Text">
    </p:cNvPr>
          <p:cNvSpPr>
            <a:spLocks noGrp="1"/>
          </p:cNvSpPr>
          <p:nvPr/>
        </p:nvSpPr>
        <p:spPr>
          <a:xfrm rot="0">
            <a:off x="9334500" y="37846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06/17</a:t>
            </a:r>
            <a:br/>
          </a:p>
        </p:txBody>
      </p:sp>
      <p:sp>
        <p:nvSpPr>
          <p:cNvPr id="1586119983" name="Text">
    </p:cNvPr>
          <p:cNvSpPr>
            <a:spLocks noGrp="1"/>
          </p:cNvSpPr>
          <p:nvPr/>
        </p:nvSpPr>
        <p:spPr>
          <a:xfrm rot="0">
            <a:off x="5930900" y="37846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[계정관리] ERP 계정관리</a:t>
            </a:r>
          </a:p>
        </p:txBody>
      </p:sp>
      <p:sp>
        <p:nvSpPr>
          <p:cNvPr id="865948185" name="Text">
    </p:cNvPr>
          <p:cNvSpPr>
            <a:spLocks noGrp="1"/>
          </p:cNvSpPr>
          <p:nvPr/>
        </p:nvSpPr>
        <p:spPr>
          <a:xfrm rot="0">
            <a:off x="5308600" y="37846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서상희</a:t>
            </a:r>
          </a:p>
        </p:txBody>
      </p:sp>
      <p:sp>
        <p:nvSpPr>
          <p:cNvPr id="826353379" name="Text">
    </p:cNvPr>
          <p:cNvSpPr>
            <a:spLocks noGrp="1"/>
          </p:cNvSpPr>
          <p:nvPr/>
        </p:nvSpPr>
        <p:spPr>
          <a:xfrm rot="0">
            <a:off x="88900" y="37846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서상희</a:t>
            </a:r>
          </a:p>
        </p:txBody>
      </p:sp>
      <p:sp>
        <p:nvSpPr>
          <p:cNvPr id="906175364" name="Text">
    </p:cNvPr>
          <p:cNvSpPr>
            <a:spLocks noGrp="1"/>
          </p:cNvSpPr>
          <p:nvPr/>
        </p:nvSpPr>
        <p:spPr>
          <a:xfrm rot="0">
            <a:off x="711200" y="37846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[계정관리] ERP 계정관리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짧고 굵게 배우는 JSP 웹 프로그래밍과 스프링 프레임워크: CH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짧고 굵게 배우는 JSP 웹 프로그래밍과 스프링 프레임워크: CH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3</a:t>
            </a:r>
          </a:p>
        </p:txBody>
      </p:sp>
      <p:sp>
        <p:nvSpPr>
          <p:cNvPr id="984398678" name="Text">
    </p:cNvPr>
          <p:cNvSpPr>
            <a:spLocks noGrp="1"/>
          </p:cNvSpPr>
          <p:nvPr/>
        </p:nvSpPr>
        <p:spPr>
          <a:xfrm rot="0">
            <a:off x="4483100" y="37846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br/>
          </a:p>
        </p:txBody>
      </p:sp>
      <p:sp>
        <p:nvSpPr>
          <p:cNvPr id="1668819840" name="Text">
    </p:cNvPr>
          <p:cNvSpPr>
            <a:spLocks noGrp="1"/>
          </p:cNvSpPr>
          <p:nvPr/>
        </p:nvSpPr>
        <p:spPr>
          <a:xfrm rot="0">
            <a:off x="4851400" y="37846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br/>
          </a:p>
        </p:txBody>
      </p:sp>
      <p:sp>
        <p:nvSpPr>
          <p:cNvPr id="1538686770" name="Text">
    </p:cNvPr>
          <p:cNvSpPr>
            <a:spLocks noGrp="1"/>
          </p:cNvSpPr>
          <p:nvPr/>
        </p:nvSpPr>
        <p:spPr>
          <a:xfrm rot="0">
            <a:off x="4114800" y="37846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06/12</a:t>
            </a:r>
            <a:br/>
            <a:br/>
          </a:p>
        </p:txBody>
      </p:sp>
      <p:sp>
        <p:nvSpPr>
          <p:cNvPr id="1954965699" name="Text">
    </p:cNvPr>
          <p:cNvSpPr>
            <a:spLocks noGrp="1"/>
          </p:cNvSpPr>
          <p:nvPr/>
        </p:nvSpPr>
        <p:spPr>
          <a:xfrm rot="0">
            <a:off x="660400" y="37846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32896014" name="Text">
    </p:cNvPr>
          <p:cNvSpPr>
            <a:spLocks noGrp="1"/>
          </p:cNvSpPr>
          <p:nvPr/>
        </p:nvSpPr>
        <p:spPr>
          <a:xfrm rot="0">
            <a:off x="5880100" y="37846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075088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628352568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646519978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974277150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885767402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550524219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314025927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405256183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973556617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417114239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163738858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47694479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34380383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2137933105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399361112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br/>
            <a:br/>
          </a:p>
        </p:txBody>
      </p:sp>
      <p:sp>
        <p:nvSpPr>
          <p:cNvPr id="1863838976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05/29</a:t>
            </a:r>
            <a:br/>
            <a:br/>
            <a:br/>
          </a:p>
        </p:txBody>
      </p:sp>
      <p:sp>
        <p:nvSpPr>
          <p:cNvPr id="154098911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자산취득 장기 미정산 누락 방지를 위한 시스템 개선* WBS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요소 약정 관리를 위한 PR생성, 삭제 RFC Function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SHBE 대상 일반용역 사후평가표 수정 요청* 발주 생성 및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기성보고서 전송 RFC 함수 로직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구매요구서 내 LCC, 정성평가 체크박스 추가 요청* LLC(L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ife Cycle Costing), 정성평가 관련 로직 반영 및 인터페이스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수정 </a:t>
            </a:r>
          </a:p>
        </p:txBody>
      </p:sp>
      <p:sp>
        <p:nvSpPr>
          <p:cNvPr id="73778950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오승룡</a:t>
            </a:r>
          </a:p>
        </p:txBody>
      </p:sp>
      <p:sp>
        <p:nvSpPr>
          <p:cNvPr id="334005148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오승룡</a:t>
            </a:r>
          </a:p>
        </p:txBody>
      </p:sp>
      <p:sp>
        <p:nvSpPr>
          <p:cNvPr id="1128731404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자산취득 장기 미정산 누락 방지를 위한 시스템 개선* WBS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요소 약정 관리를 위한 PR생성, 삭제 RFC Function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SHBE 대상 일반용역 사후평가표 수정 요청* 발주 생성 및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기성보고서 전송 RFC 함수 로직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구매요구서 내 LCC, 정성평가 체크박스 추가 요청* LLC(L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ife Cycle Costing), 정성평가 관련 로직 반영 및 인터페이스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수정 </a:t>
            </a:r>
          </a:p>
        </p:txBody>
      </p:sp>
      <p:sp>
        <p:nvSpPr>
          <p:cNvPr id="813524511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br/>
            <a:br/>
          </a:p>
        </p:txBody>
      </p:sp>
      <p:sp>
        <p:nvSpPr>
          <p:cNvPr id="445303521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br/>
          </a:p>
        </p:txBody>
      </p:sp>
      <p:sp>
        <p:nvSpPr>
          <p:cNvPr id="1294552655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05/29</a:t>
            </a:r>
            <a:br/>
            <a:br/>
            <a:br/>
          </a:p>
        </p:txBody>
      </p:sp>
      <p:sp>
        <p:nvSpPr>
          <p:cNvPr id="906886037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38886613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62703429" name="Text">
    </p:cNvPr>
          <p:cNvSpPr>
            <a:spLocks noGrp="1"/>
          </p:cNvSpPr>
          <p:nvPr/>
        </p:nvSpPr>
        <p:spPr>
          <a:xfrm rot="0">
            <a:off x="9702800" y="37719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</a:p>
        </p:txBody>
      </p:sp>
      <p:sp>
        <p:nvSpPr>
          <p:cNvPr id="643187981" name="Text">
    </p:cNvPr>
          <p:cNvSpPr>
            <a:spLocks noGrp="1"/>
          </p:cNvSpPr>
          <p:nvPr/>
        </p:nvSpPr>
        <p:spPr>
          <a:xfrm rot="0">
            <a:off x="9334500" y="37719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06/17</a:t>
            </a:r>
            <a:br/>
          </a:p>
        </p:txBody>
      </p:sp>
      <p:sp>
        <p:nvSpPr>
          <p:cNvPr id="2145309441" name="Text">
    </p:cNvPr>
          <p:cNvSpPr>
            <a:spLocks noGrp="1"/>
          </p:cNvSpPr>
          <p:nvPr/>
        </p:nvSpPr>
        <p:spPr>
          <a:xfrm rot="0">
            <a:off x="5930900" y="3771900"/>
            <a:ext cx="3403600" cy="27305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[ITSM-112248] 생산직평가 시스템 변경</a:t>
            </a:r>
          </a:p>
        </p:txBody>
      </p:sp>
      <p:sp>
        <p:nvSpPr>
          <p:cNvPr id="1258792873" name="Text">
    </p:cNvPr>
          <p:cNvSpPr>
            <a:spLocks noGrp="1"/>
          </p:cNvSpPr>
          <p:nvPr/>
        </p:nvSpPr>
        <p:spPr>
          <a:xfrm rot="0">
            <a:off x="5308600" y="3771900"/>
            <a:ext cx="5715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Fiori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이상엽</a:t>
            </a:r>
          </a:p>
        </p:txBody>
      </p:sp>
      <p:sp>
        <p:nvSpPr>
          <p:cNvPr id="1000297096" name="Text">
    </p:cNvPr>
          <p:cNvSpPr>
            <a:spLocks noGrp="1"/>
          </p:cNvSpPr>
          <p:nvPr/>
        </p:nvSpPr>
        <p:spPr>
          <a:xfrm rot="0">
            <a:off x="88900" y="3771900"/>
            <a:ext cx="5715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Fiori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이상엽</a:t>
            </a:r>
          </a:p>
        </p:txBody>
      </p:sp>
      <p:sp>
        <p:nvSpPr>
          <p:cNvPr id="804591323" name="Text">
    </p:cNvPr>
          <p:cNvSpPr>
            <a:spLocks noGrp="1"/>
          </p:cNvSpPr>
          <p:nvPr/>
        </p:nvSpPr>
        <p:spPr>
          <a:xfrm rot="0">
            <a:off x="711200" y="3771900"/>
            <a:ext cx="3403600" cy="27305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[ITSM-112248] 생산직평가 시스템 변경   :본 평가 웹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화면 수정(20%)- [ITSM-112367] 당연퇴직자 주택자금 및 생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활안정자금 중도상환 신청 등록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[ITSM-112366] New Healthcare 신청시 입사일자 체크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기준 추가- [ITSM-112478] 특근명령서  작성시 결재선 안내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팝업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[ITSM-112248] 생산직평가 시스템 변경   :본 평가 웹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화면 수정(50%)- [ITSM-112547] 중식비예외자 신청금액 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정- 인사기록카드용 어학점수 환산로직 수정(등급연계삭제)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ITSM-112594 국내출장 반영기간 수정- 특근명령서 작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성시, 대근사유대상자 조회 관련(공통코드(TMT1)에 '2040'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추가 안내) - [ITSM-112248] 생산직평가 시스템 변경   :본 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가 웹화면 수정(80%)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생산직 다면평가 대상자 및 평가자 리스트 작성 지원- [I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TSM-112248]생산직 상반기 1/2차 평가 테스트 및 오류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- 문의 대응 : 제증명 출력 오류 외</a:t>
            </a:r>
          </a:p>
        </p:txBody>
      </p:sp>
      <p:sp>
        <p:nvSpPr>
          <p:cNvPr id="649764607" name="Text">
    </p:cNvPr>
          <p:cNvSpPr>
            <a:spLocks noGrp="1"/>
          </p:cNvSpPr>
          <p:nvPr/>
        </p:nvSpPr>
        <p:spPr>
          <a:xfrm rot="0">
            <a:off x="4483100" y="37719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06/12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br/>
            <a:br/>
          </a:p>
        </p:txBody>
      </p:sp>
      <p:sp>
        <p:nvSpPr>
          <p:cNvPr id="1349934958" name="Text">
    </p:cNvPr>
          <p:cNvSpPr>
            <a:spLocks noGrp="1"/>
          </p:cNvSpPr>
          <p:nvPr/>
        </p:nvSpPr>
        <p:spPr>
          <a:xfrm rot="0">
            <a:off x="4851400" y="37719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06/12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br/>
            <a:br/>
          </a:p>
        </p:txBody>
      </p:sp>
      <p:sp>
        <p:nvSpPr>
          <p:cNvPr id="289164538" name="Text">
    </p:cNvPr>
          <p:cNvSpPr>
            <a:spLocks noGrp="1"/>
          </p:cNvSpPr>
          <p:nvPr/>
        </p:nvSpPr>
        <p:spPr>
          <a:xfrm rot="0">
            <a:off x="4114800" y="37719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06/12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br/>
            <a:br/>
          </a:p>
        </p:txBody>
      </p:sp>
      <p:sp>
        <p:nvSpPr>
          <p:cNvPr id="377013192" name="Text">
    </p:cNvPr>
          <p:cNvSpPr>
            <a:spLocks noGrp="1"/>
          </p:cNvSpPr>
          <p:nvPr/>
        </p:nvSpPr>
        <p:spPr>
          <a:xfrm rot="0">
            <a:off x="660400" y="3771900"/>
            <a:ext cx="34544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82434718" name="Text">
    </p:cNvPr>
          <p:cNvSpPr>
            <a:spLocks noGrp="1"/>
          </p:cNvSpPr>
          <p:nvPr/>
        </p:nvSpPr>
        <p:spPr>
          <a:xfrm rot="0">
            <a:off x="5880100" y="3771900"/>
            <a:ext cx="34544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02231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971360756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624326671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2122212653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984648777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1272883160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564367020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348733227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846023594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347850196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130855498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57893840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559207636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167644421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675670506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</a:p>
        </p:txBody>
      </p:sp>
      <p:sp>
        <p:nvSpPr>
          <p:cNvPr id="1581398167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</a:p>
        </p:txBody>
      </p:sp>
      <p:sp>
        <p:nvSpPr>
          <p:cNvPr id="1496823295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HCM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DC 퇴직연금 계산 관련 70%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생산직평가 시스템 변경 요청 30%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SF 연동 Data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인사기록카드 표기 관련 수정 요청 10%</a:t>
            </a:r>
          </a:p>
        </p:txBody>
      </p:sp>
      <p:sp>
        <p:nvSpPr>
          <p:cNvPr id="1511289123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최연화</a:t>
            </a:r>
          </a:p>
        </p:txBody>
      </p:sp>
      <p:sp>
        <p:nvSpPr>
          <p:cNvPr id="1561975090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최연화</a:t>
            </a:r>
          </a:p>
        </p:txBody>
      </p:sp>
      <p:sp>
        <p:nvSpPr>
          <p:cNvPr id="315671686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HCM 문의 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DC 퇴직연금 계산 관련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생산직평가 시스템 변경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정년후 재고용 대상자(박노환 계장) 근태단말기 사번 연동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요청(긴급)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인사기록카드 표기 관련 수정 요청</a:t>
            </a:r>
          </a:p>
        </p:txBody>
      </p:sp>
      <p:sp>
        <p:nvSpPr>
          <p:cNvPr id="1982595950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</a:p>
        </p:txBody>
      </p:sp>
      <p:sp>
        <p:nvSpPr>
          <p:cNvPr id="264825313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6/13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</a:p>
        </p:txBody>
      </p:sp>
      <p:sp>
        <p:nvSpPr>
          <p:cNvPr id="470507875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</a:p>
        </p:txBody>
      </p:sp>
      <p:sp>
        <p:nvSpPr>
          <p:cNvPr id="149648016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08176272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43185241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br/>
          </a:p>
        </p:txBody>
      </p:sp>
      <p:sp>
        <p:nvSpPr>
          <p:cNvPr id="297935235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02/19</a:t>
            </a:r>
            <a:br/>
            <a:br/>
          </a:p>
        </p:txBody>
      </p:sp>
      <p:sp>
        <p:nvSpPr>
          <p:cNvPr id="1114549977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ITSM-107407자영대리점 거래처 관리업무 간소화 추진(1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차)</a:t>
            </a:r>
          </a:p>
        </p:txBody>
      </p:sp>
      <p:sp>
        <p:nvSpPr>
          <p:cNvPr id="223831971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최진우</a:t>
            </a:r>
          </a:p>
        </p:txBody>
      </p:sp>
      <p:sp>
        <p:nvSpPr>
          <p:cNvPr id="1908206554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최진우</a:t>
            </a:r>
          </a:p>
        </p:txBody>
      </p:sp>
      <p:sp>
        <p:nvSpPr>
          <p:cNvPr id="1903301207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ITSM-107407자영대리점 거래처 관리업무 간소화 추진(1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차)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ITSM-109418자가수송 실거리 내용 입력/수정 시 조회 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용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ITSM-111438 포뮬라 계산식 보완 FNL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ITSM-111624수출신고 관련 T-CODE 에러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ITSM-111844ZPRR1000(고정자산 마스터 영업데이터 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리) 영업5조직 매핑기준 보완 및 자동화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[TD] ITSM-112024ZTDR5130 수송비 정산 화면 수정</a:t>
            </a:r>
          </a:p>
        </p:txBody>
      </p:sp>
      <p:sp>
        <p:nvSpPr>
          <p:cNvPr id="1188913862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</a:p>
        </p:txBody>
      </p:sp>
      <p:sp>
        <p:nvSpPr>
          <p:cNvPr id="1887530945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</a:p>
        </p:txBody>
      </p:sp>
      <p:sp>
        <p:nvSpPr>
          <p:cNvPr id="1727375408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</a:p>
        </p:txBody>
      </p:sp>
      <p:sp>
        <p:nvSpPr>
          <p:cNvPr id="133492243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05849209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177032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19023170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103284832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597621952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261648765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913965390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664108405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933176251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273462319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997477597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215299590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568808000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367426645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589054278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378491046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</a:p>
        </p:txBody>
      </p:sp>
      <p:sp>
        <p:nvSpPr>
          <p:cNvPr id="232875365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</a:p>
        </p:txBody>
      </p:sp>
      <p:sp>
        <p:nvSpPr>
          <p:cNvPr id="1443440994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ITSM-107407 자영대리점 거래처 관리업무 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소화 추진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ITSM-110540 ISIMS Web 서버 전환작업(API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반영)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[CCS] ITSM-112407 법인카드 WBS 마스터 전송 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ITSM-112364 e-Biz 장기미사용 계정 관리방안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보완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ITSM-112365 e-Biz 개인정보처리방침의 수탁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업체 변경요청</a:t>
            </a:r>
            <a:br/>
          </a:p>
        </p:txBody>
      </p:sp>
      <p:sp>
        <p:nvSpPr>
          <p:cNvPr id="813884894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e-Biz/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CCS/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FLBIZ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공현호</a:t>
            </a:r>
          </a:p>
        </p:txBody>
      </p:sp>
      <p:sp>
        <p:nvSpPr>
          <p:cNvPr id="1550096648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e-Biz/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CCS/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FLBIZ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공현호</a:t>
            </a:r>
          </a:p>
        </p:txBody>
      </p:sp>
      <p:sp>
        <p:nvSpPr>
          <p:cNvPr id="1512576428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ITSM-107407 자영대리점 거래처 관리업무 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소화 추진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ITSM-110540 ISIMS Web 서버 전환작업(API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반영)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[CCS] ITSM-112407 법인카드 WBS 마스터 전송 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ITSM-112364 e-Biz 장기미사용 계정 관리방안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보완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ITSM-112365 e-Biz 개인정보처리방침의 수탁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업체 변경요청</a:t>
            </a:r>
            <a:br/>
          </a:p>
        </p:txBody>
      </p:sp>
      <p:sp>
        <p:nvSpPr>
          <p:cNvPr id="1173714354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</a:p>
        </p:txBody>
      </p:sp>
      <p:sp>
        <p:nvSpPr>
          <p:cNvPr id="1660863687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75%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95%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5%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95%</a:t>
            </a:r>
            <a:br/>
            <a:br/>
          </a:p>
        </p:txBody>
      </p:sp>
      <p:sp>
        <p:nvSpPr>
          <p:cNvPr id="439004489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</a:p>
        </p:txBody>
      </p:sp>
      <p:sp>
        <p:nvSpPr>
          <p:cNvPr id="3493589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54141316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52049519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br/>
          </a:p>
        </p:txBody>
      </p:sp>
      <p:sp>
        <p:nvSpPr>
          <p:cNvPr id="901804170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</a:p>
        </p:txBody>
      </p:sp>
      <p:sp>
        <p:nvSpPr>
          <p:cNvPr id="522834689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ePSMS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[RTS] RTS Dashboard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ePSMS / OAS 사이버보안 컴플라이언스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웹동적점검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[ITSM-112593]ERP Upgrade 관련 OAS Interface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요청</a:t>
            </a:r>
          </a:p>
        </p:txBody>
      </p:sp>
      <p:sp>
        <p:nvSpPr>
          <p:cNvPr id="1858538675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ePSMS/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RTS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김상훈</a:t>
            </a:r>
          </a:p>
        </p:txBody>
      </p:sp>
      <p:sp>
        <p:nvSpPr>
          <p:cNvPr id="1784655798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ePSMS/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RTS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김상훈</a:t>
            </a:r>
          </a:p>
        </p:txBody>
      </p:sp>
      <p:sp>
        <p:nvSpPr>
          <p:cNvPr id="1546507863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ePSMS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[RTS] RTS Dashboard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ePSMS / OAS 사이버보안 컴플라이언스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웹동적점검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[ITSM-112261]Floating roof tank의 roof correcti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on 적용 순서 변경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[ITSM-112548]일일 이송량 엑셀 자료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[ITSM-112593]ERP Upgrade 관련 OAS Interface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요청</a:t>
            </a:r>
          </a:p>
        </p:txBody>
      </p:sp>
      <p:sp>
        <p:nvSpPr>
          <p:cNvPr id="223192840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br/>
          </a:p>
        </p:txBody>
      </p:sp>
      <p:sp>
        <p:nvSpPr>
          <p:cNvPr id="1538887814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20%</a:t>
            </a:r>
            <a:br/>
            <a:br/>
          </a:p>
        </p:txBody>
      </p:sp>
      <p:sp>
        <p:nvSpPr>
          <p:cNvPr id="1284286040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</a:p>
        </p:txBody>
      </p:sp>
      <p:sp>
        <p:nvSpPr>
          <p:cNvPr id="2124504816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15167179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984891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545883174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412106265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815720924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389405925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2079441553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997956662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452313691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878765720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451613372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586032641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03967967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055216562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2086262816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707620178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06/21</a:t>
            </a:r>
            <a:br/>
          </a:p>
        </p:txBody>
      </p:sp>
      <p:sp>
        <p:nvSpPr>
          <p:cNvPr id="725665921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</a:p>
        </p:txBody>
      </p:sp>
      <p:sp>
        <p:nvSpPr>
          <p:cNvPr id="1059874456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실수송 거리 측정데이타 erp 연동요청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영업시설지원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자영대리점 거래처 관리업무 간소화 추진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업무용 경조화환 신청관리 시스템구축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CI시설물명(개업판촉물) 변경 및 자재번호 등록 요청</a:t>
            </a:r>
          </a:p>
        </p:txBody>
      </p:sp>
      <p:sp>
        <p:nvSpPr>
          <p:cNvPr id="226898309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S-ERP/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BI-EDW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남대현</a:t>
            </a:r>
          </a:p>
        </p:txBody>
      </p:sp>
      <p:sp>
        <p:nvSpPr>
          <p:cNvPr id="701560256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S-ERP/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BI-EDW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남대현</a:t>
            </a:r>
          </a:p>
        </p:txBody>
      </p:sp>
      <p:sp>
        <p:nvSpPr>
          <p:cNvPr id="75048123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실수송 거리 측정데이타 erp 연동요청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영업시설지원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자영대리점 거래처 관리업무 간소화 추진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업무용 경조화환 신청관리 시스템구축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CI시설물명(개업판촉물) 변경 및 자재번호 등록 요청</a:t>
            </a:r>
          </a:p>
        </p:txBody>
      </p:sp>
      <p:sp>
        <p:nvSpPr>
          <p:cNvPr id="1488820746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06/21</a:t>
            </a:r>
            <a:br/>
          </a:p>
        </p:txBody>
      </p:sp>
      <p:sp>
        <p:nvSpPr>
          <p:cNvPr id="1678480001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85%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88%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</a:p>
        </p:txBody>
      </p:sp>
      <p:sp>
        <p:nvSpPr>
          <p:cNvPr id="1247483189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</a:p>
        </p:txBody>
      </p:sp>
      <p:sp>
        <p:nvSpPr>
          <p:cNvPr id="130726969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65274624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7963497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06/21</a:t>
            </a:r>
            <a:br/>
          </a:p>
        </p:txBody>
      </p:sp>
      <p:sp>
        <p:nvSpPr>
          <p:cNvPr id="424953479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06/17</a:t>
            </a:r>
            <a:br/>
          </a:p>
        </p:txBody>
      </p:sp>
      <p:sp>
        <p:nvSpPr>
          <p:cNvPr id="1269635808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ASM 변경 관리 요청 업무</a:t>
            </a:r>
          </a:p>
        </p:txBody>
      </p:sp>
      <p:sp>
        <p:nvSpPr>
          <p:cNvPr id="1615709086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1267824814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1883930405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ITSM-112142 변경승인자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GW mobile goole push 운영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ITSM-107346 배포상태 변경ITSM-112404 견적서 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제ITSM-112490 데이터작업서 삭제ITSM-112530 변경결과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작성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ITSM-108181 자동배포 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IOS 협의문 출력 시 스크롤 오류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ITSM-112624 변경결과 작성ITSM-109144 상태 변경</a:t>
            </a:r>
          </a:p>
        </p:txBody>
      </p:sp>
      <p:sp>
        <p:nvSpPr>
          <p:cNvPr id="1402147286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</a:p>
        </p:txBody>
      </p:sp>
      <p:sp>
        <p:nvSpPr>
          <p:cNvPr id="1565288713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</a:p>
        </p:txBody>
      </p:sp>
      <p:sp>
        <p:nvSpPr>
          <p:cNvPr id="492322310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</a:p>
        </p:txBody>
      </p:sp>
      <p:sp>
        <p:nvSpPr>
          <p:cNvPr id="1053350367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973314161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058026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399566486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873728402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772464636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2577979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282322175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58897972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305879982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004493473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013385389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898444206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225425892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869871432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428989105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159549558" name="Text">
    </p:cNvPr>
          <p:cNvSpPr>
            <a:spLocks noGrp="1"/>
          </p:cNvSpPr>
          <p:nvPr/>
        </p:nvSpPr>
        <p:spPr>
          <a:xfrm rot="0">
            <a:off x="9702800" y="1511300"/>
            <a:ext cx="3683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06/21</a:t>
            </a:r>
            <a:br/>
          </a:p>
        </p:txBody>
      </p:sp>
      <p:sp>
        <p:nvSpPr>
          <p:cNvPr id="1477831826" name="Text">
    </p:cNvPr>
          <p:cNvSpPr>
            <a:spLocks noGrp="1"/>
          </p:cNvSpPr>
          <p:nvPr/>
        </p:nvSpPr>
        <p:spPr>
          <a:xfrm rot="0">
            <a:off x="9334500" y="1511300"/>
            <a:ext cx="3683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05/29</a:t>
            </a:r>
            <a:br/>
          </a:p>
        </p:txBody>
      </p:sp>
      <p:sp>
        <p:nvSpPr>
          <p:cNvPr id="677177185" name="Text">
    </p:cNvPr>
          <p:cNvSpPr>
            <a:spLocks noGrp="1"/>
          </p:cNvSpPr>
          <p:nvPr/>
        </p:nvSpPr>
        <p:spPr>
          <a:xfrm rot="0">
            <a:off x="5930900" y="1511300"/>
            <a:ext cx="3403600" cy="3035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이상관리 및 재수행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'#3 외화 입금' 작업 재가동을 위한 A360 Migratio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n (보류)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EAI Upgrade 작업을 위한 미사용중인 인터페이스 사전 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인터페이스별 RFC/IDOC 명 재확인 및 Excel 정리</a:t>
            </a:r>
          </a:p>
        </p:txBody>
      </p:sp>
      <p:sp>
        <p:nvSpPr>
          <p:cNvPr id="1066394761" name="Text">
    </p:cNvPr>
          <p:cNvSpPr>
            <a:spLocks noGrp="1"/>
          </p:cNvSpPr>
          <p:nvPr/>
        </p:nvSpPr>
        <p:spPr>
          <a:xfrm rot="0">
            <a:off x="5308600" y="1511300"/>
            <a:ext cx="5715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전자계약/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PPS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박선미</a:t>
            </a:r>
          </a:p>
        </p:txBody>
      </p:sp>
      <p:sp>
        <p:nvSpPr>
          <p:cNvPr id="279875564" name="Text">
    </p:cNvPr>
          <p:cNvSpPr>
            <a:spLocks noGrp="1"/>
          </p:cNvSpPr>
          <p:nvPr/>
        </p:nvSpPr>
        <p:spPr>
          <a:xfrm rot="0">
            <a:off x="88900" y="1511300"/>
            <a:ext cx="5715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전자계약/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PPS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박선미</a:t>
            </a:r>
          </a:p>
        </p:txBody>
      </p:sp>
      <p:sp>
        <p:nvSpPr>
          <p:cNvPr id="1730711575" name="Text">
    </p:cNvPr>
          <p:cNvSpPr>
            <a:spLocks noGrp="1"/>
          </p:cNvSpPr>
          <p:nvPr/>
        </p:nvSpPr>
        <p:spPr>
          <a:xfrm rot="0">
            <a:off x="711200" y="1511300"/>
            <a:ext cx="3403600" cy="3035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EAI Upgrade 작업을 위한 미사용중인 인터페이스 사전 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인터페이스별 RFC/IDOC 명 재확인 및 Excel 정리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'#4 외화송금' 새벽 작업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DR훈련 참관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'#3 외화입금내역 반제 자동화' 작업 신한은행 PDF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자료요청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'#2 외화지급계좌' 작업 불가 첨부파일로 인한 작업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오류. 담당자 전달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'#3 외화입금내역 반제 자동화' 작업 신한은행 PDF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양식 변경으로 인한 OCR 개선 - 파일 대조 및 결합 - DB/Txt파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일로 전환 후 필요 문자열 Find 및 Split - 하나은행 로직과 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리 - 작업 완료 결과 추출물 및 완료 안내 메일 발송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'생산조정팀-전표처리' 문의 응답 및 SAP 담당책임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연결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'나프타 수입부과금' 작업 오류 확인 및 담당자 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달 (기존 양식들과 다른 형식으로 인한 RPA판단 불가)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MTE Studio 큐 정리</a:t>
            </a:r>
          </a:p>
        </p:txBody>
      </p:sp>
      <p:sp>
        <p:nvSpPr>
          <p:cNvPr id="671093884" name="Text">
    </p:cNvPr>
          <p:cNvSpPr>
            <a:spLocks noGrp="1"/>
          </p:cNvSpPr>
          <p:nvPr/>
        </p:nvSpPr>
        <p:spPr>
          <a:xfrm rot="0">
            <a:off x="4483100" y="1511300"/>
            <a:ext cx="3683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</a:p>
        </p:txBody>
      </p:sp>
      <p:sp>
        <p:nvSpPr>
          <p:cNvPr id="1760237145" name="Text">
    </p:cNvPr>
          <p:cNvSpPr>
            <a:spLocks noGrp="1"/>
          </p:cNvSpPr>
          <p:nvPr/>
        </p:nvSpPr>
        <p:spPr>
          <a:xfrm rot="0">
            <a:off x="4851400" y="1511300"/>
            <a:ext cx="3683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</a:p>
        </p:txBody>
      </p:sp>
      <p:sp>
        <p:nvSpPr>
          <p:cNvPr id="215885127" name="Text">
    </p:cNvPr>
          <p:cNvSpPr>
            <a:spLocks noGrp="1"/>
          </p:cNvSpPr>
          <p:nvPr/>
        </p:nvSpPr>
        <p:spPr>
          <a:xfrm rot="0">
            <a:off x="4114800" y="1511300"/>
            <a:ext cx="3683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</a:p>
        </p:txBody>
      </p:sp>
      <p:sp>
        <p:nvSpPr>
          <p:cNvPr id="794146019" name="Text">
    </p:cNvPr>
          <p:cNvSpPr>
            <a:spLocks noGrp="1"/>
          </p:cNvSpPr>
          <p:nvPr/>
        </p:nvSpPr>
        <p:spPr>
          <a:xfrm rot="0">
            <a:off x="660400" y="1511300"/>
            <a:ext cx="34544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32052609" name="Text">
    </p:cNvPr>
          <p:cNvSpPr>
            <a:spLocks noGrp="1"/>
          </p:cNvSpPr>
          <p:nvPr/>
        </p:nvSpPr>
        <p:spPr>
          <a:xfrm rot="0">
            <a:off x="5880100" y="1511300"/>
            <a:ext cx="34544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765053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245617745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221515609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953439295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878735953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77389210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875084416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776430998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419588341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08753697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012620244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653114217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749490701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905480287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936118705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</a:p>
        </p:txBody>
      </p:sp>
      <p:sp>
        <p:nvSpPr>
          <p:cNvPr id="1432597369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</a:p>
        </p:txBody>
      </p:sp>
      <p:sp>
        <p:nvSpPr>
          <p:cNvPr id="93616812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업무용 경조화환 신청 및 관리시스템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ERP System 상 화학물질위험성평가(CHARM) Che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ck 항목 추가 등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SHBE 대상 일반용역 사후평가표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산업안전보건관리비 관련 개선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구매요구서 내 LCC, 정성평가 체크박스 추가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[TPMS] Application Secure Coding 취약점 개선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배우자 동반 무급휴직 신청서 개발 요청</a:t>
            </a:r>
          </a:p>
        </p:txBody>
      </p:sp>
      <p:sp>
        <p:nvSpPr>
          <p:cNvPr id="1960812593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TPMS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배영식</a:t>
            </a:r>
          </a:p>
        </p:txBody>
      </p:sp>
      <p:sp>
        <p:nvSpPr>
          <p:cNvPr id="828444224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TPMS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배영식</a:t>
            </a:r>
          </a:p>
        </p:txBody>
      </p:sp>
      <p:sp>
        <p:nvSpPr>
          <p:cNvPr id="2035387246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업무용 경조화환 신청 및 관리시스템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ERP System 상 화학물질위험성평가(CHARM) Che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ck 항목 추가 등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SHBE 대상 일반용역 사후평가표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산업안전보건관리비 관련 개선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구매요구서 내 LCC, 정성평가 체크박스 추가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[TPMS] Application Secure Coding 취약점 개선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배우자 동반 무급휴직 신청서 개발 요청</a:t>
            </a:r>
          </a:p>
        </p:txBody>
      </p:sp>
      <p:sp>
        <p:nvSpPr>
          <p:cNvPr id="1597427698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</a:p>
        </p:txBody>
      </p:sp>
      <p:sp>
        <p:nvSpPr>
          <p:cNvPr id="1449206285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45%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</a:p>
        </p:txBody>
      </p:sp>
      <p:sp>
        <p:nvSpPr>
          <p:cNvPr id="1867199887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</a:p>
        </p:txBody>
      </p:sp>
      <p:sp>
        <p:nvSpPr>
          <p:cNvPr id="439667187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930746904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42058301" name="Text">
    </p:cNvPr>
          <p:cNvSpPr>
            <a:spLocks noGrp="1"/>
          </p:cNvSpPr>
          <p:nvPr/>
        </p:nvSpPr>
        <p:spPr>
          <a:xfrm rot="0">
            <a:off x="9702800" y="3771900"/>
            <a:ext cx="3683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br/>
          </a:p>
        </p:txBody>
      </p:sp>
      <p:sp>
        <p:nvSpPr>
          <p:cNvPr id="451626616" name="Text">
    </p:cNvPr>
          <p:cNvSpPr>
            <a:spLocks noGrp="1"/>
          </p:cNvSpPr>
          <p:nvPr/>
        </p:nvSpPr>
        <p:spPr>
          <a:xfrm rot="0">
            <a:off x="9334500" y="3771900"/>
            <a:ext cx="3683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06/05</a:t>
            </a:r>
            <a:br/>
            <a:br/>
          </a:p>
        </p:txBody>
      </p:sp>
      <p:sp>
        <p:nvSpPr>
          <p:cNvPr id="640446343" name="Text">
    </p:cNvPr>
          <p:cNvSpPr>
            <a:spLocks noGrp="1"/>
          </p:cNvSpPr>
          <p:nvPr/>
        </p:nvSpPr>
        <p:spPr>
          <a:xfrm rot="0">
            <a:off x="5930900" y="3771900"/>
            <a:ext cx="3403600" cy="25781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편의성 수정 -&gt; 메뉴(작업정산관리) -&gt; 프로시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저 수정, 페이징처리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구매관련 기안지 RODA 자동화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ITSM-112346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(VPN사용자 등록 신청서)</a:t>
            </a:r>
            <a:br/>
          </a:p>
        </p:txBody>
      </p:sp>
      <p:sp>
        <p:nvSpPr>
          <p:cNvPr id="1930269510" name="Text">
    </p:cNvPr>
          <p:cNvSpPr>
            <a:spLocks noGrp="1"/>
          </p:cNvSpPr>
          <p:nvPr/>
        </p:nvSpPr>
        <p:spPr>
          <a:xfrm rot="0">
            <a:off x="5308600" y="3771900"/>
            <a:ext cx="5715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OSPM/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변석범</a:t>
            </a:r>
          </a:p>
        </p:txBody>
      </p:sp>
      <p:sp>
        <p:nvSpPr>
          <p:cNvPr id="142995227" name="Text">
    </p:cNvPr>
          <p:cNvSpPr>
            <a:spLocks noGrp="1"/>
          </p:cNvSpPr>
          <p:nvPr/>
        </p:nvSpPr>
        <p:spPr>
          <a:xfrm rot="0">
            <a:off x="88900" y="3771900"/>
            <a:ext cx="5715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OSPM/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변석범</a:t>
            </a:r>
          </a:p>
        </p:txBody>
      </p:sp>
      <p:sp>
        <p:nvSpPr>
          <p:cNvPr id="1209901301" name="Text">
    </p:cNvPr>
          <p:cNvSpPr>
            <a:spLocks noGrp="1"/>
          </p:cNvSpPr>
          <p:nvPr/>
        </p:nvSpPr>
        <p:spPr>
          <a:xfrm rot="0">
            <a:off x="711200" y="3771900"/>
            <a:ext cx="3403600" cy="25781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편의성 수정 -&gt; 메뉴(작업정산관리) -&gt; 프로시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저 수정, 페이징처리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구매관련 기안지 RODA 자동화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완료 이후 추가 수정전달 받아서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ITSM-112346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ITSM-112390, ITSM-112386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ITSM-112368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ITSM-112505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ITSM-112389, ITSM-112547, ITSM-112572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ITSM-112598, ITSM-112637, ITSM-112659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RODA 추가 수정사항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1. 영문 기안지의 경우 ceo만 따로 영문 전결근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거 내용으로 표기(총괄 결재 사항에서 차상위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선택시 영문표기)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2. 예외(수기입력)이 가능하도록 수정</a:t>
            </a:r>
            <a:br/>
          </a:p>
        </p:txBody>
      </p:sp>
      <p:sp>
        <p:nvSpPr>
          <p:cNvPr id="227065382" name="Text">
    </p:cNvPr>
          <p:cNvSpPr>
            <a:spLocks noGrp="1"/>
          </p:cNvSpPr>
          <p:nvPr/>
        </p:nvSpPr>
        <p:spPr>
          <a:xfrm rot="0">
            <a:off x="4483100" y="3771900"/>
            <a:ext cx="3683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br/>
            <a:br/>
            <a:br/>
            <a:br/>
          </a:p>
        </p:txBody>
      </p:sp>
      <p:sp>
        <p:nvSpPr>
          <p:cNvPr id="302025586" name="Text">
    </p:cNvPr>
          <p:cNvSpPr>
            <a:spLocks noGrp="1"/>
          </p:cNvSpPr>
          <p:nvPr/>
        </p:nvSpPr>
        <p:spPr>
          <a:xfrm rot="0">
            <a:off x="4851400" y="3771900"/>
            <a:ext cx="3683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5%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br/>
            <a:br/>
            <a:br/>
            <a:br/>
          </a:p>
        </p:txBody>
      </p:sp>
      <p:sp>
        <p:nvSpPr>
          <p:cNvPr id="895107870" name="Text">
    </p:cNvPr>
          <p:cNvSpPr>
            <a:spLocks noGrp="1"/>
          </p:cNvSpPr>
          <p:nvPr/>
        </p:nvSpPr>
        <p:spPr>
          <a:xfrm rot="0">
            <a:off x="4114800" y="3771900"/>
            <a:ext cx="3683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  <a:br/>
            <a:br/>
            <a:br/>
          </a:p>
        </p:txBody>
      </p:sp>
      <p:sp>
        <p:nvSpPr>
          <p:cNvPr id="275072840" name="Text">
    </p:cNvPr>
          <p:cNvSpPr>
            <a:spLocks noGrp="1"/>
          </p:cNvSpPr>
          <p:nvPr/>
        </p:nvSpPr>
        <p:spPr>
          <a:xfrm rot="0">
            <a:off x="660400" y="3771900"/>
            <a:ext cx="34544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81941740" name="Text">
    </p:cNvPr>
          <p:cNvSpPr>
            <a:spLocks noGrp="1"/>
          </p:cNvSpPr>
          <p:nvPr/>
        </p:nvSpPr>
        <p:spPr>
          <a:xfrm rot="0">
            <a:off x="5880100" y="3771900"/>
            <a:ext cx="34544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325135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691802593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333012105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860689884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865647630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650715408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133658708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795096402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553257798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859487845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618814458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715269265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348926054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910802841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2717857" name="Text">
    </p:cNvPr>
          <p:cNvSpPr>
            <a:spLocks noGrp="1"/>
          </p:cNvSpPr>
          <p:nvPr/>
        </p:nvSpPr>
        <p:spPr>
          <a:xfrm rot="0">
            <a:off x="9702800" y="15113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</a:p>
        </p:txBody>
      </p:sp>
      <p:sp>
        <p:nvSpPr>
          <p:cNvPr id="998192388" name="Text">
    </p:cNvPr>
          <p:cNvSpPr>
            <a:spLocks noGrp="1"/>
          </p:cNvSpPr>
          <p:nvPr/>
        </p:nvSpPr>
        <p:spPr>
          <a:xfrm rot="0">
            <a:off x="9334500" y="15113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03/15</a:t>
            </a:r>
            <a:br/>
          </a:p>
        </p:txBody>
      </p:sp>
      <p:sp>
        <p:nvSpPr>
          <p:cNvPr id="1546476999" name="Text">
    </p:cNvPr>
          <p:cNvSpPr>
            <a:spLocks noGrp="1"/>
          </p:cNvSpPr>
          <p:nvPr/>
        </p:nvSpPr>
        <p:spPr>
          <a:xfrm rot="0">
            <a:off x="5930900" y="1511300"/>
            <a:ext cx="3403600" cy="24257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ITSM-108725 엔지니어</a:t>
            </a:r>
          </a:p>
        </p:txBody>
      </p:sp>
      <p:sp>
        <p:nvSpPr>
          <p:cNvPr id="669226156" name="Text">
    </p:cNvPr>
          <p:cNvSpPr>
            <a:spLocks noGrp="1"/>
          </p:cNvSpPr>
          <p:nvPr/>
        </p:nvSpPr>
        <p:spPr>
          <a:xfrm rot="0">
            <a:off x="5308600" y="1511300"/>
            <a:ext cx="5715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순현국</a:t>
            </a:r>
          </a:p>
        </p:txBody>
      </p:sp>
      <p:sp>
        <p:nvSpPr>
          <p:cNvPr id="935865462" name="Text">
    </p:cNvPr>
          <p:cNvSpPr>
            <a:spLocks noGrp="1"/>
          </p:cNvSpPr>
          <p:nvPr/>
        </p:nvSpPr>
        <p:spPr>
          <a:xfrm rot="0">
            <a:off x="88900" y="1511300"/>
            <a:ext cx="5715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순현국</a:t>
            </a:r>
          </a:p>
        </p:txBody>
      </p:sp>
      <p:sp>
        <p:nvSpPr>
          <p:cNvPr id="1969092766" name="Text">
    </p:cNvPr>
          <p:cNvSpPr>
            <a:spLocks noGrp="1"/>
          </p:cNvSpPr>
          <p:nvPr/>
        </p:nvSpPr>
        <p:spPr>
          <a:xfrm rot="0">
            <a:off x="711200" y="1511300"/>
            <a:ext cx="3403600" cy="24257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ITSM-108725 엔지니어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[ERS] ITSM-112249 WO 처리절차 Numbering 수정을 위한 파일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교체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soft skill 평가인증 배치 대상 조회 조건에 맞게 데이터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수정 재실행.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교육훈련산청작성시 회수후 작성중인 문서 조회 오류 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인 및 수정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[ERS] 신규 입사자 사용자 등록 오류 확인 및 HCM 사용자 연계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배치 실행 확인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[ERS] ITSM-112571 ERS 시스템 일부내용 개선요청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[ERS] 부서지침서 결산회계지침(ACC-A-0001) 첨부서식 다운로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드 오류 확인 및 파일명 변경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교육훈련신청서[가스기술사 자격증 취득] 전표생성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시 교육일수로 인한 오류 확인 및 수정 재처리</a:t>
            </a:r>
          </a:p>
        </p:txBody>
      </p:sp>
      <p:sp>
        <p:nvSpPr>
          <p:cNvPr id="1135100055" name="Text">
    </p:cNvPr>
          <p:cNvSpPr>
            <a:spLocks noGrp="1"/>
          </p:cNvSpPr>
          <p:nvPr/>
        </p:nvSpPr>
        <p:spPr>
          <a:xfrm rot="0">
            <a:off x="4483100" y="15113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</a:p>
        </p:txBody>
      </p:sp>
      <p:sp>
        <p:nvSpPr>
          <p:cNvPr id="2027285178" name="Text">
    </p:cNvPr>
          <p:cNvSpPr>
            <a:spLocks noGrp="1"/>
          </p:cNvSpPr>
          <p:nvPr/>
        </p:nvSpPr>
        <p:spPr>
          <a:xfrm rot="0">
            <a:off x="4851400" y="15113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</a:p>
        </p:txBody>
      </p:sp>
      <p:sp>
        <p:nvSpPr>
          <p:cNvPr id="243843658" name="Text">
    </p:cNvPr>
          <p:cNvSpPr>
            <a:spLocks noGrp="1"/>
          </p:cNvSpPr>
          <p:nvPr/>
        </p:nvSpPr>
        <p:spPr>
          <a:xfrm rot="0">
            <a:off x="4114800" y="15113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06/11</a:t>
            </a:r>
            <a:br/>
            <a:br/>
          </a:p>
        </p:txBody>
      </p:sp>
      <p:sp>
        <p:nvSpPr>
          <p:cNvPr id="336286221" name="Text">
    </p:cNvPr>
          <p:cNvSpPr>
            <a:spLocks noGrp="1"/>
          </p:cNvSpPr>
          <p:nvPr/>
        </p:nvSpPr>
        <p:spPr>
          <a:xfrm rot="0">
            <a:off x="660400" y="1511300"/>
            <a:ext cx="34544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54813155" name="Text">
    </p:cNvPr>
          <p:cNvSpPr>
            <a:spLocks noGrp="1"/>
          </p:cNvSpPr>
          <p:nvPr/>
        </p:nvSpPr>
        <p:spPr>
          <a:xfrm rot="0">
            <a:off x="5880100" y="1511300"/>
            <a:ext cx="34544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23134663" name="Text">
    </p:cNvPr>
          <p:cNvSpPr>
            <a:spLocks noGrp="1"/>
          </p:cNvSpPr>
          <p:nvPr/>
        </p:nvSpPr>
        <p:spPr>
          <a:xfrm rot="0">
            <a:off x="9702800" y="39370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06/21</a:t>
            </a:r>
            <a:br/>
            <a:br/>
          </a:p>
        </p:txBody>
      </p:sp>
      <p:sp>
        <p:nvSpPr>
          <p:cNvPr id="170114113" name="Text">
    </p:cNvPr>
          <p:cNvSpPr>
            <a:spLocks noGrp="1"/>
          </p:cNvSpPr>
          <p:nvPr/>
        </p:nvSpPr>
        <p:spPr>
          <a:xfrm rot="0">
            <a:off x="9334500" y="39370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</a:p>
        </p:txBody>
      </p:sp>
      <p:sp>
        <p:nvSpPr>
          <p:cNvPr id="1156975666" name="Text">
    </p:cNvPr>
          <p:cNvSpPr>
            <a:spLocks noGrp="1"/>
          </p:cNvSpPr>
          <p:nvPr/>
        </p:nvSpPr>
        <p:spPr>
          <a:xfrm rot="0">
            <a:off x="5930900" y="39370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사이버 보안 컴플라이언스 점검 조치 사항 中- 동시접속제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한 기능 구현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맴버십마케팅팀 요청 SP062 시나리오 검출되지 않은 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이터 확인 요청</a:t>
            </a:r>
          </a:p>
        </p:txBody>
      </p:sp>
      <p:sp>
        <p:nvSpPr>
          <p:cNvPr id="1632766291" name="Text">
    </p:cNvPr>
          <p:cNvSpPr>
            <a:spLocks noGrp="1"/>
          </p:cNvSpPr>
          <p:nvPr/>
        </p:nvSpPr>
        <p:spPr>
          <a:xfrm rot="0">
            <a:off x="5308600" y="39370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WMS/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EWS/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이병준</a:t>
            </a:r>
          </a:p>
        </p:txBody>
      </p:sp>
      <p:sp>
        <p:nvSpPr>
          <p:cNvPr id="780797482" name="Text">
    </p:cNvPr>
          <p:cNvSpPr>
            <a:spLocks noGrp="1"/>
          </p:cNvSpPr>
          <p:nvPr/>
        </p:nvSpPr>
        <p:spPr>
          <a:xfrm rot="0">
            <a:off x="88900" y="39370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WMS/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EWS/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이병준</a:t>
            </a:r>
          </a:p>
        </p:txBody>
      </p:sp>
      <p:sp>
        <p:nvSpPr>
          <p:cNvPr id="970749454" name="Text">
    </p:cNvPr>
          <p:cNvSpPr>
            <a:spLocks noGrp="1"/>
          </p:cNvSpPr>
          <p:nvPr/>
        </p:nvSpPr>
        <p:spPr>
          <a:xfrm rot="0">
            <a:off x="711200" y="39370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사이버 보안 컴플라이언스 점검 조치 사항 통합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및 배포- 동시 접속 제한 기능 구현 오류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(24년 1회차, 2회차) 제작 입고 데이터 오류 확인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ERP Upgrade 지원 (인터페이스 확인 및 기능 확인)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모바일 접속 사용자 로그 데이터 확인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삼성 SDS 이은령 프로 IT_Admin 권한 부여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맴버십마케팅팀 요청 SP062 시나리오 검출되지 않은 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이터 확인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사이버 보안 컴플라이언스 점검 조치 사항 中- 동시접속제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한 기능 구현</a:t>
            </a:r>
          </a:p>
        </p:txBody>
      </p:sp>
      <p:sp>
        <p:nvSpPr>
          <p:cNvPr id="1296001691" name="Text">
    </p:cNvPr>
          <p:cNvSpPr>
            <a:spLocks noGrp="1"/>
          </p:cNvSpPr>
          <p:nvPr/>
        </p:nvSpPr>
        <p:spPr>
          <a:xfrm rot="0">
            <a:off x="4483100" y="39370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06/21</a:t>
            </a:r>
            <a:br/>
            <a:br/>
          </a:p>
        </p:txBody>
      </p:sp>
      <p:sp>
        <p:nvSpPr>
          <p:cNvPr id="1020721918" name="Text">
    </p:cNvPr>
          <p:cNvSpPr>
            <a:spLocks noGrp="1"/>
          </p:cNvSpPr>
          <p:nvPr/>
        </p:nvSpPr>
        <p:spPr>
          <a:xfrm rot="0">
            <a:off x="4851400" y="39370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40%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20%</a:t>
            </a:r>
            <a:br/>
            <a:br/>
          </a:p>
        </p:txBody>
      </p:sp>
      <p:sp>
        <p:nvSpPr>
          <p:cNvPr id="1108545560" name="Text">
    </p:cNvPr>
          <p:cNvSpPr>
            <a:spLocks noGrp="1"/>
          </p:cNvSpPr>
          <p:nvPr/>
        </p:nvSpPr>
        <p:spPr>
          <a:xfrm rot="0">
            <a:off x="4114800" y="39370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</a:p>
        </p:txBody>
      </p:sp>
      <p:sp>
        <p:nvSpPr>
          <p:cNvPr id="405107282" name="Text">
    </p:cNvPr>
          <p:cNvSpPr>
            <a:spLocks noGrp="1"/>
          </p:cNvSpPr>
          <p:nvPr/>
        </p:nvSpPr>
        <p:spPr>
          <a:xfrm rot="0">
            <a:off x="660400" y="39370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79659391" name="Text">
    </p:cNvPr>
          <p:cNvSpPr>
            <a:spLocks noGrp="1"/>
          </p:cNvSpPr>
          <p:nvPr/>
        </p:nvSpPr>
        <p:spPr>
          <a:xfrm rot="0">
            <a:off x="5880100" y="39370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659268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143023410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279241077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670026205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387947490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932043346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06478549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595943906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881552239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837988070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776528017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885970817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534146288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429551012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891584622" name="Text">
    </p:cNvPr>
          <p:cNvSpPr>
            <a:spLocks noGrp="1"/>
          </p:cNvSpPr>
          <p:nvPr/>
        </p:nvSpPr>
        <p:spPr>
          <a:xfrm rot="0">
            <a:off x="9702800" y="1511300"/>
            <a:ext cx="368300" cy="3492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07/26</a:t>
            </a:r>
            <a:br/>
            <a:br/>
            <a:br/>
          </a:p>
        </p:txBody>
      </p:sp>
      <p:sp>
        <p:nvSpPr>
          <p:cNvPr id="1307019345" name="Text">
    </p:cNvPr>
          <p:cNvSpPr>
            <a:spLocks noGrp="1"/>
          </p:cNvSpPr>
          <p:nvPr/>
        </p:nvSpPr>
        <p:spPr>
          <a:xfrm rot="0">
            <a:off x="9334500" y="1511300"/>
            <a:ext cx="368300" cy="3492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  <a:br/>
          </a:p>
        </p:txBody>
      </p:sp>
      <p:sp>
        <p:nvSpPr>
          <p:cNvPr id="1643830513" name="Text">
    </p:cNvPr>
          <p:cNvSpPr>
            <a:spLocks noGrp="1"/>
          </p:cNvSpPr>
          <p:nvPr/>
        </p:nvSpPr>
        <p:spPr>
          <a:xfrm rot="0">
            <a:off x="5930900" y="1511300"/>
            <a:ext cx="3403600" cy="34925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2024년 2분기 웹 서비스 모의해킹 정보 회신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및 테스트 계정 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2024년 2분기 웹 서비스 모의해킹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ITSM-112563 VOC 관리자 웹페이지내 열람/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조회 기록 페이지 생성 -ISMS-P 권고사항 관련 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개선</a:t>
            </a:r>
            <a:br/>
          </a:p>
        </p:txBody>
      </p:sp>
      <p:sp>
        <p:nvSpPr>
          <p:cNvPr id="734493223" name="Text">
    </p:cNvPr>
          <p:cNvSpPr>
            <a:spLocks noGrp="1"/>
          </p:cNvSpPr>
          <p:nvPr/>
        </p:nvSpPr>
        <p:spPr>
          <a:xfrm rot="0">
            <a:off x="5308600" y="1511300"/>
            <a:ext cx="571500" cy="3492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LOPAS/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VOC/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PRM 품질관리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이지은</a:t>
            </a:r>
          </a:p>
        </p:txBody>
      </p:sp>
      <p:sp>
        <p:nvSpPr>
          <p:cNvPr id="564242699" name="Text">
    </p:cNvPr>
          <p:cNvSpPr>
            <a:spLocks noGrp="1"/>
          </p:cNvSpPr>
          <p:nvPr/>
        </p:nvSpPr>
        <p:spPr>
          <a:xfrm rot="0">
            <a:off x="88900" y="1511300"/>
            <a:ext cx="571500" cy="3492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LOPAS/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VOC/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PRM 품질관리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이지은</a:t>
            </a:r>
          </a:p>
        </p:txBody>
      </p:sp>
      <p:sp>
        <p:nvSpPr>
          <p:cNvPr id="1349851246" name="Text">
    </p:cNvPr>
          <p:cNvSpPr>
            <a:spLocks noGrp="1"/>
          </p:cNvSpPr>
          <p:nvPr/>
        </p:nvSpPr>
        <p:spPr>
          <a:xfrm rot="0">
            <a:off x="711200" y="1511300"/>
            <a:ext cx="3403600" cy="34925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[RMS] 기능 문의 및 피드백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2024년 2분기 웹 서비스 모의해킹 정보 회신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및 테스트 계정 생성 (개발)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SAP DS 'ROB_JOB_LOPAS_SHIPMENT_1 /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ROB_JOB_SCH_LOPAS_ORDER' 배치 중단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점검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2024년 2분기 웹 서비스 모의해킹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포인트몰 비즈마켓 인터페이스 개발 건 (06.05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회의 진행 / URL 변경 소스 배포 및 hosts 파일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수정 요청)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V240610-0000791-1 거래처 '(주)오일닷컴 다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회주유소' 조회 불가 점검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[고객센터] VOC 시스템 확인 및 개선 요청 (메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일링 서비스 점검 및 화면이동 불편 건 개선) [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ITSM-111937 ]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V240612-0000461-1 거래처 '북상주IC주유소'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담당자 미변경 (프로시저 에러, 점검 및 변경)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ITSM-112563 VOC 관리자 웹페이지내 열람/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조회 기록 페이지 생성 -ISMS-P 권고사항 관련 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[CISO] KISA SW 개발보안 기본과정 교육</a:t>
            </a:r>
            <a:br/>
          </a:p>
        </p:txBody>
      </p:sp>
      <p:sp>
        <p:nvSpPr>
          <p:cNvPr id="1734298565" name="Text">
    </p:cNvPr>
          <p:cNvSpPr>
            <a:spLocks noGrp="1"/>
          </p:cNvSpPr>
          <p:nvPr/>
        </p:nvSpPr>
        <p:spPr>
          <a:xfrm rot="0">
            <a:off x="4483100" y="1511300"/>
            <a:ext cx="368300" cy="3492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07/26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06/12</a:t>
            </a:r>
            <a:br/>
          </a:p>
        </p:txBody>
      </p:sp>
      <p:sp>
        <p:nvSpPr>
          <p:cNvPr id="2002322251" name="Text">
    </p:cNvPr>
          <p:cNvSpPr>
            <a:spLocks noGrp="1"/>
          </p:cNvSpPr>
          <p:nvPr/>
        </p:nvSpPr>
        <p:spPr>
          <a:xfrm rot="0">
            <a:off x="4851400" y="1511300"/>
            <a:ext cx="368300" cy="3492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06/12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06/12</a:t>
            </a:r>
            <a:br/>
          </a:p>
        </p:txBody>
      </p:sp>
      <p:sp>
        <p:nvSpPr>
          <p:cNvPr id="1528563034" name="Text">
    </p:cNvPr>
          <p:cNvSpPr>
            <a:spLocks noGrp="1"/>
          </p:cNvSpPr>
          <p:nvPr/>
        </p:nvSpPr>
        <p:spPr>
          <a:xfrm rot="0">
            <a:off x="4114800" y="1511300"/>
            <a:ext cx="368300" cy="3492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06/05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05/30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06/12</a:t>
            </a:r>
            <a:br/>
          </a:p>
        </p:txBody>
      </p:sp>
      <p:sp>
        <p:nvSpPr>
          <p:cNvPr id="601018431" name="Text">
    </p:cNvPr>
          <p:cNvSpPr>
            <a:spLocks noGrp="1"/>
          </p:cNvSpPr>
          <p:nvPr/>
        </p:nvSpPr>
        <p:spPr>
          <a:xfrm rot="0">
            <a:off x="660400" y="1511300"/>
            <a:ext cx="3454400" cy="3492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53734627" name="Text">
    </p:cNvPr>
          <p:cNvSpPr>
            <a:spLocks noGrp="1"/>
          </p:cNvSpPr>
          <p:nvPr/>
        </p:nvSpPr>
        <p:spPr>
          <a:xfrm rot="0">
            <a:off x="5880100" y="1511300"/>
            <a:ext cx="3454400" cy="3492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889475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156313205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350892091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279927146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451661954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307943039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978837208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356440817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854161122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392500376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448770305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262072599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840860404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507089201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465462148" name="Text">
    </p:cNvPr>
          <p:cNvSpPr>
            <a:spLocks noGrp="1"/>
          </p:cNvSpPr>
          <p:nvPr/>
        </p:nvSpPr>
        <p:spPr>
          <a:xfrm rot="0">
            <a:off x="9702800" y="1511300"/>
            <a:ext cx="3683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</a:p>
        </p:txBody>
      </p:sp>
      <p:sp>
        <p:nvSpPr>
          <p:cNvPr id="496618223" name="Text">
    </p:cNvPr>
          <p:cNvSpPr>
            <a:spLocks noGrp="1"/>
          </p:cNvSpPr>
          <p:nvPr/>
        </p:nvSpPr>
        <p:spPr>
          <a:xfrm rot="0">
            <a:off x="9334500" y="1511300"/>
            <a:ext cx="3683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</a:p>
        </p:txBody>
      </p:sp>
      <p:sp>
        <p:nvSpPr>
          <p:cNvPr id="1532424842" name="Text">
    </p:cNvPr>
          <p:cNvSpPr>
            <a:spLocks noGrp="1"/>
          </p:cNvSpPr>
          <p:nvPr/>
        </p:nvSpPr>
        <p:spPr>
          <a:xfrm rot="0">
            <a:off x="5930900" y="1511300"/>
            <a:ext cx="3403600" cy="3035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PRM 영업시설물 지원 시스템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2024.5월 결산의 EIS, Yellow Book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PRM 영업시설물 지원 시스템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신용보증기금 연동 모듈 변경에 따른 설치 및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ERP와 e-Pro간 입고/납품완료 불일치 점검 및 모니터링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리포트 개발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SHBE 대상 일반용역 사후평가표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ERP System 상 화학물질위험성평가(CHARM) Check 항목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구매요구서 내 LCC, 정성평가 체크박스 추가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법인카드 WBS 마스터 전송 개발 CCS , EAI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배우자 동반 무급휴직 신청서 개발 요청</a:t>
            </a:r>
          </a:p>
        </p:txBody>
      </p:sp>
      <p:sp>
        <p:nvSpPr>
          <p:cNvPr id="154423496" name="Text">
    </p:cNvPr>
          <p:cNvSpPr>
            <a:spLocks noGrp="1"/>
          </p:cNvSpPr>
          <p:nvPr/>
        </p:nvSpPr>
        <p:spPr>
          <a:xfrm rot="0">
            <a:off x="5308600" y="1511300"/>
            <a:ext cx="5715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EIS/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EAI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황보람</a:t>
            </a:r>
          </a:p>
        </p:txBody>
      </p:sp>
      <p:sp>
        <p:nvSpPr>
          <p:cNvPr id="1635688489" name="Text">
    </p:cNvPr>
          <p:cNvSpPr>
            <a:spLocks noGrp="1"/>
          </p:cNvSpPr>
          <p:nvPr/>
        </p:nvSpPr>
        <p:spPr>
          <a:xfrm rot="0">
            <a:off x="88900" y="1511300"/>
            <a:ext cx="5715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EIS/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EAI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황보람</a:t>
            </a:r>
          </a:p>
        </p:txBody>
      </p:sp>
      <p:sp>
        <p:nvSpPr>
          <p:cNvPr id="853790811" name="Text">
    </p:cNvPr>
          <p:cNvSpPr>
            <a:spLocks noGrp="1"/>
          </p:cNvSpPr>
          <p:nvPr/>
        </p:nvSpPr>
        <p:spPr>
          <a:xfrm rot="0">
            <a:off x="711200" y="1511300"/>
            <a:ext cx="3403600" cy="3035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5월 Monthly Accountability Report 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2024.5월 결산의 EIS, Yellow Book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PRM 영업시설물 지원 시스템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신용보증기금 연동 모듈 변경에 따른 설치 및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ERP와 e-Pro간 입고/납품완료 불일치 점검 및 모니터링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리포트 개발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SHBE 대상 일반용역 사후평가표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ERP System 상 화학물질위험성평가(CHARM) Check 항목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구매요구서 내 LCC, 정성평가 체크박스 추가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법인카드 WBS 마스터 전송 개발 CCS , EAI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배우자 동반 무급휴직 신청서 개발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투자관리번호 신규요청 및 예산 할당(영업시설물)	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24년도 상반기 재해복구 모의훈련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[ERP Upgrade] EAI레거시 시스템통신 리스너 Port (TCP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Server/Client)정보 추출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[ERP Upgrade] AS400 ERP전환에 따른 OAS시스템 As-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Is로직 분석</a:t>
            </a:r>
          </a:p>
        </p:txBody>
      </p:sp>
      <p:sp>
        <p:nvSpPr>
          <p:cNvPr id="1590539823" name="Text">
    </p:cNvPr>
          <p:cNvSpPr>
            <a:spLocks noGrp="1"/>
          </p:cNvSpPr>
          <p:nvPr/>
        </p:nvSpPr>
        <p:spPr>
          <a:xfrm rot="0">
            <a:off x="4483100" y="1511300"/>
            <a:ext cx="3683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br/>
          </a:p>
        </p:txBody>
      </p:sp>
      <p:sp>
        <p:nvSpPr>
          <p:cNvPr id="1968443182" name="Text">
    </p:cNvPr>
          <p:cNvSpPr>
            <a:spLocks noGrp="1"/>
          </p:cNvSpPr>
          <p:nvPr/>
        </p:nvSpPr>
        <p:spPr>
          <a:xfrm rot="0">
            <a:off x="4851400" y="1511300"/>
            <a:ext cx="3683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</a:p>
        </p:txBody>
      </p:sp>
      <p:sp>
        <p:nvSpPr>
          <p:cNvPr id="1639941701" name="Text">
    </p:cNvPr>
          <p:cNvSpPr>
            <a:spLocks noGrp="1"/>
          </p:cNvSpPr>
          <p:nvPr/>
        </p:nvSpPr>
        <p:spPr>
          <a:xfrm rot="0">
            <a:off x="4114800" y="1511300"/>
            <a:ext cx="3683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br/>
          </a:p>
        </p:txBody>
      </p:sp>
      <p:sp>
        <p:nvSpPr>
          <p:cNvPr id="1307763489" name="Text">
    </p:cNvPr>
          <p:cNvSpPr>
            <a:spLocks noGrp="1"/>
          </p:cNvSpPr>
          <p:nvPr/>
        </p:nvSpPr>
        <p:spPr>
          <a:xfrm rot="0">
            <a:off x="660400" y="1511300"/>
            <a:ext cx="34544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117949566" name="Text">
    </p:cNvPr>
          <p:cNvSpPr>
            <a:spLocks noGrp="1"/>
          </p:cNvSpPr>
          <p:nvPr/>
        </p:nvSpPr>
        <p:spPr>
          <a:xfrm rot="0">
            <a:off x="5880100" y="1511300"/>
            <a:ext cx="34544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505" name="Group 97"/>
          <p:cNvGraphicFramePr>
            <a:graphicFrameLocks noGrp="1"/>
          </p:cNvGraphicFramePr>
          <p:nvPr/>
        </p:nvGraphicFramePr>
        <p:xfrm>
          <a:off x="255577" y="1105143"/>
          <a:ext cx="4771985" cy="3535492"/>
        </p:xfrm>
        <a:graphic>
          <a:graphicData uri="http://schemas.openxmlformats.org/drawingml/2006/table">
            <a:tbl>
              <a:tblPr/>
              <a:tblGrid>
                <a:gridCol w="5219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588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73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5077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494" marL="88055" marR="88055" marT="45494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494" marL="88055" marR="88055" marT="45494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494" marL="88055" marR="88055" marT="4549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horzOverflow="overflow" marB="45494" marL="88055" marR="88055" marT="45494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err="1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진행율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494" marL="88055" marR="88055" marT="45494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922">
                <a:tc rowSpan="7">
                  <a:txBody>
                    <a:bodyPr/>
                    <a:lstStyle>
                      <a:lvl1pPr algn="l"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algn="l"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algn="l"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algn="l"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algn="l"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Market.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박치영</a:t>
                      </a:r>
                    </a:p>
                  </a:txBody>
                  <a:tcPr horzOverflow="overflow" marB="45527" marL="81282" marR="81282" marT="4552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전화번호로 포인트 적립 적용 조회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73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현대차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G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카페이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연동 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(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주유소연동추가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_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현대서버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)</a:t>
                      </a: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489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주유소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금결원전송관련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수정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158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플랫폼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테스트 대응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,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수정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993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부정적립관련 대응 조치 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993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키오스크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즉발카드 등록 개발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40%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9932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526" marL="83067" marR="83067" marT="4652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모바일상품권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제휴 성능 저하문제 수정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70%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0568">
                <a:tc rowSpan="7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IF.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이승범</a:t>
                      </a:r>
                    </a:p>
                  </a:txBody>
                  <a:tcPr horzOverflow="overflow" marB="45527" marL="81282" marR="81282" marT="4552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금결원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거래 전문 수정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02/03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미정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8773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680" marL="83077" marR="83077" marT="4668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쿠폰 전문 수정 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(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사용가능상품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)</a:t>
                      </a: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02/16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미정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</a:t>
                      </a:r>
                      <a:r>
                        <a:rPr altLang="ko-KR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523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현대차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G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카페이 연동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+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제네시스앱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연동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09/21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01/29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5247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680" marL="83077" marR="83077" marT="4668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국민카드 배치 서버 변경으로 인한 연계 테스트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12/21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01/22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5529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 쿠폰 발행 점검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02/28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056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롯데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멤버스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데이터 정합성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,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후속 조치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01/22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0569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525" marL="83067" marR="83067" marT="4652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8274" name="Rectangle 137"/>
          <p:cNvSpPr>
            <a:spLocks noChangeArrowheads="1"/>
          </p:cNvSpPr>
          <p:nvPr/>
        </p:nvSpPr>
        <p:spPr bwMode="auto">
          <a:xfrm>
            <a:off x="302179" y="302534"/>
            <a:ext cx="8761066" cy="3314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dir="2700000" dist="35921" rotWithShape="0">
                    <a:schemeClr val="bg2"/>
                  </a:outerShdw>
                </a:effectLst>
              </a14:hiddenEffects>
            </a:ext>
          </a:extLst>
        </p:spPr>
        <p:txBody>
          <a:bodyPr anchor="ctr" bIns="44805" lIns="89609" rIns="89609" tIns="44805">
            <a:spAutoFit/>
          </a:bodyPr>
          <a:lstStyle>
            <a:lvl1pPr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ko-KR" kumimoji="1" lang="en-US" sz="1566">
                <a:solidFill>
                  <a:srgbClr val="000000"/>
                </a:solidFill>
              </a:rPr>
              <a:t>3. </a:t>
            </a:r>
            <a:r>
              <a:rPr altLang="en-US" kumimoji="1" lang="ko-KR" sz="1566">
                <a:solidFill>
                  <a:srgbClr val="000000"/>
                </a:solidFill>
              </a:rPr>
              <a:t>주간업무 실적 및 계획</a:t>
            </a:r>
            <a:r>
              <a:rPr altLang="ko-KR" kumimoji="1" lang="en-US" sz="1566">
                <a:solidFill>
                  <a:srgbClr val="000000"/>
                </a:solidFill>
              </a:rPr>
              <a:t>(</a:t>
            </a:r>
            <a:r>
              <a:rPr altLang="en-US" lang="ko-KR" sz="1566">
                <a:solidFill>
                  <a:srgbClr val="000000"/>
                </a:solidFill>
              </a:rPr>
              <a:t>②</a:t>
            </a:r>
            <a:r>
              <a:rPr altLang="ko-KR" kumimoji="1" lang="en-US" sz="1566">
                <a:solidFill>
                  <a:srgbClr val="000000"/>
                </a:solidFill>
              </a:rPr>
              <a:t>Quintet - CRM)</a:t>
            </a:r>
          </a:p>
        </p:txBody>
      </p:sp>
      <p:sp>
        <p:nvSpPr>
          <p:cNvPr id="8275" name="Rectangle 135"/>
          <p:cNvSpPr>
            <a:spLocks noChangeArrowheads="1"/>
          </p:cNvSpPr>
          <p:nvPr/>
        </p:nvSpPr>
        <p:spPr bwMode="auto">
          <a:xfrm>
            <a:off x="255577" y="752526"/>
            <a:ext cx="4771985" cy="298249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370">
                <a:solidFill>
                  <a:srgbClr val="000000"/>
                </a:solidFill>
              </a:rPr>
              <a:t>금주 업무 실적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  <p:graphicFrame>
        <p:nvGraphicFramePr>
          <p:cNvPr id="7" name="Group 9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426789"/>
              </p:ext>
            </p:extLst>
          </p:nvPr>
        </p:nvGraphicFramePr>
        <p:xfrm>
          <a:off x="5102125" y="1048417"/>
          <a:ext cx="4473736" cy="3871829"/>
        </p:xfrm>
        <a:graphic>
          <a:graphicData uri="http://schemas.openxmlformats.org/drawingml/2006/table">
            <a:tbl>
              <a:tblPr/>
              <a:tblGrid>
                <a:gridCol w="6685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613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0165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49" marL="88066" marR="88066" marT="4574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49" marL="88066" marR="88066" marT="4574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749" marL="88066" marR="88066" marT="4574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horzOverflow="overflow" marB="45749" marL="88066" marR="88066" marT="4574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1896">
                <a:tc rowSpan="5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Market.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박치영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3" marL="81291" marR="81291" marT="4574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법인 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1896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70" marL="83077" marR="83077" marT="4677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거래내역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(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신규 결제 수단 정의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)</a:t>
                      </a: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1896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chemeClr val="bg1">
                              <a:lumMod val="85000"/>
                            </a:schemeClr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ko-KR" b="0" baseline="0" dirty="0" err="1" lang="en-US" smtClean="0" sz="800">
                          <a:solidFill>
                            <a:schemeClr val="bg1">
                              <a:lumMod val="85000"/>
                            </a:schemeClr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Pb</a:t>
                      </a:r>
                      <a:r>
                        <a:rPr altLang="en-US" b="0" baseline="0" dirty="0" lang="ko-KR" smtClean="0" sz="800">
                          <a:solidFill>
                            <a:schemeClr val="bg1">
                              <a:lumMod val="85000"/>
                            </a:schemeClr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상품적립</a:t>
                      </a:r>
                      <a:endParaRPr altLang="ko-KR" b="0" baseline="0" dirty="0" lang="en-US" smtClean="0" sz="800">
                        <a:solidFill>
                          <a:schemeClr val="bg1">
                            <a:lumMod val="85000"/>
                          </a:schemeClr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dirty="0" kern="120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37" marL="81291" marR="81291" marT="4573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dirty="0" kern="120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37" marL="81291" marR="81291" marT="4573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1896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-171450" latinLnBrk="1" lvl="0" marL="17145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사후적립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PRM,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전자결재 연동개발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5434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70" marL="83077" marR="83077" marT="4677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App push</a:t>
                      </a: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dirty="0" kern="120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37" marL="81291" marR="81291" marT="4573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dirty="0" kern="120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37" marL="81291" marR="81291" marT="4573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0934">
                <a:tc rowSpan="8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IF.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이승범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3" marL="81291" marR="81291" marT="4574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금결원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전문 수정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41" marL="81282" marR="81282" marT="456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02/03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9" marL="81282" marR="81282" marT="4562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미정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9" marL="81282" marR="81282" marT="4562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0848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66" marL="83077" marR="83077" marT="4676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쿠폰 전문 수정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5" marL="81282" marR="81282" marT="456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02/16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미정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0784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66" marL="83077" marR="83077" marT="4676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현대차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G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카페이 연동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+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제네시스앱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연동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09/21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01/29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0784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국민카드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배치 서버 변경으로 인한 연계 테스트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12/21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01/22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824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 쿠폰 발행 점검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02/28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824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롯데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멤버스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데이터 정합성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,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후속 조치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01/22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824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5" marL="81282" marR="81282" marT="456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0555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66" marL="83077" marR="83077" marT="4676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5" marL="81282" marR="81282" marT="456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8336" name="Rectangle 136"/>
          <p:cNvSpPr>
            <a:spLocks noChangeArrowheads="1"/>
          </p:cNvSpPr>
          <p:nvPr/>
        </p:nvSpPr>
        <p:spPr bwMode="auto">
          <a:xfrm>
            <a:off x="5092804" y="744759"/>
            <a:ext cx="4473736" cy="310676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370">
                <a:solidFill>
                  <a:srgbClr val="000000"/>
                </a:solidFill>
              </a:rPr>
              <a:t>차주 업무 계획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505" name="Group 97"/>
          <p:cNvGraphicFramePr>
            <a:graphicFrameLocks noGrp="1"/>
          </p:cNvGraphicFramePr>
          <p:nvPr/>
        </p:nvGraphicFramePr>
        <p:xfrm>
          <a:off x="264898" y="1097377"/>
          <a:ext cx="4771985" cy="5727215"/>
        </p:xfrm>
        <a:graphic>
          <a:graphicData uri="http://schemas.openxmlformats.org/drawingml/2006/table">
            <a:tbl>
              <a:tblPr/>
              <a:tblGrid>
                <a:gridCol w="6556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61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02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45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53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1374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5" marL="88075" marR="88075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55" marL="88075" marR="88075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755" marL="88075" marR="88075" marT="4575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horzOverflow="overflow" marB="45755" marL="88075" marR="88075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err="1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진행율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완료일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5" marL="88075" marR="88075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0977">
                <a:tc rowSpan="5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홈페이지</a:t>
                      </a: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김재희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3" marL="88075" marR="88075" marT="4575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법인 하위 카드 등록 </a:t>
                      </a:r>
                    </a:p>
                  </a:txBody>
                  <a:tcPr horzOverflow="overflow" marB="45727" marL="81298" marR="81298" marT="4572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12/24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3" marL="81298" marR="81298" marT="4573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12/31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06" marL="81298" marR="81298" marT="4580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47" marL="81301" marR="81301" marT="4574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097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프로모션 기간내 가입자 정보 제공 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5" marL="81298" marR="81298" marT="4573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1/13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47" marL="81301" marR="81301" marT="4574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097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모바일주유권 문자 발송 </a:t>
                      </a:r>
                    </a:p>
                  </a:txBody>
                  <a:tcPr horzOverflow="overflow" marB="45736" marL="81298" marR="81298" marT="4573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3" marL="81298" marR="81298" marT="4574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1/15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47" marL="81301" marR="81301" marT="4574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0950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7" marL="90003" marR="90003" marT="4675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모의해킹 중복로그인 제한 개발 및 운영 이관 </a:t>
                      </a:r>
                    </a:p>
                  </a:txBody>
                  <a:tcPr horzOverflow="overflow" marB="45751" marL="81298" marR="81298" marT="4575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11/02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1/12</a:t>
                      </a:r>
                    </a:p>
                  </a:txBody>
                  <a:tcPr horzOverflow="overflow" marB="45773" marL="81301" marR="81301" marT="4577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52" marL="81301" marR="81301" marT="457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0179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61" marL="90003" marR="90003" marT="4676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믿음가득주유소 화면 오류 확인 및 수정 요청</a:t>
                      </a:r>
                      <a:endParaRPr altLang="ko-KR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1" marL="81298" marR="81298" marT="4575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3" marL="81301" marR="81301" marT="4577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50%</a:t>
                      </a:r>
                    </a:p>
                  </a:txBody>
                  <a:tcPr horzOverflow="overflow" marB="45752" marL="81301" marR="81301" marT="457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0913">
                <a:tc rowSpan="7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VOC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강길제</a:t>
                      </a: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3" marL="88075" marR="88075" marT="45753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</a:t>
                      </a:r>
                      <a:r>
                        <a:rPr altLang="en-US" b="0" baseline="0" cap="none" dirty="0" err="1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감사인원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</a:t>
                      </a: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VOC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관리자 권한 부여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1/8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1/11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091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Summary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발송 </a:t>
                      </a:r>
                      <a:r>
                        <a:rPr altLang="en-US" b="0" baseline="0" cap="none" dirty="0" err="1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로직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변경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1/14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1/15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091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배치 스케줄러 개선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8" marL="81301" marR="81301" marT="4575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1/13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9" marL="81301" marR="81301" marT="4575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1/13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9" marL="81301" marR="81301" marT="4575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091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검색 </a:t>
                      </a:r>
                      <a:r>
                        <a:rPr altLang="en-US" b="0" baseline="0" cap="none" dirty="0" err="1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로직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개선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9" marL="81294" marR="81294" marT="4578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90" marL="81294" marR="81294" marT="4579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90" marL="81294" marR="81294" marT="4579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091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087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438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0829">
                <a:tc rowSpan="1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 BI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석주연</a:t>
                      </a:r>
                    </a:p>
                  </a:txBody>
                  <a:tcPr horzOverflow="overflow" marB="45753" marL="88075" marR="88075" marT="45753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보너스카드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매출비율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사입량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반영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1/12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itchFamily="50" typeface="맑은 고딕"/>
                          <a:ea charset="-127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itchFamily="50" typeface="맑은 고딕"/>
                        <a:ea charset="-127" pitchFamily="50" typeface="맑은 고딕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0829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‘20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년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월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남선석유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리드코프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매출비율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반영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1/12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1/12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itchFamily="50" typeface="맑은 고딕"/>
                          <a:ea charset="-127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itchFamily="50" typeface="맑은 고딕"/>
                        <a:ea charset="-127" pitchFamily="50" typeface="맑은 고딕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735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’20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년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월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UNDEFINED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유치실적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데이터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itchFamily="50" typeface="맑은 고딕"/>
                          <a:ea charset="-127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itchFamily="50" typeface="맑은 고딕"/>
                        <a:ea charset="-127" pitchFamily="50" typeface="맑은 고딕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7744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신규회원 분석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BI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엑셀 파일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1085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과다적립금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관련 문의 응대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10857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5" marL="90010" marR="90010" marT="46755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중단대상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거래처 및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과다적립금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재산정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개발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1/14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1/19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10829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3" marL="90010" marR="90010" marT="46753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10829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46" marL="90010" marR="90010" marT="46746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10857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46" marL="90010" marR="90010" marT="46746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210829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49" marL="90010" marR="90010" marT="46749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330140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4" marL="90010" marR="90010" marT="46754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</a:tbl>
          </a:graphicData>
        </a:graphic>
      </p:graphicFrame>
      <p:sp>
        <p:nvSpPr>
          <p:cNvPr id="9339" name="Rectangle 137"/>
          <p:cNvSpPr>
            <a:spLocks noChangeArrowheads="1"/>
          </p:cNvSpPr>
          <p:nvPr/>
        </p:nvSpPr>
        <p:spPr bwMode="auto">
          <a:xfrm>
            <a:off x="302179" y="302534"/>
            <a:ext cx="8761066" cy="3314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dir="2700000" dist="35921" rotWithShape="0">
                    <a:schemeClr val="bg2"/>
                  </a:outerShdw>
                </a:effectLst>
              </a14:hiddenEffects>
            </a:ext>
          </a:extLst>
        </p:spPr>
        <p:txBody>
          <a:bodyPr anchor="ctr" bIns="44805" lIns="89609" rIns="89609" tIns="44805">
            <a:spAutoFit/>
          </a:bodyPr>
          <a:lstStyle>
            <a:lvl1pPr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ko-KR" kumimoji="1" lang="en-US" sz="1566">
                <a:solidFill>
                  <a:srgbClr val="000000"/>
                </a:solidFill>
              </a:rPr>
              <a:t>3. </a:t>
            </a:r>
            <a:r>
              <a:rPr altLang="en-US" kumimoji="1" lang="ko-KR" sz="1566">
                <a:solidFill>
                  <a:srgbClr val="000000"/>
                </a:solidFill>
              </a:rPr>
              <a:t>주간업무 실적 및 계획</a:t>
            </a:r>
            <a:r>
              <a:rPr altLang="ko-KR" kumimoji="1" lang="en-US" sz="1566">
                <a:solidFill>
                  <a:srgbClr val="000000"/>
                </a:solidFill>
              </a:rPr>
              <a:t>(</a:t>
            </a:r>
            <a:r>
              <a:rPr altLang="en-US" lang="ko-KR" sz="1566">
                <a:solidFill>
                  <a:srgbClr val="000000"/>
                </a:solidFill>
              </a:rPr>
              <a:t>②</a:t>
            </a:r>
            <a:r>
              <a:rPr altLang="ko-KR" kumimoji="1" lang="en-US" sz="1566">
                <a:solidFill>
                  <a:srgbClr val="000000"/>
                </a:solidFill>
              </a:rPr>
              <a:t>Quintet - CRM)</a:t>
            </a:r>
          </a:p>
        </p:txBody>
      </p:sp>
      <p:sp>
        <p:nvSpPr>
          <p:cNvPr id="9340" name="Rectangle 135"/>
          <p:cNvSpPr>
            <a:spLocks noChangeArrowheads="1"/>
          </p:cNvSpPr>
          <p:nvPr/>
        </p:nvSpPr>
        <p:spPr bwMode="auto">
          <a:xfrm>
            <a:off x="246257" y="750972"/>
            <a:ext cx="4771985" cy="298249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370">
                <a:solidFill>
                  <a:srgbClr val="000000"/>
                </a:solidFill>
              </a:rPr>
              <a:t>금주 업무 실적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  <p:graphicFrame>
        <p:nvGraphicFramePr>
          <p:cNvPr id="7" name="Group 97"/>
          <p:cNvGraphicFramePr>
            <a:graphicFrameLocks noGrp="1"/>
          </p:cNvGraphicFramePr>
          <p:nvPr/>
        </p:nvGraphicFramePr>
        <p:xfrm>
          <a:off x="5111445" y="1108250"/>
          <a:ext cx="4473736" cy="4374258"/>
        </p:xfrm>
        <a:graphic>
          <a:graphicData uri="http://schemas.openxmlformats.org/drawingml/2006/table">
            <a:tbl>
              <a:tblPr/>
              <a:tblGrid>
                <a:gridCol w="6685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613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4752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5" marL="88066" marR="88066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55" marL="88066" marR="88066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755" marL="88066" marR="88066" marT="4575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horzOverflow="overflow" marB="45755" marL="88066" marR="88066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1029">
                <a:tc rowSpan="5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홈페이지</a:t>
                      </a: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김재희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latinLnBrk="1"/>
                      <a:endParaRPr altLang="en-US" dirty="0" lang="ko-KR" sz="900"/>
                    </a:p>
                  </a:txBody>
                  <a:tcPr horzOverflow="overflow" marB="45753" marL="88066" marR="88066" marT="45753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보너스카드홈페이지 카드 안내 페이지 수정</a:t>
                      </a:r>
                    </a:p>
                  </a:txBody>
                  <a:tcPr horzOverflow="overflow" marB="45735" marL="81298" marR="81298" marT="4573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9/17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미정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1019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믿음가득주유소 화면 테스트 및 운영 이관</a:t>
                      </a:r>
                      <a:endParaRPr altLang="ko-KR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1" marL="81298" marR="81298" marT="4575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3" marL="81301" marR="81301" marT="4577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095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5" marL="81298" marR="81298" marT="4573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095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6" marL="81298" marR="81298" marT="4573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3" marL="81298" marR="81298" marT="4574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094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5" marL="81298" marR="81298" marT="4573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0987">
                <a:tc rowSpan="6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VOC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강길제</a:t>
                      </a: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3" marL="88066" marR="88066" marT="4575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분류 개선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3" marL="81301" marR="81301" marT="4576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4" marL="81301" marR="81301" marT="4576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4" marL="81301" marR="81301" marT="4576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098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검색 </a:t>
                      </a:r>
                      <a:r>
                        <a:rPr altLang="en-US" b="0" baseline="0" cap="none" dirty="0" err="1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로직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개선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9" marL="81294" marR="81294" marT="4578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90" marL="81294" marR="81294" marT="4579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90" marL="81294" marR="81294" marT="4579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099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3" marL="81301" marR="81301" marT="4577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4" marL="81301" marR="81301" marT="4577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4" marL="81301" marR="81301" marT="4577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098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5" marL="81301" marR="81301" marT="4577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6" marL="81301" marR="81301" marT="4577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6" marL="81301" marR="81301" marT="4577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098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5" marL="81301" marR="81301" marT="4577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6" marL="81301" marR="81301" marT="4577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6" marL="81301" marR="81301" marT="4577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088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2" marL="81294" marR="81294" marT="4578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3" marL="81294" marR="81294" marT="4578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3" marL="81294" marR="81294" marT="4578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0879">
                <a:tc rowSpan="8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 BI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석주연</a:t>
                      </a:r>
                    </a:p>
                  </a:txBody>
                  <a:tcPr horzOverflow="overflow" marB="45753" marL="88066" marR="88066" marT="4575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과다적립금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산정식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수정 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12/28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088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포인트 적립 사용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ERP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보고용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‘20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년도 데이터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088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’20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년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중단대상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거래처 대상 리스트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258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이벤트 기간 중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신규회원의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주유데이터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088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중단대상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거래처 및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과다적립금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재산정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개발 및 검증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1/14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1/19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1089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10893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0" marL="90000" marR="90000" marT="46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10893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4" marL="90000" marR="90000" marT="4675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  <p:sp>
        <p:nvSpPr>
          <p:cNvPr id="9423" name="Rectangle 136"/>
          <p:cNvSpPr>
            <a:spLocks noChangeArrowheads="1"/>
          </p:cNvSpPr>
          <p:nvPr/>
        </p:nvSpPr>
        <p:spPr bwMode="auto">
          <a:xfrm>
            <a:off x="5092804" y="750972"/>
            <a:ext cx="4473736" cy="310676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370">
                <a:solidFill>
                  <a:srgbClr val="000000"/>
                </a:solidFill>
              </a:rPr>
              <a:t>차주 업무 계획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6" name="표 3075"/>
          <p:cNvGraphicFramePr/>
          <p:nvPr>
            <p:extLst>
              <p:ext uri="{D42A27DB-BD31-4B8C-83A1-F6EECF244321}">
                <p14:modId xmlns:p14="http://schemas.microsoft.com/office/powerpoint/2010/main" val="2072053922"/>
              </p:ext>
            </p:extLst>
          </p:nvPr>
        </p:nvGraphicFramePr>
        <p:xfrm>
          <a:off x="271440" y="1141189"/>
          <a:ext cx="9318451" cy="5164874"/>
        </p:xfrm>
        <a:graphic>
          <a:graphicData uri="http://schemas.openxmlformats.org/drawingml/2006/table">
            <a:tbl>
              <a:tblPr bandRow="1" firstRow="1"/>
              <a:tblGrid>
                <a:gridCol w="1320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53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50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3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9518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8572"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FF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일</a:t>
                      </a:r>
                      <a:endParaRPr altLang="en-US" b="0" dirty="0" i="0" kumimoji="1" lang="ko-KR" sz="900">
                        <a:solidFill>
                          <a:srgbClr val="FF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월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화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수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목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금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0000FF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토</a:t>
                      </a:r>
                      <a:endParaRPr altLang="en-US" b="0" dirty="0" i="0" kumimoji="1" lang="ko-KR" sz="900">
                        <a:solidFill>
                          <a:srgbClr val="0000FF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1392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남대현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박민우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4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남대현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황보람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5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남대현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순현국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황보람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6</a:t>
                      </a:r>
                    </a:p>
                    <a:p>
                      <a:endParaRPr altLang="ko-KR" dirty="0" lang="en-US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r>
                        <a:rPr altLang="en-US" dirty="0" lang="ko-KR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현충일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7</a:t>
                      </a:r>
                    </a:p>
                    <a:p>
                      <a:endParaRPr altLang="ko-KR" dirty="0" lang="en-US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Off Duty Day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6" marT="45716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9176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순현국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11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13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14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이병준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15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52327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16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17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최진우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공현호</a:t>
                      </a: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18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19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박남신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20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이재원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21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◑ 배영식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22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49146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23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24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강민경</a:t>
                      </a: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25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26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27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◑ 이지은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28</a:t>
                      </a:r>
                    </a:p>
                    <a:p>
                      <a:endParaRPr altLang="ko-KR" dirty="0" lang="en-US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r>
                        <a:rPr altLang="en-US" dirty="0" err="1" lang="ko-KR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에쓰오일</a:t>
                      </a:r>
                      <a:r>
                        <a:rPr altLang="en-US" dirty="0" lang="ko-KR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창립기념일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29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14235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30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246" name="TextBox 3245"/>
          <p:cNvSpPr txBox="1"/>
          <p:nvPr/>
        </p:nvSpPr>
        <p:spPr>
          <a:xfrm>
            <a:off x="5639356" y="661884"/>
            <a:ext cx="661884" cy="363427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none">
            <a:noAutofit/>
          </a:bodyPr>
          <a:lstStyle/>
          <a:p>
            <a:pPr algn="r" defTabSz="75524200" eaLnBrk="0" hangingPunct="0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00000"/>
              <a:buFont typeface="Arial"/>
              <a:buChar char="◑"/>
              <a:defRPr/>
            </a:pPr>
            <a:r>
              <a:rPr altLang="en-US" b="0" baseline="0" i="0" kumimoji="1" lang="ko-KR" sz="90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반 차</a:t>
            </a:r>
          </a:p>
          <a:p>
            <a:pPr algn="r" defTabSz="75524200" eaLnBrk="0" hangingPunct="0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50000"/>
              <a:buFont typeface="Wingdings"/>
              <a:buChar char="l"/>
              <a:defRPr/>
            </a:pPr>
            <a:r>
              <a:rPr altLang="en-US" b="0" baseline="0" i="0" kumimoji="1" lang="ko-KR" sz="90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 1day</a:t>
            </a:r>
            <a:endParaRPr altLang="en-US" b="0" i="0" kumimoji="1" lang="ko-KR" sz="900">
              <a:solidFill>
                <a:srgbClr val="3333CC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7" name="TextBox 3246"/>
          <p:cNvSpPr txBox="1"/>
          <p:nvPr/>
        </p:nvSpPr>
        <p:spPr>
          <a:xfrm>
            <a:off x="226954" y="199994"/>
            <a:ext cx="9056616" cy="336468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ctr" bIns="45789" lIns="91577" rIns="91577" tIns="45789" vert="horz" wrap="square">
            <a:noAutofit/>
          </a:bodyPr>
          <a:lstStyle/>
          <a:p>
            <a:pPr algn="l" defTabSz="58846888" eaLnBrk="0" hangingPunct="0" indent="-385813" latinLnBrk="0" lvl="0" marL="38581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별첨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-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2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202</a:t>
            </a:r>
            <a:r>
              <a:rPr altLang="ko-KR" b="1" baseline="0" dirty="0" i="0" kumimoji="1" lang="en-US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4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 </a:t>
            </a:r>
            <a:r>
              <a:rPr altLang="ko-KR" b="1" baseline="0" dirty="0" i="0" kumimoji="1" lang="en-US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06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월 휴가계획서</a:t>
            </a:r>
            <a:endParaRPr altLang="en-US" b="1" dirty="0" i="0" kumimoji="1" lang="ko-KR" sz="160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8" name="TextBox 3247"/>
          <p:cNvSpPr txBox="1"/>
          <p:nvPr/>
        </p:nvSpPr>
        <p:spPr>
          <a:xfrm>
            <a:off x="6777363" y="666628"/>
            <a:ext cx="1447571" cy="355557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square">
            <a:noAutofit/>
          </a:bodyPr>
          <a:lstStyle/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Ø"/>
              <a:defRPr/>
            </a:pP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예비군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/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민방위 훈련 </a:t>
            </a:r>
          </a:p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ü"/>
              <a:defRPr/>
            </a:pP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교육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,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 내부회의 </a:t>
            </a:r>
            <a:endParaRPr altLang="en-US" b="0" dirty="0" i="0" kumimoji="1" lang="ko-KR" sz="90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2" name="TextBox 3251"/>
          <p:cNvSpPr txBox="1"/>
          <p:nvPr/>
        </p:nvSpPr>
        <p:spPr>
          <a:xfrm>
            <a:off x="7853525" y="661884"/>
            <a:ext cx="1676088" cy="355501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square">
            <a:noAutofit/>
          </a:bodyPr>
          <a:lstStyle/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v"/>
              <a:defRPr/>
            </a:pP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경조휴가</a:t>
            </a:r>
          </a:p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Arial"/>
              <a:buChar char="◇"/>
              <a:defRPr/>
            </a:pP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건강검진</a:t>
            </a:r>
            <a:endParaRPr altLang="en-US" b="0" i="0" kumimoji="1" lang="ko-KR" sz="90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3" name="TextBox 3252"/>
          <p:cNvSpPr txBox="1"/>
          <p:nvPr/>
        </p:nvSpPr>
        <p:spPr>
          <a:xfrm>
            <a:off x="722167" y="6401209"/>
            <a:ext cx="3085536" cy="223828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ctr" bIns="45720" lIns="91440" rIns="91440" tIns="45720" vert="horz" wrap="none">
            <a:noAutofit/>
          </a:bodyPr>
          <a:lstStyle/>
          <a:p>
            <a:pPr algn="r" defTabSz="75524200" eaLnBrk="0" hangingPunct="0" indent="0" latinLnBrk="0" lvl="0" marL="0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H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IT운영팀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R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생산IT지원팀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B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Baynex 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Q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Quintet</a:t>
            </a:r>
            <a:endParaRPr altLang="en-US" b="0" i="0" kumimoji="1" lang="ko-KR" sz="90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showMasterSp="false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