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95664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933032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6480245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90805367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1432705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01706915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7387694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6268951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556053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933429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98747884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1511541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0878903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009435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3345375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27938608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</a:p>
        </p:txBody>
      </p:sp>
      <p:sp>
        <p:nvSpPr>
          <p:cNvPr id="213176308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</a:p>
        </p:txBody>
      </p:sp>
      <p:sp>
        <p:nvSpPr>
          <p:cNvPr id="22171699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41870512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209295303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ITSM-111832 품질점검결과서 거래처 조회 기준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ITSM-112106 CCS 법인카드 비용정산 관련 요청</a:t>
            </a:r>
          </a:p>
        </p:txBody>
      </p:sp>
      <p:sp>
        <p:nvSpPr>
          <p:cNvPr id="5323201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93529010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50952254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49576698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8548247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699498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</a:p>
        </p:txBody>
      </p:sp>
      <p:sp>
        <p:nvSpPr>
          <p:cNvPr id="153925565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</a:p>
        </p:txBody>
      </p:sp>
      <p:sp>
        <p:nvSpPr>
          <p:cNvPr id="547780991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[ITSM-112261]Floating roof tank의 roof correcti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on 적용 순서 변경 요청</a:t>
            </a:r>
          </a:p>
        </p:txBody>
      </p:sp>
      <p:sp>
        <p:nvSpPr>
          <p:cNvPr id="86452232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30450497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86591289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[ITSM-110949]ePSMS 반송품 Data 검증 기능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[ITSM-112261]Floating roof tank의 roof correcti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on 적용 순서 변경 요청</a:t>
            </a:r>
          </a:p>
        </p:txBody>
      </p:sp>
      <p:sp>
        <p:nvSpPr>
          <p:cNvPr id="208518838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</a:p>
        </p:txBody>
      </p:sp>
      <p:sp>
        <p:nvSpPr>
          <p:cNvPr id="193380197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</a:p>
        </p:txBody>
      </p:sp>
      <p:sp>
        <p:nvSpPr>
          <p:cNvPr id="93236230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</a:p>
        </p:txBody>
      </p:sp>
      <p:sp>
        <p:nvSpPr>
          <p:cNvPr id="169288366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257166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85177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2087361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0750626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2753275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4207094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7095843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8174669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5417488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8382841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5455350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7989334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0019054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1173407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0788613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2571449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165692840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187503810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</a:p>
        </p:txBody>
      </p:sp>
      <p:sp>
        <p:nvSpPr>
          <p:cNvPr id="39167053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79497179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48732654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</a:p>
        </p:txBody>
      </p:sp>
      <p:sp>
        <p:nvSpPr>
          <p:cNvPr id="168266991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80739494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88%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</a:p>
        </p:txBody>
      </p:sp>
      <p:sp>
        <p:nvSpPr>
          <p:cNvPr id="84963166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</a:p>
        </p:txBody>
      </p:sp>
      <p:sp>
        <p:nvSpPr>
          <p:cNvPr id="133058835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0002843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7558946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70322765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</a:p>
        </p:txBody>
      </p:sp>
      <p:sp>
        <p:nvSpPr>
          <p:cNvPr id="53303140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47933583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02338767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3688865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ITSM-111472 변경결과 작성ITSM-110554 예상완료일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mobile goole push 변경 개발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배차 엔진 DB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ITSM-112298 변경결과 작성ITSM-112360 데이터작업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삭제ITSM-112346 작업유형 변경ITSM-112046 상태변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</a:t>
            </a:r>
          </a:p>
        </p:txBody>
      </p:sp>
      <p:sp>
        <p:nvSpPr>
          <p:cNvPr id="91517233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br/>
          </a:p>
        </p:txBody>
      </p:sp>
      <p:sp>
        <p:nvSpPr>
          <p:cNvPr id="14906432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br/>
          </a:p>
        </p:txBody>
      </p:sp>
      <p:sp>
        <p:nvSpPr>
          <p:cNvPr id="59999518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br/>
          </a:p>
        </p:txBody>
      </p:sp>
      <p:sp>
        <p:nvSpPr>
          <p:cNvPr id="92107555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7566371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559936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6041300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7703444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7099421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2374611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5409448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5183088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3261486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1031903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4952163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3248276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3627945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5564146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4653392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81750585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2096244939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</a:p>
        </p:txBody>
      </p:sp>
      <p:sp>
        <p:nvSpPr>
          <p:cNvPr id="858402358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(보류)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작업을 위한 미사용중인 인터페이스 사전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인터페이스별 RFC/IDOC 명 재확인 및 Excel 정리</a:t>
            </a:r>
          </a:p>
        </p:txBody>
      </p:sp>
      <p:sp>
        <p:nvSpPr>
          <p:cNvPr id="438693515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576884300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816093000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작업을 위한 미사용중인 인터페이스 사전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인터페이스별 RFC/IDOC 명 재확인 및 Excel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새벽 작업 모니터링 및 녹화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외화입금내역 반제 자동화' 작업 OCR 개선 방향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논의 및 프로세스 메일 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A360 '법인영업팀 - 항공급유' 작업 실행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외화입금내역 반제 자동화' 작업 OCR Update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재운영을 위한 작업 개선              - 전문 형식에 따라 '템플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릿 OCR' or '비정형 OCR' 찾아가도록 로직 변경       - Txt파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일명과 Excel파일명을 대조 -&gt; 동일한 전문일 경우 데이터 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합       - 전문 형식에 따른 데이터 추출 값 변경으로 인한 로직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       - SAP 데이터와의 매핑작업 삭제로 인한 PK값인 '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거래no' 작성 불가 대체제 문의 (답 없음)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MTE Studio 큐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외화지급계좌' 작업 오류 확인 및 재수행</a:t>
            </a:r>
          </a:p>
        </p:txBody>
      </p:sp>
      <p:sp>
        <p:nvSpPr>
          <p:cNvPr id="1377649908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1744415114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1349628417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1157329296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88351519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57976547" name="Text">
    </p:cNvPr>
          <p:cNvSpPr>
            <a:spLocks noGrp="1"/>
          </p:cNvSpPr>
          <p:nvPr/>
        </p:nvSpPr>
        <p:spPr>
          <a:xfrm rot="0">
            <a:off x="9702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198878596" name="Text">
    </p:cNvPr>
          <p:cNvSpPr>
            <a:spLocks noGrp="1"/>
          </p:cNvSpPr>
          <p:nvPr/>
        </p:nvSpPr>
        <p:spPr>
          <a:xfrm rot="0">
            <a:off x="93345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</a:p>
        </p:txBody>
      </p:sp>
      <p:sp>
        <p:nvSpPr>
          <p:cNvPr id="347222686" name="Text">
    </p:cNvPr>
          <p:cNvSpPr>
            <a:spLocks noGrp="1"/>
          </p:cNvSpPr>
          <p:nvPr/>
        </p:nvSpPr>
        <p:spPr>
          <a:xfrm rot="0">
            <a:off x="5930900" y="42418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ERP System 상 화학물질위험성평가(CHARM) Che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ck 항목 추가 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</a:p>
        </p:txBody>
      </p:sp>
      <p:sp>
        <p:nvSpPr>
          <p:cNvPr id="633515608" name="Text">
    </p:cNvPr>
          <p:cNvSpPr>
            <a:spLocks noGrp="1"/>
          </p:cNvSpPr>
          <p:nvPr/>
        </p:nvSpPr>
        <p:spPr>
          <a:xfrm rot="0">
            <a:off x="53086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155663855" name="Text">
    </p:cNvPr>
          <p:cNvSpPr>
            <a:spLocks noGrp="1"/>
          </p:cNvSpPr>
          <p:nvPr/>
        </p:nvSpPr>
        <p:spPr>
          <a:xfrm rot="0">
            <a:off x="88900" y="42418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441089138" name="Text">
    </p:cNvPr>
          <p:cNvSpPr>
            <a:spLocks noGrp="1"/>
          </p:cNvSpPr>
          <p:nvPr/>
        </p:nvSpPr>
        <p:spPr>
          <a:xfrm rot="0">
            <a:off x="711200" y="42418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Simoms 작업 요청서 (CP 전자결제-공장 tab)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ERP System 상 화학물질위험성평가(CHARM) Che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ck 항목 추가 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</a:p>
        </p:txBody>
      </p:sp>
      <p:sp>
        <p:nvSpPr>
          <p:cNvPr id="527014759" name="Text">
    </p:cNvPr>
          <p:cNvSpPr>
            <a:spLocks noGrp="1"/>
          </p:cNvSpPr>
          <p:nvPr/>
        </p:nvSpPr>
        <p:spPr>
          <a:xfrm rot="0">
            <a:off x="44831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</a:p>
        </p:txBody>
      </p:sp>
      <p:sp>
        <p:nvSpPr>
          <p:cNvPr id="803817148" name="Text">
    </p:cNvPr>
          <p:cNvSpPr>
            <a:spLocks noGrp="1"/>
          </p:cNvSpPr>
          <p:nvPr/>
        </p:nvSpPr>
        <p:spPr>
          <a:xfrm rot="0">
            <a:off x="48514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</a:p>
        </p:txBody>
      </p:sp>
      <p:sp>
        <p:nvSpPr>
          <p:cNvPr id="2069946833" name="Text">
    </p:cNvPr>
          <p:cNvSpPr>
            <a:spLocks noGrp="1"/>
          </p:cNvSpPr>
          <p:nvPr/>
        </p:nvSpPr>
        <p:spPr>
          <a:xfrm rot="0">
            <a:off x="4114800" y="42418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</a:p>
        </p:txBody>
      </p:sp>
      <p:sp>
        <p:nvSpPr>
          <p:cNvPr id="847293219" name="Text">
    </p:cNvPr>
          <p:cNvSpPr>
            <a:spLocks noGrp="1"/>
          </p:cNvSpPr>
          <p:nvPr/>
        </p:nvSpPr>
        <p:spPr>
          <a:xfrm rot="0">
            <a:off x="6604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33795255" name="Text">
    </p:cNvPr>
          <p:cNvSpPr>
            <a:spLocks noGrp="1"/>
          </p:cNvSpPr>
          <p:nvPr/>
        </p:nvSpPr>
        <p:spPr>
          <a:xfrm rot="0">
            <a:off x="5880100" y="42418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1648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2655683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2780241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0058047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3593709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32612429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2105221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3654507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6353145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979065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17109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4698289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3124767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9002656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5649721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71510424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03/25</a:t>
            </a:r>
            <a:br/>
            <a:br/>
          </a:p>
        </p:txBody>
      </p:sp>
      <p:sp>
        <p:nvSpPr>
          <p:cNvPr id="25187750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작업(최소 기안 후 기안자만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전결근거 수정 가능하도록 수정)</a:t>
            </a:r>
          </a:p>
        </p:txBody>
      </p:sp>
      <p:sp>
        <p:nvSpPr>
          <p:cNvPr id="211794316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32720045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42240372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메뉴(작업완료관리)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기안지 전결근거 관련 작업- 프론트 화면 정리중(한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ITSM-112154, ITSM-112132, ITSM-112173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ITSM-112193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ITSM-112207, ITSM-112273, ITSM-112266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ITSM-112315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ITSM-112346</a:t>
            </a:r>
          </a:p>
        </p:txBody>
      </p:sp>
      <p:sp>
        <p:nvSpPr>
          <p:cNvPr id="21759115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45568750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26638842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209362881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340785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129158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</a:p>
        </p:txBody>
      </p:sp>
      <p:sp>
        <p:nvSpPr>
          <p:cNvPr id="1785859376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</a:p>
        </p:txBody>
      </p:sp>
      <p:sp>
        <p:nvSpPr>
          <p:cNvPr id="119912948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ITSM-112249 WO 처리절차 Numbering 수정을 위한 파일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교체</a:t>
            </a:r>
          </a:p>
        </p:txBody>
      </p:sp>
      <p:sp>
        <p:nvSpPr>
          <p:cNvPr id="146553554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519538267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67916831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[에쓰-오일/휴넷] 데이터 연계를 위한 진행사항 공유 및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청사항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ALK1-W-7312 개정오류 건, 재개정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 연계 오류 확인 및 처리방안 안내(사업자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번호없음/삭제된구매처/확정안된구매처코드)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ITSM-112249 WO 처리절차 Numbering 수정을 위한 파일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교체</a:t>
            </a:r>
          </a:p>
        </p:txBody>
      </p:sp>
      <p:sp>
        <p:nvSpPr>
          <p:cNvPr id="177829732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</a:p>
        </p:txBody>
      </p:sp>
      <p:sp>
        <p:nvSpPr>
          <p:cNvPr id="182452517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131960778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</a:p>
        </p:txBody>
      </p:sp>
      <p:sp>
        <p:nvSpPr>
          <p:cNvPr id="44438959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01154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31402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0450352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9204588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60008005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4255944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6685011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7994914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2046674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6558458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5499360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3692101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829665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3056184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3607169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79190699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</a:p>
        </p:txBody>
      </p:sp>
      <p:sp>
        <p:nvSpPr>
          <p:cNvPr id="1438468914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</a:p>
        </p:txBody>
      </p:sp>
      <p:sp>
        <p:nvSpPr>
          <p:cNvPr id="623887955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통합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배포- 동시 접속 제한 기능 구현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회계팀 요청 (재무프로세스) 전체 시나리오 10개 검출되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 않는 시나리오 관련 점검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맴버십마케팅팀 요청 SP062 시나리오 검출되지 않은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확인 요청</a:t>
            </a:r>
          </a:p>
        </p:txBody>
      </p:sp>
      <p:sp>
        <p:nvSpPr>
          <p:cNvPr id="279988937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075839855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138780802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점검 조치 사항 통합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배포- 동시 접속 제한 기능 구현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실행 불가 지원 (인사후생팀)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제작입고 오류 확인 및 데이터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WMS 업무 프로세스 설명 및 인터페이스 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명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회계팀 요청 (재무 프로세스) 전체 시나리오 10개 검출되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지 않는 시나리오 관련 점검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맴버십마케팅팀 요청 SP062 시나리오 검출되지 않은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SAP DataService Job : EWS_SCH_SAP1 오류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SP414 투자예산 장기 미집행 시나리오 로직 오류 검토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확인 요청</a:t>
            </a:r>
          </a:p>
        </p:txBody>
      </p:sp>
      <p:sp>
        <p:nvSpPr>
          <p:cNvPr id="616392800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</a:p>
        </p:txBody>
      </p:sp>
      <p:sp>
        <p:nvSpPr>
          <p:cNvPr id="910788668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</a:p>
        </p:txBody>
      </p:sp>
      <p:sp>
        <p:nvSpPr>
          <p:cNvPr id="1983041249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</a:p>
        </p:txBody>
      </p:sp>
      <p:sp>
        <p:nvSpPr>
          <p:cNvPr id="1355496321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6520592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46604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685457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0469753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8695924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9801380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058541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0246784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6336227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7726707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4682209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2955918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8722062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859963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8131456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19101436" name="Text">
    </p:cNvPr>
          <p:cNvSpPr>
            <a:spLocks noGrp="1"/>
          </p:cNvSpPr>
          <p:nvPr/>
        </p:nvSpPr>
        <p:spPr>
          <a:xfrm rot="0">
            <a:off x="9702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</a:p>
        </p:txBody>
      </p:sp>
      <p:sp>
        <p:nvSpPr>
          <p:cNvPr id="1441089465" name="Text">
    </p:cNvPr>
          <p:cNvSpPr>
            <a:spLocks noGrp="1"/>
          </p:cNvSpPr>
          <p:nvPr/>
        </p:nvSpPr>
        <p:spPr>
          <a:xfrm rot="0">
            <a:off x="93345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</a:p>
        </p:txBody>
      </p:sp>
      <p:sp>
        <p:nvSpPr>
          <p:cNvPr id="2096502459" name="Text">
    </p:cNvPr>
          <p:cNvSpPr>
            <a:spLocks noGrp="1"/>
          </p:cNvSpPr>
          <p:nvPr/>
        </p:nvSpPr>
        <p:spPr>
          <a:xfrm rot="0">
            <a:off x="5930900" y="1511300"/>
            <a:ext cx="3403600" cy="3187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[ITSM-111937] (e-Biz 및 IF 관련 VOC 조회 권한) 권한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적용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[고객센터] VOC 시스템 확인 및 개선 요청 (메일링 서비스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점검)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[고객센터] VOC 시스템 확인 및 개선 요청 (메일링 서비스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점검) [ 커뮤니케이터 또한 VOC 처리 내 '동일부서' 담당자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[고객센터] VOC 시스템 확인 및 개선 요청 (메일링 서비스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점검 [ CX_EMAIL / VocToEms.java / VocDaoImpl.java 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포인트몰 비즈마켓 인터페이스 개발 건 (06.05 회의 진행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/ URL 변경 소스 배포 및 hosts 파일 수정 요청)</a:t>
            </a:r>
          </a:p>
        </p:txBody>
      </p:sp>
      <p:sp>
        <p:nvSpPr>
          <p:cNvPr id="404248312" name="Text">
    </p:cNvPr>
          <p:cNvSpPr>
            <a:spLocks noGrp="1"/>
          </p:cNvSpPr>
          <p:nvPr/>
        </p:nvSpPr>
        <p:spPr>
          <a:xfrm rot="0">
            <a:off x="53086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673620461" name="Text">
    </p:cNvPr>
          <p:cNvSpPr>
            <a:spLocks noGrp="1"/>
          </p:cNvSpPr>
          <p:nvPr/>
        </p:nvSpPr>
        <p:spPr>
          <a:xfrm rot="0">
            <a:off x="889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459741663" name="Text">
    </p:cNvPr>
          <p:cNvSpPr>
            <a:spLocks noGrp="1"/>
          </p:cNvSpPr>
          <p:nvPr/>
        </p:nvSpPr>
        <p:spPr>
          <a:xfrm rot="0">
            <a:off x="711200" y="1511300"/>
            <a:ext cx="3403600" cy="3187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이관관리 &gt; 해상이관오더관리 내 'BATCH재실행' Err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 500 점검 (TimeOut 사유, 배치 확인)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모니터링 &gt; 실시간 주문/출하 현황 &gt; 주문/출하 현황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테이블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품질성적서 내 '품질적합여부' - 품질규격마스터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판단 기준 변경 (김인환 파트리더님) [ PKG_ ASSAY_CUSTM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AP 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PRM 백업 업무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S02339 극동유화(주)전당앞주유소 담당자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[고객센터] VOC 시스템 확인 및 개선 요청 (메일링 서비스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점검) [ 커뮤니케이터 또한 VOC 처리 내 '동일부서' 담당자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 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V240603-0000694-1 상태 변경 요청 (완료 -&gt; 접수 2선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[고객센터] VOC 시스템 확인 및 개선 요청 (메일링 서비스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점검 [ CX_EMAIL / VocToEms.java / VocDaoImpl.java 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포인트몰 비즈마켓 인터페이스 개발 건 (06.05 회의 진행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/ URL 변경 소스 배포 및 hosts 파일 수정 요청)</a:t>
            </a:r>
          </a:p>
        </p:txBody>
      </p:sp>
      <p:sp>
        <p:nvSpPr>
          <p:cNvPr id="453928010" name="Text">
    </p:cNvPr>
          <p:cNvSpPr>
            <a:spLocks noGrp="1"/>
          </p:cNvSpPr>
          <p:nvPr/>
        </p:nvSpPr>
        <p:spPr>
          <a:xfrm rot="0">
            <a:off x="44831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</a:p>
        </p:txBody>
      </p:sp>
      <p:sp>
        <p:nvSpPr>
          <p:cNvPr id="1106992709" name="Text">
    </p:cNvPr>
          <p:cNvSpPr>
            <a:spLocks noGrp="1"/>
          </p:cNvSpPr>
          <p:nvPr/>
        </p:nvSpPr>
        <p:spPr>
          <a:xfrm rot="0">
            <a:off x="48514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1548727902" name="Text">
    </p:cNvPr>
          <p:cNvSpPr>
            <a:spLocks noGrp="1"/>
          </p:cNvSpPr>
          <p:nvPr/>
        </p:nvSpPr>
        <p:spPr>
          <a:xfrm rot="0">
            <a:off x="4114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br/>
          </a:p>
        </p:txBody>
      </p:sp>
      <p:sp>
        <p:nvSpPr>
          <p:cNvPr id="67676435" name="Text">
    </p:cNvPr>
          <p:cNvSpPr>
            <a:spLocks noGrp="1"/>
          </p:cNvSpPr>
          <p:nvPr/>
        </p:nvSpPr>
        <p:spPr>
          <a:xfrm rot="0">
            <a:off x="6604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16961516" name="Text">
    </p:cNvPr>
          <p:cNvSpPr>
            <a:spLocks noGrp="1"/>
          </p:cNvSpPr>
          <p:nvPr/>
        </p:nvSpPr>
        <p:spPr>
          <a:xfrm rot="0">
            <a:off x="58801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08770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5139064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8608007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1652954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2928344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1826122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3602604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477803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3569360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3624737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7694417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4937632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9227147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13009197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5485658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84512013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20152419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5월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System 상 화학물질위험성평가(CHARM) Check 항목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</a:t>
            </a:r>
          </a:p>
        </p:txBody>
      </p:sp>
      <p:sp>
        <p:nvSpPr>
          <p:cNvPr id="118710818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83016418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214739861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2024.4월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5월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ERP와 e-Pro간 입고/납품완료 불일치 점검 및 모니터링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System 상 화학물질위험성평가(CHARM) Check 항목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</a:t>
            </a:r>
          </a:p>
        </p:txBody>
      </p:sp>
      <p:sp>
        <p:nvSpPr>
          <p:cNvPr id="180298188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</a:p>
        </p:txBody>
      </p:sp>
      <p:sp>
        <p:nvSpPr>
          <p:cNvPr id="59271813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</a:p>
        </p:txBody>
      </p:sp>
      <p:sp>
        <p:nvSpPr>
          <p:cNvPr id="121023592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</a:p>
        </p:txBody>
      </p:sp>
      <p:sp>
        <p:nvSpPr>
          <p:cNvPr id="112046461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704817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