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1"/>
    <p:sldId id="259" r:id="rId12"/>
    <p:sldId id="260" r:id="rId13"/>
    <p:sldId id="261" r:id="rId14"/>
    <p:sldId id="262" r:id="rId16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30"/>
    <p:sldId id="275" r:id="rId32"/>
    <p:sldId id="276" r:id="rId33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notesSlides/notesSlide2.xml" Type="http://schemas.openxmlformats.org/officeDocument/2006/relationships/notesSlide"/><Relationship Id="rId16" Target="slides/slide7.xml" Type="http://schemas.openxmlformats.org/officeDocument/2006/relationships/slide"/><Relationship Id="rId17" Target="notesSlides/notesSlide3.xml" Type="http://schemas.openxmlformats.org/officeDocument/2006/relationships/notesSlide"/><Relationship Id="rId18" Target="slides/slide8.xml" Type="http://schemas.openxmlformats.org/officeDocument/2006/relationships/slide"/><Relationship Id="rId19" Target="slides/slide9.xml" Type="http://schemas.openxmlformats.org/officeDocument/2006/relationships/slide"/><Relationship Id="rId2" Target="presProps.xml" Type="http://schemas.openxmlformats.org/officeDocument/2006/relationships/presProps"/><Relationship Id="rId20" Target="slides/slide10.xml" Type="http://schemas.openxmlformats.org/officeDocument/2006/relationships/slide"/><Relationship Id="rId21" Target="slides/slide11.xml" Type="http://schemas.openxmlformats.org/officeDocument/2006/relationships/slide"/><Relationship Id="rId22" Target="slides/slide12.xml" Type="http://schemas.openxmlformats.org/officeDocument/2006/relationships/slide"/><Relationship Id="rId23" Target="slides/slide13.xml" Type="http://schemas.openxmlformats.org/officeDocument/2006/relationships/slide"/><Relationship Id="rId24" Target="slides/slide14.xml" Type="http://schemas.openxmlformats.org/officeDocument/2006/relationships/slide"/><Relationship Id="rId25" Target="slides/slide15.xml" Type="http://schemas.openxmlformats.org/officeDocument/2006/relationships/slide"/><Relationship Id="rId26" Target="slides/slide16.xml" Type="http://schemas.openxmlformats.org/officeDocument/2006/relationships/slide"/><Relationship Id="rId27" Target="slides/slide17.xml" Type="http://schemas.openxmlformats.org/officeDocument/2006/relationships/slide"/><Relationship Id="rId28" Target="slides/slide18.xml" Type="http://schemas.openxmlformats.org/officeDocument/2006/relationships/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slides/slide19.xml" Type="http://schemas.openxmlformats.org/officeDocument/2006/relationships/slide"/><Relationship Id="rId31" Target="notesSlides/notesSlide5.xml" Type="http://schemas.openxmlformats.org/officeDocument/2006/relationships/notesSlide"/><Relationship Id="rId32" Target="slides/slide20.xml" Type="http://schemas.openxmlformats.org/officeDocument/2006/relationships/slide"/><Relationship Id="rId33" Target="slides/slide21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2023-11-01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[2023.11.21 ~ 2023.11.27]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11월 6주차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638716265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</a:p>
                    <a:p>
                      <a:endParaRPr altLang="ko-KR" dirty="0" lang="en-US" smtClean="0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mtClean="0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</a:t>
                      </a:r>
                      <a:r>
                        <a:rPr altLang="ko-KR" baseline="0" dirty="0" lang="en-US" smtClean="0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Duty 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altLang="en-US" b="1" baseline="0" dirty="0" i="0" kumimoji="1" lang="ko-KR" smtClean="0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2023</a:t>
            </a:r>
            <a:r>
              <a:rPr altLang="en-US" b="1" baseline="0" dirty="0" i="0" kumimoji="1" lang="ko-KR" smtClean="0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dirty="0" kumimoji="1" lang="en-US" smtClean="0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11</a:t>
            </a:r>
            <a:r>
              <a:rPr altLang="en-US" b="1" baseline="0" dirty="0" i="0" kumimoji="1" lang="ko-KR" smtClean="0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</a:t>
            </a:r>
            <a:r>
              <a:rPr altLang="en-US" b="1" baseline="0" dirty="0" err="1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616370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512509743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092859299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3916853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482348091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613631776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17554620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637868525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685828120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76705123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698911873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795678645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141404901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25808911" name="Frame"/>
          <p:cNvSpPr>
            <a:spLocks noGrp="1"/>
          </p:cNvSpPr>
          <p:nvPr/>
        </p:nvSpPr>
        <p:spPr>
          <a:xfrm>
            <a:off x="25400" y="60071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22373001" name="Text">
    </p:cNvPr>
          <p:cNvSpPr>
            <a:spLocks noGrp="1"/>
          </p:cNvSpPr>
          <p:nvPr/>
        </p:nvSpPr>
        <p:spPr>
          <a:xfrm rot="0">
            <a:off x="152400" y="60325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503618781" name="Text">
    </p:cNvPr>
          <p:cNvSpPr>
            <a:spLocks noGrp="1"/>
          </p:cNvSpPr>
          <p:nvPr/>
        </p:nvSpPr>
        <p:spPr>
          <a:xfrm rot="0">
            <a:off x="6451600" y="65659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80699223" name="Text">
    </p:cNvPr>
          <p:cNvSpPr>
            <a:spLocks noGrp="1"/>
          </p:cNvSpPr>
          <p:nvPr/>
        </p:nvSpPr>
        <p:spPr>
          <a:xfrm rot="0">
            <a:off x="2057400" y="65659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24817509" name="Text">
    </p:cNvPr>
          <p:cNvSpPr>
            <a:spLocks noGrp="1"/>
          </p:cNvSpPr>
          <p:nvPr/>
        </p:nvSpPr>
        <p:spPr>
          <a:xfrm rot="0">
            <a:off x="101600" y="65659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9889435" name="Text">
    </p:cNvPr>
          <p:cNvSpPr>
            <a:spLocks noGrp="1"/>
          </p:cNvSpPr>
          <p:nvPr/>
        </p:nvSpPr>
        <p:spPr>
          <a:xfrm rot="0">
            <a:off x="101600" y="63246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177719135" name="Text">
    </p:cNvPr>
          <p:cNvSpPr>
            <a:spLocks noGrp="1"/>
          </p:cNvSpPr>
          <p:nvPr/>
        </p:nvSpPr>
        <p:spPr>
          <a:xfrm rot="0">
            <a:off x="2057400" y="63246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605420280" name="Text">
    </p:cNvPr>
          <p:cNvSpPr>
            <a:spLocks noGrp="1"/>
          </p:cNvSpPr>
          <p:nvPr/>
        </p:nvSpPr>
        <p:spPr>
          <a:xfrm rot="0">
            <a:off x="6451600" y="63246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8045576" name="Text">
    </p:cNvPr>
          <p:cNvSpPr>
            <a:spLocks noGrp="1"/>
          </p:cNvSpPr>
          <p:nvPr/>
        </p:nvSpPr>
        <p:spPr>
          <a:xfrm rot="0">
            <a:off x="101600" y="68580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85233475" name="Text">
    </p:cNvPr>
          <p:cNvSpPr>
            <a:spLocks noGrp="1"/>
          </p:cNvSpPr>
          <p:nvPr/>
        </p:nvSpPr>
        <p:spPr>
          <a:xfrm rot="0">
            <a:off x="6451600" y="68580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0822511" name="Text">
    </p:cNvPr>
          <p:cNvSpPr>
            <a:spLocks noGrp="1"/>
          </p:cNvSpPr>
          <p:nvPr/>
        </p:nvSpPr>
        <p:spPr>
          <a:xfrm rot="0">
            <a:off x="2057400" y="68580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1879402" name="Text">
    </p:cNvPr>
          <p:cNvSpPr>
            <a:spLocks noGrp="1"/>
          </p:cNvSpPr>
          <p:nvPr/>
        </p:nvSpPr>
        <p:spPr>
          <a:xfrm rot="0">
            <a:off x="1244600" y="68580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81019974" name="Text">
    </p:cNvPr>
          <p:cNvSpPr>
            <a:spLocks noGrp="1"/>
          </p:cNvSpPr>
          <p:nvPr/>
        </p:nvSpPr>
        <p:spPr>
          <a:xfrm rot="0">
            <a:off x="1244600" y="65659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84804749" name="Text">
    </p:cNvPr>
          <p:cNvSpPr>
            <a:spLocks noGrp="1"/>
          </p:cNvSpPr>
          <p:nvPr/>
        </p:nvSpPr>
        <p:spPr>
          <a:xfrm rot="0">
            <a:off x="1244600" y="63246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860655107" name="Text">
    </p:cNvPr>
          <p:cNvSpPr>
            <a:spLocks noGrp="1"/>
          </p:cNvSpPr>
          <p:nvPr/>
        </p:nvSpPr>
        <p:spPr>
          <a:xfrm rot="0">
            <a:off x="8102600" y="68580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5424915" name="Text">
    </p:cNvPr>
          <p:cNvSpPr>
            <a:spLocks noGrp="1"/>
          </p:cNvSpPr>
          <p:nvPr/>
        </p:nvSpPr>
        <p:spPr>
          <a:xfrm rot="0">
            <a:off x="8102600" y="63246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333131982" name="Text">
    </p:cNvPr>
          <p:cNvSpPr>
            <a:spLocks noGrp="1"/>
          </p:cNvSpPr>
          <p:nvPr/>
        </p:nvSpPr>
        <p:spPr>
          <a:xfrm rot="0">
            <a:off x="8102600" y="65659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41718472" name="Frame"/>
          <p:cNvSpPr>
            <a:spLocks noGrp="1"/>
          </p:cNvSpPr>
          <p:nvPr/>
        </p:nvSpPr>
        <p:spPr>
          <a:xfrm>
            <a:off x="101600" y="3289300"/>
            <a:ext cx="9779000" cy="25527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659504380" name="Text">
    </p:cNvPr>
          <p:cNvSpPr>
            <a:spLocks noGrp="1"/>
          </p:cNvSpPr>
          <p:nvPr/>
        </p:nvSpPr>
        <p:spPr>
          <a:xfrm rot="0">
            <a:off x="165100" y="33528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7534654" name="Text">
    </p:cNvPr>
          <p:cNvSpPr>
            <a:spLocks noGrp="1"/>
          </p:cNvSpPr>
          <p:nvPr/>
        </p:nvSpPr>
        <p:spPr>
          <a:xfrm rot="0">
            <a:off x="152400" y="33147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073998434" name="Text">
    </p:cNvPr>
          <p:cNvSpPr>
            <a:spLocks noGrp="1"/>
          </p:cNvSpPr>
          <p:nvPr/>
        </p:nvSpPr>
        <p:spPr>
          <a:xfrm rot="0">
            <a:off x="165100" y="35687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367369135" name="Text">
    </p:cNvPr>
          <p:cNvSpPr>
            <a:spLocks noGrp="1"/>
          </p:cNvSpPr>
          <p:nvPr/>
        </p:nvSpPr>
        <p:spPr>
          <a:xfrm rot="0">
            <a:off x="901700" y="35687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59394495" name="Text">
    </p:cNvPr>
          <p:cNvSpPr>
            <a:spLocks noGrp="1"/>
          </p:cNvSpPr>
          <p:nvPr/>
        </p:nvSpPr>
        <p:spPr>
          <a:xfrm rot="0">
            <a:off x="5549900" y="35687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586825193" name="Text">
    </p:cNvPr>
          <p:cNvSpPr>
            <a:spLocks noGrp="1"/>
          </p:cNvSpPr>
          <p:nvPr/>
        </p:nvSpPr>
        <p:spPr>
          <a:xfrm rot="0">
            <a:off x="6121400" y="35687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2104857390" name="Frame"/>
          <p:cNvSpPr>
            <a:spLocks noGrp="1"/>
          </p:cNvSpPr>
          <p:nvPr/>
        </p:nvSpPr>
        <p:spPr>
          <a:xfrm>
            <a:off x="165100" y="4610100"/>
            <a:ext cx="9664700" cy="12319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789199922" name="Text">
    </p:cNvPr>
          <p:cNvSpPr>
            <a:spLocks noGrp="1"/>
          </p:cNvSpPr>
          <p:nvPr/>
        </p:nvSpPr>
        <p:spPr>
          <a:xfrm rot="0">
            <a:off x="165100" y="4584700"/>
            <a:ext cx="7366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270459295" name="Text">
    </p:cNvPr>
          <p:cNvSpPr>
            <a:spLocks noGrp="1"/>
          </p:cNvSpPr>
          <p:nvPr/>
        </p:nvSpPr>
        <p:spPr>
          <a:xfrm rot="0">
            <a:off x="965200" y="4635500"/>
            <a:ext cx="4584700" cy="1206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주유소/충전소 PRM 거래처 마스터 신규 등록시 필수 계약 자동 체결요청 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Defect Elimination Dashboard Renewal(신규 Portal 구축) 관련 전자결재 연동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Soft Skill 인증제도(Skillset) 시행에 따른 LMS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2023.10월 결산의 EIS, Yellow Book 반영</a:t>
            </a:r>
          </a:p>
        </p:txBody>
      </p:sp>
      <p:sp>
        <p:nvSpPr>
          <p:cNvPr id="1677230848" name="Text">
    </p:cNvPr>
          <p:cNvSpPr>
            <a:spLocks noGrp="1"/>
          </p:cNvSpPr>
          <p:nvPr/>
        </p:nvSpPr>
        <p:spPr>
          <a:xfrm rot="0">
            <a:off x="7239000" y="4635500"/>
            <a:ext cx="2552700" cy="1206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843419826" name="Text">
    </p:cNvPr>
          <p:cNvSpPr>
            <a:spLocks noGrp="1"/>
          </p:cNvSpPr>
          <p:nvPr/>
        </p:nvSpPr>
        <p:spPr>
          <a:xfrm rot="0">
            <a:off x="5549900" y="4635500"/>
            <a:ext cx="571500" cy="1206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</a:p>
        </p:txBody>
      </p:sp>
      <p:sp>
        <p:nvSpPr>
          <p:cNvPr id="1288749412" name="Text">
    </p:cNvPr>
          <p:cNvSpPr>
            <a:spLocks noGrp="1"/>
          </p:cNvSpPr>
          <p:nvPr/>
        </p:nvSpPr>
        <p:spPr>
          <a:xfrm rot="0">
            <a:off x="901700" y="4584700"/>
            <a:ext cx="46482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23899256" name="Text">
    </p:cNvPr>
          <p:cNvSpPr>
            <a:spLocks noGrp="1"/>
          </p:cNvSpPr>
          <p:nvPr/>
        </p:nvSpPr>
        <p:spPr>
          <a:xfrm rot="0">
            <a:off x="6121400" y="4584700"/>
            <a:ext cx="36449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6184223" name="Text">
    </p:cNvPr>
          <p:cNvSpPr>
            <a:spLocks noGrp="1"/>
          </p:cNvSpPr>
          <p:nvPr/>
        </p:nvSpPr>
        <p:spPr>
          <a:xfrm rot="0">
            <a:off x="5549900" y="4584700"/>
            <a:ext cx="5715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14340529" name="Frame"/>
          <p:cNvSpPr>
            <a:spLocks noGrp="1"/>
          </p:cNvSpPr>
          <p:nvPr/>
        </p:nvSpPr>
        <p:spPr>
          <a:xfrm>
            <a:off x="165100" y="391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479367779" name="Text">
    </p:cNvPr>
          <p:cNvSpPr>
            <a:spLocks noGrp="1"/>
          </p:cNvSpPr>
          <p:nvPr/>
        </p:nvSpPr>
        <p:spPr>
          <a:xfrm rot="0">
            <a:off x="165100" y="391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570171405" name="Text">
    </p:cNvPr>
          <p:cNvSpPr>
            <a:spLocks noGrp="1"/>
          </p:cNvSpPr>
          <p:nvPr/>
        </p:nvSpPr>
        <p:spPr>
          <a:xfrm rot="0">
            <a:off x="965200" y="39878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ZSDR7090 - 담보관리:채권대비 담보확보액 개선요청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실수송 거리 측정데이타 erp 연동요청</a:t>
            </a:r>
          </a:p>
        </p:txBody>
      </p:sp>
      <p:sp>
        <p:nvSpPr>
          <p:cNvPr id="1153561197" name="Text">
    </p:cNvPr>
          <p:cNvSpPr>
            <a:spLocks noGrp="1"/>
          </p:cNvSpPr>
          <p:nvPr/>
        </p:nvSpPr>
        <p:spPr>
          <a:xfrm rot="0">
            <a:off x="7239000" y="398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900272056" name="Text">
    </p:cNvPr>
          <p:cNvSpPr>
            <a:spLocks noGrp="1"/>
          </p:cNvSpPr>
          <p:nvPr/>
        </p:nvSpPr>
        <p:spPr>
          <a:xfrm rot="0">
            <a:off x="5549900" y="398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</a:p>
        </p:txBody>
      </p:sp>
      <p:sp>
        <p:nvSpPr>
          <p:cNvPr id="131437354" name="Text">
    </p:cNvPr>
          <p:cNvSpPr>
            <a:spLocks noGrp="1"/>
          </p:cNvSpPr>
          <p:nvPr/>
        </p:nvSpPr>
        <p:spPr>
          <a:xfrm rot="0">
            <a:off x="901700" y="391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36701535" name="Text">
    </p:cNvPr>
          <p:cNvSpPr>
            <a:spLocks noGrp="1"/>
          </p:cNvSpPr>
          <p:nvPr/>
        </p:nvSpPr>
        <p:spPr>
          <a:xfrm rot="0">
            <a:off x="6121400" y="39116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52218887" name="Text">
    </p:cNvPr>
          <p:cNvSpPr>
            <a:spLocks noGrp="1"/>
          </p:cNvSpPr>
          <p:nvPr/>
        </p:nvSpPr>
        <p:spPr>
          <a:xfrm rot="0">
            <a:off x="5549900" y="391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39906988" name="Frame"/>
          <p:cNvSpPr>
            <a:spLocks noGrp="1"/>
          </p:cNvSpPr>
          <p:nvPr/>
        </p:nvSpPr>
        <p:spPr>
          <a:xfrm>
            <a:off x="127000" y="1384300"/>
            <a:ext cx="9779000" cy="1765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882102076" name="Frame"/>
          <p:cNvSpPr>
            <a:spLocks noGrp="1"/>
          </p:cNvSpPr>
          <p:nvPr/>
        </p:nvSpPr>
        <p:spPr>
          <a:xfrm>
            <a:off x="152400" y="2374900"/>
            <a:ext cx="9664700" cy="7747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397648201" name="Text">
    </p:cNvPr>
          <p:cNvSpPr>
            <a:spLocks noGrp="1"/>
          </p:cNvSpPr>
          <p:nvPr/>
        </p:nvSpPr>
        <p:spPr>
          <a:xfrm rot="0">
            <a:off x="152400" y="2349500"/>
            <a:ext cx="7366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972910861" name="Text">
    </p:cNvPr>
          <p:cNvSpPr>
            <a:spLocks noGrp="1"/>
          </p:cNvSpPr>
          <p:nvPr/>
        </p:nvSpPr>
        <p:spPr>
          <a:xfrm rot="0">
            <a:off x="952500" y="2400300"/>
            <a:ext cx="45974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[RPA] A360 '주요 자재 번호 및 단가 정리' 작업 추가 요청 처리 및 테스트, 운영 전환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2023 Soft skill Basic과정_(집합교육) 생성시 SOFT SKILL 4개인데 3개로 수강자등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록된 사람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[WMS] 23년 2nd interim 운영평가 증빙자료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하도급법 적용대상 구매건에 대한 점검 기능 강화</a:t>
            </a:r>
          </a:p>
        </p:txBody>
      </p:sp>
      <p:sp>
        <p:nvSpPr>
          <p:cNvPr id="1722776687" name="Text">
    </p:cNvPr>
          <p:cNvSpPr>
            <a:spLocks noGrp="1"/>
          </p:cNvSpPr>
          <p:nvPr/>
        </p:nvSpPr>
        <p:spPr>
          <a:xfrm rot="0">
            <a:off x="7226300" y="24003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657601791" name="Text">
    </p:cNvPr>
          <p:cNvSpPr>
            <a:spLocks noGrp="1"/>
          </p:cNvSpPr>
          <p:nvPr/>
        </p:nvSpPr>
        <p:spPr>
          <a:xfrm rot="0">
            <a:off x="6108700" y="2349500"/>
            <a:ext cx="7620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123599820" name="Text">
    </p:cNvPr>
          <p:cNvSpPr>
            <a:spLocks noGrp="1"/>
          </p:cNvSpPr>
          <p:nvPr/>
        </p:nvSpPr>
        <p:spPr>
          <a:xfrm rot="0">
            <a:off x="5537200" y="24003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</a:p>
        </p:txBody>
      </p:sp>
      <p:sp>
        <p:nvSpPr>
          <p:cNvPr id="1988943565" name="Text">
    </p:cNvPr>
          <p:cNvSpPr>
            <a:spLocks noGrp="1"/>
          </p:cNvSpPr>
          <p:nvPr/>
        </p:nvSpPr>
        <p:spPr>
          <a:xfrm rot="0">
            <a:off x="889000" y="2349500"/>
            <a:ext cx="46482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01295991" name="Text">
    </p:cNvPr>
          <p:cNvSpPr>
            <a:spLocks noGrp="1"/>
          </p:cNvSpPr>
          <p:nvPr/>
        </p:nvSpPr>
        <p:spPr>
          <a:xfrm rot="0">
            <a:off x="7124700" y="2349500"/>
            <a:ext cx="26543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52029157" name="Text">
    </p:cNvPr>
          <p:cNvSpPr>
            <a:spLocks noGrp="1"/>
          </p:cNvSpPr>
          <p:nvPr/>
        </p:nvSpPr>
        <p:spPr>
          <a:xfrm rot="0">
            <a:off x="5537200" y="2349500"/>
            <a:ext cx="5715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81651008" name="Rectangle"/>
          <p:cNvSpPr>
            <a:spLocks noGrp="1"/>
          </p:cNvSpPr>
          <p:nvPr/>
        </p:nvSpPr>
        <p:spPr>
          <a:xfrm>
            <a:off x="6870700" y="2349500"/>
            <a:ext cx="254000" cy="800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2052790141" name="Frame"/>
          <p:cNvSpPr>
            <a:spLocks noGrp="1"/>
          </p:cNvSpPr>
          <p:nvPr/>
        </p:nvSpPr>
        <p:spPr>
          <a:xfrm>
            <a:off x="152400" y="1371600"/>
            <a:ext cx="9639300" cy="9779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109908577" name="Text">
    </p:cNvPr>
          <p:cNvSpPr>
            <a:spLocks noGrp="1"/>
          </p:cNvSpPr>
          <p:nvPr/>
        </p:nvSpPr>
        <p:spPr>
          <a:xfrm rot="0">
            <a:off x="152400" y="1371600"/>
            <a:ext cx="7366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244686252" name="Text">
    </p:cNvPr>
          <p:cNvSpPr>
            <a:spLocks noGrp="1"/>
          </p:cNvSpPr>
          <p:nvPr/>
        </p:nvSpPr>
        <p:spPr>
          <a:xfrm rot="0">
            <a:off x="939800" y="1422400"/>
            <a:ext cx="4610100" cy="927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거래유형 관리 프로그램에서 거래유형 결재선 데이터 수정되지 않도록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(ZEAM1100)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하도급법 적용대상 구매건에 대한 점검 기능 강화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CP Vendor Print 등록 요청서 적용부서 확장 요청 (Corrosion Control 팀) *특정부서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에 대해서는 PR의 '기술검토 필요품목'을 체크해서 Vendor Print 등록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EDI MIG 변경 반영 (SAP 신용장 통지)</a:t>
            </a:r>
          </a:p>
        </p:txBody>
      </p:sp>
      <p:sp>
        <p:nvSpPr>
          <p:cNvPr id="1794300392" name="Text">
    </p:cNvPr>
          <p:cNvSpPr>
            <a:spLocks noGrp="1"/>
          </p:cNvSpPr>
          <p:nvPr/>
        </p:nvSpPr>
        <p:spPr>
          <a:xfrm rot="0">
            <a:off x="7226300" y="1447800"/>
            <a:ext cx="25527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219545908" name="Text">
    </p:cNvPr>
          <p:cNvSpPr>
            <a:spLocks noGrp="1"/>
          </p:cNvSpPr>
          <p:nvPr/>
        </p:nvSpPr>
        <p:spPr>
          <a:xfrm rot="0">
            <a:off x="6108700" y="1371600"/>
            <a:ext cx="7620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539594221" name="Text">
    </p:cNvPr>
          <p:cNvSpPr>
            <a:spLocks noGrp="1"/>
          </p:cNvSpPr>
          <p:nvPr/>
        </p:nvSpPr>
        <p:spPr>
          <a:xfrm rot="0">
            <a:off x="5537200" y="1447800"/>
            <a:ext cx="5715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</a:p>
        </p:txBody>
      </p:sp>
      <p:sp>
        <p:nvSpPr>
          <p:cNvPr id="41098425" name="Text">
    </p:cNvPr>
          <p:cNvSpPr>
            <a:spLocks noGrp="1"/>
          </p:cNvSpPr>
          <p:nvPr/>
        </p:nvSpPr>
        <p:spPr>
          <a:xfrm rot="0">
            <a:off x="889000" y="1371600"/>
            <a:ext cx="46482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25637766" name="Text">
    </p:cNvPr>
          <p:cNvSpPr>
            <a:spLocks noGrp="1"/>
          </p:cNvSpPr>
          <p:nvPr/>
        </p:nvSpPr>
        <p:spPr>
          <a:xfrm rot="0">
            <a:off x="7124700" y="1371600"/>
            <a:ext cx="26543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06692111" name="Text">
    </p:cNvPr>
          <p:cNvSpPr>
            <a:spLocks noGrp="1"/>
          </p:cNvSpPr>
          <p:nvPr/>
        </p:nvSpPr>
        <p:spPr>
          <a:xfrm rot="0">
            <a:off x="5537200" y="1371600"/>
            <a:ext cx="5715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6054021" name="Rectangle"/>
          <p:cNvSpPr>
            <a:spLocks noGrp="1"/>
          </p:cNvSpPr>
          <p:nvPr/>
        </p:nvSpPr>
        <p:spPr>
          <a:xfrm>
            <a:off x="6870700" y="1371600"/>
            <a:ext cx="254000" cy="9779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803263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758034215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881511120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336972780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286669488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69845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701996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3565698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9428051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0926332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34717812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0489264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1629649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9125008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0128763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6695436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8907377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1759391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2915876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1900111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89122448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10/26</a:t>
            </a:r>
            <a:br/>
          </a:p>
        </p:txBody>
      </p:sp>
      <p:sp>
        <p:nvSpPr>
          <p:cNvPr id="135291739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대주주 감사자료 생성-MRO 자재계정의 상대계정 리스트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이블 저장 (ZFIR7035, 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화공약품계정 파일생성 로직추가 (ZCOR1182)</a:t>
            </a:r>
          </a:p>
        </p:txBody>
      </p:sp>
      <p:sp>
        <p:nvSpPr>
          <p:cNvPr id="119611311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24229751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2301065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거래유형 관리 프로세스 분석(ZEAM1100, ZEAM1110, 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EAM1120)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거래유형 관리 프로그램에서 거래유형 결재선 데이터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되지 않도록 수정(ZEAM1100)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거래유형별 결재선 지정 승인 요청 프로그램 생성(ZEAM11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11)</a:t>
            </a:r>
          </a:p>
        </p:txBody>
      </p:sp>
      <p:sp>
        <p:nvSpPr>
          <p:cNvPr id="121975820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br/>
          </a:p>
        </p:txBody>
      </p:sp>
      <p:sp>
        <p:nvSpPr>
          <p:cNvPr id="144331580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</a:p>
        </p:txBody>
      </p:sp>
      <p:sp>
        <p:nvSpPr>
          <p:cNvPr id="113641690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br/>
          </a:p>
        </p:txBody>
      </p:sp>
      <p:sp>
        <p:nvSpPr>
          <p:cNvPr id="167318745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541490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145329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117578433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193141069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근로시간단축 변경/취소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다면평가 협력 피평가자 선정 및 대상자 선정에 반영처리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휴가사용조회(HCM)의 종류별 휴가 표기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CP 사원검색 상태란 외근현황 표기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인사정보 요청서 개발 요청: 추가 요청사항 반영 - 90%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퇴직연금 운용방식 변경 신청서 개발 - 80%</a:t>
            </a:r>
          </a:p>
        </p:txBody>
      </p:sp>
      <p:sp>
        <p:nvSpPr>
          <p:cNvPr id="145575681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김도신</a:t>
            </a:r>
          </a:p>
        </p:txBody>
      </p:sp>
      <p:sp>
        <p:nvSpPr>
          <p:cNvPr id="138741761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김도신</a:t>
            </a:r>
          </a:p>
        </p:txBody>
      </p:sp>
      <p:sp>
        <p:nvSpPr>
          <p:cNvPr id="101643270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(S-imoms 프로젝트)DSV -&gt; SAP 사회봉사활동 내역 조회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근로시간단축 변경/취소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ZHRR2371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제증명-경력:국가기술자격 서식 업로드 팝업 화면 관리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예외근무 신청서의 "예외적용근무시간" 신규 코드생성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다면평가 협력 피평가자 선정 및 대상자 선정에 반영처리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임원프로파일(영문) 양식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휴가사용조회(HCM)의 종류별 휴가 표기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[HR] CP 사원검색 상태란 외근현황 표기 요청</a:t>
            </a:r>
          </a:p>
        </p:txBody>
      </p:sp>
      <p:sp>
        <p:nvSpPr>
          <p:cNvPr id="94630815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118989635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11104930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</a:p>
        </p:txBody>
      </p:sp>
      <p:sp>
        <p:nvSpPr>
          <p:cNvPr id="37494715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1215150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49112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2290562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9505907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6363476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6572772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86216052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7705084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8856905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5971849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749546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4400810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7347704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9169293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8619989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0837684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209787901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</a:p>
        </p:txBody>
      </p:sp>
      <p:sp>
        <p:nvSpPr>
          <p:cNvPr id="7770141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다면평가 평가관리조회 면담관리 프로세스 개선</a:t>
            </a:r>
          </a:p>
        </p:txBody>
      </p:sp>
      <p:sp>
        <p:nvSpPr>
          <p:cNvPr id="156877862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89887049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26858543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다면평가 피평가자 추출 신규개발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제증명(원천징수영수증) 선택시 연도지정 기본값 반영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제증명(경력증명-국가기술 자격) 안내 팝업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특근 명령,확인서 순수시간 및 특근과다 알림 개선 이관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준비 및 확인</a:t>
            </a:r>
          </a:p>
        </p:txBody>
      </p:sp>
      <p:sp>
        <p:nvSpPr>
          <p:cNvPr id="42175549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br/>
          </a:p>
        </p:txBody>
      </p:sp>
      <p:sp>
        <p:nvSpPr>
          <p:cNvPr id="122880138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1127</a:t>
            </a:r>
            <a:br/>
            <a:br/>
          </a:p>
        </p:txBody>
      </p:sp>
      <p:sp>
        <p:nvSpPr>
          <p:cNvPr id="163391230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br/>
          </a:p>
        </p:txBody>
      </p:sp>
      <p:sp>
        <p:nvSpPr>
          <p:cNvPr id="166390295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3368008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9235685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62509795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</a:p>
        </p:txBody>
      </p:sp>
      <p:sp>
        <p:nvSpPr>
          <p:cNvPr id="80125305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SABIC 시스템 연동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ZIMHCD 티코드에 전표기준 AP반제 기능추가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내자 구입명세서(ZMMR4440)에 대변메모 차감 로직 추가</a:t>
            </a:r>
          </a:p>
        </p:txBody>
      </p:sp>
      <p:sp>
        <p:nvSpPr>
          <p:cNvPr id="83607568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96431577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09921155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SABIC 시스템 연동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ZIMHCD 티코드에 전표기준 AP반제 기능추가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내자 구입명세서(ZMMR4440)에 대변메모 차감 로직 추가</a:t>
            </a:r>
          </a:p>
        </p:txBody>
      </p:sp>
      <p:sp>
        <p:nvSpPr>
          <p:cNvPr id="214417676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165261453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107240329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</a:p>
        </p:txBody>
      </p:sp>
      <p:sp>
        <p:nvSpPr>
          <p:cNvPr id="152795189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1002119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366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6506568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7888300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3501909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999712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23841223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45918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8396897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3534565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9879627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4413990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9222176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7114919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9303807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1028674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</a:p>
        </p:txBody>
      </p:sp>
      <p:sp>
        <p:nvSpPr>
          <p:cNvPr id="201238125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</a:p>
        </p:txBody>
      </p:sp>
      <p:sp>
        <p:nvSpPr>
          <p:cNvPr id="6764610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</a:p>
        </p:txBody>
      </p:sp>
      <p:sp>
        <p:nvSpPr>
          <p:cNvPr id="190342685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50561096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210869697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'23년 11월 SAP시스템 인프라 취약점 조치 작업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Smart-ERP운영 F/S Full로 로그파일 삭제작업 업무지원(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erpceap1)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‘23년 하반기 DR 재해복구 모의훈련 (연기)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HCM개발 Remote Client Copy 문제 건으로 BSG 방문점검</a:t>
            </a:r>
          </a:p>
        </p:txBody>
      </p:sp>
      <p:sp>
        <p:nvSpPr>
          <p:cNvPr id="94643620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</a:p>
        </p:txBody>
      </p:sp>
      <p:sp>
        <p:nvSpPr>
          <p:cNvPr id="144474537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</a:p>
        </p:txBody>
      </p:sp>
      <p:sp>
        <p:nvSpPr>
          <p:cNvPr id="135361462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</a:p>
        </p:txBody>
      </p:sp>
      <p:sp>
        <p:nvSpPr>
          <p:cNvPr id="74126392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0165424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3275331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</a:p>
        </p:txBody>
      </p:sp>
      <p:sp>
        <p:nvSpPr>
          <p:cNvPr id="116517732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</a:p>
        </p:txBody>
      </p:sp>
      <p:sp>
        <p:nvSpPr>
          <p:cNvPr id="53412355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AS/400 화면 SAP 이관* 주요 자재/구매 화면 13개 SAP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이관</a:t>
            </a:r>
          </a:p>
        </p:txBody>
      </p:sp>
      <p:sp>
        <p:nvSpPr>
          <p:cNvPr id="204966355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36282558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23317871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하도급법 적용대상 구매건에 대한 점검 기능 강화* PR Us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er-Exit 추가, 구매요구서 전송/수신 관련 프로그램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AS/400 화면 SAP 이관* 주요 자재/구매 화면 13개 SAP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CP Vendor Print 등록 요청서 적용부서 확장 요청 (Corro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sion Control 팀)* 특정부서에 대해서는 PR의 '기술검토 필요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품목'을 체크해서 Vendor Print 등록</a:t>
            </a:r>
          </a:p>
        </p:txBody>
      </p:sp>
      <p:sp>
        <p:nvSpPr>
          <p:cNvPr id="172546725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br/>
          </a:p>
        </p:txBody>
      </p:sp>
      <p:sp>
        <p:nvSpPr>
          <p:cNvPr id="120382404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br/>
          </a:p>
        </p:txBody>
      </p:sp>
      <p:sp>
        <p:nvSpPr>
          <p:cNvPr id="134717672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br/>
          </a:p>
        </p:txBody>
      </p:sp>
      <p:sp>
        <p:nvSpPr>
          <p:cNvPr id="52857070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2606530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54214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3713467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2550958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9771320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0993119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65020043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9346365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3917323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3911498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9711424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1885629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5133679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6017425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0699386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9135611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149077512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</a:p>
        </p:txBody>
      </p:sp>
      <p:sp>
        <p:nvSpPr>
          <p:cNvPr id="72738979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결재요청시 결재선 심사부서 임직원 부서 및 재/퇴직 유무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체크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서블릿 HANG 현상 원인 파악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모의해킹 세팅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결재 기각 시 처리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CI 시설물 검수 요청 시 오류 수정</a:t>
            </a:r>
          </a:p>
        </p:txBody>
      </p:sp>
      <p:sp>
        <p:nvSpPr>
          <p:cNvPr id="162447294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119683451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114795609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결재요청시 결재선 심사부서 임직원 부서 및 재/퇴직 유무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체크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서블릿 HANG 현상 원인 파악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모의해킹 세팅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결재 기각 시 처리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CI 시설물 검수 요청 시 오류 수정</a:t>
            </a:r>
          </a:p>
        </p:txBody>
      </p:sp>
      <p:sp>
        <p:nvSpPr>
          <p:cNvPr id="93058392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128690967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</a:p>
        </p:txBody>
      </p:sp>
      <p:sp>
        <p:nvSpPr>
          <p:cNvPr id="97951794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</a:p>
        </p:txBody>
      </p:sp>
      <p:sp>
        <p:nvSpPr>
          <p:cNvPr id="49421038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7976666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39658283" name="Text">
    </p:cNvPr>
          <p:cNvSpPr>
            <a:spLocks noGrp="1"/>
          </p:cNvSpPr>
          <p:nvPr/>
        </p:nvSpPr>
        <p:spPr>
          <a:xfrm rot="0">
            <a:off x="9702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br/>
            <a:br/>
          </a:p>
        </p:txBody>
      </p:sp>
      <p:sp>
        <p:nvSpPr>
          <p:cNvPr id="1473078186" name="Text">
    </p:cNvPr>
          <p:cNvSpPr>
            <a:spLocks noGrp="1"/>
          </p:cNvSpPr>
          <p:nvPr/>
        </p:nvSpPr>
        <p:spPr>
          <a:xfrm rot="0">
            <a:off x="93345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  <a:br/>
          </a:p>
        </p:txBody>
      </p:sp>
      <p:sp>
        <p:nvSpPr>
          <p:cNvPr id="1650920306" name="Text">
    </p:cNvPr>
          <p:cNvSpPr>
            <a:spLocks noGrp="1"/>
          </p:cNvSpPr>
          <p:nvPr/>
        </p:nvSpPr>
        <p:spPr>
          <a:xfrm rot="0">
            <a:off x="5930900" y="37719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ITSM-91037 실수송 거리 측정데이타 erp 연동요청-5/4~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프로그램 및 RFC 생성- 8/22 I/F 정의서 변경으로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ITSM-93611 ZSDR7090 - 담보관리:채권대비 담보확보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액” 개선요청-6/2~ 변경 요청사항 반영- 8/29~8/30 요구사항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변경으로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ITSM-89436SABIC 시스템 연동 구축-7/13 ~ 7/24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프로그램 개발-7/27 ~ 8/7    오픈데이터 업로드 및 운영반영-8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/8   ~ 운영 반영 후 마이그레이션 데이터로             인한 버그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</a:t>
            </a:r>
          </a:p>
        </p:txBody>
      </p:sp>
      <p:sp>
        <p:nvSpPr>
          <p:cNvPr id="1660511814" name="Text">
    </p:cNvPr>
          <p:cNvSpPr>
            <a:spLocks noGrp="1"/>
          </p:cNvSpPr>
          <p:nvPr/>
        </p:nvSpPr>
        <p:spPr>
          <a:xfrm rot="0">
            <a:off x="53086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493951474" name="Text">
    </p:cNvPr>
          <p:cNvSpPr>
            <a:spLocks noGrp="1"/>
          </p:cNvSpPr>
          <p:nvPr/>
        </p:nvSpPr>
        <p:spPr>
          <a:xfrm rot="0">
            <a:off x="889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701256010" name="Text">
    </p:cNvPr>
          <p:cNvSpPr>
            <a:spLocks noGrp="1"/>
          </p:cNvSpPr>
          <p:nvPr/>
        </p:nvSpPr>
        <p:spPr>
          <a:xfrm rot="0">
            <a:off x="711200" y="37719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ITSM-91037 실수송 거리 측정데이타 erp 연동요청-5/4~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프로그램 및 RFC 생성- 8/22 I/F 정의서 변경으로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ITSM-93611 ZSDR7090 - 담보관리:채권대비 담보확보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액” 개선요청-6/2~ 변경 요청사항 반영- 8/29~8/30 요구사항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변경으로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ITSM-96689PRM 거래처 마스터 항목별 관리를 위한 ERP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마스터 분개처리 구조 보완 요청-7/3 RFC 구조 생성-7/4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별 T코드 및 프로그램 코딩-7/5 처리결과 리턴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ITSM-102098EDI MIG 변경 반영 (SAP 신용장 통지)-10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/31 스마트폼,테이블,인터페이스 정의서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ITSM-89436SABIC 시스템 연동 구축-7/13 ~ 7/24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프로그램 개발-7/27 ~ 8/7    오픈데이터 업로드 및 운영반영-8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/8   ~ 운영 반영 후 마이그레이션 데이터로             인한 버그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ITSM-102063S-OIL &amp; SABIC Integration을 통한 ERP 내부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시스템 개선 요청-10/30~ 업무자동화 프로세스 적용</a:t>
            </a:r>
          </a:p>
        </p:txBody>
      </p:sp>
      <p:sp>
        <p:nvSpPr>
          <p:cNvPr id="1057075215" name="Text">
    </p:cNvPr>
          <p:cNvSpPr>
            <a:spLocks noGrp="1"/>
          </p:cNvSpPr>
          <p:nvPr/>
        </p:nvSpPr>
        <p:spPr>
          <a:xfrm rot="0">
            <a:off x="44831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375597823" name="Text">
    </p:cNvPr>
          <p:cNvSpPr>
            <a:spLocks noGrp="1"/>
          </p:cNvSpPr>
          <p:nvPr/>
        </p:nvSpPr>
        <p:spPr>
          <a:xfrm rot="0">
            <a:off x="48514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284254130" name="Text">
    </p:cNvPr>
          <p:cNvSpPr>
            <a:spLocks noGrp="1"/>
          </p:cNvSpPr>
          <p:nvPr/>
        </p:nvSpPr>
        <p:spPr>
          <a:xfrm rot="0">
            <a:off x="4114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</a:p>
        </p:txBody>
      </p:sp>
      <p:sp>
        <p:nvSpPr>
          <p:cNvPr id="1293003693" name="Text">
    </p:cNvPr>
          <p:cNvSpPr>
            <a:spLocks noGrp="1"/>
          </p:cNvSpPr>
          <p:nvPr/>
        </p:nvSpPr>
        <p:spPr>
          <a:xfrm rot="0">
            <a:off x="6604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41383624" name="Text">
    </p:cNvPr>
          <p:cNvSpPr>
            <a:spLocks noGrp="1"/>
          </p:cNvSpPr>
          <p:nvPr/>
        </p:nvSpPr>
        <p:spPr>
          <a:xfrm rot="0">
            <a:off x="58801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69356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3253480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8234842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3871180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2202045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94650431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6388476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0109154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3147080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1650779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0514159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7633977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3190408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9706219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23391766" name="Text">
    </p:cNvPr>
          <p:cNvSpPr>
            <a:spLocks noGrp="1"/>
          </p:cNvSpPr>
          <p:nvPr/>
        </p:nvSpPr>
        <p:spPr>
          <a:xfrm rot="0">
            <a:off x="97028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1712311984" name="Text">
    </p:cNvPr>
          <p:cNvSpPr>
            <a:spLocks noGrp="1"/>
          </p:cNvSpPr>
          <p:nvPr/>
        </p:nvSpPr>
        <p:spPr>
          <a:xfrm rot="0">
            <a:off x="93345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10/19</a:t>
            </a:r>
            <a:br/>
            <a:br/>
          </a:p>
        </p:txBody>
      </p:sp>
      <p:sp>
        <p:nvSpPr>
          <p:cNvPr id="188878026" name="Text">
    </p:cNvPr>
          <p:cNvSpPr>
            <a:spLocks noGrp="1"/>
          </p:cNvSpPr>
          <p:nvPr/>
        </p:nvSpPr>
        <p:spPr>
          <a:xfrm rot="0">
            <a:off x="5930900" y="1511300"/>
            <a:ext cx="3403600" cy="3492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ITSM-99071 CP 내의 문자발송 기능 수정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</a:p>
        </p:txBody>
      </p:sp>
      <p:sp>
        <p:nvSpPr>
          <p:cNvPr id="45886301" name="Text">
    </p:cNvPr>
          <p:cNvSpPr>
            <a:spLocks noGrp="1"/>
          </p:cNvSpPr>
          <p:nvPr/>
        </p:nvSpPr>
        <p:spPr>
          <a:xfrm rot="0">
            <a:off x="5308600" y="1511300"/>
            <a:ext cx="5715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634766397" name="Text">
    </p:cNvPr>
          <p:cNvSpPr>
            <a:spLocks noGrp="1"/>
          </p:cNvSpPr>
          <p:nvPr/>
        </p:nvSpPr>
        <p:spPr>
          <a:xfrm rot="0">
            <a:off x="88900" y="1511300"/>
            <a:ext cx="5715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1035461753" name="Text">
    </p:cNvPr>
          <p:cNvSpPr>
            <a:spLocks noGrp="1"/>
          </p:cNvSpPr>
          <p:nvPr/>
        </p:nvSpPr>
        <p:spPr>
          <a:xfrm rot="0">
            <a:off x="711200" y="1511300"/>
            <a:ext cx="3403600" cy="3492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ITSM-99071 CP 내의 문자발송 기능 수정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ITSM-102915 기안지 내용수정 및 첨부파일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ITSM-102879 시설물 대여 계약서 첨부파일 교체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 - 대덕주유소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ITSM-102974 기안지 내용 일부수정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ITSM-102917 기성보고서 최종 검수일 및 결재일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ITSM-102939 범용양식 - PAAF for Babu, Sure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sh (Piping &amp; Layout (PKG #2))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ITSM-102965 旣 품의 내용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ITSM-103043 기안지 설명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ITSM-102981 2023년 10월 아로마틱공장 운영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실적보고서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ITSM-103080 기안지 '승인사항요약'란의 5.참고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사항에 내용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ITSM-103098 교육출장비신청서 문서취소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ITSM-103202 협조문 내 표 수정</a:t>
            </a:r>
          </a:p>
        </p:txBody>
      </p:sp>
      <p:sp>
        <p:nvSpPr>
          <p:cNvPr id="646482777" name="Text">
    </p:cNvPr>
          <p:cNvSpPr>
            <a:spLocks noGrp="1"/>
          </p:cNvSpPr>
          <p:nvPr/>
        </p:nvSpPr>
        <p:spPr>
          <a:xfrm rot="0">
            <a:off x="44831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</a:p>
        </p:txBody>
      </p:sp>
      <p:sp>
        <p:nvSpPr>
          <p:cNvPr id="1166916118" name="Text">
    </p:cNvPr>
          <p:cNvSpPr>
            <a:spLocks noGrp="1"/>
          </p:cNvSpPr>
          <p:nvPr/>
        </p:nvSpPr>
        <p:spPr>
          <a:xfrm rot="0">
            <a:off x="48514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</a:p>
        </p:txBody>
      </p:sp>
      <p:sp>
        <p:nvSpPr>
          <p:cNvPr id="1316121270" name="Text">
    </p:cNvPr>
          <p:cNvSpPr>
            <a:spLocks noGrp="1"/>
          </p:cNvSpPr>
          <p:nvPr/>
        </p:nvSpPr>
        <p:spPr>
          <a:xfrm rot="0">
            <a:off x="41148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</a:p>
        </p:txBody>
      </p:sp>
      <p:sp>
        <p:nvSpPr>
          <p:cNvPr id="1290066733" name="Text">
    </p:cNvPr>
          <p:cNvSpPr>
            <a:spLocks noGrp="1"/>
          </p:cNvSpPr>
          <p:nvPr/>
        </p:nvSpPr>
        <p:spPr>
          <a:xfrm rot="0">
            <a:off x="660400" y="1511300"/>
            <a:ext cx="34544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85662891" name="Text">
    </p:cNvPr>
          <p:cNvSpPr>
            <a:spLocks noGrp="1"/>
          </p:cNvSpPr>
          <p:nvPr/>
        </p:nvSpPr>
        <p:spPr>
          <a:xfrm rot="0">
            <a:off x="5880100" y="1511300"/>
            <a:ext cx="34544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1495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3275106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2289692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3663147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7120103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92825776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9890515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5383742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0718920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2036648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4195728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371285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9393024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8707381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205713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34003479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</a:p>
        </p:txBody>
      </p:sp>
      <p:sp>
        <p:nvSpPr>
          <p:cNvPr id="142280154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개발 지원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Simoms 연동을 위한 ePSMS, OAS Web API 개발</a:t>
            </a:r>
          </a:p>
        </p:txBody>
      </p:sp>
      <p:sp>
        <p:nvSpPr>
          <p:cNvPr id="111396255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98144482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18763396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개발 지원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[ITSM-102510]RTS Dashboard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[ITSM-102795]e-PSMS 내 권한 관리 현황 공유 요청</a:t>
            </a:r>
          </a:p>
        </p:txBody>
      </p:sp>
      <p:sp>
        <p:nvSpPr>
          <p:cNvPr id="167712036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</a:p>
        </p:txBody>
      </p:sp>
      <p:sp>
        <p:nvSpPr>
          <p:cNvPr id="20533950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</a:p>
        </p:txBody>
      </p:sp>
      <p:sp>
        <p:nvSpPr>
          <p:cNvPr id="69759306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</a:p>
        </p:txBody>
      </p:sp>
      <p:sp>
        <p:nvSpPr>
          <p:cNvPr id="56288112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4957326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8885483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45811268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</a:p>
        </p:txBody>
      </p:sp>
      <p:sp>
        <p:nvSpPr>
          <p:cNvPr id="157020376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e-biz홍보물 대금지급을 위한 최종 상태 코드 생성 요청</a:t>
            </a:r>
          </a:p>
        </p:txBody>
      </p:sp>
      <p:sp>
        <p:nvSpPr>
          <p:cNvPr id="15013988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63657366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33593461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e-biz홍보물 대금지급을 위한 최종 상태 코드 생성 요청</a:t>
            </a:r>
          </a:p>
        </p:txBody>
      </p:sp>
      <p:sp>
        <p:nvSpPr>
          <p:cNvPr id="68909970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91226541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42788209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</a:p>
        </p:txBody>
      </p:sp>
      <p:sp>
        <p:nvSpPr>
          <p:cNvPr id="139453228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2335515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65765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5470461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2881355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9178712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6618897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3946267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1326055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3189339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3202144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8543851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4803548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301884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3891196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1986703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5337440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</a:p>
        </p:txBody>
      </p:sp>
      <p:sp>
        <p:nvSpPr>
          <p:cNvPr id="37255458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</a:p>
        </p:txBody>
      </p:sp>
      <p:sp>
        <p:nvSpPr>
          <p:cNvPr id="796639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신규 계정 권한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Simoms 프로젝트 PSORMS(전자작업허가) 솔루션 모바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일 인증서 지원</a:t>
            </a:r>
          </a:p>
        </p:txBody>
      </p:sp>
      <p:sp>
        <p:nvSpPr>
          <p:cNvPr id="101494714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32449204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54596099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ITSM-102086 배포상태 변경ITSM-102176 변경결과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작성ITSM-102726 변경결과 작성ITSM-100133 변경결과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- 11월 인프라 취약점 점검 조치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ITSM-103028 변경수행자 변경ITSM-102929 서비스요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ITSM-102431 변경결과 작성ITSM-102706 변경결과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작성ITSM-103099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수기입금표 병합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소스 내 naver 지도 api 소스 수정을 위한 지원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신규 계정 권한 추가</a:t>
            </a:r>
          </a:p>
        </p:txBody>
      </p:sp>
      <p:sp>
        <p:nvSpPr>
          <p:cNvPr id="181682655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</a:p>
        </p:txBody>
      </p:sp>
      <p:sp>
        <p:nvSpPr>
          <p:cNvPr id="63890396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</a:p>
        </p:txBody>
      </p:sp>
      <p:sp>
        <p:nvSpPr>
          <p:cNvPr id="26335187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</a:p>
        </p:txBody>
      </p:sp>
      <p:sp>
        <p:nvSpPr>
          <p:cNvPr id="205394944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1643303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35236179" name="Text">
    </p:cNvPr>
          <p:cNvSpPr>
            <a:spLocks noGrp="1"/>
          </p:cNvSpPr>
          <p:nvPr/>
        </p:nvSpPr>
        <p:spPr>
          <a:xfrm rot="0">
            <a:off x="9702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</a:p>
        </p:txBody>
      </p:sp>
      <p:sp>
        <p:nvSpPr>
          <p:cNvPr id="1601618494" name="Text">
    </p:cNvPr>
          <p:cNvSpPr>
            <a:spLocks noGrp="1"/>
          </p:cNvSpPr>
          <p:nvPr/>
        </p:nvSpPr>
        <p:spPr>
          <a:xfrm rot="0">
            <a:off x="93345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</a:p>
        </p:txBody>
      </p:sp>
      <p:sp>
        <p:nvSpPr>
          <p:cNvPr id="1128686937" name="Text">
    </p:cNvPr>
          <p:cNvSpPr>
            <a:spLocks noGrp="1"/>
          </p:cNvSpPr>
          <p:nvPr/>
        </p:nvSpPr>
        <p:spPr>
          <a:xfrm rot="0">
            <a:off x="5930900" y="37719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</a:p>
        </p:txBody>
      </p:sp>
      <p:sp>
        <p:nvSpPr>
          <p:cNvPr id="1518372993" name="Text">
    </p:cNvPr>
          <p:cNvSpPr>
            <a:spLocks noGrp="1"/>
          </p:cNvSpPr>
          <p:nvPr/>
        </p:nvSpPr>
        <p:spPr>
          <a:xfrm rot="0">
            <a:off x="53086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268336462" name="Text">
    </p:cNvPr>
          <p:cNvSpPr>
            <a:spLocks noGrp="1"/>
          </p:cNvSpPr>
          <p:nvPr/>
        </p:nvSpPr>
        <p:spPr>
          <a:xfrm rot="0">
            <a:off x="889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571939633" name="Text">
    </p:cNvPr>
          <p:cNvSpPr>
            <a:spLocks noGrp="1"/>
          </p:cNvSpPr>
          <p:nvPr/>
        </p:nvSpPr>
        <p:spPr>
          <a:xfrm rot="0">
            <a:off x="711200" y="37719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117, 209 pc 및 필요 시스템 재기동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'#1 회계 지급 전표 증빙 대사' 15,16,17일자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'Daily Report' 작업 데이터 정리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'CCS 사전 점검' 작업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변환 PC분배 논의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A11 '#1 회계 지급 전표 증빙 대사' 전일 21시 작업 메일 미수신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작업 완료 내역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'#4 외화 송금' 작업 중단 사유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'Daily Report' 작업 루프 간소화 및 작업 불가 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황 처리 작업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'주요 자재 번호 및 단가 정리' 작업 추가 요청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테스트, 운영 전환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'CCS 사전 점검' 변환 작업 완료 및 테스트</a:t>
            </a:r>
          </a:p>
        </p:txBody>
      </p:sp>
      <p:sp>
        <p:nvSpPr>
          <p:cNvPr id="1376505479" name="Text">
    </p:cNvPr>
          <p:cNvSpPr>
            <a:spLocks noGrp="1"/>
          </p:cNvSpPr>
          <p:nvPr/>
        </p:nvSpPr>
        <p:spPr>
          <a:xfrm rot="0">
            <a:off x="44831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</a:p>
        </p:txBody>
      </p:sp>
      <p:sp>
        <p:nvSpPr>
          <p:cNvPr id="210866375" name="Text">
    </p:cNvPr>
          <p:cNvSpPr>
            <a:spLocks noGrp="1"/>
          </p:cNvSpPr>
          <p:nvPr/>
        </p:nvSpPr>
        <p:spPr>
          <a:xfrm rot="0">
            <a:off x="48514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</a:p>
        </p:txBody>
      </p:sp>
      <p:sp>
        <p:nvSpPr>
          <p:cNvPr id="229840172" name="Text">
    </p:cNvPr>
          <p:cNvSpPr>
            <a:spLocks noGrp="1"/>
          </p:cNvSpPr>
          <p:nvPr/>
        </p:nvSpPr>
        <p:spPr>
          <a:xfrm rot="0">
            <a:off x="4114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</a:p>
        </p:txBody>
      </p:sp>
      <p:sp>
        <p:nvSpPr>
          <p:cNvPr id="392644920" name="Text">
    </p:cNvPr>
          <p:cNvSpPr>
            <a:spLocks noGrp="1"/>
          </p:cNvSpPr>
          <p:nvPr/>
        </p:nvSpPr>
        <p:spPr>
          <a:xfrm rot="0">
            <a:off x="6604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62733989" name="Text">
    </p:cNvPr>
          <p:cNvSpPr>
            <a:spLocks noGrp="1"/>
          </p:cNvSpPr>
          <p:nvPr/>
        </p:nvSpPr>
        <p:spPr>
          <a:xfrm rot="0">
            <a:off x="58801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59839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3567220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8823190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1510369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1625985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88242786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8470234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7438981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7601868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8839709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1397966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0862405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4105728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9048154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4262723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106333076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10800645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</a:p>
        </p:txBody>
      </p:sp>
      <p:sp>
        <p:nvSpPr>
          <p:cNvPr id="72950711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62383656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44289361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하도급법 적용대상 구매건에 대한 점검 기능 강화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CP Vendor Print 등록 요청서 적용부서 확장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</a:p>
        </p:txBody>
      </p:sp>
      <p:sp>
        <p:nvSpPr>
          <p:cNvPr id="134371340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</a:p>
        </p:txBody>
      </p:sp>
      <p:sp>
        <p:nvSpPr>
          <p:cNvPr id="54034572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25%</a:t>
            </a:r>
            <a:br/>
            <a:br/>
          </a:p>
        </p:txBody>
      </p:sp>
      <p:sp>
        <p:nvSpPr>
          <p:cNvPr id="24212571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158173103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9288600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34854135" name="Text">
    </p:cNvPr>
          <p:cNvSpPr>
            <a:spLocks noGrp="1"/>
          </p:cNvSpPr>
          <p:nvPr/>
        </p:nvSpPr>
        <p:spPr>
          <a:xfrm rot="0">
            <a:off x="9702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</a:p>
        </p:txBody>
      </p:sp>
      <p:sp>
        <p:nvSpPr>
          <p:cNvPr id="1197906164" name="Text">
    </p:cNvPr>
          <p:cNvSpPr>
            <a:spLocks noGrp="1"/>
          </p:cNvSpPr>
          <p:nvPr/>
        </p:nvSpPr>
        <p:spPr>
          <a:xfrm rot="0">
            <a:off x="93345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</a:p>
        </p:txBody>
      </p:sp>
      <p:sp>
        <p:nvSpPr>
          <p:cNvPr id="597894487" name="Text">
    </p:cNvPr>
          <p:cNvSpPr>
            <a:spLocks noGrp="1"/>
          </p:cNvSpPr>
          <p:nvPr/>
        </p:nvSpPr>
        <p:spPr>
          <a:xfrm rot="0">
            <a:off x="5930900" y="37719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크롬 업데이트에 따른 LMS e-Learning 진도관리 기능제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한에 따른 코드 재개발 검토	</a:t>
            </a:r>
          </a:p>
        </p:txBody>
      </p:sp>
      <p:sp>
        <p:nvSpPr>
          <p:cNvPr id="1421032766" name="Text">
    </p:cNvPr>
          <p:cNvSpPr>
            <a:spLocks noGrp="1"/>
          </p:cNvSpPr>
          <p:nvPr/>
        </p:nvSpPr>
        <p:spPr>
          <a:xfrm rot="0">
            <a:off x="53086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488851577" name="Text">
    </p:cNvPr>
          <p:cNvSpPr>
            <a:spLocks noGrp="1"/>
          </p:cNvSpPr>
          <p:nvPr/>
        </p:nvSpPr>
        <p:spPr>
          <a:xfrm rot="0">
            <a:off x="889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861337617" name="Text">
    </p:cNvPr>
          <p:cNvSpPr>
            <a:spLocks noGrp="1"/>
          </p:cNvSpPr>
          <p:nvPr/>
        </p:nvSpPr>
        <p:spPr>
          <a:xfrm rot="0">
            <a:off x="711200" y="37719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건(Soft skill 평가서 전자결재 연계부분 개발 진행중)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크롬 업데이트에 따른 LMS e-Learning 진도관리 기능제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한에 따른 코드 재개발 검토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PO1-C-0005 부서지침서 제정처리시, 첨부서식 연계오류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로 재 제정처리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2023 Soft skill Basic과정_(집합교육) 생성시 SOFT 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KILL 4개인데 3개로 수강자등록된 사람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SMSDS-0016, S-MSDS-3431 등록부서 변경요청(신찬국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계장)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교육출장비신청시 전표생성 연계시 오류 발생 케이스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인. 직책 컬럼 사이즈 제한으로 전송시 직책명 사이즈 제한 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</a:t>
            </a:r>
          </a:p>
        </p:txBody>
      </p:sp>
      <p:sp>
        <p:nvSpPr>
          <p:cNvPr id="1422052101" name="Text">
    </p:cNvPr>
          <p:cNvSpPr>
            <a:spLocks noGrp="1"/>
          </p:cNvSpPr>
          <p:nvPr/>
        </p:nvSpPr>
        <p:spPr>
          <a:xfrm rot="0">
            <a:off x="44831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br/>
            <a:br/>
          </a:p>
        </p:txBody>
      </p:sp>
      <p:sp>
        <p:nvSpPr>
          <p:cNvPr id="425023086" name="Text">
    </p:cNvPr>
          <p:cNvSpPr>
            <a:spLocks noGrp="1"/>
          </p:cNvSpPr>
          <p:nvPr/>
        </p:nvSpPr>
        <p:spPr>
          <a:xfrm rot="0">
            <a:off x="48514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br/>
            <a:br/>
          </a:p>
        </p:txBody>
      </p:sp>
      <p:sp>
        <p:nvSpPr>
          <p:cNvPr id="515024317" name="Text">
    </p:cNvPr>
          <p:cNvSpPr>
            <a:spLocks noGrp="1"/>
          </p:cNvSpPr>
          <p:nvPr/>
        </p:nvSpPr>
        <p:spPr>
          <a:xfrm rot="0">
            <a:off x="4114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br/>
            <a:br/>
          </a:p>
        </p:txBody>
      </p:sp>
      <p:sp>
        <p:nvSpPr>
          <p:cNvPr id="2117274928" name="Text">
    </p:cNvPr>
          <p:cNvSpPr>
            <a:spLocks noGrp="1"/>
          </p:cNvSpPr>
          <p:nvPr/>
        </p:nvSpPr>
        <p:spPr>
          <a:xfrm rot="0">
            <a:off x="6604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22065424" name="Text">
    </p:cNvPr>
          <p:cNvSpPr>
            <a:spLocks noGrp="1"/>
          </p:cNvSpPr>
          <p:nvPr/>
        </p:nvSpPr>
        <p:spPr>
          <a:xfrm rot="0">
            <a:off x="58801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76979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989000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5404081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662779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4539487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7761469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3737278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7549804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9904750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9119745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0056219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504679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6319594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2547703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4773530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br/>
          </a:p>
        </p:txBody>
      </p:sp>
      <p:sp>
        <p:nvSpPr>
          <p:cNvPr id="12517560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</a:p>
        </p:txBody>
      </p:sp>
      <p:sp>
        <p:nvSpPr>
          <p:cNvPr id="169306343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조치 권고 사항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조치 권고 사항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사이버 보안 교육 학습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SP062 과도한 상품권 대금 결제 시나리오 로직 분석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</a:p>
        </p:txBody>
      </p:sp>
      <p:sp>
        <p:nvSpPr>
          <p:cNvPr id="115300048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25266285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11097792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사이버 보안 교육 학습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23년 2nd interim 운영평가 증빙자료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개발서버 windows 2012 EOS 에 따른 OS 교체시 applic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ation 호환성 검토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수불현황 ERP와 차액 발생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지류식상품권 회수현황 데이터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충남지사 상품권 PC 카드 단말기 교체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10월 이관 / 입고 내역 판매/인수부서 누락 데이터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</a:p>
        </p:txBody>
      </p:sp>
      <p:sp>
        <p:nvSpPr>
          <p:cNvPr id="122925749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br/>
          </a:p>
        </p:txBody>
      </p:sp>
      <p:sp>
        <p:nvSpPr>
          <p:cNvPr id="118824505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br/>
          </a:p>
        </p:txBody>
      </p:sp>
      <p:sp>
        <p:nvSpPr>
          <p:cNvPr id="155302106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br/>
          </a:p>
        </p:txBody>
      </p:sp>
      <p:sp>
        <p:nvSpPr>
          <p:cNvPr id="90738133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8316048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51251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</a:p>
        </p:txBody>
      </p:sp>
      <p:sp>
        <p:nvSpPr>
          <p:cNvPr id="138582288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09/01</a:t>
            </a:r>
            <a:br/>
            <a:br/>
          </a:p>
        </p:txBody>
      </p:sp>
      <p:sp>
        <p:nvSpPr>
          <p:cNvPr id="121245635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HOME &gt; 이관수송 현황 내 스크롤 시, 팝업창이 뜨지 않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는 현상 확인 및 수정</a:t>
            </a:r>
          </a:p>
        </p:txBody>
      </p:sp>
      <p:sp>
        <p:nvSpPr>
          <p:cNvPr id="68991312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67263240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12887000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시뮬레이션 &gt; 최적 출하처 조회 내 검색 필터 체크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LOPAS SAP 배치 점검 및 확인 (3건)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HOME &gt; 이관수송 현황 내 스크롤 시, 팝업창이 뜨지 않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는 현상 확인 및 수정</a:t>
            </a:r>
          </a:p>
        </p:txBody>
      </p:sp>
      <p:sp>
        <p:nvSpPr>
          <p:cNvPr id="30455407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</a:p>
        </p:txBody>
      </p:sp>
      <p:sp>
        <p:nvSpPr>
          <p:cNvPr id="111581414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</a:p>
        </p:txBody>
      </p:sp>
      <p:sp>
        <p:nvSpPr>
          <p:cNvPr id="86404755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09/01</a:t>
            </a:r>
            <a:br/>
            <a:br/>
          </a:p>
        </p:txBody>
      </p:sp>
      <p:sp>
        <p:nvSpPr>
          <p:cNvPr id="138105588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4472178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40095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883359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8564268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8534918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1545433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2638635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1583563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0409389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5749506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6585595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6261689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4878100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7423967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507572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0709129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</a:p>
        </p:txBody>
      </p:sp>
      <p:sp>
        <p:nvSpPr>
          <p:cNvPr id="111377110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</a:p>
        </p:txBody>
      </p:sp>
      <p:sp>
        <p:nvSpPr>
          <p:cNvPr id="82566565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2023.10월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LOPAS 재고현황 자료 I/F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EAI정기점검 ( dagamed que서버작업)</a:t>
            </a:r>
          </a:p>
        </p:txBody>
      </p:sp>
      <p:sp>
        <p:nvSpPr>
          <p:cNvPr id="205034036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50722377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25722456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2023.10월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하도급법 적용대상 구매건에 대한 점검 기능 강화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CP Vendor Print 등록 요청서 적용부서 확장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LOPAS 재고현황 자료 I/F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EAI정기점검</a:t>
            </a:r>
          </a:p>
        </p:txBody>
      </p:sp>
      <p:sp>
        <p:nvSpPr>
          <p:cNvPr id="131063945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</a:p>
        </p:txBody>
      </p:sp>
      <p:sp>
        <p:nvSpPr>
          <p:cNvPr id="42445603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</a:p>
        </p:txBody>
      </p:sp>
      <p:sp>
        <p:nvSpPr>
          <p:cNvPr id="153951027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</a:p>
        </p:txBody>
      </p:sp>
      <p:sp>
        <p:nvSpPr>
          <p:cNvPr id="182557334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371354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638716265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</a:p>
                    <a:p>
                      <a:endParaRPr altLang="ko-KR" dirty="0" lang="en-US" smtClean="0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mtClean="0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</a:t>
                      </a:r>
                      <a:r>
                        <a:rPr altLang="ko-KR" baseline="0" dirty="0" lang="en-US" smtClean="0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Duty 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김예린</a:t>
                      </a:r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◐ 순현국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김도신</a:t>
                      </a:r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고귀한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altLang="en-US" b="1" baseline="0" dirty="0" i="0" kumimoji="1" lang="ko-KR" smtClean="0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2023</a:t>
            </a:r>
            <a:r>
              <a:rPr altLang="en-US" b="1" baseline="0" dirty="0" i="0" kumimoji="1" lang="ko-KR" smtClean="0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dirty="0" kumimoji="1" lang="en-US" smtClean="0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11</a:t>
            </a:r>
            <a:r>
              <a:rPr altLang="en-US" b="1" baseline="0" dirty="0" i="0" kumimoji="1" lang="ko-KR" smtClean="0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</a:t>
            </a:r>
            <a:r>
              <a:rPr altLang="en-US" b="1" baseline="0" dirty="0" err="1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