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1"/>
    <p:sldId id="259" r:id="rId12"/>
    <p:sldId id="260" r:id="rId13"/>
    <p:sldId id="261" r:id="rId15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30"/>
    <p:sldId id="275" r:id="rId32"/>
    <p:sldId id="276" r:id="rId33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notesSlides/notesSlide2.xml" Type="http://schemas.openxmlformats.org/officeDocument/2006/relationships/notesSlide"/><Relationship Id="rId15" Target="slides/slide6.xml" Type="http://schemas.openxmlformats.org/officeDocument/2006/relationships/slide"/><Relationship Id="rId16" Target="notesSlides/notesSlide3.xml" Type="http://schemas.openxmlformats.org/officeDocument/2006/relationships/notesSlide"/><Relationship Id="rId17" Target="slides/slide7.xml" Type="http://schemas.openxmlformats.org/officeDocument/2006/relationships/slide"/><Relationship Id="rId18" Target="slides/slide8.xml" Type="http://schemas.openxmlformats.org/officeDocument/2006/relationships/slide"/><Relationship Id="rId19" Target="slides/slide9.xml" Type="http://schemas.openxmlformats.org/officeDocument/2006/relationships/slide"/><Relationship Id="rId2" Target="presProps.xml" Type="http://schemas.openxmlformats.org/officeDocument/2006/relationships/presProps"/><Relationship Id="rId20" Target="slides/slide10.xml" Type="http://schemas.openxmlformats.org/officeDocument/2006/relationships/slide"/><Relationship Id="rId21" Target="slides/slide11.xml" Type="http://schemas.openxmlformats.org/officeDocument/2006/relationships/slide"/><Relationship Id="rId22" Target="slides/slide12.xml" Type="http://schemas.openxmlformats.org/officeDocument/2006/relationships/slide"/><Relationship Id="rId23" Target="slides/slide13.xml" Type="http://schemas.openxmlformats.org/officeDocument/2006/relationships/slide"/><Relationship Id="rId24" Target="slides/slide14.xml" Type="http://schemas.openxmlformats.org/officeDocument/2006/relationships/slide"/><Relationship Id="rId25" Target="slides/slide15.xml" Type="http://schemas.openxmlformats.org/officeDocument/2006/relationships/slide"/><Relationship Id="rId26" Target="slides/slide16.xml" Type="http://schemas.openxmlformats.org/officeDocument/2006/relationships/slide"/><Relationship Id="rId27" Target="slides/slide17.xml" Type="http://schemas.openxmlformats.org/officeDocument/2006/relationships/slide"/><Relationship Id="rId28" Target="slides/slide18.xml" Type="http://schemas.openxmlformats.org/officeDocument/2006/relationships/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[2023.11.14 ~ 2023.11.20]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63871626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mtClean="0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ko-KR" baseline="0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2023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</a:t>
            </a:r>
            <a:r>
              <a:rPr altLang="en-US" b="1" baseline="0" dirty="0" err="1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38352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410698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3084580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9290732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6724794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4202026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996839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7263207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852011151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25737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76759515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95487137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56602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7675109" name="Frame"/>
          <p:cNvSpPr>
            <a:spLocks noGrp="1"/>
          </p:cNvSpPr>
          <p:nvPr/>
        </p:nvSpPr>
        <p:spPr>
          <a:xfrm>
            <a:off x="25400" y="5372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44972023" name="Text">
    </p:cNvPr>
          <p:cNvSpPr>
            <a:spLocks noGrp="1"/>
          </p:cNvSpPr>
          <p:nvPr/>
        </p:nvSpPr>
        <p:spPr>
          <a:xfrm rot="0">
            <a:off x="152400" y="5397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999754719" name="Text">
    </p:cNvPr>
          <p:cNvSpPr>
            <a:spLocks noGrp="1"/>
          </p:cNvSpPr>
          <p:nvPr/>
        </p:nvSpPr>
        <p:spPr>
          <a:xfrm rot="0">
            <a:off x="6451600" y="5930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81723" name="Text">
    </p:cNvPr>
          <p:cNvSpPr>
            <a:spLocks noGrp="1"/>
          </p:cNvSpPr>
          <p:nvPr/>
        </p:nvSpPr>
        <p:spPr>
          <a:xfrm rot="0">
            <a:off x="2057400" y="5930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2259121" name="Text">
    </p:cNvPr>
          <p:cNvSpPr>
            <a:spLocks noGrp="1"/>
          </p:cNvSpPr>
          <p:nvPr/>
        </p:nvSpPr>
        <p:spPr>
          <a:xfrm rot="0">
            <a:off x="101600" y="5930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681941" name="Text">
    </p:cNvPr>
          <p:cNvSpPr>
            <a:spLocks noGrp="1"/>
          </p:cNvSpPr>
          <p:nvPr/>
        </p:nvSpPr>
        <p:spPr>
          <a:xfrm rot="0">
            <a:off x="101600" y="5689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91929933" name="Text">
    </p:cNvPr>
          <p:cNvSpPr>
            <a:spLocks noGrp="1"/>
          </p:cNvSpPr>
          <p:nvPr/>
        </p:nvSpPr>
        <p:spPr>
          <a:xfrm rot="0">
            <a:off x="2057400" y="5689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0433072" name="Text">
    </p:cNvPr>
          <p:cNvSpPr>
            <a:spLocks noGrp="1"/>
          </p:cNvSpPr>
          <p:nvPr/>
        </p:nvSpPr>
        <p:spPr>
          <a:xfrm rot="0">
            <a:off x="6451600" y="5689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96102984" name="Text">
    </p:cNvPr>
          <p:cNvSpPr>
            <a:spLocks noGrp="1"/>
          </p:cNvSpPr>
          <p:nvPr/>
        </p:nvSpPr>
        <p:spPr>
          <a:xfrm rot="0">
            <a:off x="101600" y="6223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9734338" name="Text">
    </p:cNvPr>
          <p:cNvSpPr>
            <a:spLocks noGrp="1"/>
          </p:cNvSpPr>
          <p:nvPr/>
        </p:nvSpPr>
        <p:spPr>
          <a:xfrm rot="0">
            <a:off x="6451600" y="6223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961267" name="Text">
    </p:cNvPr>
          <p:cNvSpPr>
            <a:spLocks noGrp="1"/>
          </p:cNvSpPr>
          <p:nvPr/>
        </p:nvSpPr>
        <p:spPr>
          <a:xfrm rot="0">
            <a:off x="2057400" y="6223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0717459" name="Text">
    </p:cNvPr>
          <p:cNvSpPr>
            <a:spLocks noGrp="1"/>
          </p:cNvSpPr>
          <p:nvPr/>
        </p:nvSpPr>
        <p:spPr>
          <a:xfrm rot="0">
            <a:off x="1244600" y="6223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6541903" name="Text">
    </p:cNvPr>
          <p:cNvSpPr>
            <a:spLocks noGrp="1"/>
          </p:cNvSpPr>
          <p:nvPr/>
        </p:nvSpPr>
        <p:spPr>
          <a:xfrm rot="0">
            <a:off x="1244600" y="5930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2094416" name="Text">
    </p:cNvPr>
          <p:cNvSpPr>
            <a:spLocks noGrp="1"/>
          </p:cNvSpPr>
          <p:nvPr/>
        </p:nvSpPr>
        <p:spPr>
          <a:xfrm rot="0">
            <a:off x="1244600" y="5689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53642019" name="Text">
    </p:cNvPr>
          <p:cNvSpPr>
            <a:spLocks noGrp="1"/>
          </p:cNvSpPr>
          <p:nvPr/>
        </p:nvSpPr>
        <p:spPr>
          <a:xfrm rot="0">
            <a:off x="8102600" y="6223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7665943" name="Text">
    </p:cNvPr>
          <p:cNvSpPr>
            <a:spLocks noGrp="1"/>
          </p:cNvSpPr>
          <p:nvPr/>
        </p:nvSpPr>
        <p:spPr>
          <a:xfrm rot="0">
            <a:off x="8102600" y="5689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453658145" name="Text">
    </p:cNvPr>
          <p:cNvSpPr>
            <a:spLocks noGrp="1"/>
          </p:cNvSpPr>
          <p:nvPr/>
        </p:nvSpPr>
        <p:spPr>
          <a:xfrm rot="0">
            <a:off x="8102600" y="5930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922602" name="Frame"/>
          <p:cNvSpPr>
            <a:spLocks noGrp="1"/>
          </p:cNvSpPr>
          <p:nvPr/>
        </p:nvSpPr>
        <p:spPr>
          <a:xfrm>
            <a:off x="101600" y="2959100"/>
            <a:ext cx="9779000" cy="224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37374526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0060669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00247093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633669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030054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930987238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28875058" name="Frame"/>
          <p:cNvSpPr>
            <a:spLocks noGrp="1"/>
          </p:cNvSpPr>
          <p:nvPr/>
        </p:nvSpPr>
        <p:spPr>
          <a:xfrm>
            <a:off x="165100" y="42799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87091982" name="Text">
    </p:cNvPr>
          <p:cNvSpPr>
            <a:spLocks noGrp="1"/>
          </p:cNvSpPr>
          <p:nvPr/>
        </p:nvSpPr>
        <p:spPr>
          <a:xfrm rot="0">
            <a:off x="165100" y="42545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39670769" name="Text">
    </p:cNvPr>
          <p:cNvSpPr>
            <a:spLocks noGrp="1"/>
          </p:cNvSpPr>
          <p:nvPr/>
        </p:nvSpPr>
        <p:spPr>
          <a:xfrm rot="0">
            <a:off x="965200" y="43053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ITSM-99071 CP 내의 문자발송 기능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</a:p>
        </p:txBody>
      </p:sp>
      <p:sp>
        <p:nvSpPr>
          <p:cNvPr id="1514123541" name="Text">
    </p:cNvPr>
          <p:cNvSpPr>
            <a:spLocks noGrp="1"/>
          </p:cNvSpPr>
          <p:nvPr/>
        </p:nvSpPr>
        <p:spPr>
          <a:xfrm rot="0">
            <a:off x="7239000" y="43053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07978618" name="Text">
    </p:cNvPr>
          <p:cNvSpPr>
            <a:spLocks noGrp="1"/>
          </p:cNvSpPr>
          <p:nvPr/>
        </p:nvSpPr>
        <p:spPr>
          <a:xfrm rot="0">
            <a:off x="5549900" y="43053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</a:p>
        </p:txBody>
      </p:sp>
      <p:sp>
        <p:nvSpPr>
          <p:cNvPr id="380663623" name="Text">
    </p:cNvPr>
          <p:cNvSpPr>
            <a:spLocks noGrp="1"/>
          </p:cNvSpPr>
          <p:nvPr/>
        </p:nvSpPr>
        <p:spPr>
          <a:xfrm rot="0">
            <a:off x="901700" y="42545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4390733" name="Text">
    </p:cNvPr>
          <p:cNvSpPr>
            <a:spLocks noGrp="1"/>
          </p:cNvSpPr>
          <p:nvPr/>
        </p:nvSpPr>
        <p:spPr>
          <a:xfrm rot="0">
            <a:off x="6121400" y="42545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077004" name="Text">
    </p:cNvPr>
          <p:cNvSpPr>
            <a:spLocks noGrp="1"/>
          </p:cNvSpPr>
          <p:nvPr/>
        </p:nvSpPr>
        <p:spPr>
          <a:xfrm rot="0">
            <a:off x="5549900" y="42545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7759092" name="Frame"/>
          <p:cNvSpPr>
            <a:spLocks noGrp="1"/>
          </p:cNvSpPr>
          <p:nvPr/>
        </p:nvSpPr>
        <p:spPr>
          <a:xfrm>
            <a:off x="165100" y="3581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41666584" name="Text">
    </p:cNvPr>
          <p:cNvSpPr>
            <a:spLocks noGrp="1"/>
          </p:cNvSpPr>
          <p:nvPr/>
        </p:nvSpPr>
        <p:spPr>
          <a:xfrm rot="0">
            <a:off x="165100" y="3581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6742202" name="Text">
    </p:cNvPr>
          <p:cNvSpPr>
            <a:spLocks noGrp="1"/>
          </p:cNvSpPr>
          <p:nvPr/>
        </p:nvSpPr>
        <p:spPr>
          <a:xfrm rot="0">
            <a:off x="965200" y="3657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79660798" name="Text">
    </p:cNvPr>
          <p:cNvSpPr>
            <a:spLocks noGrp="1"/>
          </p:cNvSpPr>
          <p:nvPr/>
        </p:nvSpPr>
        <p:spPr>
          <a:xfrm rot="0">
            <a:off x="7239000" y="3657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2148320" name="Text">
    </p:cNvPr>
          <p:cNvSpPr>
            <a:spLocks noGrp="1"/>
          </p:cNvSpPr>
          <p:nvPr/>
        </p:nvSpPr>
        <p:spPr>
          <a:xfrm rot="0">
            <a:off x="5549900" y="3657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</a:p>
        </p:txBody>
      </p:sp>
      <p:sp>
        <p:nvSpPr>
          <p:cNvPr id="1809065870" name="Text">
    </p:cNvPr>
          <p:cNvSpPr>
            <a:spLocks noGrp="1"/>
          </p:cNvSpPr>
          <p:nvPr/>
        </p:nvSpPr>
        <p:spPr>
          <a:xfrm rot="0">
            <a:off x="901700" y="3581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197446" name="Text">
    </p:cNvPr>
          <p:cNvSpPr>
            <a:spLocks noGrp="1"/>
          </p:cNvSpPr>
          <p:nvPr/>
        </p:nvSpPr>
        <p:spPr>
          <a:xfrm rot="0">
            <a:off x="6121400" y="3581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0925479" name="Text">
    </p:cNvPr>
          <p:cNvSpPr>
            <a:spLocks noGrp="1"/>
          </p:cNvSpPr>
          <p:nvPr/>
        </p:nvSpPr>
        <p:spPr>
          <a:xfrm rot="0">
            <a:off x="5549900" y="3581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422992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33184949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10321645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18248769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ITSM-102613 해외출장비 신청서 삭제 및 CCS내역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'항공급유 매출입력' 입력방식 변경으로 인한 오류. 현업확인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모바일 ERS 도입 후 이용자 수 집계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EDI MIG 변경 반영 (SAP 신용장 통지)</a:t>
            </a:r>
          </a:p>
        </p:txBody>
      </p:sp>
      <p:sp>
        <p:nvSpPr>
          <p:cNvPr id="27347611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6328476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76850505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</a:p>
        </p:txBody>
      </p:sp>
      <p:sp>
        <p:nvSpPr>
          <p:cNvPr id="512456084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9993676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2643683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705006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62870690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80693374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45081202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화공약품계정 파일생성 로직추가 추가수정(ZCOR1182)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구매처 지급 상시 모니터링 추출 배치 프로그램 보완(ZTRB7010 ~ ZTRB7069)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PO가 발행된 해당 PR 마감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ERP ZSDR5220(한라수수료정산) 화면에서 인도처코드 추가 요청-alv 표시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</a:t>
            </a:r>
          </a:p>
        </p:txBody>
      </p:sp>
      <p:sp>
        <p:nvSpPr>
          <p:cNvPr id="1610825983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84450155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32534403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</a:p>
        </p:txBody>
      </p:sp>
      <p:sp>
        <p:nvSpPr>
          <p:cNvPr id="1372868042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621751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116983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333942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51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03395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3822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7160857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40236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668560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67225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456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30534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89135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54216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8763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27710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38752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890969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3932789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65612080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(ZCOR1182)</a:t>
            </a:r>
          </a:p>
        </p:txBody>
      </p:sp>
      <p:sp>
        <p:nvSpPr>
          <p:cNvPr id="19002760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136545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552960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 지급 상시 모니터링 추출 배치 프로그램 보완(ZTR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B7010 ~ ZTRB7069)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장기 미사용계좌 지급보류 프로세스 분석 (ZTRB7010 ~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추가수정(ZFIR7035,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추가수정(ZCOR1182)</a:t>
            </a:r>
          </a:p>
        </p:txBody>
      </p:sp>
      <p:sp>
        <p:nvSpPr>
          <p:cNvPr id="19844194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4131780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1270830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5647652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43315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84244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117851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5770310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(S-imoms 프로젝트)DSV -&gt; SAP 사회봉사활동 내역 조회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ZHRR2371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</a:p>
        </p:txBody>
      </p:sp>
      <p:sp>
        <p:nvSpPr>
          <p:cNvPr id="16830935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9345265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0605924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단기계약직 쿼터 조정 작업지원생산직 경력사원 연차생성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기준일 업데이트 작업지원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</a:p>
        </p:txBody>
      </p:sp>
      <p:sp>
        <p:nvSpPr>
          <p:cNvPr id="9907016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584097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46776097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38554490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53341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8271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49838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91445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44760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14867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421732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43271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7850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98866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65217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60214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20643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11517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657870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75220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0496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916682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</a:p>
        </p:txBody>
      </p:sp>
      <p:sp>
        <p:nvSpPr>
          <p:cNvPr id="142285413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3642695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3108131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HJCM 내 '긴급업무 수행교통비 신청서' 전자결재 화면수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및 원격지원(국내,해외출장 시스템안내)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</a:p>
        </p:txBody>
      </p:sp>
      <p:sp>
        <p:nvSpPr>
          <p:cNvPr id="5475389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96262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1130</a:t>
            </a:r>
            <a:br/>
          </a:p>
        </p:txBody>
      </p:sp>
      <p:sp>
        <p:nvSpPr>
          <p:cNvPr id="7224841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8566806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65232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43040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8908628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80972305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17405006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830527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849838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수정세금계산서 발송 요청 건</a:t>
            </a:r>
          </a:p>
        </p:txBody>
      </p:sp>
      <p:sp>
        <p:nvSpPr>
          <p:cNvPr id="1536630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39818052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0925187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4820047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355329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037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38597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68403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80383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834011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724208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49484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45900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34062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23408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18500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27090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14165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86511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226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16104753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7047182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하반기 DR 재해복구 모의훈련</a:t>
            </a:r>
          </a:p>
        </p:txBody>
      </p:sp>
      <p:sp>
        <p:nvSpPr>
          <p:cNvPr id="12213442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719364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526838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SNC 보안 접속을 위한 접속자 APP 원격 설치작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시스템 오브젝트 Access Key 신규생성 및 전달(T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/T 수송비 운임 중 장시간 하화 대기 제도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재작업 및 full system inf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 dump 추출작업</a:t>
            </a:r>
          </a:p>
        </p:txBody>
      </p:sp>
      <p:sp>
        <p:nvSpPr>
          <p:cNvPr id="7145729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532934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13188179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6669265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33937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139719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1728893840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</a:p>
        </p:txBody>
      </p:sp>
      <p:sp>
        <p:nvSpPr>
          <p:cNvPr id="313521843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</a:p>
        </p:txBody>
      </p:sp>
      <p:sp>
        <p:nvSpPr>
          <p:cNvPr id="1512551851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50674163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68580073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PO가 발행된 해당 PR 마감 처리 요청* 마감 설정되지 않은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PR 중 PO 발행되었지만 'PR수량 &gt; PO수량'인 대상 조회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마감 프로그램 개발 </a:t>
            </a:r>
          </a:p>
        </p:txBody>
      </p:sp>
      <p:sp>
        <p:nvSpPr>
          <p:cNvPr id="124458414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767801036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br/>
          </a:p>
        </p:txBody>
      </p:sp>
      <p:sp>
        <p:nvSpPr>
          <p:cNvPr id="1217487712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</a:p>
        </p:txBody>
      </p:sp>
      <p:sp>
        <p:nvSpPr>
          <p:cNvPr id="585466987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57903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3808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27481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70343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08801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251734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425926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067413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611387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50963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6547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48814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77233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02315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04194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53281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59964148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</a:p>
        </p:txBody>
      </p:sp>
      <p:sp>
        <p:nvSpPr>
          <p:cNvPr id="4167856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재/퇴직 유무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</a:p>
        </p:txBody>
      </p:sp>
      <p:sp>
        <p:nvSpPr>
          <p:cNvPr id="7176309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47093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4567144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재/퇴직 유무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</a:p>
        </p:txBody>
      </p:sp>
      <p:sp>
        <p:nvSpPr>
          <p:cNvPr id="10550030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344322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</a:p>
        </p:txBody>
      </p:sp>
      <p:sp>
        <p:nvSpPr>
          <p:cNvPr id="4607318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</a:p>
        </p:txBody>
      </p:sp>
      <p:sp>
        <p:nvSpPr>
          <p:cNvPr id="119693414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435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4283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37365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369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4494020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584859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969081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93856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9947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3389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78691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5284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9837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55541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42075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988579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97487700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148933297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290633883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64224779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572899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ITSM-98746업무효율성 제고 관련, ERP업무 개선사항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청-10/05~ 테이블 필드 추가, alv 필드추가, 엑셀 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추가, 전자결재 수정, 첨부파일 기능 추가-10/23 파일업로드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저장기능 추가 기저장 데이터 수정기능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ITSM-102288ERP ZSDR5220(한라수수료정산) 화면에서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인도처코드 추가 요청-alv 표시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517079132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49337927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252927543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522350155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4167840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476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412003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88589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9521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04967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914064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01606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47089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41230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7525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74523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8169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01754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8736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1264562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496575107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674209034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1463409517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551679664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718637019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ITSM-102638 정보기술지원 신청서 내용수정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ActionsITSM-102637 협조문 첨부파일 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ITSM-102620 시설물대여계약서 후첨부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ITSM-102602 대해로주유소 불용 처분 품의서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산번호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ITSM-102639 기안지에 작성된 시설물(TLG Sen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ser) 수량 오타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ITSM-102665 기성보고서 결재일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ITSM-102631 결재문서 가용자금 운용계획(안)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업무정보(업무보고-일일업무보고) 오타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ITSM-102713 신용한도품의서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ITSM-102701 문서번호 B63-23-0244 내용수정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ITSM-102727 법인카드 정산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ITSM-102613 해외출장비 신청서 삭제 및 CCS내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ITSM-102716 공장 전자 결재문서(3건) 결재선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ITSM-102750 기안지 첨부 교체 요청</a:t>
            </a:r>
          </a:p>
        </p:txBody>
      </p:sp>
      <p:sp>
        <p:nvSpPr>
          <p:cNvPr id="853755858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73138184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81995749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618563115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8768033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4165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2541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11719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65397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13337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487865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8003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125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09186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14877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1588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44817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01263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189472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32353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6750595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7467985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720166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56693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037893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[ITSM-102795]e-PSMS 내 권한 관리 현황 공유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[ITSM-102231]S-imoms 프로젝트 진행을 위한 ePSM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S시스템의 Data Table 및 DB Credential 정보 요청</a:t>
            </a:r>
          </a:p>
        </p:txBody>
      </p:sp>
      <p:sp>
        <p:nvSpPr>
          <p:cNvPr id="17189217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7079042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br/>
          </a:p>
        </p:txBody>
      </p:sp>
      <p:sp>
        <p:nvSpPr>
          <p:cNvPr id="18155712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br/>
          </a:p>
        </p:txBody>
      </p:sp>
      <p:sp>
        <p:nvSpPr>
          <p:cNvPr id="15883122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99407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90082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534644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8300797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3236609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08330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160618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12755925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34671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65903350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42203680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1658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332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0299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32378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81293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844839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75337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5501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07533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36689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49165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29032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47740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08202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552057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99195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7786673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611436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</a:p>
        </p:txBody>
      </p:sp>
      <p:sp>
        <p:nvSpPr>
          <p:cNvPr id="7683043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91643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841828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ITSM-102532 변경요청 삭제ITSM-102493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변경ITSM-102670 데이터작업 삭제ITSM-102663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ITSM-101354 변경결과 작성ITSM-101852 서비스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반려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ITSM-101548 작업유형 변경ITSM-102337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6729308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585932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31565631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0258216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44656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417205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68962248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52824263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360387872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0427464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6355895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서버 포트 확인요청 및 정상연결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'자재번호 및 단가정리' 작업된 엑셀 붙여넣기 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작업 A360 으로 변경을 위한 PDD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전일 21시 작업 메일 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수신. 작업 완료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재기동, 로그확인 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209pc 확인 및 AA 재기동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재수행 및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미수행 안내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입력방식 변경으로 인한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현업확인 및 재수행</a:t>
            </a:r>
          </a:p>
        </p:txBody>
      </p:sp>
      <p:sp>
        <p:nvSpPr>
          <p:cNvPr id="513301742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139300250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1216209840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</a:p>
        </p:txBody>
      </p:sp>
      <p:sp>
        <p:nvSpPr>
          <p:cNvPr id="34703594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14086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7072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118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525672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35977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241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08705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75522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85534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03366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63617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69938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3523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64412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1423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398785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5266792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92520609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6920884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5496810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37539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200186656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2572523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0341747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9551678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44247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7166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8614475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118445225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3572457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8260398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5342071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교육이수 관련 이력이 사용자 및 관리자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페이지의 개인교육이력에 조회되도록 기능개선 반영 및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이관)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제정오류 건 PP1-C-0127 문서 재등록처리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수강완료 과목의 수료이력 재반영 요청 건(프로젝트관리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팀-이진우책임)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모바일 ERS 도입 후 이용자 수 집계</a:t>
            </a:r>
          </a:p>
        </p:txBody>
      </p:sp>
      <p:sp>
        <p:nvSpPr>
          <p:cNvPr id="4010677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54308946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133192197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6440506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09488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2996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18464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44389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921293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35940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089748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64588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90935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66917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32486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76339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58415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58212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500619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61669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85173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431440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</a:p>
        </p:txBody>
      </p:sp>
      <p:sp>
        <p:nvSpPr>
          <p:cNvPr id="8369903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0498315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284853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23년4분기 모의해킹 업무 협의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DB Job 에서 Schedule job 으로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시나리오 (SP402) Oracle SQL 오류 발생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</a:p>
        </p:txBody>
      </p:sp>
      <p:sp>
        <p:nvSpPr>
          <p:cNvPr id="208699581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14517527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6918115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100001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22010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01748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8584917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210229015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284014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8349830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1225531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..  &amp; 기준정보 &gt; 선박 운항 동정표 관리 내 값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 비정상적으로 출력되거나 누락되는 내용 확인 (정상 배치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가동으로 조치)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[RMS/IMS] 교체 PC 내 백업 배포 및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 판매목표 내 '유효값이 아닙니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다' 에러 조치 (DB 내 소숫점 제거 처리)[ 기존 5자리 유지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억대로 넘어가면 에러 바생. 타페이지에 영향도가 없어 자릿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제거로 조치 ]</a:t>
            </a:r>
          </a:p>
        </p:txBody>
      </p:sp>
      <p:sp>
        <p:nvSpPr>
          <p:cNvPr id="12771375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120572649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918061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</a:p>
        </p:txBody>
      </p:sp>
      <p:sp>
        <p:nvSpPr>
          <p:cNvPr id="250034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679347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387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13851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24093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29921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15967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47052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5414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19479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99357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085875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12844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12141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91113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939594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6759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137125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20922762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</a:t>
            </a:r>
          </a:p>
        </p:txBody>
      </p:sp>
      <p:sp>
        <p:nvSpPr>
          <p:cNvPr id="8556242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65508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793265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윤활유 이비즈 프로젝트 I/F 신규 개발문의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EDI MIG 변경 반영 (SAP 신용장 통지)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환경설정 및 인수인계</a:t>
            </a:r>
          </a:p>
        </p:txBody>
      </p:sp>
      <p:sp>
        <p:nvSpPr>
          <p:cNvPr id="6259078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7730709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3849478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19935851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37061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63871626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mtClean="0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ko-KR" baseline="0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김도신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2023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</a:t>
            </a:r>
            <a:r>
              <a:rPr altLang="en-US" b="1" baseline="0" dirty="0" err="1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