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  <p:sldId id="2565" r:id="rId5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8519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6033951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9382287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371608571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35402365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56685609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8672256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54564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1305347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1891350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2542164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7987634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6277100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1387520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6890969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</a:p>
        </p:txBody>
      </p:sp>
      <p:sp>
        <p:nvSpPr>
          <p:cNvPr id="1393278987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10/26</a:t>
            </a:r>
            <a:br/>
          </a:p>
        </p:txBody>
      </p:sp>
      <p:sp>
        <p:nvSpPr>
          <p:cNvPr id="165612080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구분회계기준 비용의 1차원가요소 data 산출 프로그램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 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PP(Polypropylene) 제품별 원가내역 조회 Report 개발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청(ZPCOR2030)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대주주 감사자료 생성-MRO 자재계정의 상대계정 리스트 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이블 저장 (ZFIR7035, ZFIT7035)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화공약품계정 파일생성 로직추가 (ZCOR1182)</a:t>
            </a:r>
          </a:p>
        </p:txBody>
      </p:sp>
      <p:sp>
        <p:nvSpPr>
          <p:cNvPr id="190027605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713654500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655296038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[TR] 구매처 지급 상시 모니터링 추출 배치 프로그램 보완(ZTR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B7010 ~ ZTRB7069)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[TR] 장기 미사용계좌 지급보류 프로세스 분석 (ZTRB7010 ~ 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TRB7069)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대주주 감사자료 생성-MRO 자재계정의 상대계정 리스트 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이블 저장 추가수정(ZFIR7035, ZFIT7035)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화공약품계정 파일생성 로직추가 추가수정(ZCOR1182)</a:t>
            </a:r>
          </a:p>
        </p:txBody>
      </p:sp>
      <p:sp>
        <p:nvSpPr>
          <p:cNvPr id="198441943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11/17</a:t>
            </a:r>
            <a:br/>
          </a:p>
        </p:txBody>
      </p:sp>
      <p:sp>
        <p:nvSpPr>
          <p:cNvPr id="413178024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11/17</a:t>
            </a:r>
            <a:br/>
          </a:p>
        </p:txBody>
      </p:sp>
      <p:sp>
        <p:nvSpPr>
          <p:cNvPr id="212708300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11/16</a:t>
            </a:r>
            <a:br/>
          </a:p>
        </p:txBody>
      </p:sp>
      <p:sp>
        <p:nvSpPr>
          <p:cNvPr id="56476523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71433157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78424455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1311785143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</a:p>
        </p:txBody>
      </p:sp>
      <p:sp>
        <p:nvSpPr>
          <p:cNvPr id="577031018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[HR] 인사정보 요청서 개발 요청: 추가 요청사항 반영 - 90%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[HR] (S-imoms 프로젝트)DSV -&gt; SAP 사회봉사활동 내역 조회 -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[HR] 퇴직연금 운용방식 변경 신청서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[HR] ZHRR2371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[HR] 근로시간단축 변경/취소 신청서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[HR] 다면평가 협력 피평가자 선정 및 대상자 선정에 반영처리</a:t>
            </a:r>
          </a:p>
        </p:txBody>
      </p:sp>
      <p:sp>
        <p:nvSpPr>
          <p:cNvPr id="1683093543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김도신</a:t>
            </a:r>
          </a:p>
        </p:txBody>
      </p:sp>
      <p:sp>
        <p:nvSpPr>
          <p:cNvPr id="1934526542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김도신</a:t>
            </a:r>
          </a:p>
        </p:txBody>
      </p:sp>
      <p:sp>
        <p:nvSpPr>
          <p:cNvPr id="1060592488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[HR] 퇴직연금 운용방식 변경 신청서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[HR] 단기계약직 쿼터 조정 작업지원생산직 경력사원 연차생성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기준일 업데이트 작업지원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[HR] 근로시간단축 변경/취소 신청서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[HR] 다면평가 협력 피평가자 선정 및 대상자 선정에 반영처리</a:t>
            </a:r>
          </a:p>
        </p:txBody>
      </p:sp>
      <p:sp>
        <p:nvSpPr>
          <p:cNvPr id="990701695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1358409721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</a:p>
        </p:txBody>
      </p:sp>
      <p:sp>
        <p:nvSpPr>
          <p:cNvPr id="1467760977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</a:p>
        </p:txBody>
      </p:sp>
      <p:sp>
        <p:nvSpPr>
          <p:cNvPr id="1385544909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35334128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582711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4498388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9914459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74476091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811486713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94217322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0432719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07850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8988666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8652177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1602144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4206436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3115173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6578700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4752203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</a:p>
        </p:txBody>
      </p:sp>
      <p:sp>
        <p:nvSpPr>
          <p:cNvPr id="6049662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</a:p>
        </p:txBody>
      </p:sp>
      <p:sp>
        <p:nvSpPr>
          <p:cNvPr id="19166827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다면평가 피평가자 추출 신규개발</a:t>
            </a:r>
          </a:p>
        </p:txBody>
      </p:sp>
      <p:sp>
        <p:nvSpPr>
          <p:cNvPr id="1422854130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김예린</a:t>
            </a:r>
          </a:p>
        </p:txBody>
      </p:sp>
      <p:sp>
        <p:nvSpPr>
          <p:cNvPr id="364269539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김예린</a:t>
            </a:r>
          </a:p>
        </p:txBody>
      </p:sp>
      <p:sp>
        <p:nvSpPr>
          <p:cNvPr id="1310813137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HJCM 내 '긴급업무 수행교통비 신청서' 전자결재 화면수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 응대 및 원격지원(국내,해외출장 시스템안내)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다면평가 피평가자 추출 신규개발</a:t>
            </a:r>
          </a:p>
        </p:txBody>
      </p:sp>
      <p:sp>
        <p:nvSpPr>
          <p:cNvPr id="54753891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</a:p>
        </p:txBody>
      </p:sp>
      <p:sp>
        <p:nvSpPr>
          <p:cNvPr id="20962625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1130</a:t>
            </a:r>
            <a:br/>
          </a:p>
        </p:txBody>
      </p:sp>
      <p:sp>
        <p:nvSpPr>
          <p:cNvPr id="72248413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</a:p>
        </p:txBody>
      </p:sp>
      <p:sp>
        <p:nvSpPr>
          <p:cNvPr id="185668069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7652328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64304055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</a:p>
        </p:txBody>
      </p:sp>
      <p:sp>
        <p:nvSpPr>
          <p:cNvPr id="189086288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10/06</a:t>
            </a:r>
            <a:br/>
          </a:p>
        </p:txBody>
      </p:sp>
      <p:sp>
        <p:nvSpPr>
          <p:cNvPr id="809723058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SABIC 시스템 연동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ZIMHCD 티코드에 전표기준 AP반제 기능추가</a:t>
            </a:r>
          </a:p>
        </p:txBody>
      </p:sp>
      <p:sp>
        <p:nvSpPr>
          <p:cNvPr id="1740500631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383052791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884983888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SABIC 시스템 연동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ZIMHCD 티코드에 전표기준 AP반제 기능추가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수정세금계산서 발송 요청 건</a:t>
            </a:r>
          </a:p>
        </p:txBody>
      </p:sp>
      <p:sp>
        <p:nvSpPr>
          <p:cNvPr id="1536630301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</a:p>
        </p:txBody>
      </p:sp>
      <p:sp>
        <p:nvSpPr>
          <p:cNvPr id="1398180526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11/17</a:t>
            </a:r>
            <a:br/>
          </a:p>
        </p:txBody>
      </p:sp>
      <p:sp>
        <p:nvSpPr>
          <p:cNvPr id="2092518718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11/17</a:t>
            </a:r>
            <a:br/>
          </a:p>
        </p:txBody>
      </p:sp>
      <p:sp>
        <p:nvSpPr>
          <p:cNvPr id="148200471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03553290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03773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8385974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0684038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76803836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58340110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67242083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1494845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6459009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6340627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7234088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2185008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1270906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2141655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94865116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422608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</a:p>
        </p:txBody>
      </p:sp>
      <p:sp>
        <p:nvSpPr>
          <p:cNvPr id="161047534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</a:p>
        </p:txBody>
      </p:sp>
      <p:sp>
        <p:nvSpPr>
          <p:cNvPr id="704718219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2023년 하반기 DR 재해복구 모의훈련</a:t>
            </a:r>
          </a:p>
        </p:txBody>
      </p:sp>
      <p:sp>
        <p:nvSpPr>
          <p:cNvPr id="122134424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97193642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52683869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HCM운영 SNC 보안 접속을 위한 접속자 APP 원격 설치작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업 업무지원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ERP개발 시스템 오브젝트 Access Key 신규생성 및 전달(T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/T 수송비 운임 중 장시간 하화 대기 제도 변경)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HCM개발 Remote Client Copy 재작업 및 full system inf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o dump 추출작업</a:t>
            </a:r>
          </a:p>
        </p:txBody>
      </p:sp>
      <p:sp>
        <p:nvSpPr>
          <p:cNvPr id="71457293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11/17</a:t>
            </a:r>
            <a:br/>
            <a:br/>
          </a:p>
        </p:txBody>
      </p:sp>
      <p:sp>
        <p:nvSpPr>
          <p:cNvPr id="5329345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11/17</a:t>
            </a:r>
            <a:br/>
            <a:br/>
          </a:p>
        </p:txBody>
      </p:sp>
      <p:sp>
        <p:nvSpPr>
          <p:cNvPr id="1318817934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br/>
          </a:p>
        </p:txBody>
      </p:sp>
      <p:sp>
        <p:nvSpPr>
          <p:cNvPr id="16669265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3339375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71397198" name="Text">
    </p:cNvPr>
          <p:cNvSpPr>
            <a:spLocks noGrp="1"/>
          </p:cNvSpPr>
          <p:nvPr/>
        </p:nvSpPr>
        <p:spPr>
          <a:xfrm rot="0">
            <a:off x="97028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br/>
          </a:p>
        </p:txBody>
      </p:sp>
      <p:sp>
        <p:nvSpPr>
          <p:cNvPr id="1728893840" name="Text">
    </p:cNvPr>
          <p:cNvSpPr>
            <a:spLocks noGrp="1"/>
          </p:cNvSpPr>
          <p:nvPr/>
        </p:nvSpPr>
        <p:spPr>
          <a:xfrm rot="0">
            <a:off x="93345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br/>
            <a:br/>
          </a:p>
        </p:txBody>
      </p:sp>
      <p:sp>
        <p:nvSpPr>
          <p:cNvPr id="313521843" name="Text">
    </p:cNvPr>
          <p:cNvSpPr>
            <a:spLocks noGrp="1"/>
          </p:cNvSpPr>
          <p:nvPr/>
        </p:nvSpPr>
        <p:spPr>
          <a:xfrm rot="0">
            <a:off x="5930900" y="3771900"/>
            <a:ext cx="3403600" cy="2273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요청* 구매요구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서 전송(ZMMT4040), 기성보고서 전송(ZMMT4060) 관련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추가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하도급법 적용대상 구매건에 대한 점검 기능 강화* PR Us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er-Exit 추가, 구매요구서 전송/수신 관련 프로그램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AS/400 화면 SAP 이관* 주요 자재/구매 화면 13개 SAP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CP Vendor Print 등록 요청서 적용부서 확장 요청 (Corro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sion Control 팀)* 특정부서에 대해서는 PR의 '기술검토 필요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품목'을 체크해서 Vendor Print 등록</a:t>
            </a:r>
          </a:p>
        </p:txBody>
      </p:sp>
      <p:sp>
        <p:nvSpPr>
          <p:cNvPr id="1512551851" name="Text">
    </p:cNvPr>
          <p:cNvSpPr>
            <a:spLocks noGrp="1"/>
          </p:cNvSpPr>
          <p:nvPr/>
        </p:nvSpPr>
        <p:spPr>
          <a:xfrm rot="0">
            <a:off x="5308600" y="37719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650674163" name="Text">
    </p:cNvPr>
          <p:cNvSpPr>
            <a:spLocks noGrp="1"/>
          </p:cNvSpPr>
          <p:nvPr/>
        </p:nvSpPr>
        <p:spPr>
          <a:xfrm rot="0">
            <a:off x="88900" y="37719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668580073" name="Text">
    </p:cNvPr>
          <p:cNvSpPr>
            <a:spLocks noGrp="1"/>
          </p:cNvSpPr>
          <p:nvPr/>
        </p:nvSpPr>
        <p:spPr>
          <a:xfrm rot="0">
            <a:off x="711200" y="3771900"/>
            <a:ext cx="3403600" cy="2273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요청* 구매요구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서 전송(ZMMT4040), 기성보고서 전송(ZMMT4060) 관련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추가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하도급법 적용대상 구매건에 대한 점검 기능 강화* PR Us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er-Exit 추가, 구매요구서 전송/수신 관련 프로그램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AS/400 화면 SAP 이관* 주요 자재/구매 화면 13개 SAP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CP Vendor Print 등록 요청서 적용부서 확장 요청 (Corro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sion Control 팀)* 특정부서에 대해서는 PR의 '기술검토 필요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품목'을 체크해서 Vendor Print 등록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PO가 발행된 해당 PR 마감 처리 요청* 마감 설정되지 않은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PR 중 PO 발행되었지만 'PR수량 &gt; PO수량'인 대상 조회 및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마감 프로그램 개발 </a:t>
            </a:r>
          </a:p>
        </p:txBody>
      </p:sp>
      <p:sp>
        <p:nvSpPr>
          <p:cNvPr id="1244584143" name="Text">
    </p:cNvPr>
          <p:cNvSpPr>
            <a:spLocks noGrp="1"/>
          </p:cNvSpPr>
          <p:nvPr/>
        </p:nvSpPr>
        <p:spPr>
          <a:xfrm rot="0">
            <a:off x="44831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br/>
          </a:p>
        </p:txBody>
      </p:sp>
      <p:sp>
        <p:nvSpPr>
          <p:cNvPr id="767801036" name="Text">
    </p:cNvPr>
          <p:cNvSpPr>
            <a:spLocks noGrp="1"/>
          </p:cNvSpPr>
          <p:nvPr/>
        </p:nvSpPr>
        <p:spPr>
          <a:xfrm rot="0">
            <a:off x="48514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11/16</a:t>
            </a:r>
            <a:br/>
            <a:br/>
            <a:br/>
          </a:p>
        </p:txBody>
      </p:sp>
      <p:sp>
        <p:nvSpPr>
          <p:cNvPr id="1217487712" name="Text">
    </p:cNvPr>
          <p:cNvSpPr>
            <a:spLocks noGrp="1"/>
          </p:cNvSpPr>
          <p:nvPr/>
        </p:nvSpPr>
        <p:spPr>
          <a:xfrm rot="0">
            <a:off x="41148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br/>
            <a:br/>
          </a:p>
        </p:txBody>
      </p:sp>
      <p:sp>
        <p:nvSpPr>
          <p:cNvPr id="585466987" name="Text">
    </p:cNvPr>
          <p:cNvSpPr>
            <a:spLocks noGrp="1"/>
          </p:cNvSpPr>
          <p:nvPr/>
        </p:nvSpPr>
        <p:spPr>
          <a:xfrm rot="0">
            <a:off x="660400" y="37719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06579032" name="Text">
    </p:cNvPr>
          <p:cNvSpPr>
            <a:spLocks noGrp="1"/>
          </p:cNvSpPr>
          <p:nvPr/>
        </p:nvSpPr>
        <p:spPr>
          <a:xfrm rot="0">
            <a:off x="5880100" y="37719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38086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3274810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7703432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93088011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12517346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214259264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0674135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6113875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5096380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765479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7488141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7772337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7023155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00041940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7532814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</a:p>
        </p:txBody>
      </p:sp>
      <p:sp>
        <p:nvSpPr>
          <p:cNvPr id="159964148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11/09</a:t>
            </a:r>
            <a:br/>
          </a:p>
        </p:txBody>
      </p:sp>
      <p:sp>
        <p:nvSpPr>
          <p:cNvPr id="416785686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POS기 전송 테스트 및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결재요청시 결재선 심사부서 임직원 부서 및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재/퇴직 유무 체크 로직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[Lube E-Biz] 서블릿 HANG 현상 원인 파악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계정 생성 프로시저 api 구축</a:t>
            </a:r>
            <a:br/>
          </a:p>
        </p:txBody>
      </p:sp>
      <p:sp>
        <p:nvSpPr>
          <p:cNvPr id="71763094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Lube E-Biz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이여진</a:t>
            </a:r>
          </a:p>
        </p:txBody>
      </p:sp>
      <p:sp>
        <p:nvSpPr>
          <p:cNvPr id="470937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Lube E-Biz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이여진</a:t>
            </a:r>
          </a:p>
        </p:txBody>
      </p:sp>
      <p:sp>
        <p:nvSpPr>
          <p:cNvPr id="45671441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POS기 전송 테스트 및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결재요청시 결재선 심사부서 임직원 부서 및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재/퇴직 유무 체크 로직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[Lube E-Biz] 서블릿 HANG 현상 원인 파악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계정 생성 프로시저 api 구축</a:t>
            </a:r>
            <a:br/>
          </a:p>
        </p:txBody>
      </p:sp>
      <p:sp>
        <p:nvSpPr>
          <p:cNvPr id="1055003080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</a:p>
        </p:txBody>
      </p:sp>
      <p:sp>
        <p:nvSpPr>
          <p:cNvPr id="634432244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99%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99%</a:t>
            </a:r>
            <a:br/>
          </a:p>
        </p:txBody>
      </p:sp>
      <p:sp>
        <p:nvSpPr>
          <p:cNvPr id="46073183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11/09</a:t>
            </a:r>
            <a:br/>
          </a:p>
        </p:txBody>
      </p:sp>
      <p:sp>
        <p:nvSpPr>
          <p:cNvPr id="1196934140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7143566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42835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7373651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4369686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54494020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05848593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209690819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4938564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599478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4338980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3786917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3252840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498377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7555418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73420758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79885798" name="Text">
    </p:cNvPr>
          <p:cNvSpPr>
            <a:spLocks noGrp="1"/>
          </p:cNvSpPr>
          <p:nvPr/>
        </p:nvSpPr>
        <p:spPr>
          <a:xfrm rot="0">
            <a:off x="9702800" y="1511300"/>
            <a:ext cx="3683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br/>
            <a:br/>
          </a:p>
        </p:txBody>
      </p:sp>
      <p:sp>
        <p:nvSpPr>
          <p:cNvPr id="974877001" name="Text">
    </p:cNvPr>
          <p:cNvSpPr>
            <a:spLocks noGrp="1"/>
          </p:cNvSpPr>
          <p:nvPr/>
        </p:nvSpPr>
        <p:spPr>
          <a:xfrm rot="0">
            <a:off x="9334500" y="1511300"/>
            <a:ext cx="3683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  <a:br/>
            <a:br/>
          </a:p>
        </p:txBody>
      </p:sp>
      <p:sp>
        <p:nvSpPr>
          <p:cNvPr id="1148933297" name="Text">
    </p:cNvPr>
          <p:cNvSpPr>
            <a:spLocks noGrp="1"/>
          </p:cNvSpPr>
          <p:nvPr/>
        </p:nvSpPr>
        <p:spPr>
          <a:xfrm rot="0">
            <a:off x="5930900" y="1511300"/>
            <a:ext cx="3403600" cy="3644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ITSM-91037 실수송 거리 측정데이타 erp 연동요청-5/4~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프로그램 및 RFC 생성- 8/22 I/F 정의서 변경으로 로직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ITSM-93611 ZSDR7090 - 담보관리:채권대비 담보확보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액” 개선요청-6/2~ 변경 요청사항 반영- 8/29~8/30 요구사항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변경으로 로직수정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ITSM-89436SABIC 시스템 연동 구축-7/13 ~ 7/24 모니터링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프로그램 개발-7/27 ~ 8/7    오픈데이터 업로드 및 운영반영-8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/8   ~ 운영 반영 후 마이그레이션 데이터로             인한 버그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수정</a:t>
            </a:r>
          </a:p>
        </p:txBody>
      </p:sp>
      <p:sp>
        <p:nvSpPr>
          <p:cNvPr id="1290633883" name="Text">
    </p:cNvPr>
          <p:cNvSpPr>
            <a:spLocks noGrp="1"/>
          </p:cNvSpPr>
          <p:nvPr/>
        </p:nvSpPr>
        <p:spPr>
          <a:xfrm rot="0">
            <a:off x="5308600" y="1511300"/>
            <a:ext cx="5715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642247791" name="Text">
    </p:cNvPr>
          <p:cNvSpPr>
            <a:spLocks noGrp="1"/>
          </p:cNvSpPr>
          <p:nvPr/>
        </p:nvSpPr>
        <p:spPr>
          <a:xfrm rot="0">
            <a:off x="88900" y="1511300"/>
            <a:ext cx="5715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9572899" name="Text">
    </p:cNvPr>
          <p:cNvSpPr>
            <a:spLocks noGrp="1"/>
          </p:cNvSpPr>
          <p:nvPr/>
        </p:nvSpPr>
        <p:spPr>
          <a:xfrm rot="0">
            <a:off x="711200" y="1511300"/>
            <a:ext cx="3403600" cy="3644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ITSM-91037 실수송 거리 측정데이타 erp 연동요청-5/4~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프로그램 및 RFC 생성- 8/22 I/F 정의서 변경으로 로직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ITSM-93611 ZSDR7090 - 담보관리:채권대비 담보확보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액” 개선요청-6/2~ 변경 요청사항 반영- 8/29~8/30 요구사항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변경으로 로직수정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ITSM-96689PRM 거래처 마스터 항목별 관리를 위한 ERP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마스터 분개처리 구조 보완 요청-7/3 RFC 구조 생성-7/4 조건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별 T코드 및 프로그램 코딩-7/5 처리결과 리턴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ITSM-98746업무효율성 제고 관련, ERP업무 개선사항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청-10/05~ 테이블 필드 추가, alv 필드추가, 엑셀 업로드 기능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추가, 전자결재 수정, 첨부파일 기능 추가-10/23 파일업로드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저장기능 추가 기저장 데이터 수정기능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ITSM-102098EDI MIG 변경 반영 (SAP 신용장 통지)-10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/31 스마트폼,테이블,인터페이스 정의서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ITSM-102288ERP ZSDR5220(한라수수료정산) 화면에서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인도처코드 추가 요청-alv 표시 필드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ITSM-89436SABIC 시스템 연동 구축-7/13 ~ 7/24 모니터링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프로그램 개발-7/27 ~ 8/7    오픈데이터 업로드 및 운영반영-8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/8   ~ 운영 반영 후 마이그레이션 데이터로             인한 버그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ITSM-102063S-OIL &amp; SABIC Integration을 통한 ERP 내부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시스템 개선 요청-10/30~ 업무자동화 프로세스 적용</a:t>
            </a:r>
          </a:p>
        </p:txBody>
      </p:sp>
      <p:sp>
        <p:nvSpPr>
          <p:cNvPr id="517079132" name="Text">
    </p:cNvPr>
          <p:cNvSpPr>
            <a:spLocks noGrp="1"/>
          </p:cNvSpPr>
          <p:nvPr/>
        </p:nvSpPr>
        <p:spPr>
          <a:xfrm rot="0">
            <a:off x="4483100" y="1511300"/>
            <a:ext cx="3683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</a:p>
        </p:txBody>
      </p:sp>
      <p:sp>
        <p:nvSpPr>
          <p:cNvPr id="1049337927" name="Text">
    </p:cNvPr>
          <p:cNvSpPr>
            <a:spLocks noGrp="1"/>
          </p:cNvSpPr>
          <p:nvPr/>
        </p:nvSpPr>
        <p:spPr>
          <a:xfrm rot="0">
            <a:off x="4851400" y="1511300"/>
            <a:ext cx="3683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</a:p>
        </p:txBody>
      </p:sp>
      <p:sp>
        <p:nvSpPr>
          <p:cNvPr id="1252927543" name="Text">
    </p:cNvPr>
          <p:cNvSpPr>
            <a:spLocks noGrp="1"/>
          </p:cNvSpPr>
          <p:nvPr/>
        </p:nvSpPr>
        <p:spPr>
          <a:xfrm rot="0">
            <a:off x="4114800" y="1511300"/>
            <a:ext cx="3683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10/05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br/>
          </a:p>
        </p:txBody>
      </p:sp>
      <p:sp>
        <p:nvSpPr>
          <p:cNvPr id="1522350155" name="Text">
    </p:cNvPr>
          <p:cNvSpPr>
            <a:spLocks noGrp="1"/>
          </p:cNvSpPr>
          <p:nvPr/>
        </p:nvSpPr>
        <p:spPr>
          <a:xfrm rot="0">
            <a:off x="660400" y="1511300"/>
            <a:ext cx="34544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24167840" name="Text">
    </p:cNvPr>
          <p:cNvSpPr>
            <a:spLocks noGrp="1"/>
          </p:cNvSpPr>
          <p:nvPr/>
        </p:nvSpPr>
        <p:spPr>
          <a:xfrm rot="0">
            <a:off x="5880100" y="1511300"/>
            <a:ext cx="34544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