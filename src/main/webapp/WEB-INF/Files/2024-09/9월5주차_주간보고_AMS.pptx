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2024-08-30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[2024.09.17 ~ 2024.09.23]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9월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6288134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09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468767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484872493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87246777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96361996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550202714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916867165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047463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20532132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01592126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76802372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20151809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104995149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46112699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18904260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8752577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138599609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4314727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03709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87234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779430323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352329439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569503954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9592638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7922231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7740436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9523435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6382824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51582199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1547298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681387161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2729868" name="Frame"/>
          <p:cNvSpPr>
            <a:spLocks noGrp="1"/>
          </p:cNvSpPr>
          <p:nvPr/>
        </p:nvSpPr>
        <p:spPr>
          <a:xfrm>
            <a:off x="101600" y="26797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14405050" name="Text">
    </p:cNvPr>
          <p:cNvSpPr>
            <a:spLocks noGrp="1"/>
          </p:cNvSpPr>
          <p:nvPr/>
        </p:nvSpPr>
        <p:spPr>
          <a:xfrm rot="0">
            <a:off x="165100" y="27432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39322646" name="Text">
    </p:cNvPr>
          <p:cNvSpPr>
            <a:spLocks noGrp="1"/>
          </p:cNvSpPr>
          <p:nvPr/>
        </p:nvSpPr>
        <p:spPr>
          <a:xfrm rot="0">
            <a:off x="152400" y="27051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846199825" name="Text">
    </p:cNvPr>
          <p:cNvSpPr>
            <a:spLocks noGrp="1"/>
          </p:cNvSpPr>
          <p:nvPr/>
        </p:nvSpPr>
        <p:spPr>
          <a:xfrm rot="0">
            <a:off x="165100" y="29591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43962277" name="Text">
    </p:cNvPr>
          <p:cNvSpPr>
            <a:spLocks noGrp="1"/>
          </p:cNvSpPr>
          <p:nvPr/>
        </p:nvSpPr>
        <p:spPr>
          <a:xfrm rot="0">
            <a:off x="901700" y="29591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6697599" name="Text">
    </p:cNvPr>
          <p:cNvSpPr>
            <a:spLocks noGrp="1"/>
          </p:cNvSpPr>
          <p:nvPr/>
        </p:nvSpPr>
        <p:spPr>
          <a:xfrm rot="0">
            <a:off x="5549900" y="29591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521606208" name="Text">
    </p:cNvPr>
          <p:cNvSpPr>
            <a:spLocks noGrp="1"/>
          </p:cNvSpPr>
          <p:nvPr/>
        </p:nvSpPr>
        <p:spPr>
          <a:xfrm rot="0">
            <a:off x="6121400" y="29591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381366983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31503071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96963028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[CCS]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기성보고서 산업안전보건관리비 확인항목 공통내용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GCMS 개발 AP 서버 구축</a:t>
            </a:r>
          </a:p>
        </p:txBody>
      </p:sp>
      <p:sp>
        <p:nvSpPr>
          <p:cNvPr id="316945966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73429361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</a:p>
        </p:txBody>
      </p:sp>
      <p:sp>
        <p:nvSpPr>
          <p:cNvPr id="573764515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2133632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1399169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7158334" name="Frame"/>
          <p:cNvSpPr>
            <a:spLocks noGrp="1"/>
          </p:cNvSpPr>
          <p:nvPr/>
        </p:nvSpPr>
        <p:spPr>
          <a:xfrm>
            <a:off x="165100" y="33020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06523986" name="Text">
    </p:cNvPr>
          <p:cNvSpPr>
            <a:spLocks noGrp="1"/>
          </p:cNvSpPr>
          <p:nvPr/>
        </p:nvSpPr>
        <p:spPr>
          <a:xfrm rot="0">
            <a:off x="165100" y="33020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652196971" name="Text">
    </p:cNvPr>
          <p:cNvSpPr>
            <a:spLocks noGrp="1"/>
          </p:cNvSpPr>
          <p:nvPr/>
        </p:nvSpPr>
        <p:spPr>
          <a:xfrm rot="0">
            <a:off x="965200" y="33782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459693588" name="Text">
    </p:cNvPr>
          <p:cNvSpPr>
            <a:spLocks noGrp="1"/>
          </p:cNvSpPr>
          <p:nvPr/>
        </p:nvSpPr>
        <p:spPr>
          <a:xfrm rot="0">
            <a:off x="7239000" y="33782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022181479" name="Text">
    </p:cNvPr>
          <p:cNvSpPr>
            <a:spLocks noGrp="1"/>
          </p:cNvSpPr>
          <p:nvPr/>
        </p:nvSpPr>
        <p:spPr>
          <a:xfrm rot="0">
            <a:off x="5549900" y="33782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</a:p>
        </p:txBody>
      </p:sp>
      <p:sp>
        <p:nvSpPr>
          <p:cNvPr id="2081713704" name="Text">
    </p:cNvPr>
          <p:cNvSpPr>
            <a:spLocks noGrp="1"/>
          </p:cNvSpPr>
          <p:nvPr/>
        </p:nvSpPr>
        <p:spPr>
          <a:xfrm rot="0">
            <a:off x="901700" y="33020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6973855" name="Text">
    </p:cNvPr>
          <p:cNvSpPr>
            <a:spLocks noGrp="1"/>
          </p:cNvSpPr>
          <p:nvPr/>
        </p:nvSpPr>
        <p:spPr>
          <a:xfrm rot="0">
            <a:off x="6121400" y="33020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4872744" name="Text">
    </p:cNvPr>
          <p:cNvSpPr>
            <a:spLocks noGrp="1"/>
          </p:cNvSpPr>
          <p:nvPr/>
        </p:nvSpPr>
        <p:spPr>
          <a:xfrm rot="0">
            <a:off x="5549900" y="33020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4662477" name="Frame"/>
          <p:cNvSpPr>
            <a:spLocks noGrp="1"/>
          </p:cNvSpPr>
          <p:nvPr/>
        </p:nvSpPr>
        <p:spPr>
          <a:xfrm>
            <a:off x="127000" y="1384300"/>
            <a:ext cx="9779000" cy="1155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92426102" name="Frame"/>
          <p:cNvSpPr>
            <a:spLocks noGrp="1"/>
          </p:cNvSpPr>
          <p:nvPr/>
        </p:nvSpPr>
        <p:spPr>
          <a:xfrm>
            <a:off x="152400" y="19177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132314157" name="Text">
    </p:cNvPr>
          <p:cNvSpPr>
            <a:spLocks noGrp="1"/>
          </p:cNvSpPr>
          <p:nvPr/>
        </p:nvSpPr>
        <p:spPr>
          <a:xfrm rot="0">
            <a:off x="152400" y="189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951495073" name="Text">
    </p:cNvPr>
          <p:cNvSpPr>
            <a:spLocks noGrp="1"/>
          </p:cNvSpPr>
          <p:nvPr/>
        </p:nvSpPr>
        <p:spPr>
          <a:xfrm rot="0">
            <a:off x="952500" y="19431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A360 '#3 외화입금내역 반제자동화' 작업 수행 및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검색서비스 오류 확인 요청 및 서비스 재실행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PSM 절차 동영상 교육 시험응시 점수미달 Reset 요청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8월 Monthly Accountability Report 생성</a:t>
            </a:r>
          </a:p>
        </p:txBody>
      </p:sp>
      <p:sp>
        <p:nvSpPr>
          <p:cNvPr id="1835092255" name="Text">
    </p:cNvPr>
          <p:cNvSpPr>
            <a:spLocks noGrp="1"/>
          </p:cNvSpPr>
          <p:nvPr/>
        </p:nvSpPr>
        <p:spPr>
          <a:xfrm rot="0">
            <a:off x="7226300" y="19431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96295221" name="Text">
    </p:cNvPr>
          <p:cNvSpPr>
            <a:spLocks noGrp="1"/>
          </p:cNvSpPr>
          <p:nvPr/>
        </p:nvSpPr>
        <p:spPr>
          <a:xfrm rot="0">
            <a:off x="6108700" y="18923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44239957" name="Text">
    </p:cNvPr>
          <p:cNvSpPr>
            <a:spLocks noGrp="1"/>
          </p:cNvSpPr>
          <p:nvPr/>
        </p:nvSpPr>
        <p:spPr>
          <a:xfrm rot="0">
            <a:off x="5537200" y="19431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</a:p>
        </p:txBody>
      </p:sp>
      <p:sp>
        <p:nvSpPr>
          <p:cNvPr id="66622852" name="Text">
    </p:cNvPr>
          <p:cNvSpPr>
            <a:spLocks noGrp="1"/>
          </p:cNvSpPr>
          <p:nvPr/>
        </p:nvSpPr>
        <p:spPr>
          <a:xfrm rot="0">
            <a:off x="889000" y="189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9656661" name="Text">
    </p:cNvPr>
          <p:cNvSpPr>
            <a:spLocks noGrp="1"/>
          </p:cNvSpPr>
          <p:nvPr/>
        </p:nvSpPr>
        <p:spPr>
          <a:xfrm rot="0">
            <a:off x="7124700" y="18923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9232831" name="Text">
    </p:cNvPr>
          <p:cNvSpPr>
            <a:spLocks noGrp="1"/>
          </p:cNvSpPr>
          <p:nvPr/>
        </p:nvSpPr>
        <p:spPr>
          <a:xfrm rot="0">
            <a:off x="5537200" y="189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9980748" name="Rectangle"/>
          <p:cNvSpPr>
            <a:spLocks noGrp="1"/>
          </p:cNvSpPr>
          <p:nvPr/>
        </p:nvSpPr>
        <p:spPr>
          <a:xfrm>
            <a:off x="6870700" y="18923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27727661" name="Frame"/>
          <p:cNvSpPr>
            <a:spLocks noGrp="1"/>
          </p:cNvSpPr>
          <p:nvPr/>
        </p:nvSpPr>
        <p:spPr>
          <a:xfrm>
            <a:off x="152400" y="1371600"/>
            <a:ext cx="9639300" cy="520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03277439" name="Text">
    </p:cNvPr>
          <p:cNvSpPr>
            <a:spLocks noGrp="1"/>
          </p:cNvSpPr>
          <p:nvPr/>
        </p:nvSpPr>
        <p:spPr>
          <a:xfrm rot="0">
            <a:off x="152400" y="13716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189675814" name="Text">
    </p:cNvPr>
          <p:cNvSpPr>
            <a:spLocks noGrp="1"/>
          </p:cNvSpPr>
          <p:nvPr/>
        </p:nvSpPr>
        <p:spPr>
          <a:xfrm rot="0">
            <a:off x="939800" y="1422400"/>
            <a:ext cx="4610100" cy="469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개발(ZFIB9030_M)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관세환급 신고자료 집계 프로그램 수정(ZFIR7801)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[ITSM-116088] 방염작업복 신청 내역 필드추가 : 신청관리 리포터화면 수정</a:t>
            </a:r>
          </a:p>
        </p:txBody>
      </p:sp>
      <p:sp>
        <p:nvSpPr>
          <p:cNvPr id="94458342" name="Text">
    </p:cNvPr>
          <p:cNvSpPr>
            <a:spLocks noGrp="1"/>
          </p:cNvSpPr>
          <p:nvPr/>
        </p:nvSpPr>
        <p:spPr>
          <a:xfrm rot="0">
            <a:off x="7226300" y="1447800"/>
            <a:ext cx="25527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09721550" name="Text">
    </p:cNvPr>
          <p:cNvSpPr>
            <a:spLocks noGrp="1"/>
          </p:cNvSpPr>
          <p:nvPr/>
        </p:nvSpPr>
        <p:spPr>
          <a:xfrm rot="0">
            <a:off x="6108700" y="1371600"/>
            <a:ext cx="7620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85380532" name="Text">
    </p:cNvPr>
          <p:cNvSpPr>
            <a:spLocks noGrp="1"/>
          </p:cNvSpPr>
          <p:nvPr/>
        </p:nvSpPr>
        <p:spPr>
          <a:xfrm rot="0">
            <a:off x="5537200" y="1447800"/>
            <a:ext cx="5715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</a:p>
        </p:txBody>
      </p:sp>
      <p:sp>
        <p:nvSpPr>
          <p:cNvPr id="403091838" name="Text">
    </p:cNvPr>
          <p:cNvSpPr>
            <a:spLocks noGrp="1"/>
          </p:cNvSpPr>
          <p:nvPr/>
        </p:nvSpPr>
        <p:spPr>
          <a:xfrm rot="0">
            <a:off x="889000" y="13716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8496889" name="Text">
    </p:cNvPr>
          <p:cNvSpPr>
            <a:spLocks noGrp="1"/>
          </p:cNvSpPr>
          <p:nvPr/>
        </p:nvSpPr>
        <p:spPr>
          <a:xfrm rot="0">
            <a:off x="7124700" y="1371600"/>
            <a:ext cx="26543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865368" name="Text">
    </p:cNvPr>
          <p:cNvSpPr>
            <a:spLocks noGrp="1"/>
          </p:cNvSpPr>
          <p:nvPr/>
        </p:nvSpPr>
        <p:spPr>
          <a:xfrm rot="0">
            <a:off x="5537200" y="13716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9650941" name="Rectangle"/>
          <p:cNvSpPr>
            <a:spLocks noGrp="1"/>
          </p:cNvSpPr>
          <p:nvPr/>
        </p:nvSpPr>
        <p:spPr>
          <a:xfrm>
            <a:off x="6870700" y="1371600"/>
            <a:ext cx="254000" cy="520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95387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29533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25219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8151843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657900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495808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7497499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357530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569352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73680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547121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347457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693406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4374556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771239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20448213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82804272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생성(ZFIB9060_MIG)</a:t>
            </a:r>
          </a:p>
        </p:txBody>
      </p:sp>
      <p:sp>
        <p:nvSpPr>
          <p:cNvPr id="107914219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84296235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09723651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추석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개발(ZFIB9030_M)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관세환급 신고자료 집계 프로그램 수정(ZFIR7801)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증빙유형 값 E로 고정(ZEAM8000,ZEAM8010)</a:t>
            </a:r>
          </a:p>
        </p:txBody>
      </p:sp>
      <p:sp>
        <p:nvSpPr>
          <p:cNvPr id="45839711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21491099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8692158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40783827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004768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615328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79428571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133441630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1차 통합테스트</a:t>
            </a:r>
          </a:p>
        </p:txBody>
      </p:sp>
      <p:sp>
        <p:nvSpPr>
          <p:cNvPr id="63559588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12747996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3884251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1차 통합테스트</a:t>
            </a:r>
          </a:p>
        </p:txBody>
      </p:sp>
      <p:sp>
        <p:nvSpPr>
          <p:cNvPr id="136463006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73441978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00421989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168991845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96838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51935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934959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643067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9224307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0822535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4796167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5322878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85113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625758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581556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2022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855945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1059238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5022313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6398012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04034218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</a:p>
        </p:txBody>
      </p:sp>
      <p:sp>
        <p:nvSpPr>
          <p:cNvPr id="72915963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31284521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2255114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5418838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e-Biz 관련 RFC 통신 정상여부 확인 및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Oracle DB Option 사용정보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기존 Batch Job 재설정 작업 (ZHR_HR_MD_TO_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LEGACY_ABS)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BW개발 ERP Upgrade 프로젝트 투입인력 개발자 Key 신규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생성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98745884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200034801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68674536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</a:p>
        </p:txBody>
      </p:sp>
      <p:sp>
        <p:nvSpPr>
          <p:cNvPr id="7670188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871739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033181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82725838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</a:p>
        </p:txBody>
      </p:sp>
      <p:sp>
        <p:nvSpPr>
          <p:cNvPr id="207055901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47365075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46727372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97546864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실습 만들기</a:t>
            </a:r>
          </a:p>
        </p:txBody>
      </p:sp>
      <p:sp>
        <p:nvSpPr>
          <p:cNvPr id="159741095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43576995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75240079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</a:p>
        </p:txBody>
      </p:sp>
      <p:sp>
        <p:nvSpPr>
          <p:cNvPr id="174170330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770040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47820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582966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1139565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657326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0957753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599131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330818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3421902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8037238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505858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636979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1697369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57922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798055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8909893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31092575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</a:p>
        </p:txBody>
      </p:sp>
      <p:sp>
        <p:nvSpPr>
          <p:cNvPr id="130987923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 Upgrade 1차 통합테스트 출장 </a:t>
            </a:r>
          </a:p>
        </p:txBody>
      </p:sp>
      <p:sp>
        <p:nvSpPr>
          <p:cNvPr id="110423299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722819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57163426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7122777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10304913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83427451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50467195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440636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559346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br/>
          </a:p>
        </p:txBody>
      </p:sp>
      <p:sp>
        <p:nvSpPr>
          <p:cNvPr id="9247784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br/>
          </a:p>
        </p:txBody>
      </p:sp>
      <p:sp>
        <p:nvSpPr>
          <p:cNvPr id="6590627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[ITSM-116088] 방염작업복 신청신청 내역 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드추가</a:t>
            </a:r>
            <a:br/>
          </a:p>
        </p:txBody>
      </p:sp>
      <p:sp>
        <p:nvSpPr>
          <p:cNvPr id="134332108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7507069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36438155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[ITSM-116088] 방염작업복 신청 내역 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드추가 : 신청관리 리포터화면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휴일대근신청 결재 오류 외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임시공휴일(10/1), 체육의 날(11/29) 지정관련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근태달력 생성 사전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기준일자 인포타입(pa0041) 생성로직 파악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계약직 퇴직자 연차보상 일자예외처리 방법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안내 및 매뉴얼 작성</a:t>
            </a:r>
            <a:br/>
          </a:p>
        </p:txBody>
      </p:sp>
      <p:sp>
        <p:nvSpPr>
          <p:cNvPr id="85518689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br/>
            <a:br/>
            <a:br/>
            <a:br/>
          </a:p>
        </p:txBody>
      </p:sp>
      <p:sp>
        <p:nvSpPr>
          <p:cNvPr id="176449715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9/20</a:t>
            </a:r>
            <a:br/>
            <a:br/>
            <a:br/>
            <a:br/>
            <a:br/>
            <a:br/>
          </a:p>
        </p:txBody>
      </p:sp>
      <p:sp>
        <p:nvSpPr>
          <p:cNvPr id="62333851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br/>
            <a:br/>
            <a:br/>
            <a:br/>
          </a:p>
        </p:txBody>
      </p:sp>
      <p:sp>
        <p:nvSpPr>
          <p:cNvPr id="165734981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342163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5207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5479774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2029314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182992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019335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3150733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566665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928070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986004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6102066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878354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236560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3905380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177218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36522964" name="Text">
    </p:cNvPr>
          <p:cNvSpPr>
            <a:spLocks noGrp="1"/>
          </p:cNvSpPr>
          <p:nvPr/>
        </p:nvSpPr>
        <p:spPr>
          <a:xfrm rot="0">
            <a:off x="9702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1375282955" name="Text">
    </p:cNvPr>
          <p:cNvSpPr>
            <a:spLocks noGrp="1"/>
          </p:cNvSpPr>
          <p:nvPr/>
        </p:nvSpPr>
        <p:spPr>
          <a:xfrm rot="0">
            <a:off x="93345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585789158" name="Text">
    </p:cNvPr>
          <p:cNvSpPr>
            <a:spLocks noGrp="1"/>
          </p:cNvSpPr>
          <p:nvPr/>
        </p:nvSpPr>
        <p:spPr>
          <a:xfrm rot="0">
            <a:off x="5930900" y="15113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자영대리점 거래처 관리업무 간소화 추진(2차)</a:t>
            </a:r>
            <a:br/>
          </a:p>
        </p:txBody>
      </p:sp>
      <p:sp>
        <p:nvSpPr>
          <p:cNvPr id="264343315" name="Text">
    </p:cNvPr>
          <p:cNvSpPr>
            <a:spLocks noGrp="1"/>
          </p:cNvSpPr>
          <p:nvPr/>
        </p:nvSpPr>
        <p:spPr>
          <a:xfrm rot="0">
            <a:off x="53086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26269297" name="Text">
    </p:cNvPr>
          <p:cNvSpPr>
            <a:spLocks noGrp="1"/>
          </p:cNvSpPr>
          <p:nvPr/>
        </p:nvSpPr>
        <p:spPr>
          <a:xfrm rot="0">
            <a:off x="889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954745246" name="Text">
    </p:cNvPr>
          <p:cNvSpPr>
            <a:spLocks noGrp="1"/>
          </p:cNvSpPr>
          <p:nvPr/>
        </p:nvSpPr>
        <p:spPr>
          <a:xfrm rot="0">
            <a:off x="711200" y="15113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자영대리점 거래처 관리업무 간소화 추진(2차)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자가수송 최적출하지 우선순위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ITSM-115542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UET의 전산작업 중 벌크선적작업의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[ERP Upgrade] 수송비 분석 리포트 개발을 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한 ERP 데이터 적재 요청</a:t>
            </a:r>
            <a:br/>
          </a:p>
        </p:txBody>
      </p:sp>
      <p:sp>
        <p:nvSpPr>
          <p:cNvPr id="91211446" name="Text">
    </p:cNvPr>
          <p:cNvSpPr>
            <a:spLocks noGrp="1"/>
          </p:cNvSpPr>
          <p:nvPr/>
        </p:nvSpPr>
        <p:spPr>
          <a:xfrm rot="0">
            <a:off x="44831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br/>
          </a:p>
        </p:txBody>
      </p:sp>
      <p:sp>
        <p:nvSpPr>
          <p:cNvPr id="106260511" name="Text">
    </p:cNvPr>
          <p:cNvSpPr>
            <a:spLocks noGrp="1"/>
          </p:cNvSpPr>
          <p:nvPr/>
        </p:nvSpPr>
        <p:spPr>
          <a:xfrm rot="0">
            <a:off x="48514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br/>
          </a:p>
        </p:txBody>
      </p:sp>
      <p:sp>
        <p:nvSpPr>
          <p:cNvPr id="1073070468" name="Text">
    </p:cNvPr>
          <p:cNvSpPr>
            <a:spLocks noGrp="1"/>
          </p:cNvSpPr>
          <p:nvPr/>
        </p:nvSpPr>
        <p:spPr>
          <a:xfrm rot="0">
            <a:off x="4114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br/>
          </a:p>
        </p:txBody>
      </p:sp>
      <p:sp>
        <p:nvSpPr>
          <p:cNvPr id="1397158431" name="Text">
    </p:cNvPr>
          <p:cNvSpPr>
            <a:spLocks noGrp="1"/>
          </p:cNvSpPr>
          <p:nvPr/>
        </p:nvSpPr>
        <p:spPr>
          <a:xfrm rot="0">
            <a:off x="6604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7889207" name="Text">
    </p:cNvPr>
          <p:cNvSpPr>
            <a:spLocks noGrp="1"/>
          </p:cNvSpPr>
          <p:nvPr/>
        </p:nvSpPr>
        <p:spPr>
          <a:xfrm rot="0">
            <a:off x="58801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86944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8989709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695439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4271979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789631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148743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244453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16427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5185430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1597049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7200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45060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3786151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885515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0203946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2526696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8005126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ITSM-116513 승인요청시 참석인원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ITSM-116740CCS 시스템 오류 보완</a:t>
            </a:r>
          </a:p>
        </p:txBody>
      </p:sp>
      <p:sp>
        <p:nvSpPr>
          <p:cNvPr id="211935681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5319271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19794781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ITSM-116513 승인요청시 참석인원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ITSM-116740CCS 시스템 오류 보완</a:t>
            </a:r>
          </a:p>
        </p:txBody>
      </p:sp>
      <p:sp>
        <p:nvSpPr>
          <p:cNvPr id="158727693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9173464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</a:p>
        </p:txBody>
      </p:sp>
      <p:sp>
        <p:nvSpPr>
          <p:cNvPr id="195063251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16781235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284152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222765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2654141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6650524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[ITSM-116906]OAS 수정 요청</a:t>
            </a:r>
          </a:p>
        </p:txBody>
      </p:sp>
      <p:sp>
        <p:nvSpPr>
          <p:cNvPr id="198526623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3527502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58625174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[ITSM-116906]OAS 수정 요청</a:t>
            </a:r>
          </a:p>
        </p:txBody>
      </p:sp>
      <p:sp>
        <p:nvSpPr>
          <p:cNvPr id="131135254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50730190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57837945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8966975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01139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5197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101407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925229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3481609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8543634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0989103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5228661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9388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289149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98991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857167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728904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305906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2735298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009562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06272886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8459910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  <a:br/>
          </a:p>
        </p:txBody>
      </p:sp>
      <p:sp>
        <p:nvSpPr>
          <p:cNvPr id="20570278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6040602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678827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  <a:br/>
          </a:p>
        </p:txBody>
      </p:sp>
      <p:sp>
        <p:nvSpPr>
          <p:cNvPr id="2538331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73137901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203869428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99577434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199748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904574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89553544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</a:p>
        </p:txBody>
      </p:sp>
      <p:sp>
        <p:nvSpPr>
          <p:cNvPr id="4312731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</a:p>
        </p:txBody>
      </p:sp>
      <p:sp>
        <p:nvSpPr>
          <p:cNvPr id="101208821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9464891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3619954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ITSM-108113 작업정보 재작성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첨부파일 pptx 열람 장애 수정</a:t>
            </a:r>
          </a:p>
        </p:txBody>
      </p:sp>
      <p:sp>
        <p:nvSpPr>
          <p:cNvPr id="136498512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95914472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3066962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83253563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5502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1647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558934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014598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4734974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669846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8209422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3734506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9220829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0148751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2044495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55491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248314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883756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4700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58760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32002607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</a:p>
        </p:txBody>
      </p:sp>
      <p:sp>
        <p:nvSpPr>
          <p:cNvPr id="2460754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및 SAP입력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Completed' 작업 Migra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tion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Polymer'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Migration</a:t>
            </a:r>
          </a:p>
        </p:txBody>
      </p:sp>
      <p:sp>
        <p:nvSpPr>
          <p:cNvPr id="10736437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7838369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67410642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'#3 외화입금내역 반제자동화' 작업 수행 및 모니터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엑셀 딜레이 오류로 인한 로직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'#3 외화입금내역 반제자동화' 작업 수행 및 모니터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'rpa_poc01' 계정 PW만료 팝업 담당자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Completed' 작업 Migra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tion 및 로직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'법인영업팀-항공급유 매출입력'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담당자 요청 수행</a:t>
            </a:r>
          </a:p>
        </p:txBody>
      </p:sp>
      <p:sp>
        <p:nvSpPr>
          <p:cNvPr id="14992444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30930036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7319165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5537032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104047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306662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9369652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91643710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기성보고서 산업안전보건관리비 확인항목 공통내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추가 요청</a:t>
            </a:r>
          </a:p>
        </p:txBody>
      </p:sp>
      <p:sp>
        <p:nvSpPr>
          <p:cNvPr id="110098954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88936155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78090741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기성보고서 산업안전보건관리비 확인항목 공통내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추가 요청</a:t>
            </a:r>
          </a:p>
        </p:txBody>
      </p:sp>
      <p:sp>
        <p:nvSpPr>
          <p:cNvPr id="56531056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50664259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</a:p>
        </p:txBody>
      </p:sp>
      <p:sp>
        <p:nvSpPr>
          <p:cNvPr id="7139227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157406511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501192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3150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95940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972381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340529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8330020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193310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928611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6033025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14242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845699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897102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778224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239013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4775538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30026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05421124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101131765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ITSM-116870 -&gt; 법인카드 관련 제요청서 팝업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요청</a:t>
            </a:r>
          </a:p>
        </p:txBody>
      </p:sp>
      <p:sp>
        <p:nvSpPr>
          <p:cNvPr id="85644698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12077263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87550306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ITSM-116870 -&gt; 법인카드 관련 제요청서 팝업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ITSM-116809, ITSM-116920, ITSM-116936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ITSM-116956</a:t>
            </a:r>
          </a:p>
        </p:txBody>
      </p:sp>
      <p:sp>
        <p:nvSpPr>
          <p:cNvPr id="175045274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96941133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7533790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61515184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108826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138904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93049166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</a:p>
        </p:txBody>
      </p:sp>
      <p:sp>
        <p:nvSpPr>
          <p:cNvPr id="7619499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70581106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1240581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14402654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PSM 절차 동영상 교육 시험응시 점수미달 Reset 요청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교육과정 등록시 공개여부 비공개로 설정된 교육과정의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경우 이러닝 수강신청 팝업에서 교육과정이 조회되지 않도록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 처리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검색서비스 오류 확인 요청 및 서비스 재실행</a:t>
            </a:r>
          </a:p>
        </p:txBody>
      </p:sp>
      <p:sp>
        <p:nvSpPr>
          <p:cNvPr id="35748416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83731568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67716138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61538288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459838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2899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4547102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4396160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956522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462815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136193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526664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816118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795539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529280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993855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14249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4101415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5018344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672171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65082712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54081319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개발 AP 서버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재무관리 시나리오 대상 삭제 및 기능 수정</a:t>
            </a:r>
          </a:p>
        </p:txBody>
      </p:sp>
      <p:sp>
        <p:nvSpPr>
          <p:cNvPr id="56360433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9159111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2607304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GCMS 개발 AP 서버 구축- WAS 복제 기동 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운영 서버 충돌 이슈 발생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[생산IT지원팀] e-HR 인사정보 배치 정상 연동되는지 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니터링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18274266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33913262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03838520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60029166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56788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1011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53762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46906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712281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3264663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1328544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171282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68993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696544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7928269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9879415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3088545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5246592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1001540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1155806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908401327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</a:p>
        </p:txBody>
      </p:sp>
      <p:sp>
        <p:nvSpPr>
          <p:cNvPr id="1725834530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상동주유소(2017820), My S-OIL App 품질 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 업데이트 요청</a:t>
            </a:r>
          </a:p>
        </p:txBody>
      </p:sp>
      <p:sp>
        <p:nvSpPr>
          <p:cNvPr id="1705802742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477472508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308392769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송유관 입고계획 관리 &gt; 저유소기초재고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차입량/대여량 사용 Logic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 내 탱크 가용성 여부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예정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태경탱커(선사사용자) 계정 상태 확인 및 활성화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'처리요청(M0016D0002)' 상태 중 담당자 변경 시 메일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알람톡 발송 로직 점검 요청 (김민주 팀장님)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상동주유소(2017820), My S-OIL App 품질 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 업데이트 요청</a:t>
            </a:r>
          </a:p>
        </p:txBody>
      </p:sp>
      <p:sp>
        <p:nvSpPr>
          <p:cNvPr id="83981082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66378631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847765315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</a:p>
        </p:txBody>
      </p:sp>
      <p:sp>
        <p:nvSpPr>
          <p:cNvPr id="761502185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4847484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1298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73514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128109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2870146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9027264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141300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56277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303188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17847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135299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616142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8658586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148408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03028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272193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62315414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86311078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</a:p>
        </p:txBody>
      </p:sp>
      <p:sp>
        <p:nvSpPr>
          <p:cNvPr id="2424621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77247640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9367074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8월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</a:p>
        </p:txBody>
      </p:sp>
      <p:sp>
        <p:nvSpPr>
          <p:cNvPr id="206211846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94878091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87172566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05565570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62984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6288134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추석연휴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09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