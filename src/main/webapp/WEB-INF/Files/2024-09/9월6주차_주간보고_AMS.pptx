
<file path=[Content_Types].xml><?xml version="1.0" encoding="utf-8"?>
<Types xmlns="http://schemas.openxmlformats.org/package/2006/content-types">
  <Default ContentType="image/x-emf" Extension="emf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6"/>
    <p:sldId id="257" r:id="rId10"/>
    <p:sldId id="258" r:id="rId12"/>
    <p:sldId id="259" r:id="rId13"/>
    <p:sldId id="260" r:id="rId14"/>
    <p:sldId id="261" r:id="rId16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1"/>
    <p:sldId id="275" r:id="rId33"/>
    <p:sldId id="276" r:id="rId35"/>
  </p:sldIdLst>
  <p:sldSz cx="10160000" cy="6921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2.xml" Type="http://schemas.openxmlformats.org/officeDocument/2006/relationships/slide"/><Relationship Id="rId11" Target="notesSlides/notesSlide2.xml" Type="http://schemas.openxmlformats.org/officeDocument/2006/relationships/notesSlide"/><Relationship Id="rId12" Target="slides/slide3.xml" Type="http://schemas.openxmlformats.org/officeDocument/2006/relationships/slide"/><Relationship Id="rId13" Target="slides/slide4.xml" Type="http://schemas.openxmlformats.org/officeDocument/2006/relationships/slide"/><Relationship Id="rId14" Target="slides/slide5.xml" Type="http://schemas.openxmlformats.org/officeDocument/2006/relationships/slide"/><Relationship Id="rId15" Target="notesSlides/notesSlide3.xml" Type="http://schemas.openxmlformats.org/officeDocument/2006/relationships/notesSlide"/><Relationship Id="rId16" Target="slides/slide6.xml" Type="http://schemas.openxmlformats.org/officeDocument/2006/relationships/slide"/><Relationship Id="rId17" Target="notesSlides/notesSlide4.xml" Type="http://schemas.openxmlformats.org/officeDocument/2006/relationships/notesSlide"/><Relationship Id="rId18" Target="slides/slide7.xml" Type="http://schemas.openxmlformats.org/officeDocument/2006/relationships/slide"/><Relationship Id="rId19" Target="slides/slide8.xml" Type="http://schemas.openxmlformats.org/officeDocument/2006/relationships/slide"/><Relationship Id="rId2" Target="presProps.xml" Type="http://schemas.openxmlformats.org/officeDocument/2006/relationships/presProps"/><Relationship Id="rId20" Target="slides/slide9.xml" Type="http://schemas.openxmlformats.org/officeDocument/2006/relationships/slide"/><Relationship Id="rId21" Target="slides/slide10.xml" Type="http://schemas.openxmlformats.org/officeDocument/2006/relationships/slide"/><Relationship Id="rId22" Target="slides/slide11.xml" Type="http://schemas.openxmlformats.org/officeDocument/2006/relationships/slide"/><Relationship Id="rId23" Target="slides/slide12.xml" Type="http://schemas.openxmlformats.org/officeDocument/2006/relationships/slide"/><Relationship Id="rId24" Target="slides/slide13.xml" Type="http://schemas.openxmlformats.org/officeDocument/2006/relationships/slide"/><Relationship Id="rId25" Target="slides/slide14.xml" Type="http://schemas.openxmlformats.org/officeDocument/2006/relationships/slide"/><Relationship Id="rId26" Target="slides/slide15.xml" Type="http://schemas.openxmlformats.org/officeDocument/2006/relationships/slide"/><Relationship Id="rId27" Target="slides/slide16.xml" Type="http://schemas.openxmlformats.org/officeDocument/2006/relationships/slide"/><Relationship Id="rId28" Target="slides/slide17.xml" Type="http://schemas.openxmlformats.org/officeDocument/2006/relationships/slide"/><Relationship Id="rId29" Target="slides/slide18.xml" Type="http://schemas.openxmlformats.org/officeDocument/2006/relationships/slide"/><Relationship Id="rId3" Target="viewProps.xml" Type="http://schemas.openxmlformats.org/officeDocument/2006/relationships/viewProps"/><Relationship Id="rId30" Target="notesSlides/notesSlide5.xml" Type="http://schemas.openxmlformats.org/officeDocument/2006/relationships/notesSlide"/><Relationship Id="rId31" Target="slides/slide19.xml" Type="http://schemas.openxmlformats.org/officeDocument/2006/relationships/slide"/><Relationship Id="rId32" Target="notesSlides/notesSlide6.xml" Type="http://schemas.openxmlformats.org/officeDocument/2006/relationships/notesSlide"/><Relationship Id="rId33" Target="slides/slide20.xml" Type="http://schemas.openxmlformats.org/officeDocument/2006/relationships/slide"/><Relationship Id="rId34" Target="notesSlides/notesSlide7.xml" Type="http://schemas.openxmlformats.org/officeDocument/2006/relationships/notesSlide"/><Relationship Id="rId35" Target="slides/slide21.xml" Type="http://schemas.openxmlformats.org/officeDocument/2006/relationships/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notesMasters/notesMaster1.xml" Type="http://schemas.openxmlformats.org/officeDocument/2006/relationships/notesMaster"/><Relationship Id="rId8" Target="theme/theme2.xml" Type="http://schemas.openxmlformats.org/officeDocument/2006/relationships/theme"/><Relationship Id="rId9" Target="notesSlides/notesSlide1.xml" Type="http://schemas.openxmlformats.org/officeDocument/2006/relationships/notesSlide"/></Relationships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4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5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6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7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notesSlide1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fld id="{AF56D908-C2A0-4594-8043-7B2A2764A612}" type="datetime1"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2023-04-11</a:t>
            </a:fld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t>ITS GSR Proposed Layout 4Q</a:t>
            </a:r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fld id="{65D332B1-6798-497D-875F-C7FAE08D878A}" type="slidenum">
              <a:rPr lang="en-US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1</a:t>
            </a:fld>
            <a:endParaRPr lang="en-US" altLang="en-US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2788" y="746125"/>
            <a:ext cx="5373687" cy="3721100"/>
          </a:xfrm>
          <a:ln/>
        </p:spPr>
      </p:sp>
      <p:sp>
        <p:nvSpPr>
          <p:cNvPr id="112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30000"/>
              </a:spcBef>
              <a:spcAft>
                <a:spcPct val="0"/>
              </a:spcAft>
              <a:defRPr/>
            </a:pPr>
            <a:endParaRPr lang="ko-KR" altLang="en-US"/>
          </a:p>
        </p:txBody>
      </p:sp>
    </p:spTree>
  </p:cSld>
</p:notes>
</file>

<file path=ppt/notesSlides/notesSlide2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</p:cSld>
</p:notes>
</file>

<file path=ppt/notesSlides/notesSlide3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30000"/>
              </a:spcBef>
              <a:spcAft>
                <a:spcPct val="0"/>
              </a:spcAft>
            </a:pPr>
            <a:endParaRPr lang="en-NZ" altLang="ko-KR" smtClean="0"/>
          </a:p>
        </p:txBody>
      </p:sp>
    </p:spTree>
  </p:cSld>
</p:notes>
</file>

<file path=ppt/notesSlides/notesSlide4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714375" y="746125"/>
            <a:ext cx="5370513" cy="3719513"/>
          </a:xfrm>
          <a:ln/>
        </p:spPr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5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6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7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</p:cSld>
</p:note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lIns="0" rIns="0" anchor="b"/>
          <a:lstStyle/>
          <a:p>
            <a:pPr lvl="0" algn="l" marL="372596" indent="-372596">
              <a:spcAft>
                <a:spcPct val="0"/>
              </a:spcAft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050" y="1599162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3019" y="1599162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half" idx="3"/>
          </p:nvPr>
        </p:nvSpPr>
        <p:spPr>
          <a:xfrm>
            <a:off x="493781" y="3981637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half" idx="4"/>
          </p:nvPr>
        </p:nvSpPr>
        <p:spPr>
          <a:xfrm>
            <a:off x="5031750" y="3981637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10" name="날짜 개체 틀 3"/>
          <p:cNvSpPr>
            <a:spLocks noGrp="1"/>
          </p:cNvSpPr>
          <p:nvPr>
            <p:ph type="dt" sz="half" idx="10"/>
          </p:nvPr>
        </p:nvSpPr>
        <p:spPr>
          <a:xfrm>
            <a:off x="493650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D8D7A7C4-C82A-4D21-9AB0-F0C5A1D3EF09}" type="datetime1">
              <a:rPr kumimoji="1" lang="ko-KR" altLang="en-US" sz="1200" b="0" i="0" baseline="0">
                <a:solidFill>
                  <a:schemeClr val="tx1"/>
                </a:solidFill>
                <a:latin typeface="+mn-lt"/>
                <a:ea typeface="바탕"/>
                <a:cs typeface="+mn-cs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2024-08-30</a:t>
            </a:fld>
            <a:endParaRPr kumimoji="1" lang="ko-KR" altLang="en-US" sz="1200" b="0" i="0" baseline="0">
              <a:solidFill>
                <a:schemeClr val="tx1"/>
              </a:solidFill>
              <a:latin typeface="+mn-lt"/>
              <a:ea typeface="바탕"/>
              <a:cs typeface="+mn-cs"/>
            </a:endParaRPr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2318" y="6352034"/>
            <a:ext cx="313476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endParaRPr kumimoji="1" lang="ko-KR" altLang="en-US" sz="1200" b="0" i="0" baseline="0">
              <a:solidFill>
                <a:schemeClr val="tx1"/>
              </a:solidFill>
              <a:ea typeface="바탕"/>
            </a:endParaRPr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4854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9327EF7B-8B08-4053-A0CD-9D52558E44A8}" type="slidenum"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‹#›</a:t>
            </a:fld>
            <a:endParaRPr kumimoji="1" lang="ko-KR" altLang="en-US" sz="1200" b="0" i="0" baseline="0">
              <a:solidFill>
                <a:schemeClr val="tx1"/>
              </a:solidFill>
              <a:latin typeface="Arial"/>
              <a:ea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13" Target="../media/image3.emf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3730" y="101530"/>
            <a:ext cx="9055507" cy="43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 algn="l" marL="372596" indent="-372596">
              <a:spcAft>
                <a:spcPct val="0"/>
              </a:spcAft>
            </a:pPr>
            <a:r>
              <a:rPr lang="en-US" altLang="ko-KR"/>
              <a:t>Header text</a:t>
            </a:r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062" y="836032"/>
            <a:ext cx="8911114" cy="5285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 marL="175431" indent="-175431">
              <a:spcBef>
                <a:spcPct val="0"/>
              </a:spcBef>
              <a:spcAft>
                <a:spcPct val="0"/>
              </a:spcAft>
            </a:pPr>
            <a:r>
              <a:rPr lang="en-US" altLang="ko-KR"/>
              <a:t>Level One Text</a:t>
            </a:r>
          </a:p>
          <a:p>
            <a:pPr lvl="1" marL="526292" indent="-175431">
              <a:spcAft>
                <a:spcPct val="0"/>
              </a:spcAft>
            </a:pPr>
            <a:r>
              <a:rPr lang="en-US" altLang="ko-KR"/>
              <a:t>Level Two Text</a:t>
            </a:r>
          </a:p>
          <a:p>
            <a:pPr lvl="2" marL="875601" indent="-173878">
              <a:spcAft>
                <a:spcPct val="0"/>
              </a:spcAft>
            </a:pPr>
            <a:r>
              <a:rPr lang="en-US" altLang="ko-KR"/>
              <a:t>Level Three Text</a:t>
            </a:r>
          </a:p>
          <a:p>
            <a:pPr lvl="3" marL="1235776" indent="-184746">
              <a:spcAft>
                <a:spcPct val="0"/>
              </a:spcAft>
            </a:pPr>
            <a:r>
              <a:rPr lang="en-US" altLang="ko-KR"/>
              <a:t>Level Four Text</a:t>
            </a:r>
          </a:p>
          <a:p>
            <a:pPr lvl="4" marL="1586638" indent="-175431">
              <a:spcAft>
                <a:spcPct val="0"/>
              </a:spcAft>
            </a:pPr>
            <a:r>
              <a:rPr lang="en-US" altLang="ko-KR"/>
              <a:t>Level Five Text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152327" y="609177"/>
            <a:ext cx="9406176" cy="0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4"/>
          </a:p>
        </p:txBody>
      </p:sp>
      <p:sp>
        <p:nvSpPr>
          <p:cNvPr id="1029" name="Line 27"/>
          <p:cNvSpPr>
            <a:spLocks noChangeShapeType="1"/>
          </p:cNvSpPr>
          <p:nvPr/>
        </p:nvSpPr>
        <p:spPr bwMode="auto">
          <a:xfrm flipV="1">
            <a:off x="598200" y="6610520"/>
            <a:ext cx="0" cy="21575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2714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049" y="6512166"/>
            <a:ext cx="852077" cy="318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4687223" y="6558168"/>
            <a:ext cx="493476" cy="287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fld id="{A8DA2539-2289-4BBF-8B15-ACBAB22FB2D8}" type="slidenum">
              <a:rPr kumimoji="1" lang="en-US" altLang="ko-KR" sz="978" smtClean="0">
                <a:solidFill>
                  <a:srgbClr val="000000"/>
                </a:solidFill>
                <a:latin typeface="Arial" panose="020B0604020202020204" pitchFamily="34" charset="0"/>
                <a:ea typeface="아리따M"/>
                <a:cs typeface="아리따M"/>
              </a:rPr>
              <a:pPr algn="ctr" eaLnBrk="1" latinLnBrk="1" hangingPunct="1">
                <a:defRPr/>
              </a:pPr>
              <a:t>‹#›</a:t>
            </a:fld>
            <a:endParaRPr kumimoji="1" lang="en-US" altLang="ko-KR" sz="978">
              <a:solidFill>
                <a:srgbClr val="000000"/>
              </a:solidFill>
              <a:latin typeface="Arial" panose="020B0604020202020204" pitchFamily="34" charset="0"/>
              <a:ea typeface="아리따M"/>
              <a:cs typeface="아리따M"/>
            </a:endParaRPr>
          </a:p>
        </p:txBody>
      </p:sp>
      <p:sp>
        <p:nvSpPr>
          <p:cNvPr id="2" name="MSIPCMContentMarking" descr="{&quot;HashCode&quot;:1183346205,&quot;Placement&quot;:&quot;Footer&quot;,&quot;Top&quot;:517.622253,&quot;Left&quot;:0.0,&quot;SlideWidth&quot;:779,&quot;SlideHeight&quot;:539}">
            <a:extLst>
              <a:ext uri="{FF2B5EF4-FFF2-40B4-BE49-F238E27FC236}">
                <a16:creationId xmlns:a16="http://schemas.microsoft.com/office/drawing/2014/main" id="{06CD49F0-D643-4002-B42C-3477312F1EA3}"/>
              </a:ext>
            </a:extLst>
          </p:cNvPr>
          <p:cNvSpPr txBox="1"/>
          <p:nvPr userDrawn="1"/>
        </p:nvSpPr>
        <p:spPr>
          <a:xfrm>
            <a:off x="0" y="6573803"/>
            <a:ext cx="1757926" cy="279435"/>
          </a:xfrm>
          <a:prstGeom prst="rect">
            <a:avLst/>
          </a:prstGeom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altLang="ko-KR" sz="1100">
                <a:solidFill>
                  <a:srgbClr val="5F5F5F"/>
                </a:solidFill>
                <a:latin typeface="Calibri" panose="020F0502020204030204" pitchFamily="34" charset="0"/>
              </a:rPr>
              <a:t>S-OIL: Company Use Only</a:t>
            </a:r>
            <a:endParaRPr lang="ko-KR" altLang="en-US" sz="1100">
              <a:solidFill>
                <a:srgbClr val="5F5F5F"/>
              </a:solidFill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notesSlides/notesSlide1.xml" Type="http://schemas.openxmlformats.org/officeDocument/2006/relationships/notesSlide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1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2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2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showMasterSp="false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Box 7"/>
          <p:cNvSpPr txBox="1">
            <a:spLocks noChangeArrowheads="1"/>
          </p:cNvSpPr>
          <p:nvPr/>
        </p:nvSpPr>
        <p:spPr>
          <a:xfrm>
            <a:off x="2054393" y="2265519"/>
            <a:ext cx="5763041" cy="50435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ITO </a:t>
            </a:r>
            <a:r>
              <a:rPr altLang="en-US" b="0" kumimoji="1" lang="ko-KR" sz="2740">
                <a:solidFill>
                  <a:srgbClr val="000000"/>
                </a:solidFill>
                <a:latin typeface="HY견고딕"/>
                <a:ea typeface="HY견고딕"/>
              </a:rPr>
              <a:t>운영 주간보고서 </a:t>
            </a: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(AMS)</a:t>
            </a:r>
            <a:endParaRPr altLang="en-US" b="0" kumimoji="1" lang="ko-KR" sz="2740">
              <a:solidFill>
                <a:srgbClr val="000000"/>
              </a:solidFill>
              <a:latin typeface="HY견고딕"/>
              <a:ea typeface="HY견고딕"/>
            </a:endParaRPr>
          </a:p>
        </p:txBody>
      </p:sp>
      <p:pic>
        <p:nvPicPr>
          <p:cNvPr id="10243" name="Picture 2"/>
          <p:cNvPicPr>
            <a:picLocks noChangeArrowheads="1"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99459" y="521072"/>
            <a:ext cx="1542506" cy="517276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descr="BD15156_" id="10244" name="Picture 4"/>
          <p:cNvPicPr>
            <a:picLocks noChangeArrowheads="1"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285470" y="2832502"/>
            <a:ext cx="7322635" cy="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245" name="Rectangle 3"/>
          <p:cNvSpPr txBox="1">
            <a:spLocks noChangeArrowheads="1"/>
          </p:cNvSpPr>
          <p:nvPr/>
        </p:nvSpPr>
        <p:spPr>
          <a:xfrm>
            <a:off x="3034575" y="4685685"/>
            <a:ext cx="3808889" cy="372811"/>
          </a:xfrm>
          <a:prstGeom prst="rect">
            <a:avLst/>
          </a:prstGeom>
          <a:noFill/>
          <a:ln>
            <a:noFill/>
          </a:ln>
        </p:spPr>
        <p:txBody>
          <a:bodyPr bIns="46758" lIns="93521" rIns="93521" tIns="18410"/>
          <a:lstStyle>
            <a:lvl1pPr defTabSz="860425" indent="-342900" marL="342900"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1pPr>
            <a:lvl2pPr defTabSz="860425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2pPr>
            <a:lvl3pPr defTabSz="860425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3pPr>
            <a:lvl4pPr defTabSz="860425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4pPr>
            <a:lvl5pPr defTabSz="860425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5pPr>
            <a:lvl6pPr defTabSz="860425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6pPr>
            <a:lvl7pPr defTabSz="860425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7pPr>
            <a:lvl8pPr defTabSz="860425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8pPr>
            <a:lvl9pPr defTabSz="860425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9pPr>
          </a:lstStyle>
          <a:p>
            <a:pPr algn="ctr" eaLnBrk="1" hangingPunct="1" latinLnBrk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Tx/>
              <a:buNone/>
              <a:defRPr/>
            </a:pPr>
            <a:r>
              <a:rPr b="true" lang="en-US" sz="1960">
                <a:latin typeface="맑은 고딕"/>
              </a:rPr>
              <a:t>[2024.09.24 ~ 2024.09.30]</a:t>
            </a:r>
            <a:endParaRPr altLang="ko-KR" kumimoji="0" lang="en-US" sz="1957">
              <a:latin typeface="맑은 고딕"/>
              <a:ea typeface="맑은 고딕"/>
              <a:cs typeface="+mn-cs"/>
            </a:endParaRPr>
          </a:p>
        </p:txBody>
      </p:sp>
      <p:sp>
        <p:nvSpPr>
          <p:cNvPr id="10246" name="TextBox 10"/>
          <p:cNvSpPr txBox="1">
            <a:spLocks noChangeArrowheads="1"/>
          </p:cNvSpPr>
          <p:nvPr/>
        </p:nvSpPr>
        <p:spPr>
          <a:xfrm>
            <a:off x="4171651" y="3559484"/>
            <a:ext cx="1530014" cy="45384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b="true" lang="en-US" sz="1960">
                <a:solidFill>
                  <a:srgbClr val="000000"/>
                </a:solidFill>
                <a:latin typeface="맑은 고딕"/>
              </a:rPr>
              <a:t>9월 6주차</a:t>
            </a:r>
            <a:endParaRPr altLang="en-US" kumimoji="1" lang="ko-KR" sz="2349">
              <a:solidFill>
                <a:srgbClr val="000000"/>
              </a:solidFill>
            </a:endParaRPr>
          </a:p>
        </p:txBody>
      </p:sp>
      <p:sp>
        <p:nvSpPr>
          <p:cNvPr id="9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rgbClr val="BBE0E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>
              <a:spcBef>
                <a:spcPct val="0"/>
              </a:spcBef>
              <a:spcAft>
                <a:spcPct val="0"/>
              </a:spcAft>
            </a:pPr>
            <a:endParaRPr altLang="en-US" lang="ko-KR" sz="2716"/>
          </a:p>
        </p:txBody>
      </p:sp>
      <p:sp>
        <p:nvSpPr>
          <p:cNvPr id="10" name="Line 18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9525">
            <a:solidFill>
              <a:srgbClr val="BBE0E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>
              <a:spcBef>
                <a:spcPct val="0"/>
              </a:spcBef>
              <a:spcAft>
                <a:spcPct val="0"/>
              </a:spcAft>
            </a:pPr>
            <a:endParaRPr altLang="en-US" lang="ko-KR" sz="2716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표 3075"/>
          <p:cNvGraphicFramePr/>
          <p:nvPr>
            <p:extLst>
              <p:ext uri="{D42A27DB-BD31-4B8C-83A1-F6EECF244321}">
                <p14:modId xmlns:p14="http://schemas.microsoft.com/office/powerpoint/2010/main" val="2862881346"/>
              </p:ext>
            </p:extLst>
          </p:nvPr>
        </p:nvGraphicFramePr>
        <p:xfrm>
          <a:off x="271440" y="1141189"/>
          <a:ext cx="9318451" cy="5164874"/>
        </p:xfrm>
        <a:graphic>
          <a:graphicData uri="http://schemas.openxmlformats.org/drawingml/2006/table">
            <a:tbl>
              <a:tblPr bandRow="1" firstRow="1"/>
              <a:tblGrid>
                <a:gridCol w="132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3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1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572"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FF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  <a:endParaRPr altLang="en-US" b="0" dirty="0" i="0" kumimoji="1" lang="ko-KR" sz="900">
                        <a:solidFill>
                          <a:srgbClr val="FF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  <a:endParaRPr altLang="en-US" b="0" dirty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FF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  <a:endParaRPr altLang="en-US" b="0" dirty="0" i="0" kumimoji="1" lang="ko-KR" sz="900">
                        <a:solidFill>
                          <a:srgbClr val="0000FF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392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6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6" marT="45716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17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13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14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327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15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16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추석연휴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17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추석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18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추석연휴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19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20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21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14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22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23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24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25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26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27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28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235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29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46" name="TextBox 3245"/>
          <p:cNvSpPr txBox="1"/>
          <p:nvPr/>
        </p:nvSpPr>
        <p:spPr>
          <a:xfrm>
            <a:off x="5639356" y="661884"/>
            <a:ext cx="661884" cy="36342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none">
            <a:noAutofit/>
          </a:bodyPr>
          <a:lstStyle/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00000"/>
              <a:buFont typeface="Arial"/>
              <a:buChar char="◑"/>
              <a:defRPr/>
            </a:pPr>
            <a:r>
              <a:rPr altLang="en-US" b="0" baseline="0" dirty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반 차</a:t>
            </a:r>
          </a:p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50000"/>
              <a:buFont typeface="Wingdings"/>
              <a:buChar char="l"/>
              <a:defRPr/>
            </a:pPr>
            <a:r>
              <a:rPr altLang="en-US" b="0" baseline="0" dirty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 1day</a:t>
            </a:r>
            <a:endParaRPr altLang="en-US" b="0" dirty="0" i="0" kumimoji="1" lang="ko-KR" sz="900">
              <a:solidFill>
                <a:srgbClr val="3333CC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7" name="TextBox 3246"/>
          <p:cNvSpPr txBox="1"/>
          <p:nvPr/>
        </p:nvSpPr>
        <p:spPr>
          <a:xfrm>
            <a:off x="226954" y="199994"/>
            <a:ext cx="9056616" cy="33646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89" lIns="91577" rIns="91577" tIns="45789" vert="horz" wrap="square">
            <a:noAutofit/>
          </a:bodyPr>
          <a:lstStyle/>
          <a:p>
            <a:pPr algn="l" defTabSz="58846888" eaLnBrk="0" hangingPunct="0" indent="-385813" latinLnBrk="0" lvl="0" marL="38581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별첨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-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202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4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 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09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월 휴가계획서</a:t>
            </a:r>
            <a:endParaRPr altLang="en-US" b="1" dirty="0" i="0" kumimoji="1" lang="ko-KR" sz="16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8" name="TextBox 3247"/>
          <p:cNvSpPr txBox="1"/>
          <p:nvPr/>
        </p:nvSpPr>
        <p:spPr>
          <a:xfrm>
            <a:off x="6777363" y="666628"/>
            <a:ext cx="1447571" cy="35555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Ø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예비군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/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민방위 훈련 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ü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교육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,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 내부회의 </a:t>
            </a:r>
            <a:endParaRPr altLang="en-US" b="0" dirty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2" name="TextBox 3251"/>
          <p:cNvSpPr txBox="1"/>
          <p:nvPr/>
        </p:nvSpPr>
        <p:spPr>
          <a:xfrm>
            <a:off x="7853525" y="661884"/>
            <a:ext cx="1676088" cy="355501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v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경조휴가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Arial"/>
              <a:buChar char="◇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건강검진</a:t>
            </a:r>
            <a:endParaRPr altLang="en-US" b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3" name="TextBox 3252"/>
          <p:cNvSpPr txBox="1"/>
          <p:nvPr/>
        </p:nvSpPr>
        <p:spPr>
          <a:xfrm>
            <a:off x="722167" y="6401209"/>
            <a:ext cx="3085536" cy="22382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20" lIns="91440" rIns="91440" tIns="45720" vert="horz" wrap="none">
            <a:noAutofit/>
          </a:bodyPr>
          <a:lstStyle/>
          <a:p>
            <a:pPr algn="r" defTabSz="75524200" eaLnBrk="0" hangingPunct="0" indent="0" latinLnBrk="0" lvl="0" marL="0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H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IT운영팀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생산IT지원팀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Baynex 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Q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Quintet</a:t>
            </a:r>
            <a:endParaRPr altLang="en-US" b="0" i="0" kumimoji="1" lang="ko-KR" sz="9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AutoShape 125"/>
          <p:cNvSpPr>
            <a:spLocks noChangeArrowheads="1"/>
          </p:cNvSpPr>
          <p:nvPr/>
        </p:nvSpPr>
        <p:spPr bwMode="auto">
          <a:xfrm>
            <a:off x="2486232" y="2518720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altLang="en-US" lang="ko-KR" sz="1566">
                <a:solidFill>
                  <a:schemeClr val="tx1"/>
                </a:solidFill>
              </a:rPr>
              <a:t>주간업무 실적 및 계획</a:t>
            </a:r>
          </a:p>
        </p:txBody>
      </p:sp>
      <p:sp>
        <p:nvSpPr>
          <p:cNvPr id="12291" name="Rectangle 3"/>
          <p:cNvSpPr>
            <a:spLocks noChangeArrowheads="1" noGrp="1"/>
          </p:cNvSpPr>
          <p:nvPr>
            <p:ph idx="4294967295" type="subTitle"/>
          </p:nvPr>
        </p:nvSpPr>
        <p:spPr>
          <a:xfrm>
            <a:off x="255577" y="297385"/>
            <a:ext cx="4927323" cy="372811"/>
          </a:xfrm>
        </p:spPr>
        <p:txBody>
          <a:bodyPr anchor="t" anchorCtr="0" bIns="46759" compatLnSpc="1" lIns="93521" numCol="1" rIns="93521" tIns="18410" vert="horz" wrap="square">
            <a:prstTxWarp prst="textNoShape">
              <a:avLst/>
            </a:prstTxWarp>
          </a:bodyPr>
          <a:lstStyle/>
          <a:p>
            <a:pPr defTabSz="894857" eaLnBrk="1" hangingPunct="1" indent="0" marL="0">
              <a:spcBef>
                <a:spcPct val="0"/>
              </a:spcBef>
              <a:spcAft>
                <a:spcPct val="0"/>
              </a:spcAft>
              <a:buNone/>
            </a:pPr>
            <a:r>
              <a:rPr altLang="en-US" b="1" lang="ko-KR" sz="1566">
                <a:latin charset="-127" panose="020B0503020000020004" pitchFamily="50" typeface="맑은 고딕"/>
                <a:ea charset="-127" panose="020B0503020000020004" pitchFamily="50" typeface="맑은 고딕"/>
              </a:rPr>
              <a:t>목차 </a:t>
            </a:r>
          </a:p>
        </p:txBody>
      </p:sp>
      <p:sp>
        <p:nvSpPr>
          <p:cNvPr id="12292" name="AutoShape 88"/>
          <p:cNvSpPr>
            <a:spLocks noChangeArrowheads="1"/>
          </p:cNvSpPr>
          <p:nvPr/>
        </p:nvSpPr>
        <p:spPr bwMode="auto">
          <a:xfrm>
            <a:off x="2487786" y="1943968"/>
            <a:ext cx="5711780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altLang="ko-KR" lang="en-US" sz="1566">
                <a:solidFill>
                  <a:schemeClr val="tx1"/>
                </a:solidFill>
              </a:rPr>
              <a:t>Summary</a:t>
            </a:r>
            <a:endParaRPr altLang="en-US" lang="ko-KR" sz="1566">
              <a:solidFill>
                <a:schemeClr val="tx1"/>
              </a:solidFill>
            </a:endParaRPr>
          </a:p>
        </p:txBody>
      </p:sp>
      <p:grpSp>
        <p:nvGrpSpPr>
          <p:cNvPr id="12293" name="Group 89"/>
          <p:cNvGrpSpPr>
            <a:grpSpLocks/>
          </p:cNvGrpSpPr>
          <p:nvPr/>
        </p:nvGrpSpPr>
        <p:grpSpPr bwMode="auto">
          <a:xfrm>
            <a:off x="2046626" y="2487652"/>
            <a:ext cx="539023" cy="487761"/>
            <a:chOff x="2225" y="1060"/>
            <a:chExt cx="294" cy="292"/>
          </a:xfrm>
        </p:grpSpPr>
        <p:grpSp>
          <p:nvGrpSpPr>
            <p:cNvPr id="12303" name="Group 90"/>
            <p:cNvGrpSpPr>
              <a:grpSpLocks/>
            </p:cNvGrpSpPr>
            <p:nvPr/>
          </p:nvGrpSpPr>
          <p:grpSpPr bwMode="auto">
            <a:xfrm>
              <a:off x="2225" y="1060"/>
              <a:ext cx="294" cy="292"/>
              <a:chOff x="-233" y="400"/>
              <a:chExt cx="669" cy="669"/>
            </a:xfrm>
          </p:grpSpPr>
          <p:grpSp>
            <p:nvGrpSpPr>
              <p:cNvPr id="12305" name="Group 91"/>
              <p:cNvGrpSpPr>
                <a:grpSpLocks/>
              </p:cNvGrpSpPr>
              <p:nvPr/>
            </p:nvGrpSpPr>
            <p:grpSpPr bwMode="auto">
              <a:xfrm>
                <a:off x="-233" y="400"/>
                <a:ext cx="669" cy="669"/>
                <a:chOff x="5297" y="1592"/>
                <a:chExt cx="669" cy="669"/>
              </a:xfrm>
            </p:grpSpPr>
            <p:sp>
              <p:nvSpPr>
                <p:cNvPr id="12307" name="Oval 92"/>
                <p:cNvSpPr>
                  <a:spLocks noChangeArrowheads="1"/>
                </p:cNvSpPr>
                <p:nvPr/>
              </p:nvSpPr>
              <p:spPr bwMode="auto">
                <a:xfrm>
                  <a:off x="5297" y="1592"/>
                  <a:ext cx="669" cy="669"/>
                </a:xfrm>
                <a:prstGeom prst="ellipse">
                  <a:avLst/>
                </a:prstGeom>
                <a:solidFill>
                  <a:srgbClr val="EAEEF6"/>
                </a:solidFill>
                <a:ln algn="ctr" w="6350">
                  <a:solidFill>
                    <a:srgbClr val="95AAD3"/>
                  </a:solidFill>
                  <a:round/>
                  <a:headEnd/>
                  <a:tailEnd/>
                </a:ln>
                <a:effectLst>
                  <a:outerShdw algn="ctr" dir="2700000" dist="35921" rotWithShape="0">
                    <a:schemeClr val="bg2"/>
                  </a:outerShdw>
                </a:effec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  <p:sp>
              <p:nvSpPr>
                <p:cNvPr id="12308" name="Oval 93"/>
                <p:cNvSpPr>
                  <a:spLocks noChangeArrowheads="1"/>
                </p:cNvSpPr>
                <p:nvPr/>
              </p:nvSpPr>
              <p:spPr bwMode="auto">
                <a:xfrm>
                  <a:off x="5343" y="1615"/>
                  <a:ext cx="578" cy="58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95AAD3"/>
                    </a:gs>
                    <a:gs pos="100000">
                      <a:srgbClr val="405F9E"/>
                    </a:gs>
                  </a:gsLst>
                  <a:lin ang="5400000" scaled="1"/>
                </a:gradFill>
                <a:ln>
                  <a:noFill/>
                </a:ln>
                <a:effectLst>
                  <a:outerShdw algn="ctr" dir="2700000" dist="35921" rotWithShape="0">
                    <a:schemeClr val="bg2"/>
                  </a:outerShdw>
                </a:effectLst>
                <a:extLst>
                  <a:ext uri="{91240B29-F687-4F45-9708-019B960494DF}">
                    <a14:hiddenLine xmlns:a14="http://schemas.microsoft.com/office/drawing/2010/main" algn="ctr" w="635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</p:grpSp>
          <p:sp>
            <p:nvSpPr>
              <p:cNvPr id="12306" name="Oval 94"/>
              <p:cNvSpPr>
                <a:spLocks noChangeArrowheads="1"/>
              </p:cNvSpPr>
              <p:nvPr/>
            </p:nvSpPr>
            <p:spPr bwMode="auto">
              <a:xfrm rot="-1800000">
                <a:off x="-142" y="464"/>
                <a:ext cx="307" cy="194"/>
              </a:xfrm>
              <a:prstGeom prst="ellipse">
                <a:avLst/>
              </a:prstGeom>
              <a:gradFill rotWithShape="1">
                <a:gsLst>
                  <a:gs pos="0">
                    <a:srgbClr val="EAEEF6"/>
                  </a:gs>
                  <a:gs pos="100000">
                    <a:srgbClr val="8299C8"/>
                  </a:gs>
                </a:gsLst>
                <a:lin ang="5400000" scaled="1"/>
              </a:gradFill>
              <a:ln>
                <a:noFill/>
              </a:ln>
              <a:effectLst>
                <a:outerShdw algn="ctr" dir="2700000" dist="35921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algn="ctr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wrap="none"/>
              <a:lstStyle>
                <a:lvl1pPr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1pPr>
                <a:lvl2pPr indent="-285750" marL="74295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2pPr>
                <a:lvl3pPr indent="-228600" marL="11430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3pPr>
                <a:lvl4pPr indent="-228600" marL="16002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4pPr>
                <a:lvl5pPr indent="-228600" marL="20574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5pPr>
                <a:lvl6pPr eaLnBrk="0" fontAlgn="base" hangingPunct="0" indent="-228600" marL="25146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6pPr>
                <a:lvl7pPr eaLnBrk="0" fontAlgn="base" hangingPunct="0" indent="-228600" marL="29718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7pPr>
                <a:lvl8pPr eaLnBrk="0" fontAlgn="base" hangingPunct="0" indent="-228600" marL="34290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8pPr>
                <a:lvl9pPr eaLnBrk="0" fontAlgn="base" hangingPunct="0" indent="-228600" marL="38862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9pPr>
              </a:lstStyle>
              <a:p>
                <a:pPr algn="r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altLang="en-US" lang="ko-KR" sz="1566">
                  <a:latin charset="-127" panose="02030600000101010101" pitchFamily="18" typeface="새굴림"/>
                  <a:ea charset="-127" panose="02030600000101010101" pitchFamily="18" typeface="새굴림"/>
                </a:endParaRPr>
              </a:p>
            </p:txBody>
          </p:sp>
        </p:grpSp>
        <p:sp>
          <p:nvSpPr>
            <p:cNvPr id="12304" name="Text Box 95"/>
            <p:cNvSpPr txBox="1">
              <a:spLocks noChangeArrowheads="1"/>
            </p:cNvSpPr>
            <p:nvPr/>
          </p:nvSpPr>
          <p:spPr bwMode="auto">
            <a:xfrm>
              <a:off x="2293" y="1105"/>
              <a:ext cx="163" cy="185"/>
            </a:xfrm>
            <a:prstGeom prst="rect">
              <a:avLst/>
            </a:prstGeom>
            <a:noFill/>
            <a:ln>
              <a:noFill/>
            </a:ln>
            <a:effectLst>
              <a:outerShdw algn="ctr" dir="2700000" dist="35921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wrap="none">
              <a:spAutoFit/>
            </a:bodyPr>
            <a:lstStyle>
              <a:lvl1pPr defTabSz="762000" indent="-187325" marL="187325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defTabSz="762000"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defTabSz="762000"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defTabSz="762000"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defTabSz="762000"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defTabSz="762000"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defTabSz="762000"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defTabSz="762000"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defTabSz="762000"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altLang="ko-KR" lang="en-US" sz="1566">
                  <a:latin charset="-127" panose="02030600000101010101" pitchFamily="18" typeface="새굴림"/>
                  <a:ea charset="-127" panose="02030600000101010101" pitchFamily="18" typeface="새굴림"/>
                </a:rPr>
                <a:t>2</a:t>
              </a:r>
            </a:p>
          </p:txBody>
        </p:sp>
      </p:grpSp>
      <p:grpSp>
        <p:nvGrpSpPr>
          <p:cNvPr id="12294" name="Group 116"/>
          <p:cNvGrpSpPr>
            <a:grpSpLocks/>
          </p:cNvGrpSpPr>
          <p:nvPr/>
        </p:nvGrpSpPr>
        <p:grpSpPr bwMode="auto">
          <a:xfrm>
            <a:off x="2034199" y="1928435"/>
            <a:ext cx="563877" cy="487761"/>
            <a:chOff x="2225" y="1060"/>
            <a:chExt cx="294" cy="292"/>
          </a:xfrm>
        </p:grpSpPr>
        <p:grpSp>
          <p:nvGrpSpPr>
            <p:cNvPr id="12297" name="Group 117"/>
            <p:cNvGrpSpPr>
              <a:grpSpLocks/>
            </p:cNvGrpSpPr>
            <p:nvPr/>
          </p:nvGrpSpPr>
          <p:grpSpPr bwMode="auto">
            <a:xfrm>
              <a:off x="2225" y="1060"/>
              <a:ext cx="294" cy="292"/>
              <a:chOff x="-233" y="400"/>
              <a:chExt cx="669" cy="669"/>
            </a:xfrm>
          </p:grpSpPr>
          <p:grpSp>
            <p:nvGrpSpPr>
              <p:cNvPr id="12299" name="Group 118"/>
              <p:cNvGrpSpPr>
                <a:grpSpLocks/>
              </p:cNvGrpSpPr>
              <p:nvPr/>
            </p:nvGrpSpPr>
            <p:grpSpPr bwMode="auto">
              <a:xfrm>
                <a:off x="-233" y="400"/>
                <a:ext cx="669" cy="669"/>
                <a:chOff x="5297" y="1592"/>
                <a:chExt cx="669" cy="669"/>
              </a:xfrm>
            </p:grpSpPr>
            <p:sp>
              <p:nvSpPr>
                <p:cNvPr id="12301" name="Oval 119"/>
                <p:cNvSpPr>
                  <a:spLocks noChangeArrowheads="1"/>
                </p:cNvSpPr>
                <p:nvPr/>
              </p:nvSpPr>
              <p:spPr bwMode="auto">
                <a:xfrm>
                  <a:off x="5297" y="1592"/>
                  <a:ext cx="669" cy="669"/>
                </a:xfrm>
                <a:prstGeom prst="ellipse">
                  <a:avLst/>
                </a:prstGeom>
                <a:solidFill>
                  <a:srgbClr val="EAEEF6"/>
                </a:solidFill>
                <a:ln algn="ctr" w="6350">
                  <a:solidFill>
                    <a:srgbClr val="95AAD3"/>
                  </a:solidFill>
                  <a:round/>
                  <a:headEnd/>
                  <a:tailEnd/>
                </a:ln>
                <a:effectLst>
                  <a:outerShdw algn="ctr" dir="2700000" dist="35921" rotWithShape="0">
                    <a:schemeClr val="bg2"/>
                  </a:outerShdw>
                </a:effec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  <p:sp>
              <p:nvSpPr>
                <p:cNvPr id="12302" name="Oval 120"/>
                <p:cNvSpPr>
                  <a:spLocks noChangeArrowheads="1"/>
                </p:cNvSpPr>
                <p:nvPr/>
              </p:nvSpPr>
              <p:spPr bwMode="auto">
                <a:xfrm>
                  <a:off x="5343" y="1615"/>
                  <a:ext cx="579" cy="58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95AAD3"/>
                    </a:gs>
                    <a:gs pos="100000">
                      <a:srgbClr val="405F9E"/>
                    </a:gs>
                  </a:gsLst>
                  <a:lin ang="5400000" scaled="1"/>
                </a:gradFill>
                <a:ln>
                  <a:noFill/>
                </a:ln>
                <a:effectLst>
                  <a:outerShdw algn="ctr" dir="2700000" dist="35921" rotWithShape="0">
                    <a:schemeClr val="bg2"/>
                  </a:outerShdw>
                </a:effectLst>
                <a:extLst>
                  <a:ext uri="{91240B29-F687-4F45-9708-019B960494DF}">
                    <a14:hiddenLine xmlns:a14="http://schemas.microsoft.com/office/drawing/2010/main" algn="ctr" w="635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</p:grpSp>
          <p:sp>
            <p:nvSpPr>
              <p:cNvPr id="12300" name="Oval 121"/>
              <p:cNvSpPr>
                <a:spLocks noChangeArrowheads="1"/>
              </p:cNvSpPr>
              <p:nvPr/>
            </p:nvSpPr>
            <p:spPr bwMode="auto">
              <a:xfrm rot="-1800000">
                <a:off x="-143" y="464"/>
                <a:ext cx="308" cy="194"/>
              </a:xfrm>
              <a:prstGeom prst="ellipse">
                <a:avLst/>
              </a:prstGeom>
              <a:gradFill rotWithShape="1">
                <a:gsLst>
                  <a:gs pos="0">
                    <a:srgbClr val="EAEEF6"/>
                  </a:gs>
                  <a:gs pos="100000">
                    <a:srgbClr val="8299C8"/>
                  </a:gs>
                </a:gsLst>
                <a:lin ang="5400000" scaled="1"/>
              </a:gradFill>
              <a:ln>
                <a:noFill/>
              </a:ln>
              <a:effectLst>
                <a:outerShdw algn="ctr" dir="2700000" dist="35921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algn="ctr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wrap="none"/>
              <a:lstStyle>
                <a:lvl1pPr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1pPr>
                <a:lvl2pPr indent="-285750" marL="74295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2pPr>
                <a:lvl3pPr indent="-228600" marL="11430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3pPr>
                <a:lvl4pPr indent="-228600" marL="16002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4pPr>
                <a:lvl5pPr indent="-228600" marL="20574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5pPr>
                <a:lvl6pPr eaLnBrk="0" fontAlgn="base" hangingPunct="0" indent="-228600" marL="25146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6pPr>
                <a:lvl7pPr eaLnBrk="0" fontAlgn="base" hangingPunct="0" indent="-228600" marL="29718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7pPr>
                <a:lvl8pPr eaLnBrk="0" fontAlgn="base" hangingPunct="0" indent="-228600" marL="34290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8pPr>
                <a:lvl9pPr eaLnBrk="0" fontAlgn="base" hangingPunct="0" indent="-228600" marL="38862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9pPr>
              </a:lstStyle>
              <a:p>
                <a:pPr algn="r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altLang="en-US" lang="ko-KR" sz="1566">
                  <a:latin charset="-127" panose="02030600000101010101" pitchFamily="18" typeface="새굴림"/>
                  <a:ea charset="-127" panose="02030600000101010101" pitchFamily="18" typeface="새굴림"/>
                </a:endParaRPr>
              </a:p>
            </p:txBody>
          </p:sp>
        </p:grpSp>
        <p:sp>
          <p:nvSpPr>
            <p:cNvPr id="12298" name="Text Box 122"/>
            <p:cNvSpPr txBox="1">
              <a:spLocks noChangeArrowheads="1"/>
            </p:cNvSpPr>
            <p:nvPr/>
          </p:nvSpPr>
          <p:spPr bwMode="auto">
            <a:xfrm>
              <a:off x="2295" y="1105"/>
              <a:ext cx="156" cy="185"/>
            </a:xfrm>
            <a:prstGeom prst="rect">
              <a:avLst/>
            </a:prstGeom>
            <a:noFill/>
            <a:ln>
              <a:noFill/>
            </a:ln>
            <a:effectLst>
              <a:outerShdw algn="ctr" dir="2700000" dist="35921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wrap="none">
              <a:spAutoFit/>
            </a:bodyPr>
            <a:lstStyle>
              <a:lvl1pPr defTabSz="762000" indent="-187325" marL="187325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defTabSz="762000"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defTabSz="762000"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defTabSz="762000"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defTabSz="762000"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defTabSz="762000"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defTabSz="762000"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defTabSz="762000"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defTabSz="762000"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altLang="ko-KR" lang="en-US" sz="1566">
                  <a:latin charset="-127" panose="02030600000101010101" pitchFamily="18" typeface="새굴림"/>
                  <a:ea charset="-127" panose="02030600000101010101" pitchFamily="18" typeface="새굴림"/>
                </a:rPr>
                <a:t>1</a:t>
              </a:r>
            </a:p>
          </p:txBody>
        </p:sp>
      </p:grpSp>
      <p:sp>
        <p:nvSpPr>
          <p:cNvPr id="12295" name="AutoShape 125"/>
          <p:cNvSpPr>
            <a:spLocks noChangeArrowheads="1"/>
          </p:cNvSpPr>
          <p:nvPr/>
        </p:nvSpPr>
        <p:spPr bwMode="auto">
          <a:xfrm>
            <a:off x="2492446" y="3130752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charset="2" panose="05000000000000000000" pitchFamily="2" typeface="Wingdings"/>
              <a:buChar char="v"/>
            </a:pPr>
            <a:r>
              <a:rPr altLang="en-US" kumimoji="1" lang="ko-KR" sz="1370">
                <a:solidFill>
                  <a:srgbClr val="000000"/>
                </a:solidFill>
              </a:rPr>
              <a:t>별첨 </a:t>
            </a:r>
            <a:r>
              <a:rPr altLang="ko-KR" kumimoji="1" lang="en-US" sz="1370">
                <a:solidFill>
                  <a:srgbClr val="000000"/>
                </a:solidFill>
              </a:rPr>
              <a:t>1] ERP </a:t>
            </a:r>
            <a:r>
              <a:rPr altLang="en-US" kumimoji="1" lang="ko-KR" sz="1370">
                <a:solidFill>
                  <a:srgbClr val="000000"/>
                </a:solidFill>
              </a:rPr>
              <a:t>사용자 계정 및 보안관리</a:t>
            </a:r>
          </a:p>
        </p:txBody>
      </p:sp>
      <p:sp>
        <p:nvSpPr>
          <p:cNvPr id="12296" name="AutoShape 125"/>
          <p:cNvSpPr>
            <a:spLocks noChangeArrowheads="1"/>
          </p:cNvSpPr>
          <p:nvPr/>
        </p:nvSpPr>
        <p:spPr bwMode="auto">
          <a:xfrm>
            <a:off x="2492446" y="3578125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charset="2" panose="05000000000000000000" pitchFamily="2" typeface="Wingdings"/>
              <a:buChar char="v"/>
            </a:pPr>
            <a:r>
              <a:rPr altLang="en-US" kumimoji="1" lang="ko-KR" sz="1370">
                <a:solidFill>
                  <a:srgbClr val="000000"/>
                </a:solidFill>
              </a:rPr>
              <a:t>별첨 </a:t>
            </a:r>
            <a:r>
              <a:rPr altLang="ko-KR" kumimoji="1" lang="en-US" sz="1370">
                <a:solidFill>
                  <a:srgbClr val="000000"/>
                </a:solidFill>
              </a:rPr>
              <a:t>2] </a:t>
            </a:r>
            <a:r>
              <a:rPr altLang="en-US" kumimoji="1" lang="ko-KR" sz="1370">
                <a:solidFill>
                  <a:srgbClr val="000000"/>
                </a:solidFill>
              </a:rPr>
              <a:t>휴가계획서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16458" name="Text">
    </p:cNvPr>
          <p:cNvSpPr>
            <a:spLocks noGrp="1"/>
          </p:cNvSpPr>
          <p:nvPr/>
        </p:nvSpPr>
        <p:spPr>
          <a:xfrm rot="0">
            <a:off x="8674100" y="76200"/>
            <a:ext cx="762000" cy="508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8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80">
                <a:latin typeface="맑은 고딕"/>
                <a:ea typeface="맑은 고딕"/>
                <a:cs typeface="맑은 고딕"/>
              </a:rPr>
              <a:t>: 완료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:진행중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:미완료(문제)</a:t>
            </a:r>
          </a:p>
        </p:txBody>
      </p:sp>
      <p:sp>
        <p:nvSpPr>
          <p:cNvPr id="1602162776" name="Rectangle"/>
          <p:cNvSpPr>
            <a:spLocks noGrp="1"/>
          </p:cNvSpPr>
          <p:nvPr/>
        </p:nvSpPr>
        <p:spPr>
          <a:xfrm>
            <a:off x="8420100" y="50800"/>
            <a:ext cx="254000" cy="139700"/>
          </a:xfrm>
          <a:prstGeom prst="rect">
            <a:avLst/>
          </a:prstGeom>
          <a:solidFill>
            <a:srgbClr val="00FF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1057766602" name="Rectangle"/>
          <p:cNvSpPr>
            <a:spLocks noGrp="1"/>
          </p:cNvSpPr>
          <p:nvPr/>
        </p:nvSpPr>
        <p:spPr>
          <a:xfrm>
            <a:off x="8420100" y="228600"/>
            <a:ext cx="254000" cy="139700"/>
          </a:xfrm>
          <a:prstGeom prst="rect">
            <a:avLst/>
          </a:prstGeom>
          <a:solidFill>
            <a:srgbClr val="FFFF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2121100101" name="Rectangle"/>
          <p:cNvSpPr>
            <a:spLocks noGrp="1"/>
          </p:cNvSpPr>
          <p:nvPr/>
        </p:nvSpPr>
        <p:spPr>
          <a:xfrm>
            <a:off x="8420100" y="406400"/>
            <a:ext cx="254000" cy="1397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913941192" name="Text">
    </p:cNvPr>
          <p:cNvSpPr>
            <a:spLocks noGrp="1"/>
          </p:cNvSpPr>
          <p:nvPr/>
        </p:nvSpPr>
        <p:spPr>
          <a:xfrm rot="0">
            <a:off x="127000" y="190500"/>
            <a:ext cx="5181600" cy="381000"/>
          </a:xfrm>
          <a:prstGeom prst="rect">
            <a:avLst/>
          </a:prstGeom>
        </p:spPr>
        <p:txBody>
          <a:bodyPr anchor="b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2. Summary - ①Baynex</a:t>
            </a:r>
          </a:p>
        </p:txBody>
      </p:sp>
      <p:sp>
        <p:nvSpPr>
          <p:cNvPr id="295934351" name="Text">
    </p:cNvPr>
          <p:cNvSpPr>
            <a:spLocks noGrp="1"/>
          </p:cNvSpPr>
          <p:nvPr/>
        </p:nvSpPr>
        <p:spPr>
          <a:xfrm rot="0">
            <a:off x="190500" y="7493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26910749" name="Text">
    </p:cNvPr>
          <p:cNvSpPr>
            <a:spLocks noGrp="1"/>
          </p:cNvSpPr>
          <p:nvPr/>
        </p:nvSpPr>
        <p:spPr>
          <a:xfrm rot="0">
            <a:off x="165100" y="723900"/>
            <a:ext cx="2108200" cy="2159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 금주 업무 실적</a:t>
            </a:r>
          </a:p>
        </p:txBody>
      </p:sp>
      <p:sp>
        <p:nvSpPr>
          <p:cNvPr id="1521836281" name="Text">
    </p:cNvPr>
          <p:cNvSpPr>
            <a:spLocks noGrp="1"/>
          </p:cNvSpPr>
          <p:nvPr/>
        </p:nvSpPr>
        <p:spPr>
          <a:xfrm rot="0">
            <a:off x="152400" y="977900"/>
            <a:ext cx="7366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564258437" name="Text">
    </p:cNvPr>
          <p:cNvSpPr>
            <a:spLocks noGrp="1"/>
          </p:cNvSpPr>
          <p:nvPr/>
        </p:nvSpPr>
        <p:spPr>
          <a:xfrm rot="0">
            <a:off x="889000" y="977900"/>
            <a:ext cx="46482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742616287" name="Text">
    </p:cNvPr>
          <p:cNvSpPr>
            <a:spLocks noGrp="1"/>
          </p:cNvSpPr>
          <p:nvPr/>
        </p:nvSpPr>
        <p:spPr>
          <a:xfrm rot="0">
            <a:off x="6108700" y="977900"/>
            <a:ext cx="762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진행율</a:t>
            </a:r>
          </a:p>
        </p:txBody>
      </p:sp>
      <p:sp>
        <p:nvSpPr>
          <p:cNvPr id="1531700143" name="Text">
    </p:cNvPr>
          <p:cNvSpPr>
            <a:spLocks noGrp="1"/>
          </p:cNvSpPr>
          <p:nvPr/>
        </p:nvSpPr>
        <p:spPr>
          <a:xfrm rot="0">
            <a:off x="6870700" y="977900"/>
            <a:ext cx="254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상</a:t>
            </a:r>
            <a:br/>
            <a:r>
              <a:rPr lang="ko" sz="1000">
                <a:latin typeface="맑은 고딕"/>
                <a:ea typeface="맑은 고딕"/>
                <a:cs typeface="맑은 고딕"/>
              </a:rPr>
              <a:t>태</a:t>
            </a:r>
          </a:p>
        </p:txBody>
      </p:sp>
      <p:sp>
        <p:nvSpPr>
          <p:cNvPr id="705225367" name="Text">
    </p:cNvPr>
          <p:cNvSpPr>
            <a:spLocks noGrp="1"/>
          </p:cNvSpPr>
          <p:nvPr/>
        </p:nvSpPr>
        <p:spPr>
          <a:xfrm rot="0">
            <a:off x="7124700" y="977900"/>
            <a:ext cx="26543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78888093" name="Text">
    </p:cNvPr>
          <p:cNvSpPr>
            <a:spLocks noGrp="1"/>
          </p:cNvSpPr>
          <p:nvPr/>
        </p:nvSpPr>
        <p:spPr>
          <a:xfrm rot="0">
            <a:off x="5537200" y="977900"/>
            <a:ext cx="5715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857804096" name="Frame"/>
          <p:cNvSpPr>
            <a:spLocks noGrp="1"/>
          </p:cNvSpPr>
          <p:nvPr/>
        </p:nvSpPr>
        <p:spPr>
          <a:xfrm>
            <a:off x="25400" y="5245100"/>
            <a:ext cx="9855200" cy="11430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938726928" name="Text">
    </p:cNvPr>
          <p:cNvSpPr>
            <a:spLocks noGrp="1"/>
          </p:cNvSpPr>
          <p:nvPr/>
        </p:nvSpPr>
        <p:spPr>
          <a:xfrm rot="0">
            <a:off x="152400" y="5270500"/>
            <a:ext cx="2476500" cy="228600"/>
          </a:xfrm>
          <a:prstGeom prst="rect">
            <a:avLst/>
          </a:prstGeom>
          <a:solidFill>
            <a:srgbClr val="CCFFCC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ERP 디버깅 권한신청 처리현황</a:t>
            </a:r>
          </a:p>
        </p:txBody>
      </p:sp>
      <p:sp>
        <p:nvSpPr>
          <p:cNvPr id="1518507555" name="Text">
    </p:cNvPr>
          <p:cNvSpPr>
            <a:spLocks noGrp="1"/>
          </p:cNvSpPr>
          <p:nvPr/>
        </p:nvSpPr>
        <p:spPr>
          <a:xfrm rot="0">
            <a:off x="6451600" y="58039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29094842" name="Text">
    </p:cNvPr>
          <p:cNvSpPr>
            <a:spLocks noGrp="1"/>
          </p:cNvSpPr>
          <p:nvPr/>
        </p:nvSpPr>
        <p:spPr>
          <a:xfrm rot="0">
            <a:off x="2057400" y="58039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25635998" name="Text">
    </p:cNvPr>
          <p:cNvSpPr>
            <a:spLocks noGrp="1"/>
          </p:cNvSpPr>
          <p:nvPr/>
        </p:nvSpPr>
        <p:spPr>
          <a:xfrm rot="0">
            <a:off x="101600" y="58039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64646607" name="Text">
    </p:cNvPr>
          <p:cNvSpPr>
            <a:spLocks noGrp="1"/>
          </p:cNvSpPr>
          <p:nvPr/>
        </p:nvSpPr>
        <p:spPr>
          <a:xfrm rot="0">
            <a:off x="101600" y="5562600"/>
            <a:ext cx="1143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Date</a:t>
            </a:r>
          </a:p>
        </p:txBody>
      </p:sp>
      <p:sp>
        <p:nvSpPr>
          <p:cNvPr id="522943816" name="Text">
    </p:cNvPr>
          <p:cNvSpPr>
            <a:spLocks noGrp="1"/>
          </p:cNvSpPr>
          <p:nvPr/>
        </p:nvSpPr>
        <p:spPr>
          <a:xfrm rot="0">
            <a:off x="2057400" y="5562600"/>
            <a:ext cx="43942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Text (변경값)</a:t>
            </a:r>
          </a:p>
        </p:txBody>
      </p:sp>
      <p:sp>
        <p:nvSpPr>
          <p:cNvPr id="943036761" name="Text">
    </p:cNvPr>
          <p:cNvSpPr>
            <a:spLocks noGrp="1"/>
          </p:cNvSpPr>
          <p:nvPr/>
        </p:nvSpPr>
        <p:spPr>
          <a:xfrm rot="0">
            <a:off x="6451600" y="5562600"/>
            <a:ext cx="1651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 권한신청서번호</a:t>
            </a:r>
          </a:p>
        </p:txBody>
      </p:sp>
      <p:sp>
        <p:nvSpPr>
          <p:cNvPr id="638785265" name="Text">
    </p:cNvPr>
          <p:cNvSpPr>
            <a:spLocks noGrp="1"/>
          </p:cNvSpPr>
          <p:nvPr/>
        </p:nvSpPr>
        <p:spPr>
          <a:xfrm rot="0">
            <a:off x="101600" y="60960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06518110" name="Text">
    </p:cNvPr>
          <p:cNvSpPr>
            <a:spLocks noGrp="1"/>
          </p:cNvSpPr>
          <p:nvPr/>
        </p:nvSpPr>
        <p:spPr>
          <a:xfrm rot="0">
            <a:off x="6451600" y="60960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9730453" name="Text">
    </p:cNvPr>
          <p:cNvSpPr>
            <a:spLocks noGrp="1"/>
          </p:cNvSpPr>
          <p:nvPr/>
        </p:nvSpPr>
        <p:spPr>
          <a:xfrm rot="0">
            <a:off x="2057400" y="60960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95332515" name="Text">
    </p:cNvPr>
          <p:cNvSpPr>
            <a:spLocks noGrp="1"/>
          </p:cNvSpPr>
          <p:nvPr/>
        </p:nvSpPr>
        <p:spPr>
          <a:xfrm rot="0">
            <a:off x="1244600" y="60960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88546303" name="Text">
    </p:cNvPr>
          <p:cNvSpPr>
            <a:spLocks noGrp="1"/>
          </p:cNvSpPr>
          <p:nvPr/>
        </p:nvSpPr>
        <p:spPr>
          <a:xfrm rot="0">
            <a:off x="1244600" y="58039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35259537" name="Text">
    </p:cNvPr>
          <p:cNvSpPr>
            <a:spLocks noGrp="1"/>
          </p:cNvSpPr>
          <p:nvPr/>
        </p:nvSpPr>
        <p:spPr>
          <a:xfrm rot="0">
            <a:off x="1244600" y="5562600"/>
            <a:ext cx="812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User</a:t>
            </a:r>
          </a:p>
        </p:txBody>
      </p:sp>
      <p:sp>
        <p:nvSpPr>
          <p:cNvPr id="1154274586" name="Text">
    </p:cNvPr>
          <p:cNvSpPr>
            <a:spLocks noGrp="1"/>
          </p:cNvSpPr>
          <p:nvPr/>
        </p:nvSpPr>
        <p:spPr>
          <a:xfrm rot="0">
            <a:off x="8102600" y="60960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4947794" name="Text">
    </p:cNvPr>
          <p:cNvSpPr>
            <a:spLocks noGrp="1"/>
          </p:cNvSpPr>
          <p:nvPr/>
        </p:nvSpPr>
        <p:spPr>
          <a:xfrm rot="0">
            <a:off x="8102600" y="5562600"/>
            <a:ext cx="1701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구분(일반/긴급)</a:t>
            </a:r>
          </a:p>
        </p:txBody>
      </p:sp>
      <p:sp>
        <p:nvSpPr>
          <p:cNvPr id="737922527" name="Text">
    </p:cNvPr>
          <p:cNvSpPr>
            <a:spLocks noGrp="1"/>
          </p:cNvSpPr>
          <p:nvPr/>
        </p:nvSpPr>
        <p:spPr>
          <a:xfrm rot="0">
            <a:off x="8102600" y="58039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69922248" name="Frame"/>
          <p:cNvSpPr>
            <a:spLocks noGrp="1"/>
          </p:cNvSpPr>
          <p:nvPr/>
        </p:nvSpPr>
        <p:spPr>
          <a:xfrm>
            <a:off x="101600" y="2984500"/>
            <a:ext cx="9779000" cy="20955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977303076" name="Text">
    </p:cNvPr>
          <p:cNvSpPr>
            <a:spLocks noGrp="1"/>
          </p:cNvSpPr>
          <p:nvPr/>
        </p:nvSpPr>
        <p:spPr>
          <a:xfrm rot="0">
            <a:off x="165100" y="30480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023091517" name="Text">
    </p:cNvPr>
          <p:cNvSpPr>
            <a:spLocks noGrp="1"/>
          </p:cNvSpPr>
          <p:nvPr/>
        </p:nvSpPr>
        <p:spPr>
          <a:xfrm rot="0">
            <a:off x="152400" y="3009900"/>
            <a:ext cx="2095500" cy="228600"/>
          </a:xfrm>
          <a:prstGeom prst="rect">
            <a:avLst/>
          </a:prstGeom>
          <a:solidFill>
            <a:srgbClr val="FF9900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 차주 업무 계획</a:t>
            </a:r>
          </a:p>
        </p:txBody>
      </p:sp>
      <p:sp>
        <p:nvSpPr>
          <p:cNvPr id="225792709" name="Text">
    </p:cNvPr>
          <p:cNvSpPr>
            <a:spLocks noGrp="1"/>
          </p:cNvSpPr>
          <p:nvPr/>
        </p:nvSpPr>
        <p:spPr>
          <a:xfrm rot="0">
            <a:off x="165100" y="3263900"/>
            <a:ext cx="7366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856194008" name="Text">
    </p:cNvPr>
          <p:cNvSpPr>
            <a:spLocks noGrp="1"/>
          </p:cNvSpPr>
          <p:nvPr/>
        </p:nvSpPr>
        <p:spPr>
          <a:xfrm rot="0">
            <a:off x="901700" y="3263900"/>
            <a:ext cx="46482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486397949" name="Text">
    </p:cNvPr>
          <p:cNvSpPr>
            <a:spLocks noGrp="1"/>
          </p:cNvSpPr>
          <p:nvPr/>
        </p:nvSpPr>
        <p:spPr>
          <a:xfrm rot="0">
            <a:off x="5549900" y="3263900"/>
            <a:ext cx="5715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완료예정</a:t>
            </a:r>
          </a:p>
        </p:txBody>
      </p:sp>
      <p:sp>
        <p:nvSpPr>
          <p:cNvPr id="1263943002" name="Text">
    </p:cNvPr>
          <p:cNvSpPr>
            <a:spLocks noGrp="1"/>
          </p:cNvSpPr>
          <p:nvPr/>
        </p:nvSpPr>
        <p:spPr>
          <a:xfrm rot="0">
            <a:off x="6121400" y="3263900"/>
            <a:ext cx="36449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1821556111" name="Frame"/>
          <p:cNvSpPr>
            <a:spLocks noGrp="1"/>
          </p:cNvSpPr>
          <p:nvPr/>
        </p:nvSpPr>
        <p:spPr>
          <a:xfrm>
            <a:off x="165100" y="4457700"/>
            <a:ext cx="9664700" cy="6223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481611134" name="Text">
    </p:cNvPr>
          <p:cNvSpPr>
            <a:spLocks noGrp="1"/>
          </p:cNvSpPr>
          <p:nvPr/>
        </p:nvSpPr>
        <p:spPr>
          <a:xfrm rot="0">
            <a:off x="165100" y="44323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1854190378" name="Text">
    </p:cNvPr>
          <p:cNvSpPr>
            <a:spLocks noGrp="1"/>
          </p:cNvSpPr>
          <p:nvPr/>
        </p:nvSpPr>
        <p:spPr>
          <a:xfrm rot="0">
            <a:off x="965200" y="4483100"/>
            <a:ext cx="4584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[CCS] 법인카드 시스템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[PRM] 조달청 협약 여부 CRM 연동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전자결재 양식 신설(PC사용제한 해제 신청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[EIS] 2024.8월 결산의 EIS, Yellow Book 반영</a:t>
            </a:r>
          </a:p>
        </p:txBody>
      </p:sp>
      <p:sp>
        <p:nvSpPr>
          <p:cNvPr id="339930957" name="Text">
    </p:cNvPr>
          <p:cNvSpPr>
            <a:spLocks noGrp="1"/>
          </p:cNvSpPr>
          <p:nvPr/>
        </p:nvSpPr>
        <p:spPr>
          <a:xfrm rot="0">
            <a:off x="7239000" y="44831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833260687" name="Text">
    </p:cNvPr>
          <p:cNvSpPr>
            <a:spLocks noGrp="1"/>
          </p:cNvSpPr>
          <p:nvPr/>
        </p:nvSpPr>
        <p:spPr>
          <a:xfrm rot="0">
            <a:off x="5549900" y="44831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</a:p>
        </p:txBody>
      </p:sp>
      <p:sp>
        <p:nvSpPr>
          <p:cNvPr id="1461762404" name="Text">
    </p:cNvPr>
          <p:cNvSpPr>
            <a:spLocks noGrp="1"/>
          </p:cNvSpPr>
          <p:nvPr/>
        </p:nvSpPr>
        <p:spPr>
          <a:xfrm rot="0">
            <a:off x="901700" y="44323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77519177" name="Text">
    </p:cNvPr>
          <p:cNvSpPr>
            <a:spLocks noGrp="1"/>
          </p:cNvSpPr>
          <p:nvPr/>
        </p:nvSpPr>
        <p:spPr>
          <a:xfrm rot="0">
            <a:off x="6121400" y="4432300"/>
            <a:ext cx="36449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25201677" name="Text">
    </p:cNvPr>
          <p:cNvSpPr>
            <a:spLocks noGrp="1"/>
          </p:cNvSpPr>
          <p:nvPr/>
        </p:nvSpPr>
        <p:spPr>
          <a:xfrm rot="0">
            <a:off x="5549900" y="44323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92860229" name="Frame"/>
          <p:cNvSpPr>
            <a:spLocks noGrp="1"/>
          </p:cNvSpPr>
          <p:nvPr/>
        </p:nvSpPr>
        <p:spPr>
          <a:xfrm>
            <a:off x="165100" y="3606800"/>
            <a:ext cx="9639300" cy="8255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80507815" name="Text">
    </p:cNvPr>
          <p:cNvSpPr>
            <a:spLocks noGrp="1"/>
          </p:cNvSpPr>
          <p:nvPr/>
        </p:nvSpPr>
        <p:spPr>
          <a:xfrm rot="0">
            <a:off x="165100" y="3606800"/>
            <a:ext cx="7366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611376291" name="Text">
    </p:cNvPr>
          <p:cNvSpPr>
            <a:spLocks noGrp="1"/>
          </p:cNvSpPr>
          <p:nvPr/>
        </p:nvSpPr>
        <p:spPr>
          <a:xfrm rot="0">
            <a:off x="965200" y="3683000"/>
            <a:ext cx="4584700" cy="749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[FI] SAP 관세 및 수입부과금 마스터데이터 일괄 업로드 프로그램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ZEPR2240 프로그램 로직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자산취득 장기 미정산 누락 방지를 위한 시스템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*WBS요소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[SD] ITSM-112075 자영대리점 거래처 관리업무 간소화 추진(2차)</a:t>
            </a:r>
          </a:p>
        </p:txBody>
      </p:sp>
      <p:sp>
        <p:nvSpPr>
          <p:cNvPr id="1413842105" name="Text">
    </p:cNvPr>
          <p:cNvSpPr>
            <a:spLocks noGrp="1"/>
          </p:cNvSpPr>
          <p:nvPr/>
        </p:nvSpPr>
        <p:spPr>
          <a:xfrm rot="0">
            <a:off x="7239000" y="3683000"/>
            <a:ext cx="2552700" cy="749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431673441" name="Text">
    </p:cNvPr>
          <p:cNvSpPr>
            <a:spLocks noGrp="1"/>
          </p:cNvSpPr>
          <p:nvPr/>
        </p:nvSpPr>
        <p:spPr>
          <a:xfrm rot="0">
            <a:off x="5549900" y="3683000"/>
            <a:ext cx="571500" cy="749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</a:p>
        </p:txBody>
      </p:sp>
      <p:sp>
        <p:nvSpPr>
          <p:cNvPr id="1294633728" name="Text">
    </p:cNvPr>
          <p:cNvSpPr>
            <a:spLocks noGrp="1"/>
          </p:cNvSpPr>
          <p:nvPr/>
        </p:nvSpPr>
        <p:spPr>
          <a:xfrm rot="0">
            <a:off x="901700" y="3606800"/>
            <a:ext cx="46482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64221634" name="Text">
    </p:cNvPr>
          <p:cNvSpPr>
            <a:spLocks noGrp="1"/>
          </p:cNvSpPr>
          <p:nvPr/>
        </p:nvSpPr>
        <p:spPr>
          <a:xfrm rot="0">
            <a:off x="6121400" y="3606800"/>
            <a:ext cx="36449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94650324" name="Text">
    </p:cNvPr>
          <p:cNvSpPr>
            <a:spLocks noGrp="1"/>
          </p:cNvSpPr>
          <p:nvPr/>
        </p:nvSpPr>
        <p:spPr>
          <a:xfrm rot="0">
            <a:off x="5549900" y="3606800"/>
            <a:ext cx="5715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53547735" name="Frame"/>
          <p:cNvSpPr>
            <a:spLocks noGrp="1"/>
          </p:cNvSpPr>
          <p:nvPr/>
        </p:nvSpPr>
        <p:spPr>
          <a:xfrm>
            <a:off x="127000" y="1384300"/>
            <a:ext cx="9779000" cy="14605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2005991571" name="Frame"/>
          <p:cNvSpPr>
            <a:spLocks noGrp="1"/>
          </p:cNvSpPr>
          <p:nvPr/>
        </p:nvSpPr>
        <p:spPr>
          <a:xfrm>
            <a:off x="152400" y="2222500"/>
            <a:ext cx="9664700" cy="6223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981013616" name="Text">
    </p:cNvPr>
          <p:cNvSpPr>
            <a:spLocks noGrp="1"/>
          </p:cNvSpPr>
          <p:nvPr/>
        </p:nvSpPr>
        <p:spPr>
          <a:xfrm rot="0">
            <a:off x="152400" y="21971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1312297252" name="Text">
    </p:cNvPr>
          <p:cNvSpPr>
            <a:spLocks noGrp="1"/>
          </p:cNvSpPr>
          <p:nvPr/>
        </p:nvSpPr>
        <p:spPr>
          <a:xfrm rot="0">
            <a:off x="952500" y="2247900"/>
            <a:ext cx="45974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[CCS] CCS 시스템 오류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컨테이너 안전점검표 보관 신청서 양식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SOFT SKILL 평가요청서 연계 오류 확인 및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EAI 운영 AP서버 ESB모듈 설치 및 전문 테스트</a:t>
            </a:r>
          </a:p>
        </p:txBody>
      </p:sp>
      <p:sp>
        <p:nvSpPr>
          <p:cNvPr id="2002589800" name="Text">
    </p:cNvPr>
          <p:cNvSpPr>
            <a:spLocks noGrp="1"/>
          </p:cNvSpPr>
          <p:nvPr/>
        </p:nvSpPr>
        <p:spPr>
          <a:xfrm rot="0">
            <a:off x="7226300" y="22479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37829256" name="Text">
    </p:cNvPr>
          <p:cNvSpPr>
            <a:spLocks noGrp="1"/>
          </p:cNvSpPr>
          <p:nvPr/>
        </p:nvSpPr>
        <p:spPr>
          <a:xfrm rot="0">
            <a:off x="6108700" y="2197100"/>
            <a:ext cx="7620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1623176352" name="Text">
    </p:cNvPr>
          <p:cNvSpPr>
            <a:spLocks noGrp="1"/>
          </p:cNvSpPr>
          <p:nvPr/>
        </p:nvSpPr>
        <p:spPr>
          <a:xfrm rot="0">
            <a:off x="5537200" y="22479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09/24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09/26</a:t>
            </a:r>
          </a:p>
        </p:txBody>
      </p:sp>
      <p:sp>
        <p:nvSpPr>
          <p:cNvPr id="1853892770" name="Text">
    </p:cNvPr>
          <p:cNvSpPr>
            <a:spLocks noGrp="1"/>
          </p:cNvSpPr>
          <p:nvPr/>
        </p:nvSpPr>
        <p:spPr>
          <a:xfrm rot="0">
            <a:off x="889000" y="21971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04337730" name="Text">
    </p:cNvPr>
          <p:cNvSpPr>
            <a:spLocks noGrp="1"/>
          </p:cNvSpPr>
          <p:nvPr/>
        </p:nvSpPr>
        <p:spPr>
          <a:xfrm rot="0">
            <a:off x="7124700" y="2197100"/>
            <a:ext cx="26543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96437153" name="Text">
    </p:cNvPr>
          <p:cNvSpPr>
            <a:spLocks noGrp="1"/>
          </p:cNvSpPr>
          <p:nvPr/>
        </p:nvSpPr>
        <p:spPr>
          <a:xfrm rot="0">
            <a:off x="5537200" y="21971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49663134" name="Rectangle"/>
          <p:cNvSpPr>
            <a:spLocks noGrp="1"/>
          </p:cNvSpPr>
          <p:nvPr/>
        </p:nvSpPr>
        <p:spPr>
          <a:xfrm>
            <a:off x="6870700" y="2197100"/>
            <a:ext cx="254000" cy="6477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871832975" name="Frame"/>
          <p:cNvSpPr>
            <a:spLocks noGrp="1"/>
          </p:cNvSpPr>
          <p:nvPr/>
        </p:nvSpPr>
        <p:spPr>
          <a:xfrm>
            <a:off x="152400" y="1371600"/>
            <a:ext cx="9639300" cy="8255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301439296" name="Text">
    </p:cNvPr>
          <p:cNvSpPr>
            <a:spLocks noGrp="1"/>
          </p:cNvSpPr>
          <p:nvPr/>
        </p:nvSpPr>
        <p:spPr>
          <a:xfrm rot="0">
            <a:off x="152400" y="1371600"/>
            <a:ext cx="7366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1588992022" name="Text">
    </p:cNvPr>
          <p:cNvSpPr>
            <a:spLocks noGrp="1"/>
          </p:cNvSpPr>
          <p:nvPr/>
        </p:nvSpPr>
        <p:spPr>
          <a:xfrm rot="0">
            <a:off x="939800" y="1422400"/>
            <a:ext cx="4610100" cy="774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[FI] SAP 관세 및 수입부과금 마스터데이터 일괄 업로드 프로그램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기성보고서 금액 수정 요청 및 첨부파일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[HCM] [ITSM-116922] 임시공휴일(10/1), 대체휴무일(12/6) 지정 근태달력 생성 및 후속작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[BC] HCM개발 Remote Client Copy 작업</a:t>
            </a:r>
          </a:p>
        </p:txBody>
      </p:sp>
      <p:sp>
        <p:nvSpPr>
          <p:cNvPr id="1829017941" name="Text">
    </p:cNvPr>
          <p:cNvSpPr>
            <a:spLocks noGrp="1"/>
          </p:cNvSpPr>
          <p:nvPr/>
        </p:nvSpPr>
        <p:spPr>
          <a:xfrm rot="0">
            <a:off x="7226300" y="1447800"/>
            <a:ext cx="2552700" cy="749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712646687" name="Text">
    </p:cNvPr>
          <p:cNvSpPr>
            <a:spLocks noGrp="1"/>
          </p:cNvSpPr>
          <p:nvPr/>
        </p:nvSpPr>
        <p:spPr>
          <a:xfrm rot="0">
            <a:off x="6108700" y="1371600"/>
            <a:ext cx="7620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943853054" name="Text">
    </p:cNvPr>
          <p:cNvSpPr>
            <a:spLocks noGrp="1"/>
          </p:cNvSpPr>
          <p:nvPr/>
        </p:nvSpPr>
        <p:spPr>
          <a:xfrm rot="0">
            <a:off x="5537200" y="1447800"/>
            <a:ext cx="571500" cy="749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09/28</a:t>
            </a:r>
          </a:p>
        </p:txBody>
      </p:sp>
      <p:sp>
        <p:nvSpPr>
          <p:cNvPr id="1457177672" name="Text">
    </p:cNvPr>
          <p:cNvSpPr>
            <a:spLocks noGrp="1"/>
          </p:cNvSpPr>
          <p:nvPr/>
        </p:nvSpPr>
        <p:spPr>
          <a:xfrm rot="0">
            <a:off x="889000" y="1371600"/>
            <a:ext cx="46482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26201335" name="Text">
    </p:cNvPr>
          <p:cNvSpPr>
            <a:spLocks noGrp="1"/>
          </p:cNvSpPr>
          <p:nvPr/>
        </p:nvSpPr>
        <p:spPr>
          <a:xfrm rot="0">
            <a:off x="7124700" y="1371600"/>
            <a:ext cx="26543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91239697" name="Text">
    </p:cNvPr>
          <p:cNvSpPr>
            <a:spLocks noGrp="1"/>
          </p:cNvSpPr>
          <p:nvPr/>
        </p:nvSpPr>
        <p:spPr>
          <a:xfrm rot="0">
            <a:off x="5537200" y="1371600"/>
            <a:ext cx="5715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85851337" name="Rectangle"/>
          <p:cNvSpPr>
            <a:spLocks noGrp="1"/>
          </p:cNvSpPr>
          <p:nvPr/>
        </p:nvSpPr>
        <p:spPr>
          <a:xfrm>
            <a:off x="6870700" y="1371600"/>
            <a:ext cx="254000" cy="8255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97"/>
          <p:cNvSpPr>
            <a:spLocks noChangeArrowheads="1"/>
          </p:cNvSpPr>
          <p:nvPr/>
        </p:nvSpPr>
        <p:spPr bwMode="auto">
          <a:xfrm>
            <a:off x="330140" y="744758"/>
            <a:ext cx="2288130" cy="212814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174">
                <a:solidFill>
                  <a:srgbClr val="000000"/>
                </a:solidFill>
              </a:rPr>
              <a:t>금주 업무 실적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sp>
        <p:nvSpPr>
          <p:cNvPr id="7171" name="Rectangle 755"/>
          <p:cNvSpPr>
            <a:spLocks noChangeArrowheads="1"/>
          </p:cNvSpPr>
          <p:nvPr/>
        </p:nvSpPr>
        <p:spPr bwMode="auto">
          <a:xfrm>
            <a:off x="268005" y="296321"/>
            <a:ext cx="766748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 defTabSz="957263" indent="-381000" marL="381000">
              <a:buChar char="•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1pPr>
            <a:lvl2pPr defTabSz="957263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2pPr>
            <a:lvl3pPr defTabSz="957263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3pPr>
            <a:lvl4pPr defTabSz="957263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4pPr>
            <a:lvl5pPr defTabSz="957263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5pPr>
            <a:lvl6pPr defTabSz="957263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6pPr>
            <a:lvl7pPr defTabSz="957263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7pPr>
            <a:lvl8pPr defTabSz="957263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8pPr>
            <a:lvl9pPr defTabSz="957263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altLang="ko-KR" lang="en-US" sz="1566">
                <a:solidFill>
                  <a:srgbClr val="000000"/>
                </a:solidFill>
                <a:latin charset="-127" panose="020B0503020000020004" pitchFamily="50" typeface="맑은 고딕"/>
                <a:ea charset="-127" panose="020B0503020000020004" pitchFamily="50" typeface="맑은 고딕"/>
              </a:rPr>
              <a:t>2. Summary – </a:t>
            </a:r>
            <a:r>
              <a:rPr altLang="en-US" lang="ko-KR" sz="1566">
                <a:solidFill>
                  <a:srgbClr val="000000"/>
                </a:solidFill>
                <a:latin charset="-127" panose="020B0503020000020004" pitchFamily="50" typeface="맑은 고딕"/>
                <a:ea charset="-127" panose="020B0503020000020004" pitchFamily="50" typeface="맑은 고딕"/>
              </a:rPr>
              <a:t>②</a:t>
            </a:r>
            <a:r>
              <a:rPr altLang="ko-KR" lang="en-US" sz="1566">
                <a:latin charset="-127" panose="020B0503020000020004" pitchFamily="50" typeface="맑은 고딕"/>
                <a:ea charset="-127" panose="020B0503020000020004" pitchFamily="50" typeface="맑은 고딕"/>
              </a:rPr>
              <a:t>Quintet</a:t>
            </a:r>
            <a:endParaRPr altLang="en-US" lang="ko-KR" sz="1566">
              <a:latin charset="-127" panose="020B0503020000020004" pitchFamily="50" typeface="맑은 고딕"/>
              <a:ea charset="-127" panose="020B0503020000020004" pitchFamily="50" typeface="맑은 고딕"/>
            </a:endParaRPr>
          </a:p>
        </p:txBody>
      </p:sp>
      <p:sp>
        <p:nvSpPr>
          <p:cNvPr id="7172" name="Rectangle 1382"/>
          <p:cNvSpPr>
            <a:spLocks noChangeArrowheads="1"/>
          </p:cNvSpPr>
          <p:nvPr/>
        </p:nvSpPr>
        <p:spPr bwMode="auto">
          <a:xfrm>
            <a:off x="330140" y="5740430"/>
            <a:ext cx="2311430" cy="223687"/>
          </a:xfrm>
          <a:prstGeom prst="rect">
            <a:avLst/>
          </a:prstGeom>
          <a:solidFill>
            <a:srgbClr val="CCFFCC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174">
                <a:solidFill>
                  <a:srgbClr val="000000"/>
                </a:solidFill>
              </a:rPr>
              <a:t>ISSUE</a:t>
            </a:r>
            <a:r>
              <a:rPr altLang="en-US" kumimoji="1" lang="ko-KR" sz="1174">
                <a:solidFill>
                  <a:srgbClr val="000000"/>
                </a:solidFill>
              </a:rPr>
              <a:t> 및 공지사항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graphicFrame>
        <p:nvGraphicFramePr>
          <p:cNvPr id="20" name="Group 3691"/>
          <p:cNvGraphicFramePr>
            <a:graphicFrameLocks noGrp="1"/>
          </p:cNvGraphicFramePr>
          <p:nvPr/>
        </p:nvGraphicFramePr>
        <p:xfrm>
          <a:off x="468391" y="5964118"/>
          <a:ext cx="8809220" cy="568537"/>
        </p:xfrm>
        <a:graphic>
          <a:graphicData uri="http://schemas.openxmlformats.org/drawingml/2006/table">
            <a:tbl>
              <a:tblPr/>
              <a:tblGrid>
                <a:gridCol w="8809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68537"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charset="0" panose="020B0604020202020204" pitchFamily="34" typeface="Arial"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typeface="Arial"/>
                      </a:endParaRPr>
                    </a:p>
                  </a:txBody>
                  <a:tcPr anchor="ctr" horzOverflow="overflow" marB="45823" marL="88066" marR="88066" marT="4582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7179" name="Group 240"/>
          <p:cNvGrpSpPr>
            <a:grpSpLocks/>
          </p:cNvGrpSpPr>
          <p:nvPr/>
        </p:nvGrpSpPr>
        <p:grpSpPr bwMode="auto">
          <a:xfrm>
            <a:off x="8218216" y="73699"/>
            <a:ext cx="1059407" cy="591838"/>
            <a:chOff x="5222" y="377"/>
            <a:chExt cx="682" cy="381"/>
          </a:xfrm>
        </p:grpSpPr>
        <p:sp>
          <p:nvSpPr>
            <p:cNvPr id="7236" name="Rectangle 94"/>
            <p:cNvSpPr>
              <a:spLocks noChangeArrowheads="1"/>
            </p:cNvSpPr>
            <p:nvPr/>
          </p:nvSpPr>
          <p:spPr bwMode="auto">
            <a:xfrm>
              <a:off x="5222" y="406"/>
              <a:ext cx="144" cy="96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  <a:effectLst>
              <a:prstShdw dir="2700000" dist="17961" prst="shdw17">
                <a:srgbClr val="0099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7237" name="Rectangle 95"/>
            <p:cNvSpPr>
              <a:spLocks noChangeArrowheads="1"/>
            </p:cNvSpPr>
            <p:nvPr/>
          </p:nvSpPr>
          <p:spPr bwMode="auto">
            <a:xfrm>
              <a:off x="5222" y="518"/>
              <a:ext cx="144" cy="96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>
              <a:prstShdw dir="2700000" dist="17961" prst="shdw17">
                <a:srgbClr val="9999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7238" name="Rectangle 96"/>
            <p:cNvSpPr>
              <a:spLocks noChangeArrowheads="1"/>
            </p:cNvSpPr>
            <p:nvPr/>
          </p:nvSpPr>
          <p:spPr bwMode="auto">
            <a:xfrm>
              <a:off x="5222" y="622"/>
              <a:ext cx="144" cy="9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>
              <a:prstShdw dir="2700000" dist="17961" prst="shdw17">
                <a:srgbClr val="9900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29" name="Text Box 97"/>
            <p:cNvSpPr txBox="1">
              <a:spLocks noChangeArrowheads="1"/>
            </p:cNvSpPr>
            <p:nvPr/>
          </p:nvSpPr>
          <p:spPr bwMode="auto">
            <a:xfrm>
              <a:off x="5395" y="377"/>
              <a:ext cx="207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완료</a:t>
              </a:r>
              <a:endParaRPr altLang="ko-KR" b="0" lang="en-US" sz="979">
                <a:solidFill>
                  <a:srgbClr val="000000"/>
                </a:solidFill>
              </a:endParaRPr>
            </a:p>
          </p:txBody>
        </p:sp>
        <p:sp>
          <p:nvSpPr>
            <p:cNvPr id="30" name="Text Box 98"/>
            <p:cNvSpPr txBox="1">
              <a:spLocks noChangeArrowheads="1"/>
            </p:cNvSpPr>
            <p:nvPr/>
          </p:nvSpPr>
          <p:spPr bwMode="auto">
            <a:xfrm>
              <a:off x="5397" y="489"/>
              <a:ext cx="288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진행중</a:t>
              </a:r>
              <a:endParaRPr altLang="ko-KR" b="0" lang="en-US" sz="979">
                <a:solidFill>
                  <a:srgbClr val="000000"/>
                </a:solidFill>
              </a:endParaRPr>
            </a:p>
          </p:txBody>
        </p:sp>
        <p:sp>
          <p:nvSpPr>
            <p:cNvPr id="31" name="Text Box 99"/>
            <p:cNvSpPr txBox="1">
              <a:spLocks noChangeArrowheads="1"/>
            </p:cNvSpPr>
            <p:nvPr/>
          </p:nvSpPr>
          <p:spPr bwMode="auto">
            <a:xfrm>
              <a:off x="5406" y="602"/>
              <a:ext cx="498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미완료</a:t>
              </a:r>
              <a:r>
                <a:rPr altLang="ko-KR" b="0" lang="en-US" sz="979">
                  <a:solidFill>
                    <a:srgbClr val="000000"/>
                  </a:solidFill>
                </a:rPr>
                <a:t>(</a:t>
              </a:r>
              <a:r>
                <a:rPr altLang="en-US" b="0" lang="ko-KR" sz="979">
                  <a:solidFill>
                    <a:srgbClr val="000000"/>
                  </a:solidFill>
                </a:rPr>
                <a:t>문제</a:t>
              </a:r>
              <a:r>
                <a:rPr altLang="ko-KR" b="0" lang="en-US" sz="979">
                  <a:solidFill>
                    <a:srgbClr val="000000"/>
                  </a:solidFill>
                </a:rPr>
                <a:t>)</a:t>
              </a:r>
            </a:p>
          </p:txBody>
        </p:sp>
      </p:grpSp>
      <p:graphicFrame>
        <p:nvGraphicFramePr>
          <p:cNvPr id="15" name="Group 3690"/>
          <p:cNvGraphicFramePr>
            <a:graphicFrameLocks noGrp="1"/>
          </p:cNvGraphicFramePr>
          <p:nvPr/>
        </p:nvGraphicFramePr>
        <p:xfrm>
          <a:off x="479264" y="1043008"/>
          <a:ext cx="8798347" cy="2816279"/>
        </p:xfrm>
        <a:graphic>
          <a:graphicData uri="http://schemas.openxmlformats.org/drawingml/2006/table">
            <a:tbl>
              <a:tblPr/>
              <a:tblGrid>
                <a:gridCol w="8232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69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386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19605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구분 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업무 내용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완료일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err="1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진행율</a:t>
                      </a: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상태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비고</a:t>
                      </a:r>
                      <a:endParaRPr altLang="ko-KR" b="0" baseline="0" cap="none" dirty="0" i="0" kumimoji="1" lang="en-US" normalizeH="0" smtClean="0" strike="noStrike" sz="11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3753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CRM/BI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키오스크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즉발카드 등록 연동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 중복로그인 제한 개발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인카페이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r>
                        <a:rPr altLang="ko-KR" b="0" baseline="0" dirty="0" lang="en-US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_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테스트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마케팅 플랫폼 필드테스트 지원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상품권 제휴관련 성능저하 개선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70%</a:t>
                      </a: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mtClean="0" strike="noStrike" sz="1000" u="none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921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VOC/PRM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VOC Summary </a:t>
                      </a:r>
                      <a:r>
                        <a:rPr altLang="en-US" b="0" baseline="0" cap="none" dirty="0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발송 </a:t>
                      </a:r>
                      <a:r>
                        <a:rPr altLang="en-US" b="0" baseline="0" cap="none" dirty="0" err="1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변경</a:t>
                      </a:r>
                    </a:p>
                  </a:txBody>
                  <a:tcPr anchor="ctr" horzOverflow="overflow" marB="45783" marL="88066" marR="88066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1/15</a:t>
                      </a:r>
                    </a:p>
                  </a:txBody>
                  <a:tcPr anchor="ctr" horzOverflow="overflow" marB="45783" marL="88066" marR="88066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mtClean="0" strike="noStrike" sz="1000" u="none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211" name="Rectangle 3082"/>
          <p:cNvSpPr>
            <a:spLocks noChangeArrowheads="1"/>
          </p:cNvSpPr>
          <p:nvPr/>
        </p:nvSpPr>
        <p:spPr bwMode="auto">
          <a:xfrm>
            <a:off x="330140" y="3950936"/>
            <a:ext cx="2311430" cy="245434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174">
                <a:solidFill>
                  <a:srgbClr val="000000"/>
                </a:solidFill>
              </a:rPr>
              <a:t>차주 업무 계획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graphicFrame>
        <p:nvGraphicFramePr>
          <p:cNvPr id="16" name="Group 3690"/>
          <p:cNvGraphicFramePr>
            <a:graphicFrameLocks noGrp="1"/>
          </p:cNvGraphicFramePr>
          <p:nvPr/>
        </p:nvGraphicFramePr>
        <p:xfrm>
          <a:off x="479264" y="4249185"/>
          <a:ext cx="8798347" cy="1143651"/>
        </p:xfrm>
        <a:graphic>
          <a:graphicData uri="http://schemas.openxmlformats.org/drawingml/2006/table">
            <a:tbl>
              <a:tblPr/>
              <a:tblGrid>
                <a:gridCol w="8201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6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80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7202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구분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업무 내용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완료일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비고</a:t>
                      </a:r>
                      <a:endParaRPr altLang="ko-KR" b="0" baseline="0" cap="none" dirty="0" i="0" kumimoji="1" lang="en-US" normalizeH="0" smtClean="0" strike="noStrike" sz="11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8703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004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VOC/PRM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0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37">
            <a:extLst>
              <a:ext uri="{FF2B5EF4-FFF2-40B4-BE49-F238E27FC236}">
                <a16:creationId xmlns:a16="http://schemas.microsoft.com/office/drawing/2014/main" id="{95DBC0E4-3FED-4168-A811-F22F73E27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179" y="296320"/>
            <a:ext cx="8761066" cy="331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(CP(IT Winner))</a:t>
            </a:r>
          </a:p>
        </p:txBody>
      </p:sp>
      <p:graphicFrame>
        <p:nvGraphicFramePr>
          <p:cNvPr id="7" name="Group 108">
            <a:extLst>
              <a:ext uri="{FF2B5EF4-FFF2-40B4-BE49-F238E27FC236}">
                <a16:creationId xmlns:a16="http://schemas.microsoft.com/office/drawing/2014/main" id="{D1918DE1-D523-480A-B775-91AD5D4C84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1939277"/>
              </p:ext>
            </p:extLst>
          </p:nvPr>
        </p:nvGraphicFramePr>
        <p:xfrm>
          <a:off x="255578" y="1117570"/>
          <a:ext cx="4846547" cy="2400406"/>
        </p:xfrm>
        <a:graphic>
          <a:graphicData uri="http://schemas.openxmlformats.org/drawingml/2006/table">
            <a:tbl>
              <a:tblPr/>
              <a:tblGrid>
                <a:gridCol w="5964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51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4684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1" baseline="0" cap="none" i="0" kumimoji="1" lang="ko-KR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완료일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2881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CP/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이영주</a:t>
                      </a:r>
                      <a:endParaRPr altLang="ko-KR" b="0" baseline="0" cap="none" dirty="0" i="0" kumimoji="1" lang="en-US" normalizeH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6" marL="88066" marR="88066" marT="4575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indent="-169863" marL="169863"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더보기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메뉴 권한 중복 조회 이슈 수정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ERS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규정관리지안지 누락 배치 재 실행 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ADOBE FLASH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종료에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따른 운영 반영 작업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자원예약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본사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20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년도 화상 전체 자료 작성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전직원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품질 만족도 조사 설문 생성 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유가 조회 권한 기능 변경 및 권한 추가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정유제품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Spread HSK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누락 데이터 등록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안전수업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/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안전지킴이가이드북 메뉴 전환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유가 연동 배치 변경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(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범위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:3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일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-&gt;15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일로 변경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01/13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01/15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01/13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01/15</a:t>
                      </a: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109">
            <a:extLst>
              <a:ext uri="{FF2B5EF4-FFF2-40B4-BE49-F238E27FC236}">
                <a16:creationId xmlns:a16="http://schemas.microsoft.com/office/drawing/2014/main" id="{7721BB07-7B10-4642-8619-4B25D434FC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6118837"/>
              </p:ext>
            </p:extLst>
          </p:nvPr>
        </p:nvGraphicFramePr>
        <p:xfrm>
          <a:off x="5176687" y="1117570"/>
          <a:ext cx="4399173" cy="1944545"/>
        </p:xfrm>
        <a:graphic>
          <a:graphicData uri="http://schemas.openxmlformats.org/drawingml/2006/table">
            <a:tbl>
              <a:tblPr/>
              <a:tblGrid>
                <a:gridCol w="6601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5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58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71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976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8287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i="0" kumimoji="1" lang="en-US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CP/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이영주</a:t>
                      </a:r>
                      <a:endParaRPr altLang="ko-KR" b="0" baseline="0" cap="none" i="0" kumimoji="1" lang="en-US" normalizeH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L="88066" marR="8806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228600" marL="25146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228600" marL="29718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228600" marL="34290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228600" marL="38862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CP 1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월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2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회차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정기점검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(WAS/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배치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재기동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rtl="0"/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ADOBE FLASH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종료에 따른 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HTML5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전환 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rtl="0"/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  ( * 1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차 개발 완료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,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테스트 및 보완 예정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  <a:endParaRPr altLang="en-US" dirty="0" kern="1200" kumimoji="1" lang="ko-KR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b="0" baseline="0" cap="none" dirty="0" i="0" kern="1200" kumimoji="1" lang="en-US" noProof="0" normalizeH="0" smtClean="0" spc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01/20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01/29</a:t>
                      </a: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184" name="Rectangle 136">
            <a:extLst>
              <a:ext uri="{FF2B5EF4-FFF2-40B4-BE49-F238E27FC236}">
                <a16:creationId xmlns:a16="http://schemas.microsoft.com/office/drawing/2014/main" id="{546AF6F6-150A-4F5D-B79C-9EC68A793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6687" y="760293"/>
            <a:ext cx="4399174" cy="310676"/>
          </a:xfrm>
          <a:prstGeom prst="rect">
            <a:avLst/>
          </a:prstGeom>
          <a:solidFill>
            <a:srgbClr val="C7CDFD"/>
          </a:solidFill>
          <a:ln algn="ctr" w="9525">
            <a:noFill/>
            <a:miter lim="800000"/>
            <a:headEnd/>
            <a:tailEnd/>
          </a:ln>
          <a:effectLst>
            <a:outerShdw algn="ctr" dir="2700000" dist="35921" rotWithShape="0">
              <a:schemeClr val="bg2"/>
            </a:outerShdw>
          </a:effectLst>
        </p:spPr>
        <p:txBody>
          <a:bodyPr anchor="ctr"/>
          <a:lstStyle/>
          <a:p>
            <a:pPr algn="ctr" defTabSz="789214" eaLnBrk="1" hangingPunct="1" indent="-242357" marL="242357">
              <a:spcBef>
                <a:spcPct val="0"/>
              </a:spcBef>
              <a:spcAft>
                <a:spcPct val="0"/>
              </a:spcAft>
              <a:defRPr/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sp>
        <p:nvSpPr>
          <p:cNvPr id="6185" name="Rectangle 136">
            <a:extLst>
              <a:ext uri="{FF2B5EF4-FFF2-40B4-BE49-F238E27FC236}">
                <a16:creationId xmlns:a16="http://schemas.microsoft.com/office/drawing/2014/main" id="{227A3DDD-F02B-4FC8-A75A-DDE02A45C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77" y="744759"/>
            <a:ext cx="4846547" cy="310676"/>
          </a:xfrm>
          <a:prstGeom prst="rect">
            <a:avLst/>
          </a:prstGeom>
          <a:solidFill>
            <a:srgbClr val="C7CDFD"/>
          </a:solidFill>
          <a:ln algn="ctr" w="9525">
            <a:noFill/>
            <a:miter lim="800000"/>
            <a:headEnd/>
            <a:tailEnd/>
          </a:ln>
          <a:effectLst>
            <a:outerShdw algn="ctr" dir="2700000" dist="35921" rotWithShape="0">
              <a:schemeClr val="bg2"/>
            </a:outerShdw>
          </a:effectLst>
        </p:spPr>
        <p:txBody>
          <a:bodyPr anchor="ctr"/>
          <a:lstStyle/>
          <a:p>
            <a:pPr algn="ctr" defTabSz="789214" eaLnBrk="1" hangingPunct="1" indent="-242357" marL="242357">
              <a:spcBef>
                <a:spcPct val="0"/>
              </a:spcBef>
              <a:spcAft>
                <a:spcPct val="0"/>
              </a:spcAft>
              <a:defRPr/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389782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92442192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721484833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981473640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82965227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526108828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992006679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69788171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51300281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846921177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41180074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7112341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109082515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407352777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546466520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br/>
          </a:p>
        </p:txBody>
      </p:sp>
      <p:sp>
        <p:nvSpPr>
          <p:cNvPr id="1031031766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br/>
          </a:p>
        </p:txBody>
      </p:sp>
      <p:sp>
        <p:nvSpPr>
          <p:cNvPr id="1892885880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SAP 관세 및 수입부과금 마스터데이터 일괄 업로드 프로그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램 생성</a:t>
            </a:r>
          </a:p>
        </p:txBody>
      </p:sp>
      <p:sp>
        <p:nvSpPr>
          <p:cNvPr id="1436495702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1621187273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2140444656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연차 휴가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전표 전자결재요청 화면에서 증빙유형 E Defalut 값으로 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정(ZEAM8000)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SAP 관세 및 수입부과금 마스터데이터 일괄 업로드 프로그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램 생성</a:t>
            </a:r>
          </a:p>
        </p:txBody>
      </p:sp>
      <p:sp>
        <p:nvSpPr>
          <p:cNvPr id="369464735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br/>
          </a:p>
        </p:txBody>
      </p:sp>
      <p:sp>
        <p:nvSpPr>
          <p:cNvPr id="978124182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br/>
          </a:p>
        </p:txBody>
      </p:sp>
      <p:sp>
        <p:nvSpPr>
          <p:cNvPr id="1355915012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br/>
          </a:p>
        </p:txBody>
      </p:sp>
      <p:sp>
        <p:nvSpPr>
          <p:cNvPr id="195148281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33776767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17151378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</a:p>
        </p:txBody>
      </p:sp>
      <p:sp>
        <p:nvSpPr>
          <p:cNvPr id="809114784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09/24</a:t>
            </a:r>
            <a:br/>
          </a:p>
        </p:txBody>
      </p:sp>
      <p:sp>
        <p:nvSpPr>
          <p:cNvPr id="919733551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ZEPR2240 프로그램 로직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HANA 구매 1차 통합테스트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원화 유산스 차입 프로그램 및 환경 보완</a:t>
            </a:r>
            <a:br/>
          </a:p>
        </p:txBody>
      </p:sp>
      <p:sp>
        <p:nvSpPr>
          <p:cNvPr id="346117662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79835151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1694364459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ZEPR2240 프로그램 로직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HANA 구매 1차 통합테스트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원화 유산스 차입 프로그램 및 환경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선박 카테고리 변경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기성보고서 금액 수정 요청 및 첨부파일 변경</a:t>
            </a:r>
            <a:br/>
          </a:p>
        </p:txBody>
      </p:sp>
      <p:sp>
        <p:nvSpPr>
          <p:cNvPr id="1109420518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10/04</a:t>
            </a:r>
            <a:br/>
          </a:p>
        </p:txBody>
      </p:sp>
      <p:sp>
        <p:nvSpPr>
          <p:cNvPr id="1546634778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09/26</a:t>
            </a:r>
            <a:br/>
          </a:p>
        </p:txBody>
      </p:sp>
      <p:sp>
        <p:nvSpPr>
          <p:cNvPr id="1232656344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09/26</a:t>
            </a:r>
            <a:br/>
          </a:p>
        </p:txBody>
      </p:sp>
      <p:sp>
        <p:nvSpPr>
          <p:cNvPr id="1108803959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2467978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0514057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14126697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04851938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594079277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37144623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756890426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306860978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58283251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06741411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43603208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735704676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73844471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789825352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584562688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667312606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10/08</a:t>
            </a:r>
            <a:br/>
          </a:p>
        </p:txBody>
      </p:sp>
      <p:sp>
        <p:nvSpPr>
          <p:cNvPr id="791386477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</a:p>
        </p:txBody>
      </p:sp>
      <p:sp>
        <p:nvSpPr>
          <p:cNvPr id="823224593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 마감업무 지원작업</a:t>
            </a:r>
          </a:p>
        </p:txBody>
      </p:sp>
      <p:sp>
        <p:nvSpPr>
          <p:cNvPr id="781828235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1145844061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937371720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'24년 9월 SAP시스템 인프라 취약점 조치 작업 업무지원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 업무 자동화 툴 관련 RPA 계정 만료 정책 예외처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리 설정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HCM개발 Remote Client Copy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고도화 프로젝트 BC관련  업무지원(삼성SDS)</a:t>
            </a:r>
          </a:p>
        </p:txBody>
      </p:sp>
      <p:sp>
        <p:nvSpPr>
          <p:cNvPr id="222074435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</a:p>
        </p:txBody>
      </p:sp>
      <p:sp>
        <p:nvSpPr>
          <p:cNvPr id="1841398519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</a:p>
        </p:txBody>
      </p:sp>
      <p:sp>
        <p:nvSpPr>
          <p:cNvPr id="1210220747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09/23</a:t>
            </a:r>
            <a:br/>
          </a:p>
        </p:txBody>
      </p:sp>
      <p:sp>
        <p:nvSpPr>
          <p:cNvPr id="108096751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72129260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45468627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10/04</a:t>
            </a:r>
            <a:br/>
          </a:p>
        </p:txBody>
      </p:sp>
      <p:sp>
        <p:nvSpPr>
          <p:cNvPr id="1381589012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</a:p>
        </p:txBody>
      </p:sp>
      <p:sp>
        <p:nvSpPr>
          <p:cNvPr id="1606576292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</a:p>
        </p:txBody>
      </p:sp>
      <p:sp>
        <p:nvSpPr>
          <p:cNvPr id="66031292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27415559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409132519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짧고 굵게 배우는 JSP 웹 프로그래밍과 스프링 프레임워크: CH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쉽게 배우는 JSP 웹프로그래밍 실습 만들기</a:t>
            </a:r>
          </a:p>
        </p:txBody>
      </p:sp>
      <p:sp>
        <p:nvSpPr>
          <p:cNvPr id="1411977479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</a:p>
        </p:txBody>
      </p:sp>
      <p:sp>
        <p:nvSpPr>
          <p:cNvPr id="734854992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</a:p>
        </p:txBody>
      </p:sp>
      <p:sp>
        <p:nvSpPr>
          <p:cNvPr id="945652802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09/11</a:t>
            </a:r>
            <a:br/>
          </a:p>
        </p:txBody>
      </p:sp>
      <p:sp>
        <p:nvSpPr>
          <p:cNvPr id="920578891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19545790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2929229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850583256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945632630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116252707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844458734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234199446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89139613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4493094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857372493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19906014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52327708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42187461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352041889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682272531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458549536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</a:p>
        </p:txBody>
      </p:sp>
      <p:sp>
        <p:nvSpPr>
          <p:cNvPr id="125868087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</a:p>
        </p:txBody>
      </p:sp>
      <p:sp>
        <p:nvSpPr>
          <p:cNvPr id="1315904981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</a:p>
        </p:txBody>
      </p:sp>
      <p:sp>
        <p:nvSpPr>
          <p:cNvPr id="85568542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417163975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455018699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ERP Upgrade 1차 통합테스트 출장 </a:t>
            </a:r>
          </a:p>
        </p:txBody>
      </p:sp>
      <p:sp>
        <p:nvSpPr>
          <p:cNvPr id="765997000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</a:p>
        </p:txBody>
      </p:sp>
      <p:sp>
        <p:nvSpPr>
          <p:cNvPr id="467135056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</a:p>
        </p:txBody>
      </p:sp>
      <p:sp>
        <p:nvSpPr>
          <p:cNvPr id="1756311743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09/23</a:t>
            </a:r>
            <a:br/>
          </a:p>
        </p:txBody>
      </p:sp>
      <p:sp>
        <p:nvSpPr>
          <p:cNvPr id="194323505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39558116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33408043" name="Text">
    </p:cNvPr>
          <p:cNvSpPr>
            <a:spLocks noGrp="1"/>
          </p:cNvSpPr>
          <p:nvPr/>
        </p:nvSpPr>
        <p:spPr>
          <a:xfrm rot="0">
            <a:off x="97028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10/04</a:t>
            </a:r>
            <a:br/>
            <a:br/>
            <a:br/>
          </a:p>
        </p:txBody>
      </p:sp>
      <p:sp>
        <p:nvSpPr>
          <p:cNvPr id="1379243309" name="Text">
    </p:cNvPr>
          <p:cNvSpPr>
            <a:spLocks noGrp="1"/>
          </p:cNvSpPr>
          <p:nvPr/>
        </p:nvSpPr>
        <p:spPr>
          <a:xfrm rot="0">
            <a:off x="93345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br/>
          </a:p>
        </p:txBody>
      </p:sp>
      <p:sp>
        <p:nvSpPr>
          <p:cNvPr id="1889765366" name="Text">
    </p:cNvPr>
          <p:cNvSpPr>
            <a:spLocks noGrp="1"/>
          </p:cNvSpPr>
          <p:nvPr/>
        </p:nvSpPr>
        <p:spPr>
          <a:xfrm rot="0">
            <a:off x="5930900" y="3771900"/>
            <a:ext cx="3403600" cy="25781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[ITSM-112248] 생산직평가 시스템 변경- [ITSM-1160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88] 방염작업복 신청신청 내역 필드추가- [ITSM-117072] 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정변동공제 해당 급여일의 근태 반영 현황 항목 표기 추가</a:t>
            </a:r>
          </a:p>
        </p:txBody>
      </p:sp>
      <p:sp>
        <p:nvSpPr>
          <p:cNvPr id="1802562986" name="Text">
    </p:cNvPr>
          <p:cNvSpPr>
            <a:spLocks noGrp="1"/>
          </p:cNvSpPr>
          <p:nvPr/>
        </p:nvSpPr>
        <p:spPr>
          <a:xfrm rot="0">
            <a:off x="5308600" y="3771900"/>
            <a:ext cx="5715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1530339544" name="Text">
    </p:cNvPr>
          <p:cNvSpPr>
            <a:spLocks noGrp="1"/>
          </p:cNvSpPr>
          <p:nvPr/>
        </p:nvSpPr>
        <p:spPr>
          <a:xfrm rot="0">
            <a:off x="88900" y="3771900"/>
            <a:ext cx="5715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626350702" name="Text">
    </p:cNvPr>
          <p:cNvSpPr>
            <a:spLocks noGrp="1"/>
          </p:cNvSpPr>
          <p:nvPr/>
        </p:nvSpPr>
        <p:spPr>
          <a:xfrm rot="0">
            <a:off x="711200" y="3771900"/>
            <a:ext cx="3403600" cy="25781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기준일자 인포타입(pa0041) 생성로직 파악(계속)- 특근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확인서 전자결재 오류 2건 완료처리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[ITSM-116922] 임시공휴일(10/1), 대체휴무일(12/6)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지정 근태달력 생성 및 후속작업- [ITSM-116998] 휴가신청서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의 경조휴가 선택시 안내창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[ITSM-116981] 학자금 신청관리, 영유아 보육지원 신청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관리 상세화면에 입사일자 추가- [ITSM-117107] 국내/해외출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장 신청 리스트화면의 매뉴얼 연결오류수정- 프로젝트 지원 :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일자명세 데이터 생성로직 분석 및 현황자료 제공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[ITSM-117072] 고정변동공제 해당 급여일의 근태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현황 항목 표기 추가(50%)- 프로젝트 지원 : 단위업무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오류 원인조사 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[ITSM-117072] 고정변동공제 해당 급여일의 근태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현황 항목 표기 추가(70%)- 문의대응 : 복합발령(조직변경/보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직변경/부서이동) 관련 문의 대응 외</a:t>
            </a:r>
          </a:p>
        </p:txBody>
      </p:sp>
      <p:sp>
        <p:nvSpPr>
          <p:cNvPr id="1235612933" name="Text">
    </p:cNvPr>
          <p:cNvSpPr>
            <a:spLocks noGrp="1"/>
          </p:cNvSpPr>
          <p:nvPr/>
        </p:nvSpPr>
        <p:spPr>
          <a:xfrm rot="0">
            <a:off x="44831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09/24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09/25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09/26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br/>
            <a:br/>
          </a:p>
        </p:txBody>
      </p:sp>
      <p:sp>
        <p:nvSpPr>
          <p:cNvPr id="626285606" name="Text">
    </p:cNvPr>
          <p:cNvSpPr>
            <a:spLocks noGrp="1"/>
          </p:cNvSpPr>
          <p:nvPr/>
        </p:nvSpPr>
        <p:spPr>
          <a:xfrm rot="0">
            <a:off x="48514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9/24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9/25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09/26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br/>
            <a:br/>
          </a:p>
        </p:txBody>
      </p:sp>
      <p:sp>
        <p:nvSpPr>
          <p:cNvPr id="1191680436" name="Text">
    </p:cNvPr>
          <p:cNvSpPr>
            <a:spLocks noGrp="1"/>
          </p:cNvSpPr>
          <p:nvPr/>
        </p:nvSpPr>
        <p:spPr>
          <a:xfrm rot="0">
            <a:off x="41148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09/24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09/25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09/26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br/>
            <a:br/>
          </a:p>
        </p:txBody>
      </p:sp>
      <p:sp>
        <p:nvSpPr>
          <p:cNvPr id="1208888592" name="Text">
    </p:cNvPr>
          <p:cNvSpPr>
            <a:spLocks noGrp="1"/>
          </p:cNvSpPr>
          <p:nvPr/>
        </p:nvSpPr>
        <p:spPr>
          <a:xfrm rot="0">
            <a:off x="660400" y="3771900"/>
            <a:ext cx="34544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78433737" name="Text">
    </p:cNvPr>
          <p:cNvSpPr>
            <a:spLocks noGrp="1"/>
          </p:cNvSpPr>
          <p:nvPr/>
        </p:nvSpPr>
        <p:spPr>
          <a:xfrm rot="0">
            <a:off x="5880100" y="3771900"/>
            <a:ext cx="34544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966415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90862072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807290137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786473755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05512429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512472546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30332653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06246382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51395009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089976548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812189407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685693789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713722914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459862682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666142422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</a:p>
        </p:txBody>
      </p:sp>
      <p:sp>
        <p:nvSpPr>
          <p:cNvPr id="1245004463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09/26</a:t>
            </a:r>
            <a:br/>
          </a:p>
        </p:txBody>
      </p:sp>
      <p:sp>
        <p:nvSpPr>
          <p:cNvPr id="116234637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SAP TS 업무 분석 및 I/F 테스트 </a:t>
            </a:r>
          </a:p>
        </p:txBody>
      </p:sp>
      <p:sp>
        <p:nvSpPr>
          <p:cNvPr id="1515014120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이원주</a:t>
            </a:r>
          </a:p>
        </p:txBody>
      </p:sp>
      <p:sp>
        <p:nvSpPr>
          <p:cNvPr id="1134388631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이원주</a:t>
            </a:r>
          </a:p>
        </p:txBody>
      </p:sp>
      <p:sp>
        <p:nvSpPr>
          <p:cNvPr id="593327985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SAP PP, PM I/F 테스트 -&gt; PP TAS RAS/PP WMS -&gt; PM 전자결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제, OSPM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SAP TS 업무 분석 및 I/F 테스트 -&gt; I/F 테스트의 경우 HANA에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서 진행     ( 현재 HANA ID가 아직 나오지 않음  )</a:t>
            </a:r>
          </a:p>
        </p:txBody>
      </p:sp>
      <p:sp>
        <p:nvSpPr>
          <p:cNvPr id="1226224486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br/>
          </a:p>
        </p:txBody>
      </p:sp>
      <p:sp>
        <p:nvSpPr>
          <p:cNvPr id="2035605419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15%</a:t>
            </a:r>
            <a:br/>
            <a:br/>
          </a:p>
        </p:txBody>
      </p:sp>
      <p:sp>
        <p:nvSpPr>
          <p:cNvPr id="1364045003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09/26</a:t>
            </a:r>
            <a:br/>
            <a:br/>
          </a:p>
        </p:txBody>
      </p:sp>
      <p:sp>
        <p:nvSpPr>
          <p:cNvPr id="434356076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95724213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88057659" name="Text">
    </p:cNvPr>
          <p:cNvSpPr>
            <a:spLocks noGrp="1"/>
          </p:cNvSpPr>
          <p:nvPr/>
        </p:nvSpPr>
        <p:spPr>
          <a:xfrm rot="0">
            <a:off x="97028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</a:p>
        </p:txBody>
      </p:sp>
      <p:sp>
        <p:nvSpPr>
          <p:cNvPr id="116607064" name="Text">
    </p:cNvPr>
          <p:cNvSpPr>
            <a:spLocks noGrp="1"/>
          </p:cNvSpPr>
          <p:nvPr/>
        </p:nvSpPr>
        <p:spPr>
          <a:xfrm rot="0">
            <a:off x="93345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br/>
          </a:p>
        </p:txBody>
      </p:sp>
      <p:sp>
        <p:nvSpPr>
          <p:cNvPr id="49254197" name="Text">
    </p:cNvPr>
          <p:cNvSpPr>
            <a:spLocks noGrp="1"/>
          </p:cNvSpPr>
          <p:nvPr/>
        </p:nvSpPr>
        <p:spPr>
          <a:xfrm rot="0">
            <a:off x="5930900" y="3771900"/>
            <a:ext cx="3403600" cy="27305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ITSM-112075 자영대리점 거래처 관리업무 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소화 추진(2차)</a:t>
            </a:r>
            <a:br/>
          </a:p>
        </p:txBody>
      </p:sp>
      <p:sp>
        <p:nvSpPr>
          <p:cNvPr id="1922568903" name="Text">
    </p:cNvPr>
          <p:cNvSpPr>
            <a:spLocks noGrp="1"/>
          </p:cNvSpPr>
          <p:nvPr/>
        </p:nvSpPr>
        <p:spPr>
          <a:xfrm rot="0">
            <a:off x="5308600" y="3771900"/>
            <a:ext cx="5715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1826824679" name="Text">
    </p:cNvPr>
          <p:cNvSpPr>
            <a:spLocks noGrp="1"/>
          </p:cNvSpPr>
          <p:nvPr/>
        </p:nvSpPr>
        <p:spPr>
          <a:xfrm rot="0">
            <a:off x="88900" y="3771900"/>
            <a:ext cx="5715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1892550059" name="Text">
    </p:cNvPr>
          <p:cNvSpPr>
            <a:spLocks noGrp="1"/>
          </p:cNvSpPr>
          <p:nvPr/>
        </p:nvSpPr>
        <p:spPr>
          <a:xfrm rot="0">
            <a:off x="711200" y="3771900"/>
            <a:ext cx="3403600" cy="27305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ITSM-111438 포뮬라 계산식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ITSM-112075 자영대리점 거래처 관리업무 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소화 추진(2차)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ITSM-115143 ERP Upgrade 프로젝트 소스 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정사항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ITSM-115036 PP 인보이스 출력 관련 기능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ITSM-113242 자가수송 최적출하지 우선순위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프로그램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ITSM-115542 UET의 전산작업 중 벌크선적작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업의 업무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ITSM-116317 [ERP Upgrade] 수송비 분석 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포트 개발을 위한 ERP 데이터 적재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ITSM-117162 할인할증 신규 ERP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CODE(zpsdr9050, zpsdr9055) 관련, 할인할증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입력 기준 확대 및 코드 권한 부여</a:t>
            </a:r>
            <a:br/>
          </a:p>
        </p:txBody>
      </p:sp>
      <p:sp>
        <p:nvSpPr>
          <p:cNvPr id="237419168" name="Text">
    </p:cNvPr>
          <p:cNvSpPr>
            <a:spLocks noGrp="1"/>
          </p:cNvSpPr>
          <p:nvPr/>
        </p:nvSpPr>
        <p:spPr>
          <a:xfrm rot="0">
            <a:off x="44831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br/>
          </a:p>
        </p:txBody>
      </p:sp>
      <p:sp>
        <p:nvSpPr>
          <p:cNvPr id="1008377737" name="Text">
    </p:cNvPr>
          <p:cNvSpPr>
            <a:spLocks noGrp="1"/>
          </p:cNvSpPr>
          <p:nvPr/>
        </p:nvSpPr>
        <p:spPr>
          <a:xfrm rot="0">
            <a:off x="48514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br/>
          </a:p>
        </p:txBody>
      </p:sp>
      <p:sp>
        <p:nvSpPr>
          <p:cNvPr id="1224961524" name="Text">
    </p:cNvPr>
          <p:cNvSpPr>
            <a:spLocks noGrp="1"/>
          </p:cNvSpPr>
          <p:nvPr/>
        </p:nvSpPr>
        <p:spPr>
          <a:xfrm rot="0">
            <a:off x="41148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09/26</a:t>
            </a:r>
            <a:br/>
            <a:br/>
            <a:br/>
          </a:p>
        </p:txBody>
      </p:sp>
      <p:sp>
        <p:nvSpPr>
          <p:cNvPr id="1239468578" name="Text">
    </p:cNvPr>
          <p:cNvSpPr>
            <a:spLocks noGrp="1"/>
          </p:cNvSpPr>
          <p:nvPr/>
        </p:nvSpPr>
        <p:spPr>
          <a:xfrm rot="0">
            <a:off x="660400" y="3771900"/>
            <a:ext cx="34544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15263492" name="Text">
    </p:cNvPr>
          <p:cNvSpPr>
            <a:spLocks noGrp="1"/>
          </p:cNvSpPr>
          <p:nvPr/>
        </p:nvSpPr>
        <p:spPr>
          <a:xfrm rot="0">
            <a:off x="5880100" y="3771900"/>
            <a:ext cx="34544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5198958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88225931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307635555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023802796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100191831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741411010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6734108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496314838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11612241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995044657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527004545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39962047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05594328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27488737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106302374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</a:p>
        </p:txBody>
      </p:sp>
      <p:sp>
        <p:nvSpPr>
          <p:cNvPr id="1994742785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09/03</a:t>
            </a:r>
            <a:br/>
          </a:p>
        </p:txBody>
      </p:sp>
      <p:sp>
        <p:nvSpPr>
          <p:cNvPr id="1266357070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ITSM-113275 업무용 경조화환 신청 및 관리시스템 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ITSM-114011 KRX 관련 추가수정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[FLBIZ] ITSM-115821Flbiz 스크립트 오류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ITSM-116279 법인카드 시스템 수정 요청</a:t>
            </a:r>
          </a:p>
        </p:txBody>
      </p:sp>
      <p:sp>
        <p:nvSpPr>
          <p:cNvPr id="104353434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661624660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2067186412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ITSM-113275 업무용 경조화환 신청 및 관리시스템 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ITSM-114011 KRX 관련 추가수정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ITSM-115820SSO 연동 작업 및 리얼 그리드 재반영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[FLBIZ] ITSM-115821Flbiz 스크립트 오류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ITSM-116279 법인카드 시스템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ITSM-116513 승인요청시 참석인원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ITSM-116740CCS 시스템 오류 보완</a:t>
            </a:r>
          </a:p>
        </p:txBody>
      </p:sp>
      <p:sp>
        <p:nvSpPr>
          <p:cNvPr id="1749307303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</a:p>
        </p:txBody>
      </p:sp>
      <p:sp>
        <p:nvSpPr>
          <p:cNvPr id="751599787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09/24</a:t>
            </a:r>
            <a:br/>
          </a:p>
        </p:txBody>
      </p:sp>
      <p:sp>
        <p:nvSpPr>
          <p:cNvPr id="2000840529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</a:p>
        </p:txBody>
      </p:sp>
      <p:sp>
        <p:nvSpPr>
          <p:cNvPr id="984541943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85188978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53986058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</a:p>
        </p:txBody>
      </p:sp>
      <p:sp>
        <p:nvSpPr>
          <p:cNvPr id="1556102319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</a:p>
        </p:txBody>
      </p:sp>
      <p:sp>
        <p:nvSpPr>
          <p:cNvPr id="301243538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[ITSM-112959]ERP Upgrade 관련 OAS Interface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ePSMS / OAS 사이버보안 컴플라이언스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[ITSM-115403]Tank Movement Data 계산 Logic 개선</a:t>
            </a:r>
          </a:p>
        </p:txBody>
      </p:sp>
      <p:sp>
        <p:nvSpPr>
          <p:cNvPr id="212823037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1372465822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213274956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[ITSM-112959]ERP Upgrade 관련 OAS Interface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ePSMS / OAS 사이버보안 컴플라이언스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[ITSM-115403]Tank Movement Data 계산 Logic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[ITSM-116906]OAS 수정 요청</a:t>
            </a:r>
          </a:p>
        </p:txBody>
      </p:sp>
      <p:sp>
        <p:nvSpPr>
          <p:cNvPr id="965958724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</a:p>
        </p:txBody>
      </p:sp>
      <p:sp>
        <p:nvSpPr>
          <p:cNvPr id="1309947912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09/25</a:t>
            </a:r>
            <a:br/>
          </a:p>
        </p:txBody>
      </p:sp>
      <p:sp>
        <p:nvSpPr>
          <p:cNvPr id="1848533390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</a:p>
        </p:txBody>
      </p:sp>
      <p:sp>
        <p:nvSpPr>
          <p:cNvPr id="1345085750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37663499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722836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33223699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854327499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841119395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6114071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450821622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9789994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36978943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69947791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318706250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499909520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8533928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1975115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839496707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69033636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</a:p>
        </p:txBody>
      </p:sp>
      <p:sp>
        <p:nvSpPr>
          <p:cNvPr id="960511219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</a:p>
        </p:txBody>
      </p:sp>
      <p:sp>
        <p:nvSpPr>
          <p:cNvPr id="619789837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업무용 경조화환 신청관리 시스템구축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ERP 프로젝트 RFC 테스트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조달청 협약 여부 CRM 연동</a:t>
            </a:r>
          </a:p>
        </p:txBody>
      </p:sp>
      <p:sp>
        <p:nvSpPr>
          <p:cNvPr id="1793788150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868092175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195103791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업무용 경조화환 신청관리 시스템구축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ERP 프로젝트 RFC 테스트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조달청 협약 여부 CRM 연동</a:t>
            </a:r>
          </a:p>
        </p:txBody>
      </p:sp>
      <p:sp>
        <p:nvSpPr>
          <p:cNvPr id="638405120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</a:p>
        </p:txBody>
      </p:sp>
      <p:sp>
        <p:nvSpPr>
          <p:cNvPr id="345201295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</a:p>
        </p:txBody>
      </p:sp>
      <p:sp>
        <p:nvSpPr>
          <p:cNvPr id="1470553955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</a:p>
        </p:txBody>
      </p:sp>
      <p:sp>
        <p:nvSpPr>
          <p:cNvPr id="1424323020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18671642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73099177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10/04</a:t>
            </a:r>
            <a:br/>
          </a:p>
        </p:txBody>
      </p:sp>
      <p:sp>
        <p:nvSpPr>
          <p:cNvPr id="2004976330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</a:p>
        </p:txBody>
      </p:sp>
      <p:sp>
        <p:nvSpPr>
          <p:cNvPr id="144045799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ASM 변경 관리 요청 업무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GW google play 배포 테스트</a:t>
            </a:r>
          </a:p>
        </p:txBody>
      </p:sp>
      <p:sp>
        <p:nvSpPr>
          <p:cNvPr id="867884883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303176143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910212962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ITSM-116739 변경수행자 변경ITSM-116279 변경수행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자 변경ITSM-116949 상태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GW google play 배포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ITSM-117051 견적서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ITSM-113287 배포상태 변경ITSM-116977 변경결과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SAP 인터페이스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ITSM-113287 배포상태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ITSM-116438 작업자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자동배차엔진 장애</a:t>
            </a:r>
          </a:p>
        </p:txBody>
      </p:sp>
      <p:sp>
        <p:nvSpPr>
          <p:cNvPr id="298141059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</a:p>
        </p:txBody>
      </p:sp>
      <p:sp>
        <p:nvSpPr>
          <p:cNvPr id="1960853679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</a:p>
        </p:txBody>
      </p:sp>
      <p:sp>
        <p:nvSpPr>
          <p:cNvPr id="1593337703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</a:p>
        </p:txBody>
      </p:sp>
      <p:sp>
        <p:nvSpPr>
          <p:cNvPr id="1844471925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45122325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472390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03072522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95845744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332931962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005814897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2049884601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40958950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822093998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273832256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203900557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63148902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473055418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04697635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777778278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016024535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</a:p>
        </p:txBody>
      </p:sp>
      <p:sp>
        <p:nvSpPr>
          <p:cNvPr id="1989390328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09/11</a:t>
            </a:r>
            <a:br/>
            <a:br/>
          </a:p>
        </p:txBody>
      </p:sp>
      <p:sp>
        <p:nvSpPr>
          <p:cNvPr id="1959531290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이상관리 및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'정유해외마케팅팀 - Daily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Naphtha/Gasoline/Jet/Diesel Market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Movement 작성 및 보고' 작업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'#3 외화입금내역 반제자동화' 작업 운영전환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및 SAP입력 작업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A11 -&gt; A360 'Invoice Payment Completed -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Polymer' 작업 Migration</a:t>
            </a:r>
            <a:br/>
          </a:p>
        </p:txBody>
      </p:sp>
      <p:sp>
        <p:nvSpPr>
          <p:cNvPr id="672499307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2734097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1798187907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A11 -&gt; A360 'Invoice Payment Completed' 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업 Migration 및 로직 보완 -&gt; 담당자 사용 안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함. 작업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A11 -&gt; A360 'Invoice Payment Completed -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Polymer' 작업 Migration 및 로직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rpa_prod01 계정 SAP PW만료. 동일변경 요청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및 확인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'#4 외화송금' 작업 엑셀 오류.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'#2 외화지급계좌 증빙대사' 작업 수정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및 모니터링,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116PC 이상현상으로 인한 작업 스케줄 미수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행. PC재부팅</a:t>
            </a:r>
            <a:br/>
          </a:p>
        </p:txBody>
      </p:sp>
      <p:sp>
        <p:nvSpPr>
          <p:cNvPr id="2146349375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09/26</a:t>
            </a:r>
            <a:br/>
            <a:br/>
          </a:p>
        </p:txBody>
      </p:sp>
      <p:sp>
        <p:nvSpPr>
          <p:cNvPr id="2068600439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09/25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40%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09/26</a:t>
            </a:r>
            <a:br/>
            <a:br/>
          </a:p>
        </p:txBody>
      </p:sp>
      <p:sp>
        <p:nvSpPr>
          <p:cNvPr id="912818239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09/19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09/26</a:t>
            </a:r>
            <a:br/>
            <a:br/>
          </a:p>
        </p:txBody>
      </p:sp>
      <p:sp>
        <p:nvSpPr>
          <p:cNvPr id="738252610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53126836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57749488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</a:p>
        </p:txBody>
      </p:sp>
      <p:sp>
        <p:nvSpPr>
          <p:cNvPr id="1301344086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</a:p>
        </p:txBody>
      </p:sp>
      <p:sp>
        <p:nvSpPr>
          <p:cNvPr id="1736477537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업무용 경조화환 신청 및 관리시스템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전자결재 양식 신설(PC사용제한 해제 신청 )</a:t>
            </a:r>
            <a:br/>
          </a:p>
        </p:txBody>
      </p:sp>
      <p:sp>
        <p:nvSpPr>
          <p:cNvPr id="776029033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1323694888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71649277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업무용 경조화환 신청 및 관리시스템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전자결재 양식 신설(PC사용제한 해제 신청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기성보고서 산업안전보건관리비 확인항목 공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통내용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컨테이너 안전점검표 보관 신청서 양식 추가</a:t>
            </a:r>
            <a:br/>
          </a:p>
        </p:txBody>
      </p:sp>
      <p:sp>
        <p:nvSpPr>
          <p:cNvPr id="1744641943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</a:p>
        </p:txBody>
      </p:sp>
      <p:sp>
        <p:nvSpPr>
          <p:cNvPr id="1132675594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09/26</a:t>
            </a:r>
            <a:br/>
          </a:p>
        </p:txBody>
      </p:sp>
      <p:sp>
        <p:nvSpPr>
          <p:cNvPr id="585027049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09/24</a:t>
            </a:r>
            <a:br/>
          </a:p>
        </p:txBody>
      </p:sp>
      <p:sp>
        <p:nvSpPr>
          <p:cNvPr id="210377952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0641729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3460665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46088972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85854245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960972932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607889347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51231568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45879816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814275752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993549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358840280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307101647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663704520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9946560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359386884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742958956" name="Text">
    </p:cNvPr>
          <p:cNvSpPr>
            <a:spLocks noGrp="1"/>
          </p:cNvSpPr>
          <p:nvPr/>
        </p:nvSpPr>
        <p:spPr>
          <a:xfrm rot="0">
            <a:off x="9702800" y="15113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</a:p>
        </p:txBody>
      </p:sp>
      <p:sp>
        <p:nvSpPr>
          <p:cNvPr id="524233584" name="Text">
    </p:cNvPr>
          <p:cNvSpPr>
            <a:spLocks noGrp="1"/>
          </p:cNvSpPr>
          <p:nvPr/>
        </p:nvSpPr>
        <p:spPr>
          <a:xfrm rot="0">
            <a:off x="9334500" y="15113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08/21</a:t>
            </a:r>
            <a:br/>
            <a:br/>
          </a:p>
        </p:txBody>
      </p:sp>
      <p:sp>
        <p:nvSpPr>
          <p:cNvPr id="1868487158" name="Text">
    </p:cNvPr>
          <p:cNvSpPr>
            <a:spLocks noGrp="1"/>
          </p:cNvSpPr>
          <p:nvPr/>
        </p:nvSpPr>
        <p:spPr>
          <a:xfrm rot="0">
            <a:off x="5930900" y="1511300"/>
            <a:ext cx="3403600" cy="25781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편의성 수정 -&gt; 메뉴(작업정산관리) -&gt; 프로시저 수정, 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ITSM-113794OT 사이버보안 통합관리시스템/D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ashboard 개발(신규 서버) 관련 전자결재 연동 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ITSM-115639OSPM(외주용역관리) 결재 대행자 지정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기능 추가 요청</a:t>
            </a:r>
          </a:p>
        </p:txBody>
      </p:sp>
      <p:sp>
        <p:nvSpPr>
          <p:cNvPr id="183870368" name="Text">
    </p:cNvPr>
          <p:cNvSpPr>
            <a:spLocks noGrp="1"/>
          </p:cNvSpPr>
          <p:nvPr/>
        </p:nvSpPr>
        <p:spPr>
          <a:xfrm rot="0">
            <a:off x="5308600" y="1511300"/>
            <a:ext cx="5715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1668224597" name="Text">
    </p:cNvPr>
          <p:cNvSpPr>
            <a:spLocks noGrp="1"/>
          </p:cNvSpPr>
          <p:nvPr/>
        </p:nvSpPr>
        <p:spPr>
          <a:xfrm rot="0">
            <a:off x="88900" y="1511300"/>
            <a:ext cx="5715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99468771" name="Text">
    </p:cNvPr>
          <p:cNvSpPr>
            <a:spLocks noGrp="1"/>
          </p:cNvSpPr>
          <p:nvPr/>
        </p:nvSpPr>
        <p:spPr>
          <a:xfrm rot="0">
            <a:off x="711200" y="1511300"/>
            <a:ext cx="3403600" cy="25781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편의성 수정 -&gt; 메뉴(작업정산관리) -&gt; 프로시저 수정, 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ITSM-113794OT 사이버보안 통합관리시스템/D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ashboard 개발(신규 서버) 관련 전자결재 연동 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ITSM-115639OSPM(외주용역관리) 결재 대행자 지정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기능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ITSM-116870 -&gt; 법인카드 관련 제요청서 팝업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ITSM-117009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ITSM-117020, ITSM-117014, ITSM-116999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, ITSM-116993, ITSM-116986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ITSM-117032, ITSM-117050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ITSM-117119, ITSM-117140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ITSM-117123, ITSM-117196, ITSM-117213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ITSM-117251, ITSM-117289, ITSM-117231</a:t>
            </a:r>
          </a:p>
        </p:txBody>
      </p:sp>
      <p:sp>
        <p:nvSpPr>
          <p:cNvPr id="484785601" name="Text">
    </p:cNvPr>
          <p:cNvSpPr>
            <a:spLocks noGrp="1"/>
          </p:cNvSpPr>
          <p:nvPr/>
        </p:nvSpPr>
        <p:spPr>
          <a:xfrm rot="0">
            <a:off x="4483100" y="15113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</a:p>
        </p:txBody>
      </p:sp>
      <p:sp>
        <p:nvSpPr>
          <p:cNvPr id="1001022814" name="Text">
    </p:cNvPr>
          <p:cNvSpPr>
            <a:spLocks noGrp="1"/>
          </p:cNvSpPr>
          <p:nvPr/>
        </p:nvSpPr>
        <p:spPr>
          <a:xfrm rot="0">
            <a:off x="4851400" y="15113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</a:p>
        </p:txBody>
      </p:sp>
      <p:sp>
        <p:nvSpPr>
          <p:cNvPr id="552337856" name="Text">
    </p:cNvPr>
          <p:cNvSpPr>
            <a:spLocks noGrp="1"/>
          </p:cNvSpPr>
          <p:nvPr/>
        </p:nvSpPr>
        <p:spPr>
          <a:xfrm rot="0">
            <a:off x="4114800" y="15113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</a:p>
        </p:txBody>
      </p:sp>
      <p:sp>
        <p:nvSpPr>
          <p:cNvPr id="1262815971" name="Text">
    </p:cNvPr>
          <p:cNvSpPr>
            <a:spLocks noGrp="1"/>
          </p:cNvSpPr>
          <p:nvPr/>
        </p:nvSpPr>
        <p:spPr>
          <a:xfrm rot="0">
            <a:off x="660400" y="1511300"/>
            <a:ext cx="34544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30390399" name="Text">
    </p:cNvPr>
          <p:cNvSpPr>
            <a:spLocks noGrp="1"/>
          </p:cNvSpPr>
          <p:nvPr/>
        </p:nvSpPr>
        <p:spPr>
          <a:xfrm rot="0">
            <a:off x="5880100" y="1511300"/>
            <a:ext cx="34544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70358123" name="Text">
    </p:cNvPr>
          <p:cNvSpPr>
            <a:spLocks noGrp="1"/>
          </p:cNvSpPr>
          <p:nvPr/>
        </p:nvSpPr>
        <p:spPr>
          <a:xfrm rot="0">
            <a:off x="9702800" y="40894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</a:p>
        </p:txBody>
      </p:sp>
      <p:sp>
        <p:nvSpPr>
          <p:cNvPr id="1446106728" name="Text">
    </p:cNvPr>
          <p:cNvSpPr>
            <a:spLocks noGrp="1"/>
          </p:cNvSpPr>
          <p:nvPr/>
        </p:nvSpPr>
        <p:spPr>
          <a:xfrm rot="0">
            <a:off x="9334500" y="40894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</a:p>
        </p:txBody>
      </p:sp>
      <p:sp>
        <p:nvSpPr>
          <p:cNvPr id="901827679" name="Text">
    </p:cNvPr>
          <p:cNvSpPr>
            <a:spLocks noGrp="1"/>
          </p:cNvSpPr>
          <p:nvPr/>
        </p:nvSpPr>
        <p:spPr>
          <a:xfrm rot="0">
            <a:off x="5930900" y="40894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사용자 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EAI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EAI 테스트</a:t>
            </a:r>
          </a:p>
        </p:txBody>
      </p:sp>
      <p:sp>
        <p:nvSpPr>
          <p:cNvPr id="318213965" name="Text">
    </p:cNvPr>
          <p:cNvSpPr>
            <a:spLocks noGrp="1"/>
          </p:cNvSpPr>
          <p:nvPr/>
        </p:nvSpPr>
        <p:spPr>
          <a:xfrm rot="0">
            <a:off x="5308600" y="40894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500193815" name="Text">
    </p:cNvPr>
          <p:cNvSpPr>
            <a:spLocks noGrp="1"/>
          </p:cNvSpPr>
          <p:nvPr/>
        </p:nvSpPr>
        <p:spPr>
          <a:xfrm rot="0">
            <a:off x="88900" y="40894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1158303059" name="Text">
    </p:cNvPr>
          <p:cNvSpPr>
            <a:spLocks noGrp="1"/>
          </p:cNvSpPr>
          <p:nvPr/>
        </p:nvSpPr>
        <p:spPr>
          <a:xfrm rot="0">
            <a:off x="711200" y="40894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ITSM-117043 결재 완료한 교육훈련신청서 회수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SOFT SKILL 평가요청서 연계 오류 확인 및 수정</a:t>
            </a:r>
          </a:p>
        </p:txBody>
      </p:sp>
      <p:sp>
        <p:nvSpPr>
          <p:cNvPr id="1989923737" name="Text">
    </p:cNvPr>
          <p:cNvSpPr>
            <a:spLocks noGrp="1"/>
          </p:cNvSpPr>
          <p:nvPr/>
        </p:nvSpPr>
        <p:spPr>
          <a:xfrm rot="0">
            <a:off x="4483100" y="40894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</a:p>
        </p:txBody>
      </p:sp>
      <p:sp>
        <p:nvSpPr>
          <p:cNvPr id="1480112096" name="Text">
    </p:cNvPr>
          <p:cNvSpPr>
            <a:spLocks noGrp="1"/>
          </p:cNvSpPr>
          <p:nvPr/>
        </p:nvSpPr>
        <p:spPr>
          <a:xfrm rot="0">
            <a:off x="4851400" y="40894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</a:p>
        </p:txBody>
      </p:sp>
      <p:sp>
        <p:nvSpPr>
          <p:cNvPr id="1202150930" name="Text">
    </p:cNvPr>
          <p:cNvSpPr>
            <a:spLocks noGrp="1"/>
          </p:cNvSpPr>
          <p:nvPr/>
        </p:nvSpPr>
        <p:spPr>
          <a:xfrm rot="0">
            <a:off x="4114800" y="40894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</a:p>
        </p:txBody>
      </p:sp>
      <p:sp>
        <p:nvSpPr>
          <p:cNvPr id="1355871072" name="Text">
    </p:cNvPr>
          <p:cNvSpPr>
            <a:spLocks noGrp="1"/>
          </p:cNvSpPr>
          <p:nvPr/>
        </p:nvSpPr>
        <p:spPr>
          <a:xfrm rot="0">
            <a:off x="660400" y="40894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21651960" name="Text">
    </p:cNvPr>
          <p:cNvSpPr>
            <a:spLocks noGrp="1"/>
          </p:cNvSpPr>
          <p:nvPr/>
        </p:nvSpPr>
        <p:spPr>
          <a:xfrm rot="0">
            <a:off x="5880100" y="40894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1169824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16239568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39290714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216616557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5871899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638696295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822991916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03853840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37080176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544947221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135455882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27080718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48467909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631880397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421075674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br/>
          </a:p>
        </p:txBody>
      </p:sp>
      <p:sp>
        <p:nvSpPr>
          <p:cNvPr id="1241933255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br/>
          </a:p>
        </p:txBody>
      </p:sp>
      <p:sp>
        <p:nvSpPr>
          <p:cNvPr id="1270499284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[IT운영팀] GCMS EAI 개발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[회계팀] 재무관리 시나리오 대상 삭제 및 기능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[SAP DS Upgrade] EWS, GCMS 지원 (To-be ERP 스텐다드 테이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블 변경 건) </a:t>
            </a:r>
          </a:p>
        </p:txBody>
      </p:sp>
      <p:sp>
        <p:nvSpPr>
          <p:cNvPr id="59859858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1924391641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199395605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[IT운영팀] GCMS 개발 AP 서버 구축 완료 (10/2 EAI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테스트)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[회계팀] 재무관리 시나리오 대상 삭제 및 기능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[광주전남지사] 모니터링 메일 대상자 변경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[리스크관리팀] Type Error 스크립트 오류 메세지 확인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[자재관리팀] 재고조정 &gt; 재고수량조정 일괄 업로드 기능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문의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[SAP DS Upgrade] EWS, GCMS 지원 (To-be ERP 스텐다드 테이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블 변경 건) </a:t>
            </a:r>
          </a:p>
        </p:txBody>
      </p:sp>
      <p:sp>
        <p:nvSpPr>
          <p:cNvPr id="318765914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br/>
          </a:p>
        </p:txBody>
      </p:sp>
      <p:sp>
        <p:nvSpPr>
          <p:cNvPr id="1577274042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</a:p>
        </p:txBody>
      </p:sp>
      <p:sp>
        <p:nvSpPr>
          <p:cNvPr id="868994697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br/>
          </a:p>
        </p:txBody>
      </p:sp>
      <p:sp>
        <p:nvSpPr>
          <p:cNvPr id="754860996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94080554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85356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760994695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10699326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162662613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688794028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967813155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321821683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840303237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311143692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76955483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58947588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691356040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422809097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926691724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9161160" name="Text">
    </p:cNvPr>
          <p:cNvSpPr>
            <a:spLocks noGrp="1"/>
          </p:cNvSpPr>
          <p:nvPr/>
        </p:nvSpPr>
        <p:spPr>
          <a:xfrm rot="0">
            <a:off x="97028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</a:p>
        </p:txBody>
      </p:sp>
      <p:sp>
        <p:nvSpPr>
          <p:cNvPr id="1618450312" name="Text">
    </p:cNvPr>
          <p:cNvSpPr>
            <a:spLocks noGrp="1"/>
          </p:cNvSpPr>
          <p:nvPr/>
        </p:nvSpPr>
        <p:spPr>
          <a:xfrm rot="0">
            <a:off x="93345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  <a:br/>
          </a:p>
        </p:txBody>
      </p:sp>
      <p:sp>
        <p:nvSpPr>
          <p:cNvPr id="1706102345" name="Text">
    </p:cNvPr>
          <p:cNvSpPr>
            <a:spLocks noGrp="1"/>
          </p:cNvSpPr>
          <p:nvPr/>
        </p:nvSpPr>
        <p:spPr>
          <a:xfrm rot="0">
            <a:off x="5930900" y="1511300"/>
            <a:ext cx="3403600" cy="3035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DB 캐시 및 버퍼 점검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재고관리 &gt; 저유소 재고 현황 내 탱크 가용성 여부 로직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변경 예정 공수 산정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SAP DS 배치 중단 현상 관련 조치 및 점검 요청 ( * 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영 여부 모니터링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일일점검보고 (태운광 차장님, 김지혜 대리님, 박경근 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리님)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HQBCAPPD (192.168.40.231, DEV) EOS 관련 확인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및 공수/일정 공유 (JEUS 업그레이드)</a:t>
            </a:r>
          </a:p>
        </p:txBody>
      </p:sp>
      <p:sp>
        <p:nvSpPr>
          <p:cNvPr id="545166312" name="Text">
    </p:cNvPr>
          <p:cNvSpPr>
            <a:spLocks noGrp="1"/>
          </p:cNvSpPr>
          <p:nvPr/>
        </p:nvSpPr>
        <p:spPr>
          <a:xfrm rot="0">
            <a:off x="5308600" y="1511300"/>
            <a:ext cx="5715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 품질관리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1578700351" name="Text">
    </p:cNvPr>
          <p:cNvSpPr>
            <a:spLocks noGrp="1"/>
          </p:cNvSpPr>
          <p:nvPr/>
        </p:nvSpPr>
        <p:spPr>
          <a:xfrm rot="0">
            <a:off x="88900" y="1511300"/>
            <a:ext cx="5715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 품질관리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42867107" name="Text">
    </p:cNvPr>
          <p:cNvSpPr>
            <a:spLocks noGrp="1"/>
          </p:cNvSpPr>
          <p:nvPr/>
        </p:nvSpPr>
        <p:spPr>
          <a:xfrm rot="0">
            <a:off x="711200" y="1511300"/>
            <a:ext cx="3403600" cy="3035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신규 인원 계정 생성 및 안내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[ERP 계정관리] Backup 업무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2024년 일반부서 컴플라이언스 점검 회신 (w.홍연정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선임님)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DB 캐시 및 버퍼 점검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재고관리 &gt; 저유소 재고 현황 내 탱크 가용성 여부 로직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변경 예정 공수 산정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SAP DS 배치 중단 현상 관련 조치 및 점검 요청 ( * 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영 여부 모니터링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일일점검보고 (태운광 차장님, 김지혜 대리님, 박경근 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리님)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VOC 가맹점 담당자 불일치 (CRM 데이터와 상이) 변경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점검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HQBCAPPD (192.168.40.231, DEV) EOS 관련 확인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및 공수/일정 공유 (JEUS 업그레이드)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 품질관리] 상동주유소(2017820), My S-OIL App 품질 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기 업데이트 요청</a:t>
            </a:r>
          </a:p>
        </p:txBody>
      </p:sp>
      <p:sp>
        <p:nvSpPr>
          <p:cNvPr id="1872796925" name="Text">
    </p:cNvPr>
          <p:cNvSpPr>
            <a:spLocks noGrp="1"/>
          </p:cNvSpPr>
          <p:nvPr/>
        </p:nvSpPr>
        <p:spPr>
          <a:xfrm rot="0">
            <a:off x="44831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br/>
          </a:p>
        </p:txBody>
      </p:sp>
      <p:sp>
        <p:nvSpPr>
          <p:cNvPr id="991277874" name="Text">
    </p:cNvPr>
          <p:cNvSpPr>
            <a:spLocks noGrp="1"/>
          </p:cNvSpPr>
          <p:nvPr/>
        </p:nvSpPr>
        <p:spPr>
          <a:xfrm rot="0">
            <a:off x="48514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09/26</a:t>
            </a:r>
            <a:br/>
            <a:br/>
          </a:p>
        </p:txBody>
      </p:sp>
      <p:sp>
        <p:nvSpPr>
          <p:cNvPr id="770390681" name="Text">
    </p:cNvPr>
          <p:cNvSpPr>
            <a:spLocks noGrp="1"/>
          </p:cNvSpPr>
          <p:nvPr/>
        </p:nvSpPr>
        <p:spPr>
          <a:xfrm rot="0">
            <a:off x="41148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  <a:br/>
          </a:p>
        </p:txBody>
      </p:sp>
      <p:sp>
        <p:nvSpPr>
          <p:cNvPr id="1608154502" name="Text">
    </p:cNvPr>
          <p:cNvSpPr>
            <a:spLocks noGrp="1"/>
          </p:cNvSpPr>
          <p:nvPr/>
        </p:nvSpPr>
        <p:spPr>
          <a:xfrm rot="0">
            <a:off x="660400" y="1511300"/>
            <a:ext cx="34544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80166388" name="Text">
    </p:cNvPr>
          <p:cNvSpPr>
            <a:spLocks noGrp="1"/>
          </p:cNvSpPr>
          <p:nvPr/>
        </p:nvSpPr>
        <p:spPr>
          <a:xfrm rot="0">
            <a:off x="5880100" y="1511300"/>
            <a:ext cx="34544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1867458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547891472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28364631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995047158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181050173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234149010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446853776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895197457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492283071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908895171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55897898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4411006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786096470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966016864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711305720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</a:p>
        </p:txBody>
      </p:sp>
      <p:sp>
        <p:nvSpPr>
          <p:cNvPr id="272018397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br/>
          </a:p>
        </p:txBody>
      </p:sp>
      <p:sp>
        <p:nvSpPr>
          <p:cNvPr id="1465814422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2024.8월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신용보증기금 연동 모듈 변경에 따른 설치 및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SGI서울보증 차세대시스템 구축에 따른 전자보증 시스템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테스트</a:t>
            </a:r>
          </a:p>
        </p:txBody>
      </p:sp>
      <p:sp>
        <p:nvSpPr>
          <p:cNvPr id="1336526626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710140572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253676616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2024.8월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신용보증기금 연동 모듈 변경에 따른 설치 및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EAI 운영 AP서버 ESB모듈 설치 및 전문 테스트</a:t>
            </a:r>
          </a:p>
        </p:txBody>
      </p:sp>
      <p:sp>
        <p:nvSpPr>
          <p:cNvPr id="739230208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</a:p>
        </p:txBody>
      </p:sp>
      <p:sp>
        <p:nvSpPr>
          <p:cNvPr id="765362292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09/26</a:t>
            </a:r>
            <a:br/>
          </a:p>
        </p:txBody>
      </p:sp>
      <p:sp>
        <p:nvSpPr>
          <p:cNvPr id="409780313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</a:p>
        </p:txBody>
      </p:sp>
      <p:sp>
        <p:nvSpPr>
          <p:cNvPr id="1642668944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66447983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505" name="Group 97"/>
          <p:cNvGraphicFramePr>
            <a:graphicFrameLocks noGrp="1"/>
          </p:cNvGraphicFramePr>
          <p:nvPr/>
        </p:nvGraphicFramePr>
        <p:xfrm>
          <a:off x="255577" y="1105143"/>
          <a:ext cx="4771985" cy="3535492"/>
        </p:xfrm>
        <a:graphic>
          <a:graphicData uri="http://schemas.openxmlformats.org/drawingml/2006/table">
            <a:tbl>
              <a:tblPr/>
              <a:tblGrid>
                <a:gridCol w="5219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88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7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5077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494" marL="88055" marR="88055" marT="4549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err="1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922">
                <a:tc rowSpan="7">
                  <a:txBody>
                    <a:bodyPr/>
                    <a:lstStyle>
                      <a:lvl1pPr algn="l"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algn="l"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algn="l"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algn="l"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algn="l"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Market.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박치영</a:t>
                      </a:r>
                    </a:p>
                  </a:txBody>
                  <a:tcPr horzOverflow="overflow" marB="45527" marL="81282" marR="81282" marT="455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전화번호로 포인트 적립 적용 조회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73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 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주유소연동추가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_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현대서버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89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주유소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금결원전송관련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58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플랫폼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테스트 대응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부정적립관련 대응 조치 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키오스크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즉발카드 등록 개발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526" marL="83067" marR="83067" marT="4652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모바일상품권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제휴 성능 저하문제 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568">
                <a:tc rowSpan="7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IF.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이승범</a:t>
                      </a:r>
                    </a:p>
                  </a:txBody>
                  <a:tcPr horzOverflow="overflow" marB="45527" marL="81282" marR="81282" marT="455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02/03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773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680" marL="83077" marR="83077" marT="4668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쿠폰 전문 수정 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사용가능상품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02/16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r>
                        <a:rPr altLang="ko-KR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523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 연동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+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제네시스앱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09/21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01/29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5247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680" marL="83077" marR="83077" marT="4668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국민카드 배치 서버 변경으로 인한 연계 테스트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552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 쿠폰 발행 점검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02/28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56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롯데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멤버스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정합성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후속 조치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569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525" marL="83067" marR="83067" marT="4652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8274" name="Rectangle 137"/>
          <p:cNvSpPr>
            <a:spLocks noChangeArrowheads="1"/>
          </p:cNvSpPr>
          <p:nvPr/>
        </p:nvSpPr>
        <p:spPr bwMode="auto">
          <a:xfrm>
            <a:off x="302179" y="302534"/>
            <a:ext cx="876106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</a:t>
            </a:r>
            <a:r>
              <a:rPr altLang="en-US" lang="ko-KR" sz="1566">
                <a:solidFill>
                  <a:srgbClr val="000000"/>
                </a:solidFill>
              </a:rPr>
              <a:t>②</a:t>
            </a:r>
            <a:r>
              <a:rPr altLang="ko-KR" kumimoji="1" lang="en-US" sz="1566">
                <a:solidFill>
                  <a:srgbClr val="000000"/>
                </a:solidFill>
              </a:rPr>
              <a:t>Quintet - CRM)</a:t>
            </a:r>
          </a:p>
        </p:txBody>
      </p:sp>
      <p:sp>
        <p:nvSpPr>
          <p:cNvPr id="8275" name="Rectangle 135"/>
          <p:cNvSpPr>
            <a:spLocks noChangeArrowheads="1"/>
          </p:cNvSpPr>
          <p:nvPr/>
        </p:nvSpPr>
        <p:spPr bwMode="auto">
          <a:xfrm>
            <a:off x="255577" y="752526"/>
            <a:ext cx="4771985" cy="298249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graphicFrame>
        <p:nvGraphicFramePr>
          <p:cNvPr id="7" name="Group 9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426789"/>
              </p:ext>
            </p:extLst>
          </p:nvPr>
        </p:nvGraphicFramePr>
        <p:xfrm>
          <a:off x="5102125" y="1048417"/>
          <a:ext cx="4473736" cy="3871829"/>
        </p:xfrm>
        <a:graphic>
          <a:graphicData uri="http://schemas.openxmlformats.org/drawingml/2006/table">
            <a:tbl>
              <a:tblPr/>
              <a:tblGrid>
                <a:gridCol w="668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1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0165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49" marL="88066" marR="88066" marT="4574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1896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Market.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박치영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1" marR="81291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법인 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70" marL="83077" marR="83077" marT="4677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거래내역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 결제 수단 정의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ko-KR" b="0" baseline="0" dirty="0" err="1" lang="en-US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Pb</a:t>
                      </a:r>
                      <a:r>
                        <a:rPr altLang="en-US" b="0" baseline="0" dirty="0" lang="ko-KR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상품적립</a:t>
                      </a:r>
                      <a:endParaRPr altLang="ko-KR" b="0" baseline="0" dirty="0" lang="en-US" smtClean="0" sz="800">
                        <a:solidFill>
                          <a:schemeClr val="bg1">
                            <a:lumMod val="85000"/>
                          </a:schemeClr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-171450" latinLnBrk="1" lvl="0" marL="17145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사후적립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PRM,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전자결재 연동개발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5434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70" marL="83077" marR="83077" marT="4677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App push</a:t>
                      </a: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0934">
                <a:tc rowSpan="8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IF.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이승범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1" marR="81291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41" marL="81282" marR="81282" marT="456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02/03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9" marL="81282" marR="81282" marT="4562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9" marL="81282" marR="81282" marT="4562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0848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쿠폰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02/16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0784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 연동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+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제네시스앱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09/21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01/29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0784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국민카드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배치 서버 변경으로 인한 연계 테스트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 쿠폰 발행 점검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02/28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롯데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멤버스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정합성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후속 조치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555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8336" name="Rectangle 136"/>
          <p:cNvSpPr>
            <a:spLocks noChangeArrowheads="1"/>
          </p:cNvSpPr>
          <p:nvPr/>
        </p:nvSpPr>
        <p:spPr bwMode="auto">
          <a:xfrm>
            <a:off x="5092804" y="744759"/>
            <a:ext cx="4473736" cy="310676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505" name="Group 97"/>
          <p:cNvGraphicFramePr>
            <a:graphicFrameLocks noGrp="1"/>
          </p:cNvGraphicFramePr>
          <p:nvPr/>
        </p:nvGraphicFramePr>
        <p:xfrm>
          <a:off x="264898" y="1097377"/>
          <a:ext cx="4771985" cy="5727215"/>
        </p:xfrm>
        <a:graphic>
          <a:graphicData uri="http://schemas.openxmlformats.org/drawingml/2006/table">
            <a:tbl>
              <a:tblPr/>
              <a:tblGrid>
                <a:gridCol w="6556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61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02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45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53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1374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55" marL="88075" marR="88075" marT="4575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err="1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완료일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977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김재희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75" marR="88075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법인 하위 카드 등록 </a:t>
                      </a:r>
                    </a:p>
                  </a:txBody>
                  <a:tcPr horzOverflow="overflow" marB="45727" marL="81298" marR="81298" marT="457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3" marL="81298" marR="81298" marT="4573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12/31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06" marL="81298" marR="81298" marT="4580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97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프로모션 기간내 가입자 정보 제공 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97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모바일주유권 문자 발송 </a:t>
                      </a:r>
                    </a:p>
                  </a:txBody>
                  <a:tcPr horzOverflow="overflow" marB="45736" marL="81298" marR="81298" marT="4573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8" marR="81298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1/15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950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7" marL="90003" marR="90003" marT="4675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모의해킹 중복로그인 제한 개발 및 운영 이관 </a:t>
                      </a: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11/02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1/12</a:t>
                      </a: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2" marL="81301" marR="81301" marT="457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17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1" marL="90003" marR="90003" marT="4676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믿음가득주유소 화면 오류 확인 및 수정 요청</a:t>
                      </a:r>
                      <a:endParaRPr altLang="ko-KR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50%</a:t>
                      </a:r>
                    </a:p>
                  </a:txBody>
                  <a:tcPr horzOverflow="overflow" marB="45752" marL="81301" marR="81301" marT="457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913">
                <a:tc rowSpan="7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강길제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75" marR="88075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감사인원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</a:t>
                      </a: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VOC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관리자 권한 부여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1/8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1/11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Summary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발송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변경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1/14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1/15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배치 스케줄러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8" marL="81301" marR="81301" marT="4575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9" marL="81301" marR="81301" marT="4575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9" marL="81301" marR="81301" marT="4575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091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검색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9" marL="81294" marR="81294" marT="4578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087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438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829">
                <a:tc rowSpan="1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 BI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석주연</a:t>
                      </a:r>
                    </a:p>
                  </a:txBody>
                  <a:tcPr horzOverflow="overflow" marB="45753" marL="88075" marR="88075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보너스카드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매출비율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사입량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반영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‘20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월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남선석유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리드코프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매출비율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반영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735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’20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월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UNDEFINED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유치실적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7744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신규회원 분석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BI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엑셀 파일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관련 문의 응대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5" marL="90010" marR="90010" marT="46755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및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재산정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개발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1/19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3" marL="90010" marR="90010" marT="46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6" marL="90010" marR="90010" marT="46746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6" marL="90010" marR="90010" marT="46746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9" marL="90010" marR="90010" marT="46749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330140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4" marL="90010" marR="90010" marT="46754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</a:tbl>
          </a:graphicData>
        </a:graphic>
      </p:graphicFrame>
      <p:sp>
        <p:nvSpPr>
          <p:cNvPr id="9339" name="Rectangle 137"/>
          <p:cNvSpPr>
            <a:spLocks noChangeArrowheads="1"/>
          </p:cNvSpPr>
          <p:nvPr/>
        </p:nvSpPr>
        <p:spPr bwMode="auto">
          <a:xfrm>
            <a:off x="302179" y="302534"/>
            <a:ext cx="876106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</a:t>
            </a:r>
            <a:r>
              <a:rPr altLang="en-US" lang="ko-KR" sz="1566">
                <a:solidFill>
                  <a:srgbClr val="000000"/>
                </a:solidFill>
              </a:rPr>
              <a:t>②</a:t>
            </a:r>
            <a:r>
              <a:rPr altLang="ko-KR" kumimoji="1" lang="en-US" sz="1566">
                <a:solidFill>
                  <a:srgbClr val="000000"/>
                </a:solidFill>
              </a:rPr>
              <a:t>Quintet - CRM)</a:t>
            </a:r>
          </a:p>
        </p:txBody>
      </p:sp>
      <p:sp>
        <p:nvSpPr>
          <p:cNvPr id="9340" name="Rectangle 135"/>
          <p:cNvSpPr>
            <a:spLocks noChangeArrowheads="1"/>
          </p:cNvSpPr>
          <p:nvPr/>
        </p:nvSpPr>
        <p:spPr bwMode="auto">
          <a:xfrm>
            <a:off x="246257" y="750972"/>
            <a:ext cx="4771985" cy="298249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graphicFrame>
        <p:nvGraphicFramePr>
          <p:cNvPr id="7" name="Group 97"/>
          <p:cNvGraphicFramePr>
            <a:graphicFrameLocks noGrp="1"/>
          </p:cNvGraphicFramePr>
          <p:nvPr/>
        </p:nvGraphicFramePr>
        <p:xfrm>
          <a:off x="5111445" y="1108250"/>
          <a:ext cx="4473736" cy="4374258"/>
        </p:xfrm>
        <a:graphic>
          <a:graphicData uri="http://schemas.openxmlformats.org/drawingml/2006/table">
            <a:tbl>
              <a:tblPr/>
              <a:tblGrid>
                <a:gridCol w="668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1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4752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55" marL="88066" marR="88066" marT="4575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029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김재희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latinLnBrk="1"/>
                      <a:endParaRPr altLang="en-US" dirty="0" lang="ko-KR" sz="900"/>
                    </a:p>
                  </a:txBody>
                  <a:tcPr horzOverflow="overflow" marB="45753" marL="88066" marR="88066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보너스카드홈페이지 카드 안내 페이지 수정</a:t>
                      </a: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9/17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미정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01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믿음가득주유소 화면 테스트 및 운영 이관</a:t>
                      </a:r>
                      <a:endParaRPr altLang="ko-KR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95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95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6" marL="81298" marR="81298" marT="4573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8" marR="81298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094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987">
                <a:tc rowSpan="6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강길제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66" marR="88066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분류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3" marL="81301" marR="81301" marT="4576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4" marL="81301" marR="81301" marT="4576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4" marL="81301" marR="81301" marT="4576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98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검색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9" marL="81294" marR="81294" marT="4578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99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4" marL="81301" marR="81301" marT="4577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4" marL="81301" marR="81301" marT="4577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098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5" marL="81301" marR="81301" marT="4577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098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5" marL="81301" marR="81301" marT="4577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088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2" marL="81294" marR="81294" marT="4578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3" marL="81294" marR="81294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3" marL="81294" marR="81294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0879">
                <a:tc rowSpan="8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 BI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석주연</a:t>
                      </a:r>
                    </a:p>
                  </a:txBody>
                  <a:tcPr horzOverflow="overflow" marB="45753" marL="88066" marR="88066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산정식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수정 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포인트 적립 사용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ERP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보고용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‘20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년도 데이터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’20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대상 리스트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258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이벤트 기간 중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신규회원의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주유데이터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및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재산정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개발 및 검증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1/19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0" marL="90000" marR="90000" marT="46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4" marL="90000" marR="90000" marT="4675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9423" name="Rectangle 136"/>
          <p:cNvSpPr>
            <a:spLocks noChangeArrowheads="1"/>
          </p:cNvSpPr>
          <p:nvPr/>
        </p:nvSpPr>
        <p:spPr bwMode="auto">
          <a:xfrm>
            <a:off x="5092804" y="750972"/>
            <a:ext cx="4473736" cy="310676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표 3075"/>
          <p:cNvGraphicFramePr/>
          <p:nvPr>
            <p:extLst>
              <p:ext uri="{D42A27DB-BD31-4B8C-83A1-F6EECF244321}">
                <p14:modId xmlns:p14="http://schemas.microsoft.com/office/powerpoint/2010/main" val="2862881346"/>
              </p:ext>
            </p:extLst>
          </p:nvPr>
        </p:nvGraphicFramePr>
        <p:xfrm>
          <a:off x="271440" y="1141189"/>
          <a:ext cx="9318451" cy="5164874"/>
        </p:xfrm>
        <a:graphic>
          <a:graphicData uri="http://schemas.openxmlformats.org/drawingml/2006/table">
            <a:tbl>
              <a:tblPr bandRow="1" firstRow="1"/>
              <a:tblGrid>
                <a:gridCol w="132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3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1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572"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FF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  <a:endParaRPr altLang="en-US" b="0" dirty="0" i="0" kumimoji="1" lang="ko-KR" sz="900">
                        <a:solidFill>
                          <a:srgbClr val="FF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  <a:endParaRPr altLang="en-US" b="0" dirty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FF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  <a:endParaRPr altLang="en-US" b="0" dirty="0" i="0" kumimoji="1" lang="ko-KR" sz="900">
                        <a:solidFill>
                          <a:srgbClr val="0000FF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392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배영식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배영식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서상희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6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배영식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박선미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최진우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◑ 공현호</a:t>
                      </a:r>
                    </a:p>
                  </a:txBody>
                  <a:tcPr marB="45716" marT="45716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17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13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박선미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14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327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15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16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추석연휴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17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추석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18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추석연휴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19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박민우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이병준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변석범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20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이병준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21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14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22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23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순현국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강민경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이지은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24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순현국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강민경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이지은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25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순현국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서상희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26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박남신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순현국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27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남대현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박선미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28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235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29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황보람</a:t>
                      </a: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46" name="TextBox 3245"/>
          <p:cNvSpPr txBox="1"/>
          <p:nvPr/>
        </p:nvSpPr>
        <p:spPr>
          <a:xfrm>
            <a:off x="5639356" y="661884"/>
            <a:ext cx="661884" cy="36342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none">
            <a:noAutofit/>
          </a:bodyPr>
          <a:lstStyle/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00000"/>
              <a:buFont typeface="Arial"/>
              <a:buChar char="◑"/>
              <a:defRPr/>
            </a:pPr>
            <a:r>
              <a:rPr altLang="en-US" b="0" baseline="0" dirty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반 차</a:t>
            </a:r>
          </a:p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50000"/>
              <a:buFont typeface="Wingdings"/>
              <a:buChar char="l"/>
              <a:defRPr/>
            </a:pPr>
            <a:r>
              <a:rPr altLang="en-US" b="0" baseline="0" dirty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 1day</a:t>
            </a:r>
            <a:endParaRPr altLang="en-US" b="0" dirty="0" i="0" kumimoji="1" lang="ko-KR" sz="900">
              <a:solidFill>
                <a:srgbClr val="3333CC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7" name="TextBox 3246"/>
          <p:cNvSpPr txBox="1"/>
          <p:nvPr/>
        </p:nvSpPr>
        <p:spPr>
          <a:xfrm>
            <a:off x="226954" y="199994"/>
            <a:ext cx="9056616" cy="33646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89" lIns="91577" rIns="91577" tIns="45789" vert="horz" wrap="square">
            <a:noAutofit/>
          </a:bodyPr>
          <a:lstStyle/>
          <a:p>
            <a:pPr algn="l" defTabSz="58846888" eaLnBrk="0" hangingPunct="0" indent="-385813" latinLnBrk="0" lvl="0" marL="38581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별첨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-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202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4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 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09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월 휴가계획서</a:t>
            </a:r>
            <a:endParaRPr altLang="en-US" b="1" dirty="0" i="0" kumimoji="1" lang="ko-KR" sz="16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8" name="TextBox 3247"/>
          <p:cNvSpPr txBox="1"/>
          <p:nvPr/>
        </p:nvSpPr>
        <p:spPr>
          <a:xfrm>
            <a:off x="6777363" y="666628"/>
            <a:ext cx="1447571" cy="35555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Ø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예비군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/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민방위 훈련 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ü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교육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,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 내부회의 </a:t>
            </a:r>
            <a:endParaRPr altLang="en-US" b="0" dirty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2" name="TextBox 3251"/>
          <p:cNvSpPr txBox="1"/>
          <p:nvPr/>
        </p:nvSpPr>
        <p:spPr>
          <a:xfrm>
            <a:off x="7853525" y="661884"/>
            <a:ext cx="1676088" cy="355501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v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경조휴가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Arial"/>
              <a:buChar char="◇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건강검진</a:t>
            </a:r>
            <a:endParaRPr altLang="en-US" b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3" name="TextBox 3252"/>
          <p:cNvSpPr txBox="1"/>
          <p:nvPr/>
        </p:nvSpPr>
        <p:spPr>
          <a:xfrm>
            <a:off x="722167" y="6401209"/>
            <a:ext cx="3085536" cy="22382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20" lIns="91440" rIns="91440" tIns="45720" vert="horz" wrap="none">
            <a:noAutofit/>
          </a:bodyPr>
          <a:lstStyle/>
          <a:p>
            <a:pPr algn="r" defTabSz="75524200" eaLnBrk="0" hangingPunct="0" indent="0" latinLnBrk="0" lvl="0" marL="0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H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IT운영팀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생산IT지원팀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Baynex 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Q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Quintet</a:t>
            </a:r>
            <a:endParaRPr altLang="en-US" b="0" i="0" kumimoji="1" lang="ko-KR" sz="9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showMasterSp="fals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