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16458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60216277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7766602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1100101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941192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9593435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6910749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52183628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6425843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4261628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3170014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70522536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888809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57804096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38726928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18507555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9094842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5635998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4646607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522943816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43036761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638785265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6518110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730453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332515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8546303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5259537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154274586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947794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737922527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9922248" name="Frame"/>
          <p:cNvSpPr>
            <a:spLocks noGrp="1"/>
          </p:cNvSpPr>
          <p:nvPr/>
        </p:nvSpPr>
        <p:spPr>
          <a:xfrm>
            <a:off x="101600" y="29845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77303076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3091517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25792709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56194008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6397949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263943002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21556111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81611134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54190378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[CCS]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조달청 협약 여부 CRM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2024.8월 결산의 EIS, Yellow Book 반영</a:t>
            </a:r>
          </a:p>
        </p:txBody>
      </p:sp>
      <p:sp>
        <p:nvSpPr>
          <p:cNvPr id="339930957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33260687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1461762404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7519177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5201677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2860229" name="Frame"/>
          <p:cNvSpPr>
            <a:spLocks noGrp="1"/>
          </p:cNvSpPr>
          <p:nvPr/>
        </p:nvSpPr>
        <p:spPr>
          <a:xfrm>
            <a:off x="165100" y="36068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0507815" name="Text">
    </p:cNvPr>
          <p:cNvSpPr>
            <a:spLocks noGrp="1"/>
          </p:cNvSpPr>
          <p:nvPr/>
        </p:nvSpPr>
        <p:spPr>
          <a:xfrm rot="0">
            <a:off x="165100" y="36068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11376291" name="Text">
    </p:cNvPr>
          <p:cNvSpPr>
            <a:spLocks noGrp="1"/>
          </p:cNvSpPr>
          <p:nvPr/>
        </p:nvSpPr>
        <p:spPr>
          <a:xfrm rot="0">
            <a:off x="965200" y="36830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SAP 관세 및 수입부과금 마스터데이터 일괄 업로드 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413842105" name="Text">
    </p:cNvPr>
          <p:cNvSpPr>
            <a:spLocks noGrp="1"/>
          </p:cNvSpPr>
          <p:nvPr/>
        </p:nvSpPr>
        <p:spPr>
          <a:xfrm rot="0">
            <a:off x="7239000" y="36830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31673441" name="Text">
    </p:cNvPr>
          <p:cNvSpPr>
            <a:spLocks noGrp="1"/>
          </p:cNvSpPr>
          <p:nvPr/>
        </p:nvSpPr>
        <p:spPr>
          <a:xfrm rot="0">
            <a:off x="5549900" y="36830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294633728" name="Text">
    </p:cNvPr>
          <p:cNvSpPr>
            <a:spLocks noGrp="1"/>
          </p:cNvSpPr>
          <p:nvPr/>
        </p:nvSpPr>
        <p:spPr>
          <a:xfrm rot="0">
            <a:off x="901700" y="36068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4221634" name="Text">
    </p:cNvPr>
          <p:cNvSpPr>
            <a:spLocks noGrp="1"/>
          </p:cNvSpPr>
          <p:nvPr/>
        </p:nvSpPr>
        <p:spPr>
          <a:xfrm rot="0">
            <a:off x="6121400" y="36068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4650324" name="Text">
    </p:cNvPr>
          <p:cNvSpPr>
            <a:spLocks noGrp="1"/>
          </p:cNvSpPr>
          <p:nvPr/>
        </p:nvSpPr>
        <p:spPr>
          <a:xfrm rot="0">
            <a:off x="5549900" y="36068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3547735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05991571" name="Frame"/>
          <p:cNvSpPr>
            <a:spLocks noGrp="1"/>
          </p:cNvSpPr>
          <p:nvPr/>
        </p:nvSpPr>
        <p:spPr>
          <a:xfrm>
            <a:off x="152400" y="22225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81013616" name="Text">
    </p:cNvPr>
          <p:cNvSpPr>
            <a:spLocks noGrp="1"/>
          </p:cNvSpPr>
          <p:nvPr/>
        </p:nvSpPr>
        <p:spPr>
          <a:xfrm rot="0">
            <a:off x="152400" y="2197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312297252" name="Text">
    </p:cNvPr>
          <p:cNvSpPr>
            <a:spLocks noGrp="1"/>
          </p:cNvSpPr>
          <p:nvPr/>
        </p:nvSpPr>
        <p:spPr>
          <a:xfrm rot="0">
            <a:off x="952500" y="22479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[CCS] CCS 시스템 오류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컨테이너 안전점검표 보관 신청서 양식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평가요청서 연계 오류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운영 AP서버 ESB모듈 설치 및 전문 테스트</a:t>
            </a:r>
          </a:p>
        </p:txBody>
      </p:sp>
      <p:sp>
        <p:nvSpPr>
          <p:cNvPr id="2002589800" name="Text">
    </p:cNvPr>
          <p:cNvSpPr>
            <a:spLocks noGrp="1"/>
          </p:cNvSpPr>
          <p:nvPr/>
        </p:nvSpPr>
        <p:spPr>
          <a:xfrm rot="0">
            <a:off x="7226300" y="22479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7829256" name="Text">
    </p:cNvPr>
          <p:cNvSpPr>
            <a:spLocks noGrp="1"/>
          </p:cNvSpPr>
          <p:nvPr/>
        </p:nvSpPr>
        <p:spPr>
          <a:xfrm rot="0">
            <a:off x="6108700" y="21971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23176352" name="Text">
    </p:cNvPr>
          <p:cNvSpPr>
            <a:spLocks noGrp="1"/>
          </p:cNvSpPr>
          <p:nvPr/>
        </p:nvSpPr>
        <p:spPr>
          <a:xfrm rot="0">
            <a:off x="5537200" y="22479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</a:p>
        </p:txBody>
      </p:sp>
      <p:sp>
        <p:nvSpPr>
          <p:cNvPr id="1853892770" name="Text">
    </p:cNvPr>
          <p:cNvSpPr>
            <a:spLocks noGrp="1"/>
          </p:cNvSpPr>
          <p:nvPr/>
        </p:nvSpPr>
        <p:spPr>
          <a:xfrm rot="0">
            <a:off x="889000" y="2197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4337730" name="Text">
    </p:cNvPr>
          <p:cNvSpPr>
            <a:spLocks noGrp="1"/>
          </p:cNvSpPr>
          <p:nvPr/>
        </p:nvSpPr>
        <p:spPr>
          <a:xfrm rot="0">
            <a:off x="7124700" y="21971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6437153" name="Text">
    </p:cNvPr>
          <p:cNvSpPr>
            <a:spLocks noGrp="1"/>
          </p:cNvSpPr>
          <p:nvPr/>
        </p:nvSpPr>
        <p:spPr>
          <a:xfrm rot="0">
            <a:off x="5537200" y="2197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9663134" name="Rectangle"/>
          <p:cNvSpPr>
            <a:spLocks noGrp="1"/>
          </p:cNvSpPr>
          <p:nvPr/>
        </p:nvSpPr>
        <p:spPr>
          <a:xfrm>
            <a:off x="6870700" y="21971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832975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01439296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88992022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SAP 관세 및 수입부과금 마스터데이터 일괄 업로드 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기성보고서 금액 수정 요청 및 첨부파일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[ITSM-116922] 임시공휴일(10/1), 대체휴무일(12/6) 지정 근태달력 생성 및 후속작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HCM개발 Remote Client Copy 작업</a:t>
            </a:r>
          </a:p>
        </p:txBody>
      </p:sp>
      <p:sp>
        <p:nvSpPr>
          <p:cNvPr id="1829017941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12646687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43853054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09/28</a:t>
            </a:r>
          </a:p>
        </p:txBody>
      </p:sp>
      <p:sp>
        <p:nvSpPr>
          <p:cNvPr id="1457177672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6201335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1239697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5851337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