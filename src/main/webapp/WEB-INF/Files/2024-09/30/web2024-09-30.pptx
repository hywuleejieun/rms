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1989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882259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763555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238027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0019183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414110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73410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9631483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161224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950446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2700454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996204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5594328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4887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630237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99474278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</a:p>
        </p:txBody>
      </p:sp>
      <p:sp>
        <p:nvSpPr>
          <p:cNvPr id="126635707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</a:p>
        </p:txBody>
      </p:sp>
      <p:sp>
        <p:nvSpPr>
          <p:cNvPr id="10435343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66162466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06718641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17493073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75159978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</a:p>
        </p:txBody>
      </p:sp>
      <p:sp>
        <p:nvSpPr>
          <p:cNvPr id="200084052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98454194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51889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398605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55610231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30124353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2128230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7246582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1327495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[ITSM-116906]OAS 수정 요청</a:t>
            </a:r>
          </a:p>
        </p:txBody>
      </p:sp>
      <p:sp>
        <p:nvSpPr>
          <p:cNvPr id="96595872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30994791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</a:p>
        </p:txBody>
      </p:sp>
      <p:sp>
        <p:nvSpPr>
          <p:cNvPr id="184853339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34508575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766349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72283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22369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543274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4111939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11407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5082162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978999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697894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94779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870625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990952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853392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7511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949670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90336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96051121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61978983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</a:p>
        </p:txBody>
      </p:sp>
      <p:sp>
        <p:nvSpPr>
          <p:cNvPr id="17937881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8680921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9510379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</a:p>
        </p:txBody>
      </p:sp>
      <p:sp>
        <p:nvSpPr>
          <p:cNvPr id="63840512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3452012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4705539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42432302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86716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309917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</a:p>
        </p:txBody>
      </p:sp>
      <p:sp>
        <p:nvSpPr>
          <p:cNvPr id="200497633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404579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8678848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30317614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91021296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ITSM-116739 변경수행자 변경ITSM-116279 변경수행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변경ITSM-116949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ITSM-117051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변경ITSM-116977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인터페이스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ITSM-116438 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자동배차엔진 장애</a:t>
            </a:r>
          </a:p>
        </p:txBody>
      </p:sp>
      <p:sp>
        <p:nvSpPr>
          <p:cNvPr id="29814105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96085367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5933377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8444719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512232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4723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3072522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58457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329319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58148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498846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095895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2209399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7383225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039005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31489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30554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697635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777782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60245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98939032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19595312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Naphtha/Gasoline/Jet/Diesel Market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SAP입력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Polymer' 작업 Migration</a:t>
            </a:r>
            <a:br/>
          </a:p>
        </p:txBody>
      </p:sp>
      <p:sp>
        <p:nvSpPr>
          <p:cNvPr id="67249930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73409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9818790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업 Migration 및 로직 보완 -&gt; 담당자 사용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함. 작업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Polymer' 작업 Migration 및 로직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rpa_prod01 계정 SAP PW만료. 동일변경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작업 엑셀 오류.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모니터링,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116PC 이상현상으로 인한 작업 스케줄 미수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행. PC재부팅</a:t>
            </a:r>
            <a:br/>
          </a:p>
        </p:txBody>
      </p:sp>
      <p:sp>
        <p:nvSpPr>
          <p:cNvPr id="21463493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20686004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9128182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73825261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312683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5774948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0134408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73647753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</a:p>
        </p:txBody>
      </p:sp>
      <p:sp>
        <p:nvSpPr>
          <p:cNvPr id="77602903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32369488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7164927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기성보고서 산업안전보건관리비 확인항목 공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통내용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컨테이너 안전점검표 보관 신청서 양식 추가</a:t>
            </a:r>
            <a:br/>
          </a:p>
        </p:txBody>
      </p:sp>
      <p:sp>
        <p:nvSpPr>
          <p:cNvPr id="174464194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1326755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58502704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</a:p>
        </p:txBody>
      </p:sp>
      <p:sp>
        <p:nvSpPr>
          <p:cNvPr id="21037795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64172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4606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460889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8585424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6097293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078893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12315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58798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1427575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9354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88402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0710164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370452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994656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93868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42958956" name="Text">
    </p:cNvPr>
          <p:cNvSpPr>
            <a:spLocks noGrp="1"/>
          </p:cNvSpPr>
          <p:nvPr/>
        </p:nvSpPr>
        <p:spPr>
          <a:xfrm rot="0">
            <a:off x="9702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24233584" name="Text">
    </p:cNvPr>
          <p:cNvSpPr>
            <a:spLocks noGrp="1"/>
          </p:cNvSpPr>
          <p:nvPr/>
        </p:nvSpPr>
        <p:spPr>
          <a:xfrm rot="0">
            <a:off x="93345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1868487158" name="Text">
    </p:cNvPr>
          <p:cNvSpPr>
            <a:spLocks noGrp="1"/>
          </p:cNvSpPr>
          <p:nvPr/>
        </p:nvSpPr>
        <p:spPr>
          <a:xfrm rot="0">
            <a:off x="59309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</a:p>
        </p:txBody>
      </p:sp>
      <p:sp>
        <p:nvSpPr>
          <p:cNvPr id="183870368" name="Text">
    </p:cNvPr>
          <p:cNvSpPr>
            <a:spLocks noGrp="1"/>
          </p:cNvSpPr>
          <p:nvPr/>
        </p:nvSpPr>
        <p:spPr>
          <a:xfrm rot="0">
            <a:off x="53086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668224597" name="Text">
    </p:cNvPr>
          <p:cNvSpPr>
            <a:spLocks noGrp="1"/>
          </p:cNvSpPr>
          <p:nvPr/>
        </p:nvSpPr>
        <p:spPr>
          <a:xfrm rot="0">
            <a:off x="88900" y="15113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99468771" name="Text">
    </p:cNvPr>
          <p:cNvSpPr>
            <a:spLocks noGrp="1"/>
          </p:cNvSpPr>
          <p:nvPr/>
        </p:nvSpPr>
        <p:spPr>
          <a:xfrm rot="0">
            <a:off x="711200" y="15113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ITSM-116870 -&gt; 법인카드 관련 제요청서 팝업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ITSM-117009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ITSM-117020, ITSM-117014, ITSM-116999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ITSM-116993, ITSM-116986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ITSM-117032, ITSM-117050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ITSM-117119, ITSM-117140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ITSM-117123, ITSM-117196, ITSM-117213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ITSM-117251, ITSM-117289, ITSM-117231</a:t>
            </a:r>
          </a:p>
        </p:txBody>
      </p:sp>
      <p:sp>
        <p:nvSpPr>
          <p:cNvPr id="484785601" name="Text">
    </p:cNvPr>
          <p:cNvSpPr>
            <a:spLocks noGrp="1"/>
          </p:cNvSpPr>
          <p:nvPr/>
        </p:nvSpPr>
        <p:spPr>
          <a:xfrm rot="0">
            <a:off x="44831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001022814" name="Text">
    </p:cNvPr>
          <p:cNvSpPr>
            <a:spLocks noGrp="1"/>
          </p:cNvSpPr>
          <p:nvPr/>
        </p:nvSpPr>
        <p:spPr>
          <a:xfrm rot="0">
            <a:off x="48514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552337856" name="Text">
    </p:cNvPr>
          <p:cNvSpPr>
            <a:spLocks noGrp="1"/>
          </p:cNvSpPr>
          <p:nvPr/>
        </p:nvSpPr>
        <p:spPr>
          <a:xfrm rot="0">
            <a:off x="4114800" y="15113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262815971" name="Text">
    </p:cNvPr>
          <p:cNvSpPr>
            <a:spLocks noGrp="1"/>
          </p:cNvSpPr>
          <p:nvPr/>
        </p:nvSpPr>
        <p:spPr>
          <a:xfrm rot="0">
            <a:off x="6604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0390399" name="Text">
    </p:cNvPr>
          <p:cNvSpPr>
            <a:spLocks noGrp="1"/>
          </p:cNvSpPr>
          <p:nvPr/>
        </p:nvSpPr>
        <p:spPr>
          <a:xfrm rot="0">
            <a:off x="5880100" y="15113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70358123" name="Text">
    </p:cNvPr>
          <p:cNvSpPr>
            <a:spLocks noGrp="1"/>
          </p:cNvSpPr>
          <p:nvPr/>
        </p:nvSpPr>
        <p:spPr>
          <a:xfrm rot="0">
            <a:off x="9702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</a:p>
        </p:txBody>
      </p:sp>
      <p:sp>
        <p:nvSpPr>
          <p:cNvPr id="1446106728" name="Text">
    </p:cNvPr>
          <p:cNvSpPr>
            <a:spLocks noGrp="1"/>
          </p:cNvSpPr>
          <p:nvPr/>
        </p:nvSpPr>
        <p:spPr>
          <a:xfrm rot="0">
            <a:off x="93345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901827679" name="Text">
    </p:cNvPr>
          <p:cNvSpPr>
            <a:spLocks noGrp="1"/>
          </p:cNvSpPr>
          <p:nvPr/>
        </p:nvSpPr>
        <p:spPr>
          <a:xfrm rot="0">
            <a:off x="5930900" y="40894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EAI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EAI 테스트</a:t>
            </a:r>
          </a:p>
        </p:txBody>
      </p:sp>
      <p:sp>
        <p:nvSpPr>
          <p:cNvPr id="318213965" name="Text">
    </p:cNvPr>
          <p:cNvSpPr>
            <a:spLocks noGrp="1"/>
          </p:cNvSpPr>
          <p:nvPr/>
        </p:nvSpPr>
        <p:spPr>
          <a:xfrm rot="0">
            <a:off x="53086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00193815" name="Text">
    </p:cNvPr>
          <p:cNvSpPr>
            <a:spLocks noGrp="1"/>
          </p:cNvSpPr>
          <p:nvPr/>
        </p:nvSpPr>
        <p:spPr>
          <a:xfrm rot="0">
            <a:off x="88900" y="40894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58303059" name="Text">
    </p:cNvPr>
          <p:cNvSpPr>
            <a:spLocks noGrp="1"/>
          </p:cNvSpPr>
          <p:nvPr/>
        </p:nvSpPr>
        <p:spPr>
          <a:xfrm rot="0">
            <a:off x="711200" y="40894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ITSM-117043 결재 완료한 교육훈련신청서 회수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평가요청서 연계 오류 확인 및 수정</a:t>
            </a:r>
          </a:p>
        </p:txBody>
      </p:sp>
      <p:sp>
        <p:nvSpPr>
          <p:cNvPr id="1989923737" name="Text">
    </p:cNvPr>
          <p:cNvSpPr>
            <a:spLocks noGrp="1"/>
          </p:cNvSpPr>
          <p:nvPr/>
        </p:nvSpPr>
        <p:spPr>
          <a:xfrm rot="0">
            <a:off x="44831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480112096" name="Text">
    </p:cNvPr>
          <p:cNvSpPr>
            <a:spLocks noGrp="1"/>
          </p:cNvSpPr>
          <p:nvPr/>
        </p:nvSpPr>
        <p:spPr>
          <a:xfrm rot="0">
            <a:off x="48514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202150930" name="Text">
    </p:cNvPr>
          <p:cNvSpPr>
            <a:spLocks noGrp="1"/>
          </p:cNvSpPr>
          <p:nvPr/>
        </p:nvSpPr>
        <p:spPr>
          <a:xfrm rot="0">
            <a:off x="4114800" y="40894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355871072" name="Text">
    </p:cNvPr>
          <p:cNvSpPr>
            <a:spLocks noGrp="1"/>
          </p:cNvSpPr>
          <p:nvPr/>
        </p:nvSpPr>
        <p:spPr>
          <a:xfrm rot="0">
            <a:off x="6604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1651960" name="Text">
    </p:cNvPr>
          <p:cNvSpPr>
            <a:spLocks noGrp="1"/>
          </p:cNvSpPr>
          <p:nvPr/>
        </p:nvSpPr>
        <p:spPr>
          <a:xfrm rot="0">
            <a:off x="5880100" y="40894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16982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62395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9290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166165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87189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3869629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299191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38538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3708017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449472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545588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708071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484679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318803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2107567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24193325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27049928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EAI 개발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5985985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2439164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9939560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개발 AP 서버 구축 완료 (10/2 EAI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테스트)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[광주전남지사] 모니터링 메일 대상자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Type Error 스크립트 오류 메세지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[자재관리팀] 재고조정 &gt; 재고수량조정 일괄 업로드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31876591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</a:p>
        </p:txBody>
      </p:sp>
      <p:sp>
        <p:nvSpPr>
          <p:cNvPr id="157727404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8689946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7548609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408055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8535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09946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1069932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266261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8879402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678131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218216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03032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114369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69554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89475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913560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2280909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2669172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161160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</a:p>
        </p:txBody>
      </p:sp>
      <p:sp>
        <p:nvSpPr>
          <p:cNvPr id="1618450312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</a:p>
        </p:txBody>
      </p:sp>
      <p:sp>
        <p:nvSpPr>
          <p:cNvPr id="1706102345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</a:p>
        </p:txBody>
      </p:sp>
      <p:sp>
        <p:nvSpPr>
          <p:cNvPr id="545166312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578700351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42867107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신규 인원 계정 생성 및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[ERP 계정관리] Backup 업무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일반부서 컴플라이언스 점검 회신 (w.홍연정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선임님)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VOC 가맹점 담당자 불일치 (CRM 데이터와 상이) 변경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1872796925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991277874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</a:p>
        </p:txBody>
      </p:sp>
      <p:sp>
        <p:nvSpPr>
          <p:cNvPr id="770390681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1608154502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0166388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8674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78914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836463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950471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8105017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3414901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685377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519745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9228307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0889517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58978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41100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8609647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660168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1130572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7201839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</a:p>
        </p:txBody>
      </p:sp>
      <p:sp>
        <p:nvSpPr>
          <p:cNvPr id="14658144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</a:p>
        </p:txBody>
      </p:sp>
      <p:sp>
        <p:nvSpPr>
          <p:cNvPr id="13365266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7101405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5367661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73923020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76536229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</a:p>
        </p:txBody>
      </p:sp>
      <p:sp>
        <p:nvSpPr>
          <p:cNvPr id="40978031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64266894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664479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