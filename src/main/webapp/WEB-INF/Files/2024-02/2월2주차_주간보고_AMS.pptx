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2024-02-01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[2024.02.13 ~ 2024.02.19]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2월 2주차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855777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 연휴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설날연휴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대체휴일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180071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2132038470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75491096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33474634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98708835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736851358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4602232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368708270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65687216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24424782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540318289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467095901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171771258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77854634" name="Frame"/>
          <p:cNvSpPr>
            <a:spLocks noGrp="1"/>
          </p:cNvSpPr>
          <p:nvPr/>
        </p:nvSpPr>
        <p:spPr>
          <a:xfrm>
            <a:off x="25400" y="55499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25354089" name="Text">
    </p:cNvPr>
          <p:cNvSpPr>
            <a:spLocks noGrp="1"/>
          </p:cNvSpPr>
          <p:nvPr/>
        </p:nvSpPr>
        <p:spPr>
          <a:xfrm rot="0">
            <a:off x="152400" y="55753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655337691" name="Text">
    </p:cNvPr>
          <p:cNvSpPr>
            <a:spLocks noGrp="1"/>
          </p:cNvSpPr>
          <p:nvPr/>
        </p:nvSpPr>
        <p:spPr>
          <a:xfrm rot="0">
            <a:off x="6451600" y="61087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7663583" name="Text">
    </p:cNvPr>
          <p:cNvSpPr>
            <a:spLocks noGrp="1"/>
          </p:cNvSpPr>
          <p:nvPr/>
        </p:nvSpPr>
        <p:spPr>
          <a:xfrm rot="0">
            <a:off x="2057400" y="61087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2365625" name="Text">
    </p:cNvPr>
          <p:cNvSpPr>
            <a:spLocks noGrp="1"/>
          </p:cNvSpPr>
          <p:nvPr/>
        </p:nvSpPr>
        <p:spPr>
          <a:xfrm rot="0">
            <a:off x="101600" y="61087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2692469" name="Text">
    </p:cNvPr>
          <p:cNvSpPr>
            <a:spLocks noGrp="1"/>
          </p:cNvSpPr>
          <p:nvPr/>
        </p:nvSpPr>
        <p:spPr>
          <a:xfrm rot="0">
            <a:off x="101600" y="58674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368862643" name="Text">
    </p:cNvPr>
          <p:cNvSpPr>
            <a:spLocks noGrp="1"/>
          </p:cNvSpPr>
          <p:nvPr/>
        </p:nvSpPr>
        <p:spPr>
          <a:xfrm rot="0">
            <a:off x="2057400" y="58674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55333284" name="Text">
    </p:cNvPr>
          <p:cNvSpPr>
            <a:spLocks noGrp="1"/>
          </p:cNvSpPr>
          <p:nvPr/>
        </p:nvSpPr>
        <p:spPr>
          <a:xfrm rot="0">
            <a:off x="6451600" y="58674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973305089" name="Text">
    </p:cNvPr>
          <p:cNvSpPr>
            <a:spLocks noGrp="1"/>
          </p:cNvSpPr>
          <p:nvPr/>
        </p:nvSpPr>
        <p:spPr>
          <a:xfrm rot="0">
            <a:off x="101600" y="64008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7833177" name="Text">
    </p:cNvPr>
          <p:cNvSpPr>
            <a:spLocks noGrp="1"/>
          </p:cNvSpPr>
          <p:nvPr/>
        </p:nvSpPr>
        <p:spPr>
          <a:xfrm rot="0">
            <a:off x="6451600" y="64008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3798249" name="Text">
    </p:cNvPr>
          <p:cNvSpPr>
            <a:spLocks noGrp="1"/>
          </p:cNvSpPr>
          <p:nvPr/>
        </p:nvSpPr>
        <p:spPr>
          <a:xfrm rot="0">
            <a:off x="2057400" y="64008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9370469" name="Text">
    </p:cNvPr>
          <p:cNvSpPr>
            <a:spLocks noGrp="1"/>
          </p:cNvSpPr>
          <p:nvPr/>
        </p:nvSpPr>
        <p:spPr>
          <a:xfrm rot="0">
            <a:off x="1244600" y="64008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5114554" name="Text">
    </p:cNvPr>
          <p:cNvSpPr>
            <a:spLocks noGrp="1"/>
          </p:cNvSpPr>
          <p:nvPr/>
        </p:nvSpPr>
        <p:spPr>
          <a:xfrm rot="0">
            <a:off x="1244600" y="61087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2234854" name="Text">
    </p:cNvPr>
          <p:cNvSpPr>
            <a:spLocks noGrp="1"/>
          </p:cNvSpPr>
          <p:nvPr/>
        </p:nvSpPr>
        <p:spPr>
          <a:xfrm rot="0">
            <a:off x="1244600" y="58674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261161473" name="Text">
    </p:cNvPr>
          <p:cNvSpPr>
            <a:spLocks noGrp="1"/>
          </p:cNvSpPr>
          <p:nvPr/>
        </p:nvSpPr>
        <p:spPr>
          <a:xfrm rot="0">
            <a:off x="8102600" y="64008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6179974" name="Text">
    </p:cNvPr>
          <p:cNvSpPr>
            <a:spLocks noGrp="1"/>
          </p:cNvSpPr>
          <p:nvPr/>
        </p:nvSpPr>
        <p:spPr>
          <a:xfrm rot="0">
            <a:off x="8102600" y="58674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017356405" name="Text">
    </p:cNvPr>
          <p:cNvSpPr>
            <a:spLocks noGrp="1"/>
          </p:cNvSpPr>
          <p:nvPr/>
        </p:nvSpPr>
        <p:spPr>
          <a:xfrm rot="0">
            <a:off x="8102600" y="61087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493269" name="Frame"/>
          <p:cNvSpPr>
            <a:spLocks noGrp="1"/>
          </p:cNvSpPr>
          <p:nvPr/>
        </p:nvSpPr>
        <p:spPr>
          <a:xfrm>
            <a:off x="101600" y="3136900"/>
            <a:ext cx="9779000" cy="2247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32789010" name="Text">
    </p:cNvPr>
          <p:cNvSpPr>
            <a:spLocks noGrp="1"/>
          </p:cNvSpPr>
          <p:nvPr/>
        </p:nvSpPr>
        <p:spPr>
          <a:xfrm rot="0">
            <a:off x="165100" y="32004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9385670" name="Text">
    </p:cNvPr>
          <p:cNvSpPr>
            <a:spLocks noGrp="1"/>
          </p:cNvSpPr>
          <p:nvPr/>
        </p:nvSpPr>
        <p:spPr>
          <a:xfrm rot="0">
            <a:off x="152400" y="31623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2144858871" name="Text">
    </p:cNvPr>
          <p:cNvSpPr>
            <a:spLocks noGrp="1"/>
          </p:cNvSpPr>
          <p:nvPr/>
        </p:nvSpPr>
        <p:spPr>
          <a:xfrm rot="0">
            <a:off x="165100" y="34163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098764158" name="Text">
    </p:cNvPr>
          <p:cNvSpPr>
            <a:spLocks noGrp="1"/>
          </p:cNvSpPr>
          <p:nvPr/>
        </p:nvSpPr>
        <p:spPr>
          <a:xfrm rot="0">
            <a:off x="901700" y="34163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86607815" name="Text">
    </p:cNvPr>
          <p:cNvSpPr>
            <a:spLocks noGrp="1"/>
          </p:cNvSpPr>
          <p:nvPr/>
        </p:nvSpPr>
        <p:spPr>
          <a:xfrm rot="0">
            <a:off x="5549900" y="34163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853624548" name="Text">
    </p:cNvPr>
          <p:cNvSpPr>
            <a:spLocks noGrp="1"/>
          </p:cNvSpPr>
          <p:nvPr/>
        </p:nvSpPr>
        <p:spPr>
          <a:xfrm rot="0">
            <a:off x="6121400" y="34163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918978565" name="Frame"/>
          <p:cNvSpPr>
            <a:spLocks noGrp="1"/>
          </p:cNvSpPr>
          <p:nvPr/>
        </p:nvSpPr>
        <p:spPr>
          <a:xfrm>
            <a:off x="165100" y="4457700"/>
            <a:ext cx="9664700" cy="927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65027592" name="Text">
    </p:cNvPr>
          <p:cNvSpPr>
            <a:spLocks noGrp="1"/>
          </p:cNvSpPr>
          <p:nvPr/>
        </p:nvSpPr>
        <p:spPr>
          <a:xfrm rot="0">
            <a:off x="165100" y="4432300"/>
            <a:ext cx="7366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96383309" name="Text">
    </p:cNvPr>
          <p:cNvSpPr>
            <a:spLocks noGrp="1"/>
          </p:cNvSpPr>
          <p:nvPr/>
        </p:nvSpPr>
        <p:spPr>
          <a:xfrm rot="0">
            <a:off x="965200" y="4483100"/>
            <a:ext cx="4584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대주주감사 지적사항 F/up을 위한 시스템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2024년 회사필수 공통지식 강의 영상 다운시 WAS 부하 발생을 회피하기 위한  WEB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서버에서 WAS 서버를 통하지 않는 정적 다운로드 방안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PRM 영업시설물 지원 시스템 개발</a:t>
            </a:r>
          </a:p>
        </p:txBody>
      </p:sp>
      <p:sp>
        <p:nvSpPr>
          <p:cNvPr id="692371962" name="Text">
    </p:cNvPr>
          <p:cNvSpPr>
            <a:spLocks noGrp="1"/>
          </p:cNvSpPr>
          <p:nvPr/>
        </p:nvSpPr>
        <p:spPr>
          <a:xfrm rot="0">
            <a:off x="7239000" y="4483100"/>
            <a:ext cx="2552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68233909" name="Text">
    </p:cNvPr>
          <p:cNvSpPr>
            <a:spLocks noGrp="1"/>
          </p:cNvSpPr>
          <p:nvPr/>
        </p:nvSpPr>
        <p:spPr>
          <a:xfrm rot="0">
            <a:off x="5549900" y="4483100"/>
            <a:ext cx="5715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1328775329" name="Text">
    </p:cNvPr>
          <p:cNvSpPr>
            <a:spLocks noGrp="1"/>
          </p:cNvSpPr>
          <p:nvPr/>
        </p:nvSpPr>
        <p:spPr>
          <a:xfrm rot="0">
            <a:off x="901700" y="4432300"/>
            <a:ext cx="46482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2405137" name="Text">
    </p:cNvPr>
          <p:cNvSpPr>
            <a:spLocks noGrp="1"/>
          </p:cNvSpPr>
          <p:nvPr/>
        </p:nvSpPr>
        <p:spPr>
          <a:xfrm rot="0">
            <a:off x="6121400" y="4432300"/>
            <a:ext cx="36449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945938" name="Text">
    </p:cNvPr>
          <p:cNvSpPr>
            <a:spLocks noGrp="1"/>
          </p:cNvSpPr>
          <p:nvPr/>
        </p:nvSpPr>
        <p:spPr>
          <a:xfrm rot="0">
            <a:off x="5549900" y="4432300"/>
            <a:ext cx="5715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5940632" name="Frame"/>
          <p:cNvSpPr>
            <a:spLocks noGrp="1"/>
          </p:cNvSpPr>
          <p:nvPr/>
        </p:nvSpPr>
        <p:spPr>
          <a:xfrm>
            <a:off x="165100" y="37592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19107136" name="Text">
    </p:cNvPr>
          <p:cNvSpPr>
            <a:spLocks noGrp="1"/>
          </p:cNvSpPr>
          <p:nvPr/>
        </p:nvSpPr>
        <p:spPr>
          <a:xfrm rot="0">
            <a:off x="165100" y="37592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815882230" name="Text">
    </p:cNvPr>
          <p:cNvSpPr>
            <a:spLocks noGrp="1"/>
          </p:cNvSpPr>
          <p:nvPr/>
        </p:nvSpPr>
        <p:spPr>
          <a:xfrm rot="0">
            <a:off x="965200" y="38354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1105101386" name="Text">
    </p:cNvPr>
          <p:cNvSpPr>
            <a:spLocks noGrp="1"/>
          </p:cNvSpPr>
          <p:nvPr/>
        </p:nvSpPr>
        <p:spPr>
          <a:xfrm rot="0">
            <a:off x="7239000" y="38354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58038239" name="Text">
    </p:cNvPr>
          <p:cNvSpPr>
            <a:spLocks noGrp="1"/>
          </p:cNvSpPr>
          <p:nvPr/>
        </p:nvSpPr>
        <p:spPr>
          <a:xfrm rot="0">
            <a:off x="5549900" y="38354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1066098659" name="Text">
    </p:cNvPr>
          <p:cNvSpPr>
            <a:spLocks noGrp="1"/>
          </p:cNvSpPr>
          <p:nvPr/>
        </p:nvSpPr>
        <p:spPr>
          <a:xfrm rot="0">
            <a:off x="901700" y="37592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6570109" name="Text">
    </p:cNvPr>
          <p:cNvSpPr>
            <a:spLocks noGrp="1"/>
          </p:cNvSpPr>
          <p:nvPr/>
        </p:nvSpPr>
        <p:spPr>
          <a:xfrm rot="0">
            <a:off x="6121400" y="37592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8274731" name="Text">
    </p:cNvPr>
          <p:cNvSpPr>
            <a:spLocks noGrp="1"/>
          </p:cNvSpPr>
          <p:nvPr/>
        </p:nvSpPr>
        <p:spPr>
          <a:xfrm rot="0">
            <a:off x="5549900" y="37592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6629869" name="Frame"/>
          <p:cNvSpPr>
            <a:spLocks noGrp="1"/>
          </p:cNvSpPr>
          <p:nvPr/>
        </p:nvSpPr>
        <p:spPr>
          <a:xfrm>
            <a:off x="127000" y="1384300"/>
            <a:ext cx="9779000" cy="1612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67182086" name="Frame"/>
          <p:cNvSpPr>
            <a:spLocks noGrp="1"/>
          </p:cNvSpPr>
          <p:nvPr/>
        </p:nvSpPr>
        <p:spPr>
          <a:xfrm>
            <a:off x="152400" y="2222500"/>
            <a:ext cx="9664700" cy="774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69864396" name="Text">
    </p:cNvPr>
          <p:cNvSpPr>
            <a:spLocks noGrp="1"/>
          </p:cNvSpPr>
          <p:nvPr/>
        </p:nvSpPr>
        <p:spPr>
          <a:xfrm rot="0">
            <a:off x="152400" y="21971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915675783" name="Text">
    </p:cNvPr>
          <p:cNvSpPr>
            <a:spLocks noGrp="1"/>
          </p:cNvSpPr>
          <p:nvPr/>
        </p:nvSpPr>
        <p:spPr>
          <a:xfrm rot="0">
            <a:off x="952500" y="2247900"/>
            <a:ext cx="45974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PRM 조회 메뉴권한 자동 세팅관련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'법인영업팀-항공급유 매출입력' 지속적으로 안되는 작업 -&gt; 삭제대상 루틴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(현업 모름 확인필요)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1월 Monthly Accountability Report 생성</a:t>
            </a:r>
          </a:p>
        </p:txBody>
      </p:sp>
      <p:sp>
        <p:nvSpPr>
          <p:cNvPr id="1981826697" name="Text">
    </p:cNvPr>
          <p:cNvSpPr>
            <a:spLocks noGrp="1"/>
          </p:cNvSpPr>
          <p:nvPr/>
        </p:nvSpPr>
        <p:spPr>
          <a:xfrm rot="0">
            <a:off x="7226300" y="22479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14094235" name="Text">
    </p:cNvPr>
          <p:cNvSpPr>
            <a:spLocks noGrp="1"/>
          </p:cNvSpPr>
          <p:nvPr/>
        </p:nvSpPr>
        <p:spPr>
          <a:xfrm rot="0">
            <a:off x="6108700" y="21971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551657774" name="Text">
    </p:cNvPr>
          <p:cNvSpPr>
            <a:spLocks noGrp="1"/>
          </p:cNvSpPr>
          <p:nvPr/>
        </p:nvSpPr>
        <p:spPr>
          <a:xfrm rot="0">
            <a:off x="5537200" y="22479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</a:p>
        </p:txBody>
      </p:sp>
      <p:sp>
        <p:nvSpPr>
          <p:cNvPr id="636384105" name="Text">
    </p:cNvPr>
          <p:cNvSpPr>
            <a:spLocks noGrp="1"/>
          </p:cNvSpPr>
          <p:nvPr/>
        </p:nvSpPr>
        <p:spPr>
          <a:xfrm rot="0">
            <a:off x="889000" y="21971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8288595" name="Text">
    </p:cNvPr>
          <p:cNvSpPr>
            <a:spLocks noGrp="1"/>
          </p:cNvSpPr>
          <p:nvPr/>
        </p:nvSpPr>
        <p:spPr>
          <a:xfrm rot="0">
            <a:off x="7124700" y="21971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3722325" name="Text">
    </p:cNvPr>
          <p:cNvSpPr>
            <a:spLocks noGrp="1"/>
          </p:cNvSpPr>
          <p:nvPr/>
        </p:nvSpPr>
        <p:spPr>
          <a:xfrm rot="0">
            <a:off x="5537200" y="21971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8317628" name="Rectangle"/>
          <p:cNvSpPr>
            <a:spLocks noGrp="1"/>
          </p:cNvSpPr>
          <p:nvPr/>
        </p:nvSpPr>
        <p:spPr>
          <a:xfrm>
            <a:off x="6870700" y="21971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91493952" name="Frame"/>
          <p:cNvSpPr>
            <a:spLocks noGrp="1"/>
          </p:cNvSpPr>
          <p:nvPr/>
        </p:nvSpPr>
        <p:spPr>
          <a:xfrm>
            <a:off x="152400" y="13716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98869772" name="Text">
    </p:cNvPr>
          <p:cNvSpPr>
            <a:spLocks noGrp="1"/>
          </p:cNvSpPr>
          <p:nvPr/>
        </p:nvSpPr>
        <p:spPr>
          <a:xfrm rot="0">
            <a:off x="152400" y="13716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200105096" name="Text">
    </p:cNvPr>
          <p:cNvSpPr>
            <a:spLocks noGrp="1"/>
          </p:cNvSpPr>
          <p:nvPr/>
        </p:nvSpPr>
        <p:spPr>
          <a:xfrm rot="0">
            <a:off x="939800" y="1422400"/>
            <a:ext cx="4610100" cy="774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법인세 신고 관련 업무용 승용차 비용집계 프로그램 개발 추가수정(필드변경, 레이아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웃 변경)(ZFIR6070)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펌뱅킹 금융기관 업무 중지 요청 개발(ZTRR1015, ZNF_GF_SEND_DACOM)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SAP 실적 외자건 조회 기간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EWS "매출채권이 담보가액을 초과한 거래처" 시나리오 관련 로직 수정 요청</a:t>
            </a:r>
          </a:p>
        </p:txBody>
      </p:sp>
      <p:sp>
        <p:nvSpPr>
          <p:cNvPr id="837922394" name="Text">
    </p:cNvPr>
          <p:cNvSpPr>
            <a:spLocks noGrp="1"/>
          </p:cNvSpPr>
          <p:nvPr/>
        </p:nvSpPr>
        <p:spPr>
          <a:xfrm rot="0">
            <a:off x="7226300" y="14478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8479517" name="Text">
    </p:cNvPr>
          <p:cNvSpPr>
            <a:spLocks noGrp="1"/>
          </p:cNvSpPr>
          <p:nvPr/>
        </p:nvSpPr>
        <p:spPr>
          <a:xfrm rot="0">
            <a:off x="6108700" y="1371600"/>
            <a:ext cx="7620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599758369" name="Text">
    </p:cNvPr>
          <p:cNvSpPr>
            <a:spLocks noGrp="1"/>
          </p:cNvSpPr>
          <p:nvPr/>
        </p:nvSpPr>
        <p:spPr>
          <a:xfrm rot="0">
            <a:off x="5537200" y="14478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</a:p>
        </p:txBody>
      </p:sp>
      <p:sp>
        <p:nvSpPr>
          <p:cNvPr id="629491896" name="Text">
    </p:cNvPr>
          <p:cNvSpPr>
            <a:spLocks noGrp="1"/>
          </p:cNvSpPr>
          <p:nvPr/>
        </p:nvSpPr>
        <p:spPr>
          <a:xfrm rot="0">
            <a:off x="889000" y="13716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1661356" name="Text">
    </p:cNvPr>
          <p:cNvSpPr>
            <a:spLocks noGrp="1"/>
          </p:cNvSpPr>
          <p:nvPr/>
        </p:nvSpPr>
        <p:spPr>
          <a:xfrm rot="0">
            <a:off x="7124700" y="1371600"/>
            <a:ext cx="26543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9468896" name="Text">
    </p:cNvPr>
          <p:cNvSpPr>
            <a:spLocks noGrp="1"/>
          </p:cNvSpPr>
          <p:nvPr/>
        </p:nvSpPr>
        <p:spPr>
          <a:xfrm rot="0">
            <a:off x="5537200" y="13716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6611993" name="Rectangle"/>
          <p:cNvSpPr>
            <a:spLocks noGrp="1"/>
          </p:cNvSpPr>
          <p:nvPr/>
        </p:nvSpPr>
        <p:spPr>
          <a:xfrm>
            <a:off x="6870700" y="1371600"/>
            <a:ext cx="254000" cy="825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9157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7070516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0560843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9321914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8278795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14942993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6977040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0757322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6306086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438029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447426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3782528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9220160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589192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9507446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56537445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202317214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61706340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94778027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4674132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연휴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 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법인세 신고 관련 업무용 승용차 비용집계 프로그램 개발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가수정(필드변경, 레이아웃 변경)(ZFIR6070)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펌뱅킹 금융기관 업무 중지 요청 개발(ZTRR1015, ZNF_G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F_SEND_DACOM)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Eopffice 보육비 전표생성 코스트센터 변경(ZFI_RFC_RE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CEIVE_POSTING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 생성 인터페이스 오류 분석 및 사업자번호 주민등록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 중복체크 로직 추가(ZFIR9057,ZFI_ RFC_VENDOR_C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ONF)</a:t>
            </a:r>
          </a:p>
        </p:txBody>
      </p:sp>
      <p:sp>
        <p:nvSpPr>
          <p:cNvPr id="122738889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</a:p>
        </p:txBody>
      </p:sp>
      <p:sp>
        <p:nvSpPr>
          <p:cNvPr id="135747322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</a:p>
        </p:txBody>
      </p:sp>
      <p:sp>
        <p:nvSpPr>
          <p:cNvPr id="11890636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</a:p>
        </p:txBody>
      </p:sp>
      <p:sp>
        <p:nvSpPr>
          <p:cNvPr id="199830139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765565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725474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40243424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</a:p>
        </p:txBody>
      </p:sp>
      <p:sp>
        <p:nvSpPr>
          <p:cNvPr id="204473892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업무인수인계(ABAP )</a:t>
            </a:r>
          </a:p>
        </p:txBody>
      </p:sp>
      <p:sp>
        <p:nvSpPr>
          <p:cNvPr id="97077085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0764417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84574316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뉴펜션 운용기관 변경신청서 첨부 문서 일괄 출력 메뉴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설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종 지원금액 수정 전표처리오류건 HCM내부 최종승인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청의건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휴가사용조회(HCM)의 종류별 휴가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업무인수인계(SAPUI5 , Odata )</a:t>
            </a:r>
          </a:p>
        </p:txBody>
      </p:sp>
      <p:sp>
        <p:nvSpPr>
          <p:cNvPr id="38487591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22885709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0229</a:t>
            </a:r>
            <a:br/>
          </a:p>
        </p:txBody>
      </p:sp>
      <p:sp>
        <p:nvSpPr>
          <p:cNvPr id="46442321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</a:p>
        </p:txBody>
      </p:sp>
      <p:sp>
        <p:nvSpPr>
          <p:cNvPr id="179825404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381566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4545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848392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8161667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5882851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8308216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77868379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45773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479893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268397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088693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3608316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5173761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9376231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4125773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7537430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59311908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</a:p>
        </p:txBody>
      </p:sp>
      <p:sp>
        <p:nvSpPr>
          <p:cNvPr id="191394167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중복 생성 오류 해결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</a:p>
        </p:txBody>
      </p:sp>
      <p:sp>
        <p:nvSpPr>
          <p:cNvPr id="43240621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30063524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01648422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 실적 외자건 조회 기간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중복 생성 오류 해결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세금계산서 수정계산서 발행 지정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</a:p>
        </p:txBody>
      </p:sp>
      <p:sp>
        <p:nvSpPr>
          <p:cNvPr id="183120936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52908010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</a:p>
        </p:txBody>
      </p:sp>
      <p:sp>
        <p:nvSpPr>
          <p:cNvPr id="64879446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</a:p>
        </p:txBody>
      </p:sp>
      <p:sp>
        <p:nvSpPr>
          <p:cNvPr id="68364658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186977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299673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</a:p>
        </p:txBody>
      </p:sp>
      <p:sp>
        <p:nvSpPr>
          <p:cNvPr id="123302168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</a:p>
        </p:txBody>
      </p:sp>
      <p:sp>
        <p:nvSpPr>
          <p:cNvPr id="49322638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71482580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79819702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35234506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HCM운영/개발과 S-IMOMS 연동을 위한 RFC DESTINATI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ON 신규 설정등록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GE APM Connector(Support Package) 설치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을 위한 업무지원</a:t>
            </a:r>
          </a:p>
        </p:txBody>
      </p:sp>
      <p:sp>
        <p:nvSpPr>
          <p:cNvPr id="93998352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02/17</a:t>
            </a:r>
            <a:br/>
            <a:br/>
          </a:p>
        </p:txBody>
      </p:sp>
      <p:sp>
        <p:nvSpPr>
          <p:cNvPr id="124044006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02/17</a:t>
            </a:r>
            <a:br/>
            <a:br/>
          </a:p>
        </p:txBody>
      </p:sp>
      <p:sp>
        <p:nvSpPr>
          <p:cNvPr id="206197648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</a:p>
        </p:txBody>
      </p:sp>
      <p:sp>
        <p:nvSpPr>
          <p:cNvPr id="184022839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275654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584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0648062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869955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786441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5845625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9759618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2056443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148021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52081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3098980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8731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0975261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7935711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3302082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8601103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87294207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50609147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87405225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03134586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2861460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209892610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24568502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75894722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71913354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995535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597888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</a:p>
        </p:txBody>
      </p:sp>
      <p:sp>
        <p:nvSpPr>
          <p:cNvPr id="94295032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63903924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 : 향후 진행해야할 운영업무 파악                 (근태와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출입관리시스템 자동연동 등)</a:t>
            </a:r>
          </a:p>
        </p:txBody>
      </p:sp>
      <p:sp>
        <p:nvSpPr>
          <p:cNvPr id="182699111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69170515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211856118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PC 세팅 : SAP GUI  및 VDI 접속환경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 : HCM 소개 및 Fiori 개발환경 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 : Fiori 운영관련 소스 구조 소개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 : oData 운영관련 소스 구조 소개 </a:t>
            </a:r>
          </a:p>
        </p:txBody>
      </p:sp>
      <p:sp>
        <p:nvSpPr>
          <p:cNvPr id="29468948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35613057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50683370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44001414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261828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24941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84337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0363403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317032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9837331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13282654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568973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2508266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985459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788305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8408671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3411655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795868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2690908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1620737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46034707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</a:p>
        </p:txBody>
      </p:sp>
      <p:sp>
        <p:nvSpPr>
          <p:cNvPr id="104257097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HCM 퇴직급여명세서 내 결재선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DC퇴직연금 계산 관련 개선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근로소득 원천징수명세서 내 국외소득 합산 오류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생산직 평가 대상자 정보 수정 요청</a:t>
            </a:r>
          </a:p>
        </p:txBody>
      </p:sp>
      <p:sp>
        <p:nvSpPr>
          <p:cNvPr id="93448251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50345818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3197178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HCM 퇴직급여명세서 내 결재선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DC퇴직연금 계산 관련 개선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근로소득 원천징수명세서 내 국외소득 합산 오류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자료 점검 모니터링 기능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생산직 평가 대상자 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의료비 중간결재자 추가 요청건</a:t>
            </a:r>
          </a:p>
        </p:txBody>
      </p:sp>
      <p:sp>
        <p:nvSpPr>
          <p:cNvPr id="45428284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</a:p>
        </p:txBody>
      </p:sp>
      <p:sp>
        <p:nvSpPr>
          <p:cNvPr id="88272251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</a:p>
        </p:txBody>
      </p:sp>
      <p:sp>
        <p:nvSpPr>
          <p:cNvPr id="99590336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36299362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1517329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069135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39393165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</a:p>
        </p:txBody>
      </p:sp>
      <p:sp>
        <p:nvSpPr>
          <p:cNvPr id="186403975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ITSM-107227Vessel 출하건에 대해 Master 가격그룹과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동일적용 요청--- 씨앤에스에너지(주)- 2/14 수정</a:t>
            </a:r>
          </a:p>
        </p:txBody>
      </p:sp>
      <p:sp>
        <p:nvSpPr>
          <p:cNvPr id="197948225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46810149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70509673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ITSM-107227Vessel 출하건에 대해 Master 가격그룹과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동일적용 요청--- 씨앤에스에너지(주)- 2/14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ITSM-107292EWS "매출채권이 담보가액을 초과한 거래처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" 시나리오 관련 로직 수정 요청-2/15 수정</a:t>
            </a:r>
          </a:p>
        </p:txBody>
      </p:sp>
      <p:sp>
        <p:nvSpPr>
          <p:cNvPr id="157561637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28351966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</a:p>
        </p:txBody>
      </p:sp>
      <p:sp>
        <p:nvSpPr>
          <p:cNvPr id="164437432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</a:p>
        </p:txBody>
      </p:sp>
      <p:sp>
        <p:nvSpPr>
          <p:cNvPr id="18425753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914775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09072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2027738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5437625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3714507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5359462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5666141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22447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806721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8131757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3285817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083286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577699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221201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7095716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5077864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78592449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96967769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사후적립 조회필드변경 및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홍보물 신청시 요청사항 기재란 삭제요청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취약점조치(데이터평문전송)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</a:p>
        </p:txBody>
      </p:sp>
      <p:sp>
        <p:nvSpPr>
          <p:cNvPr id="154020927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11308896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81402657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사후적립 분석요청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사후적립 조회필드변경 및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홍보물 신청시 요청사항 기재란 삭제요청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취소건 확인요청-(이승현 매니저)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취약점조치(데이터평문전송)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</a:p>
        </p:txBody>
      </p:sp>
      <p:sp>
        <p:nvSpPr>
          <p:cNvPr id="176658375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60036170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57947772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1872219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8429963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135787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25604872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27337221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</a:p>
        </p:txBody>
      </p:sp>
      <p:sp>
        <p:nvSpPr>
          <p:cNvPr id="164218390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5361667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28750467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Dashboard사이버보안 컴플라이언스 점검 결과에 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른 개선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RTDB Receive Scheduler 변경- RTDB(Tunneller)  -&gt;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 New RTDB(OPC HDA)</a:t>
            </a:r>
          </a:p>
        </p:txBody>
      </p:sp>
      <p:sp>
        <p:nvSpPr>
          <p:cNvPr id="11099853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</a:p>
        </p:txBody>
      </p:sp>
      <p:sp>
        <p:nvSpPr>
          <p:cNvPr id="179458011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</a:p>
        </p:txBody>
      </p:sp>
      <p:sp>
        <p:nvSpPr>
          <p:cNvPr id="84935013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br/>
          </a:p>
        </p:txBody>
      </p:sp>
      <p:sp>
        <p:nvSpPr>
          <p:cNvPr id="27095149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937119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03004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6740758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599452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7496741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3064994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7971388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1407047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9163040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5727355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875451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8003210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6523645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16339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890459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0226303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97553867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</a:p>
        </p:txBody>
      </p:sp>
      <p:sp>
        <p:nvSpPr>
          <p:cNvPr id="3723567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</a:p>
        </p:txBody>
      </p:sp>
      <p:sp>
        <p:nvSpPr>
          <p:cNvPr id="49858395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11202595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7266027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조회 메뉴권한 자동 세팅관련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 소스 추가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</a:p>
        </p:txBody>
      </p:sp>
      <p:sp>
        <p:nvSpPr>
          <p:cNvPr id="29067760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83964203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48751376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</a:p>
        </p:txBody>
      </p:sp>
      <p:sp>
        <p:nvSpPr>
          <p:cNvPr id="1014943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649522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510927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194698894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</a:p>
        </p:txBody>
      </p:sp>
      <p:sp>
        <p:nvSpPr>
          <p:cNvPr id="39535565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권한 요청 화면 수정</a:t>
            </a:r>
            <a:br/>
          </a:p>
        </p:txBody>
      </p:sp>
      <p:sp>
        <p:nvSpPr>
          <p:cNvPr id="184202651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58283553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85857089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권한 요청 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ITSM-107111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ITSM-107334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수정</a:t>
            </a:r>
            <a:br/>
          </a:p>
        </p:txBody>
      </p:sp>
      <p:sp>
        <p:nvSpPr>
          <p:cNvPr id="56404175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34609543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54766524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5537683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673285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79223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5127110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0233056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0073767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2138868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5590998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5656467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094657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1986833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1572454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6375593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488550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6141069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7540198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60753472" name="Text">
    </p:cNvPr>
          <p:cNvSpPr>
            <a:spLocks noGrp="1"/>
          </p:cNvSpPr>
          <p:nvPr/>
        </p:nvSpPr>
        <p:spPr>
          <a:xfrm rot="0">
            <a:off x="9702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841997535" name="Text">
    </p:cNvPr>
          <p:cNvSpPr>
            <a:spLocks noGrp="1"/>
          </p:cNvSpPr>
          <p:nvPr/>
        </p:nvSpPr>
        <p:spPr>
          <a:xfrm rot="0">
            <a:off x="93345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</a:p>
        </p:txBody>
      </p:sp>
      <p:sp>
        <p:nvSpPr>
          <p:cNvPr id="356280875" name="Text">
    </p:cNvPr>
          <p:cNvSpPr>
            <a:spLocks noGrp="1"/>
          </p:cNvSpPr>
          <p:nvPr/>
        </p:nvSpPr>
        <p:spPr>
          <a:xfrm rot="0">
            <a:off x="5930900" y="1511300"/>
            <a:ext cx="3403600" cy="3340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외화지급계좌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</a:t>
            </a:r>
          </a:p>
        </p:txBody>
      </p:sp>
      <p:sp>
        <p:nvSpPr>
          <p:cNvPr id="874600419" name="Text">
    </p:cNvPr>
          <p:cNvSpPr>
            <a:spLocks noGrp="1"/>
          </p:cNvSpPr>
          <p:nvPr/>
        </p:nvSpPr>
        <p:spPr>
          <a:xfrm rot="0">
            <a:off x="53086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993673804" name="Text">
    </p:cNvPr>
          <p:cNvSpPr>
            <a:spLocks noGrp="1"/>
          </p:cNvSpPr>
          <p:nvPr/>
        </p:nvSpPr>
        <p:spPr>
          <a:xfrm rot="0">
            <a:off x="889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309782039" name="Text">
    </p:cNvPr>
          <p:cNvSpPr>
            <a:spLocks noGrp="1"/>
          </p:cNvSpPr>
          <p:nvPr/>
        </p:nvSpPr>
        <p:spPr>
          <a:xfrm rot="0">
            <a:off x="711200" y="1511300"/>
            <a:ext cx="3403600" cy="3340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A11 -&gt; A360 '회계팀 - #1 회계지급계좌 증빙대사' 작업 Migra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tion 테스트, 수정 +) vbs Migration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'환율주가 SMS 송부' 작업 수행을 위한 수행중작업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예약작업 중단. +) 후에 추가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'생산조전팀-전표처리' 작업 SAP 결제 파일 문제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확인 및 담당자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자금운영팀 A11 -&gt; A360 RPA Migration 예정 안내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일정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외화지급계좌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         - MetaBot 및 vbs 가 작동 불가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  +) Migration NAVER OCR API 구동 불가        원인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테스트           - CMD, jar 분석    +) jdk 11 설치 및 환경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로그 확인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'회계지급전표 증빙대사' 작업 데이터정리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'법인영업팀-항공급유 매출입력' 지속적으로 안되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작업 -&gt; 삭제대상 루틴 (현업 모름 확인필요)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'외화지급계좌 증빙대사' 작업 Migration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완료 및 안내메일 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계정관리] 담당자 휴가 백업</a:t>
            </a:r>
          </a:p>
        </p:txBody>
      </p:sp>
      <p:sp>
        <p:nvSpPr>
          <p:cNvPr id="940242636" name="Text">
    </p:cNvPr>
          <p:cNvSpPr>
            <a:spLocks noGrp="1"/>
          </p:cNvSpPr>
          <p:nvPr/>
        </p:nvSpPr>
        <p:spPr>
          <a:xfrm rot="0">
            <a:off x="44831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11816801" name="Text">
    </p:cNvPr>
          <p:cNvSpPr>
            <a:spLocks noGrp="1"/>
          </p:cNvSpPr>
          <p:nvPr/>
        </p:nvSpPr>
        <p:spPr>
          <a:xfrm rot="0">
            <a:off x="48514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480850324" name="Text">
    </p:cNvPr>
          <p:cNvSpPr>
            <a:spLocks noGrp="1"/>
          </p:cNvSpPr>
          <p:nvPr/>
        </p:nvSpPr>
        <p:spPr>
          <a:xfrm rot="0">
            <a:off x="4114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462518659" name="Text">
    </p:cNvPr>
          <p:cNvSpPr>
            <a:spLocks noGrp="1"/>
          </p:cNvSpPr>
          <p:nvPr/>
        </p:nvSpPr>
        <p:spPr>
          <a:xfrm rot="0">
            <a:off x="6604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8887595" name="Text">
    </p:cNvPr>
          <p:cNvSpPr>
            <a:spLocks noGrp="1"/>
          </p:cNvSpPr>
          <p:nvPr/>
        </p:nvSpPr>
        <p:spPr>
          <a:xfrm rot="0">
            <a:off x="58801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15914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8431200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889310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1093109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9346859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2428328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1677607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6493439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195785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7296497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691787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1023454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6033161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572100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5283596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01001849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202812799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법인휴대폰 해외 데이터로밍 신청서 수정/신규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도입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인감날인 신청서(부서용)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지류상품권 구매신청서 수정 개발 요청</a:t>
            </a:r>
          </a:p>
        </p:txBody>
      </p:sp>
      <p:sp>
        <p:nvSpPr>
          <p:cNvPr id="194815941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2852280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9328784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법인휴대폰 해외 데이터로밍 신청서 수정/신규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도입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인감날인 신청서(부서용)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지류상품권 구매신청서 수정 개발 요청</a:t>
            </a:r>
          </a:p>
        </p:txBody>
      </p:sp>
      <p:sp>
        <p:nvSpPr>
          <p:cNvPr id="153548413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53449816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202574967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04306824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42451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146958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74222254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29799045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OSPM 편의성 수정 및 취약점 업로드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전자결재 관련 업무분석</a:t>
            </a:r>
            <a:br/>
          </a:p>
        </p:txBody>
      </p:sp>
      <p:sp>
        <p:nvSpPr>
          <p:cNvPr id="206272564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8827283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94103555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OSPM 업무분석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1. DB테이블 및 OSPM 페이지내에 작업된 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버 코드내역들 분석정리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2. 작업 후 운영에 반영하는 데이터 내역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3. 취약점 재점검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4. 작업계획서 -&gt; 작업계획관리 -&gt; 승인요청 -&gt;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수신처 추가오류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[maxAmt 변수 크기 변경(코드+프로시저)]</a:t>
            </a:r>
            <a:br/>
          </a:p>
        </p:txBody>
      </p:sp>
      <p:sp>
        <p:nvSpPr>
          <p:cNvPr id="134786540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  <a:br/>
            <a:br/>
            <a:br/>
            <a:br/>
            <a:br/>
          </a:p>
        </p:txBody>
      </p:sp>
      <p:sp>
        <p:nvSpPr>
          <p:cNvPr id="106294726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  <a:br/>
            <a:br/>
            <a:br/>
            <a:br/>
            <a:br/>
          </a:p>
        </p:txBody>
      </p:sp>
      <p:sp>
        <p:nvSpPr>
          <p:cNvPr id="164339164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br/>
            <a:br/>
            <a:br/>
            <a:br/>
            <a:br/>
          </a:p>
        </p:txBody>
      </p:sp>
      <p:sp>
        <p:nvSpPr>
          <p:cNvPr id="47667928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686846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48698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9496817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6499219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9447373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617424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1538045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4826263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4009928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8956091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5752570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3114688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04110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1791663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929462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4694095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br/>
          </a:p>
        </p:txBody>
      </p:sp>
      <p:sp>
        <p:nvSpPr>
          <p:cNvPr id="93227701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br/>
          </a:p>
        </p:txBody>
      </p:sp>
      <p:sp>
        <p:nvSpPr>
          <p:cNvPr id="206609553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회사필수 공통지식 강의 영상 다운시 WAS 부하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발생을 회피하기 위한  WEB서버에서 WAS 서버를 통하지 않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정적 다운로드 방안 검토</a:t>
            </a:r>
          </a:p>
        </p:txBody>
      </p:sp>
      <p:sp>
        <p:nvSpPr>
          <p:cNvPr id="203024765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22481467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97894446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ERS규정관리 권한 부여(탈황1팀-강기태)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ALK1-P-7302 잘못 폐기된 문서 원복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 스킬셋 자동메일링 내용 일부 수정 요청적용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회사필수공통지식 강의 영상 업도르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문서 폴더이동 및 문서번호 변경관련 부서지침서 ROOT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값 업데이트 (ALK1-W-7305,7405)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유밥 스마트러닝 데이터 연계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학습자료실-2024년 회사필수 공통지식 강의 영상 다운로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드로 인한 HQLMSWEB1 WAS 서버 부하 발생. LMS DB 데이터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커넥션풀 자원 부족현상 발생. 업로듸된 2024년 회사필수 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통지식 강의 영상 제거 후 서버 재부팅 요청 처리</a:t>
            </a:r>
          </a:p>
        </p:txBody>
      </p:sp>
      <p:sp>
        <p:nvSpPr>
          <p:cNvPr id="105622823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  <a:br/>
          </a:p>
        </p:txBody>
      </p:sp>
      <p:sp>
        <p:nvSpPr>
          <p:cNvPr id="160861360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  <a:br/>
          </a:p>
        </p:txBody>
      </p:sp>
      <p:sp>
        <p:nvSpPr>
          <p:cNvPr id="52234213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  <a:br/>
          </a:p>
        </p:txBody>
      </p:sp>
      <p:sp>
        <p:nvSpPr>
          <p:cNvPr id="121419674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366809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65228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6289152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95183598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http 로 접근 시 https로 redirect 적용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사이버보안 컴플라이언스 점검 개선 계획 및 공수 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요청(CIS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O에서 메일이 오면 작업진행)</a:t>
            </a:r>
          </a:p>
        </p:txBody>
      </p:sp>
      <p:sp>
        <p:nvSpPr>
          <p:cNvPr id="30294505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13766680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52266998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할당시 로트 번호 할당 로직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교환판매시 상품권 상태 값 관련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사이버보안 컴플라이언스 점검 개선 계획 및 공수 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매출채권 담보가액을 초과한 거래처 시나리오 단기여신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로직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ETL 오류 확인 요청</a:t>
            </a:r>
          </a:p>
        </p:txBody>
      </p:sp>
      <p:sp>
        <p:nvSpPr>
          <p:cNvPr id="102275433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51027837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95286806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05089202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685574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47343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102157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1947502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9200135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1662564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025388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518648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356908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1851445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3952640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9737306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779605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9911135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101087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6233072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br/>
          </a:p>
        </p:txBody>
      </p:sp>
      <p:sp>
        <p:nvSpPr>
          <p:cNvPr id="110991468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br/>
          </a:p>
        </p:txBody>
      </p:sp>
      <p:sp>
        <p:nvSpPr>
          <p:cNvPr id="134256070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현황, 코드명 및 검색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조건 입력 시 search 늦어지는 현상 확인 및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검</a:t>
            </a:r>
            <a:br/>
          </a:p>
        </p:txBody>
      </p:sp>
      <p:sp>
        <p:nvSpPr>
          <p:cNvPr id="54635389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88818614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3388442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관리자 &gt; 스케쥴러 관리 / 배치 관리 최신화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연결 확인 /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현황, 코드명 및 검색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조건 입력 시 search 늦어지는 현상 확인 및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검</a:t>
            </a:r>
            <a:br/>
          </a:p>
        </p:txBody>
      </p:sp>
      <p:sp>
        <p:nvSpPr>
          <p:cNvPr id="194235405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br/>
          </a:p>
        </p:txBody>
      </p:sp>
      <p:sp>
        <p:nvSpPr>
          <p:cNvPr id="145798245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br/>
          </a:p>
        </p:txBody>
      </p:sp>
      <p:sp>
        <p:nvSpPr>
          <p:cNvPr id="210969746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br/>
          </a:p>
        </p:txBody>
      </p:sp>
      <p:sp>
        <p:nvSpPr>
          <p:cNvPr id="198995188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896804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241339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11172605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</a:p>
        </p:txBody>
      </p:sp>
      <p:sp>
        <p:nvSpPr>
          <p:cNvPr id="145588381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[HCM]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GE APM Connector (Support Package) 설치에 따른 I/F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서비스 확인</a:t>
            </a:r>
          </a:p>
        </p:txBody>
      </p:sp>
      <p:sp>
        <p:nvSpPr>
          <p:cNvPr id="193467417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6772598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46574170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[HCM] 퇴직연금 운용방식 변경 신청서 개발</a:t>
            </a:r>
          </a:p>
        </p:txBody>
      </p:sp>
      <p:sp>
        <p:nvSpPr>
          <p:cNvPr id="96925166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27766827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06480489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5206358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017430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855777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박남신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 연휴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설날연휴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대체휴일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이병준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