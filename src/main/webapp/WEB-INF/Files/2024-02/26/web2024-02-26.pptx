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52915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005968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1987671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9111780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0487691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3394420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3746820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8679292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1535236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2028182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0169134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3383032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7611618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7363828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9534793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89966051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</a:p>
        </p:txBody>
      </p:sp>
      <p:sp>
        <p:nvSpPr>
          <p:cNvPr id="26588564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취약점조치(데이터평문전송)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취약점조치(불충분한인증)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</a:p>
        </p:txBody>
      </p:sp>
      <p:sp>
        <p:nvSpPr>
          <p:cNvPr id="36524775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77588713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71545770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취약점조치(데이터평문전송)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사후적립 조회필드변경 및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홍보물 신청시 요청사항 기재란 삭제요청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취약점조치(데이터평문전송)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취약점조치(불충분한인증)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ITSM-107559 교육결과보고 및 교육출장비 신청서 이력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ITSM-107477 사외외국어 학습비 신청 관련, CCS 결제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금액 초기화 및 HCM 신청 데이터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취약점조치(logback)</a:t>
            </a:r>
          </a:p>
        </p:txBody>
      </p:sp>
      <p:sp>
        <p:nvSpPr>
          <p:cNvPr id="56412644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48749121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</a:p>
        </p:txBody>
      </p:sp>
      <p:sp>
        <p:nvSpPr>
          <p:cNvPr id="126140717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</a:p>
        </p:txBody>
      </p:sp>
      <p:sp>
        <p:nvSpPr>
          <p:cNvPr id="140910564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093181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564816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40498064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176253221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</a:p>
        </p:txBody>
      </p:sp>
      <p:sp>
        <p:nvSpPr>
          <p:cNvPr id="102799889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50358113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07313274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Dashboard사이버보안 컴플라이언스 점검 결과에 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른 개선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Simoms 연동을 위한 ePSMS, OAS Web API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[ITSM-107316]OAS(유류회계) 마감 계유 자료 중 제품이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관( 기간별/기간별 합계)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[ITSM-107707]OAS 유량기록 수정 요청</a:t>
            </a:r>
          </a:p>
        </p:txBody>
      </p:sp>
      <p:sp>
        <p:nvSpPr>
          <p:cNvPr id="64137973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</a:p>
        </p:txBody>
      </p:sp>
      <p:sp>
        <p:nvSpPr>
          <p:cNvPr id="72694539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</a:p>
        </p:txBody>
      </p:sp>
      <p:sp>
        <p:nvSpPr>
          <p:cNvPr id="36284219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</a:p>
        </p:txBody>
      </p:sp>
      <p:sp>
        <p:nvSpPr>
          <p:cNvPr id="53648763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2658629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33874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4631794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7309302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6741931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6089876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8667358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2841405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4218821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9929483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664051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6303623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9531324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4454615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6640591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9438934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72091070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</a:p>
        </p:txBody>
      </p:sp>
      <p:sp>
        <p:nvSpPr>
          <p:cNvPr id="128600504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CI 시설 대금청구 매뉴에서 PR 일괄 생성 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국내 내국수출 거래처 PRM 마스터 등록수정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화면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</a:p>
        </p:txBody>
      </p:sp>
      <p:sp>
        <p:nvSpPr>
          <p:cNvPr id="163482645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74673087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5481284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CI 시설 대금청구 매뉴에서 PR 일괄 생성 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국내 내국수출 거래처 PRM 마스터 등록수정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화면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</a:p>
        </p:txBody>
      </p:sp>
      <p:sp>
        <p:nvSpPr>
          <p:cNvPr id="202275187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31546953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49737855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</a:p>
        </p:txBody>
      </p:sp>
      <p:sp>
        <p:nvSpPr>
          <p:cNvPr id="103625901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7988668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58594570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162324113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</a:p>
        </p:txBody>
      </p:sp>
      <p:sp>
        <p:nvSpPr>
          <p:cNvPr id="335751979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980043229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131621653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742669244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취약점 점검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ITSM-107089 작업 유형 변경ITSM-106656 CTS 번호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신규계정 생성 및 그룹권한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요청문서 list 송부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ITSM-107377 견적 재반영ITSM-107582 변경결과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성ITSM-97994 변경요청서 삭제ITSM-107603 변경요청서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삭제ITSM-107601 변경요청서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atss 거리 및 요율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ebiz 권한 요청 화면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ITSM-107348 변경결과 작성ITSM-107547 변경결과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작성ITSM-100864 변경결과 작성ITSM-104487 담당자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ITSM-104415 담당자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거리 및 요율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ITSM-104733 변경요청서 삭제 및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atss 설치 지원</a:t>
            </a:r>
          </a:p>
        </p:txBody>
      </p:sp>
      <p:sp>
        <p:nvSpPr>
          <p:cNvPr id="554895212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</a:p>
        </p:txBody>
      </p:sp>
      <p:sp>
        <p:nvSpPr>
          <p:cNvPr id="1228929598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</a:p>
        </p:txBody>
      </p:sp>
      <p:sp>
        <p:nvSpPr>
          <p:cNvPr id="327056777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</a:p>
        </p:txBody>
      </p:sp>
      <p:sp>
        <p:nvSpPr>
          <p:cNvPr id="510274945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62397255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2822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0114306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4176271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1707091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2906621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3520604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2608618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8459528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7731361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6107453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1784710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5745506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982292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3171319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2343365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55042235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</a:p>
        </p:txBody>
      </p:sp>
      <p:sp>
        <p:nvSpPr>
          <p:cNvPr id="202394690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'회계팀 - #1 회계지급계좌 증빙대사'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'자금운영팀 - #2 외화지급계좌 증빙대사'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작업 Migration 완료 -&gt; 로직 보완 및 테스트</a:t>
            </a:r>
          </a:p>
        </p:txBody>
      </p:sp>
      <p:sp>
        <p:nvSpPr>
          <p:cNvPr id="159249963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96169548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67968890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'회계팀 - #1 회계지급계좌 증빙대사'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'자금운영팀 - #2 외화지급계좌 증빙대사'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작업 Migration 완료 -&gt; 로직 보완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'법인영업팀 - 항공급유 매출입력'         - LJ 급유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항목 VBA 수정         - 사용자여신 로직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운영서버 문제발생 EAI 시스템 재기동 및 정상작동 안내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'월간 나프타 수입부과금' 오류 확인 및 재수행  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 - 파일 문제. 현업 안내 및 가이드자료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CP(https)-&gt;SSO(http)-&gt;PPS(http) 로 인한 연결문제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적용방향 문의https 적용 완료 안내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'사전점검' 작업 CP, WMS 점검과정 수정</a:t>
            </a:r>
          </a:p>
        </p:txBody>
      </p:sp>
      <p:sp>
        <p:nvSpPr>
          <p:cNvPr id="19342867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</a:p>
        </p:txBody>
      </p:sp>
      <p:sp>
        <p:nvSpPr>
          <p:cNvPr id="15960833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</a:p>
        </p:txBody>
      </p:sp>
      <p:sp>
        <p:nvSpPr>
          <p:cNvPr id="35583105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</a:p>
        </p:txBody>
      </p:sp>
      <p:sp>
        <p:nvSpPr>
          <p:cNvPr id="1847378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685504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9832866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44967966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41791268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대주주감사 지적사항 F/up을 위한 시스템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퇴직연금 운용방식 변경 신청서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법인휴대폰 해외 데이터로밍 신청서 수정/신규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청서 도입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지류상품권 구매신청서 수정 개발 요청</a:t>
            </a:r>
          </a:p>
        </p:txBody>
      </p:sp>
      <p:sp>
        <p:nvSpPr>
          <p:cNvPr id="59194205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31115928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94922751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대주주감사 지적사항 F/up을 위한 시스템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퇴직연금 운용방식 변경 신청서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법인휴대폰 해외 데이터로밍 신청서 수정/신규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청서 도입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인감날인 신청서(부서용)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지류상품권 구매신청서 수정 개발 요청</a:t>
            </a:r>
          </a:p>
        </p:txBody>
      </p:sp>
      <p:sp>
        <p:nvSpPr>
          <p:cNvPr id="190980128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27587476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179850932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93358496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8396698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40912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0690840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9020957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6204528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0525271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2734755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4733215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8384032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6931846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3965914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0368739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6690292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6339080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0396456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83245168" name="Text">
    </p:cNvPr>
          <p:cNvSpPr>
            <a:spLocks noGrp="1"/>
          </p:cNvSpPr>
          <p:nvPr/>
        </p:nvSpPr>
        <p:spPr>
          <a:xfrm rot="0">
            <a:off x="9702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03/01</a:t>
            </a:r>
            <a:br/>
          </a:p>
        </p:txBody>
      </p:sp>
      <p:sp>
        <p:nvSpPr>
          <p:cNvPr id="1388136342" name="Text">
    </p:cNvPr>
          <p:cNvSpPr>
            <a:spLocks noGrp="1"/>
          </p:cNvSpPr>
          <p:nvPr/>
        </p:nvSpPr>
        <p:spPr>
          <a:xfrm rot="0">
            <a:off x="93345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</a:p>
        </p:txBody>
      </p:sp>
      <p:sp>
        <p:nvSpPr>
          <p:cNvPr id="1656508717" name="Text">
    </p:cNvPr>
          <p:cNvSpPr>
            <a:spLocks noGrp="1"/>
          </p:cNvSpPr>
          <p:nvPr/>
        </p:nvSpPr>
        <p:spPr>
          <a:xfrm rot="0">
            <a:off x="5930900" y="1511300"/>
            <a:ext cx="3403600" cy="2882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 전자결재 관련 업무분석</a:t>
            </a:r>
            <a:br/>
          </a:p>
        </p:txBody>
      </p:sp>
      <p:sp>
        <p:nvSpPr>
          <p:cNvPr id="1251310922" name="Text">
    </p:cNvPr>
          <p:cNvSpPr>
            <a:spLocks noGrp="1"/>
          </p:cNvSpPr>
          <p:nvPr/>
        </p:nvSpPr>
        <p:spPr>
          <a:xfrm rot="0">
            <a:off x="53086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694572489" name="Text">
    </p:cNvPr>
          <p:cNvSpPr>
            <a:spLocks noGrp="1"/>
          </p:cNvSpPr>
          <p:nvPr/>
        </p:nvSpPr>
        <p:spPr>
          <a:xfrm rot="0">
            <a:off x="889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299841156" name="Text">
    </p:cNvPr>
          <p:cNvSpPr>
            <a:spLocks noGrp="1"/>
          </p:cNvSpPr>
          <p:nvPr/>
        </p:nvSpPr>
        <p:spPr>
          <a:xfrm rot="0">
            <a:off x="711200" y="1511300"/>
            <a:ext cx="3403600" cy="2882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 OSPM 편의성 수정 및 취약점 업로드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취약점 처리 관련 ITSM-102045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ITSM-107456 특정문서 조회함 / 담당업무 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서함 권한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ITSM-107186 DCS/ESD 계정등록신청서 / 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과 보고서 삭제신청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ITSM-107596 구매품의서 CO240200534 오타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ITSM-107559 교육결과보고 및 교육출장비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청서 이력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ITSM-107479 기승인 소액구매요구/승인서 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품의금액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ITSM-107608 -&gt; 국내출장명령서 용무내용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ITSM-107600 -&gt; 결재완료 문서에 첨부 파일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 전자결재 관련 업무부석</a:t>
            </a:r>
            <a:br/>
          </a:p>
        </p:txBody>
      </p:sp>
      <p:sp>
        <p:nvSpPr>
          <p:cNvPr id="292169899" name="Text">
    </p:cNvPr>
          <p:cNvSpPr>
            <a:spLocks noGrp="1"/>
          </p:cNvSpPr>
          <p:nvPr/>
        </p:nvSpPr>
        <p:spPr>
          <a:xfrm rot="0">
            <a:off x="44831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</a:p>
        </p:txBody>
      </p:sp>
      <p:sp>
        <p:nvSpPr>
          <p:cNvPr id="1886681313" name="Text">
    </p:cNvPr>
          <p:cNvSpPr>
            <a:spLocks noGrp="1"/>
          </p:cNvSpPr>
          <p:nvPr/>
        </p:nvSpPr>
        <p:spPr>
          <a:xfrm rot="0">
            <a:off x="48514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1797759803" name="Text">
    </p:cNvPr>
          <p:cNvSpPr>
            <a:spLocks noGrp="1"/>
          </p:cNvSpPr>
          <p:nvPr/>
        </p:nvSpPr>
        <p:spPr>
          <a:xfrm rot="0">
            <a:off x="4114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</a:p>
        </p:txBody>
      </p:sp>
      <p:sp>
        <p:nvSpPr>
          <p:cNvPr id="52741069" name="Text">
    </p:cNvPr>
          <p:cNvSpPr>
            <a:spLocks noGrp="1"/>
          </p:cNvSpPr>
          <p:nvPr/>
        </p:nvSpPr>
        <p:spPr>
          <a:xfrm rot="0">
            <a:off x="6604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9024626" name="Text">
    </p:cNvPr>
          <p:cNvSpPr>
            <a:spLocks noGrp="1"/>
          </p:cNvSpPr>
          <p:nvPr/>
        </p:nvSpPr>
        <p:spPr>
          <a:xfrm rot="0">
            <a:off x="58801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27591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8718894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6701297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9581707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0952048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5617357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7469784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2516325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3719687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3699642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5765428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3961019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0568957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0996916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11926298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397600446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</a:p>
        </p:txBody>
      </p:sp>
      <p:sp>
        <p:nvSpPr>
          <p:cNvPr id="721869281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정기적검토 메일링 주기 설정 및 변경 건에 대해 일정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검 및 운영 반영 지원 예정</a:t>
            </a:r>
          </a:p>
        </p:txBody>
      </p:sp>
      <p:sp>
        <p:nvSpPr>
          <p:cNvPr id="1092633419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549131585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508402088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알림메일 리스크 관리팀 담당자 변경 요청 적용(황중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연 책임-&gt;이재승 선임)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2024년 회사필수 공통지식 강의 영상 다운시 WAS 부하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발생을 회피하기 위한  WEB서버에서 WAS 서버를 통하지 않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는 정적 다운로드 방안 검토(본사vod서버에 업로드 및 링크 u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rl로 영상 수강 제공)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교육결과보고 및 교육출장비 신청서 이력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관련 이상현상 확인 요청 및 ERM sub Commi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ttee회의록 개최회차 정보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데이트 수정 및 입력 요청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U50100 정상운전절차 개정오류 확인 재개정처리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교육결과보고서 기각 후 조회 안됨 문의, 수강자 재등록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RHDS1-C-0003 문서 상태 복구 요청(탈황1팀 강기태 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임) </a:t>
            </a:r>
          </a:p>
        </p:txBody>
      </p:sp>
      <p:sp>
        <p:nvSpPr>
          <p:cNvPr id="52003409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</a:p>
        </p:txBody>
      </p:sp>
      <p:sp>
        <p:nvSpPr>
          <p:cNvPr id="1088467810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</a:p>
        </p:txBody>
      </p:sp>
      <p:sp>
        <p:nvSpPr>
          <p:cNvPr id="940160802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</a:p>
        </p:txBody>
      </p:sp>
      <p:sp>
        <p:nvSpPr>
          <p:cNvPr id="1258027346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6461142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2206496" name="Text">
    </p:cNvPr>
          <p:cNvSpPr>
            <a:spLocks noGrp="1"/>
          </p:cNvSpPr>
          <p:nvPr/>
        </p:nvSpPr>
        <p:spPr>
          <a:xfrm rot="0">
            <a:off x="9702800" y="39370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br/>
          </a:p>
        </p:txBody>
      </p:sp>
      <p:sp>
        <p:nvSpPr>
          <p:cNvPr id="902047413" name="Text">
    </p:cNvPr>
          <p:cNvSpPr>
            <a:spLocks noGrp="1"/>
          </p:cNvSpPr>
          <p:nvPr/>
        </p:nvSpPr>
        <p:spPr>
          <a:xfrm rot="0">
            <a:off x="9334500" y="39370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</a:p>
        </p:txBody>
      </p:sp>
      <p:sp>
        <p:nvSpPr>
          <p:cNvPr id="551581750" name="Text">
    </p:cNvPr>
          <p:cNvSpPr>
            <a:spLocks noGrp="1"/>
          </p:cNvSpPr>
          <p:nvPr/>
        </p:nvSpPr>
        <p:spPr>
          <a:xfrm rot="0">
            <a:off x="5930900" y="39370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http 로 접근 시 https로 redirect 적용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ADMIN 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삭제 및 로그인 실패시 매세지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협력업체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사용계정에 대한 만료기간 설정</a:t>
            </a:r>
          </a:p>
        </p:txBody>
      </p:sp>
      <p:sp>
        <p:nvSpPr>
          <p:cNvPr id="1513068589" name="Text">
    </p:cNvPr>
          <p:cNvSpPr>
            <a:spLocks noGrp="1"/>
          </p:cNvSpPr>
          <p:nvPr/>
        </p:nvSpPr>
        <p:spPr>
          <a:xfrm rot="0">
            <a:off x="5308600" y="39370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321811041" name="Text">
    </p:cNvPr>
          <p:cNvSpPr>
            <a:spLocks noGrp="1"/>
          </p:cNvSpPr>
          <p:nvPr/>
        </p:nvSpPr>
        <p:spPr>
          <a:xfrm rot="0">
            <a:off x="88900" y="39370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30752319" name="Text">
    </p:cNvPr>
          <p:cNvSpPr>
            <a:spLocks noGrp="1"/>
          </p:cNvSpPr>
          <p:nvPr/>
        </p:nvSpPr>
        <p:spPr>
          <a:xfrm rot="0">
            <a:off x="711200" y="39370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출고완료 된 출고내역 中 해당 자제에 대한 할당된 로트번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호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Window 서버 보안 패치 작업 hqwmswb1, hqwmswb2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사이버보안 컴플라이언스 점검 개선 계획 및 공수 산정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ADMIN 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삭제 및 로그인 실패시 매세지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지류상품권 구권 신권으로 교환 판매 처리 로직 확인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울산지사 상품권 회수 사용자 오류로 인한 데이터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분석관리 &gt; 보험금액산출 데이터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제작/이관입고등록 데이터 추출 요청</a:t>
            </a:r>
          </a:p>
        </p:txBody>
      </p:sp>
      <p:sp>
        <p:nvSpPr>
          <p:cNvPr id="617211448" name="Text">
    </p:cNvPr>
          <p:cNvSpPr>
            <a:spLocks noGrp="1"/>
          </p:cNvSpPr>
          <p:nvPr/>
        </p:nvSpPr>
        <p:spPr>
          <a:xfrm rot="0">
            <a:off x="4483100" y="39370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</a:p>
        </p:txBody>
      </p:sp>
      <p:sp>
        <p:nvSpPr>
          <p:cNvPr id="33680508" name="Text">
    </p:cNvPr>
          <p:cNvSpPr>
            <a:spLocks noGrp="1"/>
          </p:cNvSpPr>
          <p:nvPr/>
        </p:nvSpPr>
        <p:spPr>
          <a:xfrm rot="0">
            <a:off x="4851400" y="39370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</a:p>
        </p:txBody>
      </p:sp>
      <p:sp>
        <p:nvSpPr>
          <p:cNvPr id="1650211623" name="Text">
    </p:cNvPr>
          <p:cNvSpPr>
            <a:spLocks noGrp="1"/>
          </p:cNvSpPr>
          <p:nvPr/>
        </p:nvSpPr>
        <p:spPr>
          <a:xfrm rot="0">
            <a:off x="4114800" y="39370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</a:p>
        </p:txBody>
      </p:sp>
      <p:sp>
        <p:nvSpPr>
          <p:cNvPr id="1035068084" name="Text">
    </p:cNvPr>
          <p:cNvSpPr>
            <a:spLocks noGrp="1"/>
          </p:cNvSpPr>
          <p:nvPr/>
        </p:nvSpPr>
        <p:spPr>
          <a:xfrm rot="0">
            <a:off x="660400" y="39370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53468444" name="Text">
    </p:cNvPr>
          <p:cNvSpPr>
            <a:spLocks noGrp="1"/>
          </p:cNvSpPr>
          <p:nvPr/>
        </p:nvSpPr>
        <p:spPr>
          <a:xfrm rot="0">
            <a:off x="5880100" y="39370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79333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8136421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9288449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6126707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8455503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44007732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2974135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8579114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2838566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3521833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4670421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9045430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8638895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7423895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2369875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03/01</a:t>
            </a:r>
            <a:br/>
            <a:br/>
          </a:p>
        </p:txBody>
      </p:sp>
      <p:sp>
        <p:nvSpPr>
          <p:cNvPr id="88995526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</a:p>
        </p:txBody>
      </p:sp>
      <p:sp>
        <p:nvSpPr>
          <p:cNvPr id="116732081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문서번호 : A36-24-0003, 03/01 인사명령 관련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처리 (03/01 이후 처리 예정)</a:t>
            </a:r>
            <a:br/>
          </a:p>
        </p:txBody>
      </p:sp>
      <p:sp>
        <p:nvSpPr>
          <p:cNvPr id="34490721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85601608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53482838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재고관리 &gt; 저유소 재고 현황, 코드명 및 검색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조건 입력 시 search 늦어지는 현상 확인 및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HR 관련 배치 임의 실행 (2024.02.20, 10시경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작업 수행 완료)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문서번호 : A36-24-0003, 03/01 인사명령 관련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처리 (03/01 이후 처리 예정)</a:t>
            </a:r>
            <a:br/>
          </a:p>
        </p:txBody>
      </p:sp>
      <p:sp>
        <p:nvSpPr>
          <p:cNvPr id="2553405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03/01</a:t>
            </a:r>
            <a:br/>
            <a:br/>
          </a:p>
        </p:txBody>
      </p:sp>
      <p:sp>
        <p:nvSpPr>
          <p:cNvPr id="166145121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br/>
          </a:p>
        </p:txBody>
      </p:sp>
      <p:sp>
        <p:nvSpPr>
          <p:cNvPr id="212609035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</a:p>
        </p:txBody>
      </p:sp>
      <p:sp>
        <p:nvSpPr>
          <p:cNvPr id="203420098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427506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28020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94657480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</a:p>
        </p:txBody>
      </p:sp>
      <p:sp>
        <p:nvSpPr>
          <p:cNvPr id="98739837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2024.1월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[HCM] 퇴직연금 운용방식 변경 신청서 개발</a:t>
            </a:r>
          </a:p>
        </p:txBody>
      </p:sp>
      <p:sp>
        <p:nvSpPr>
          <p:cNvPr id="127485922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54344510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06317871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2024.1월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[HCM] 퇴직연금 운용방식 변경 신청서 개발</a:t>
            </a:r>
          </a:p>
        </p:txBody>
      </p:sp>
      <p:sp>
        <p:nvSpPr>
          <p:cNvPr id="136614181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208524643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160679645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</a:p>
        </p:txBody>
      </p:sp>
      <p:sp>
        <p:nvSpPr>
          <p:cNvPr id="38353067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1029379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