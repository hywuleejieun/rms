
<file path=[Content_Types].xml><?xml version="1.0" encoding="utf-8"?>
<Types xmlns="http://schemas.openxmlformats.org/package/2006/content-types">
  <Default ContentType="image/x-emf" Extension="emf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6"/>
    <p:sldId id="257" r:id="rId10"/>
    <p:sldId id="258" r:id="rId12"/>
    <p:sldId id="259" r:id="rId13"/>
    <p:sldId id="260" r:id="rId14"/>
    <p:sldId id="261" r:id="rId16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30"/>
    <p:sldId id="274" r:id="rId32"/>
    <p:sldId id="275" r:id="rId34"/>
  </p:sldIdLst>
  <p:sldSz cx="10160000" cy="6921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2.xml" Type="http://schemas.openxmlformats.org/officeDocument/2006/relationships/slide"/><Relationship Id="rId11" Target="notesSlides/notesSlide2.xml" Type="http://schemas.openxmlformats.org/officeDocument/2006/relationships/notesSlide"/><Relationship Id="rId12" Target="slides/slide3.xml" Type="http://schemas.openxmlformats.org/officeDocument/2006/relationships/slide"/><Relationship Id="rId13" Target="slides/slide4.xml" Type="http://schemas.openxmlformats.org/officeDocument/2006/relationships/slide"/><Relationship Id="rId14" Target="slides/slide5.xml" Type="http://schemas.openxmlformats.org/officeDocument/2006/relationships/slide"/><Relationship Id="rId15" Target="notesSlides/notesSlide3.xml" Type="http://schemas.openxmlformats.org/officeDocument/2006/relationships/notesSlide"/><Relationship Id="rId16" Target="slides/slide6.xml" Type="http://schemas.openxmlformats.org/officeDocument/2006/relationships/slide"/><Relationship Id="rId17" Target="notesSlides/notesSlide4.xml" Type="http://schemas.openxmlformats.org/officeDocument/2006/relationships/notesSlide"/><Relationship Id="rId18" Target="slides/slide7.xml" Type="http://schemas.openxmlformats.org/officeDocument/2006/relationships/slide"/><Relationship Id="rId19" Target="slides/slide8.xml" Type="http://schemas.openxmlformats.org/officeDocument/2006/relationships/slide"/><Relationship Id="rId2" Target="presProps.xml" Type="http://schemas.openxmlformats.org/officeDocument/2006/relationships/presProps"/><Relationship Id="rId20" Target="slides/slide9.xml" Type="http://schemas.openxmlformats.org/officeDocument/2006/relationships/slide"/><Relationship Id="rId21" Target="slides/slide10.xml" Type="http://schemas.openxmlformats.org/officeDocument/2006/relationships/slide"/><Relationship Id="rId22" Target="slides/slide11.xml" Type="http://schemas.openxmlformats.org/officeDocument/2006/relationships/slide"/><Relationship Id="rId23" Target="slides/slide12.xml" Type="http://schemas.openxmlformats.org/officeDocument/2006/relationships/slide"/><Relationship Id="rId24" Target="slides/slide13.xml" Type="http://schemas.openxmlformats.org/officeDocument/2006/relationships/slide"/><Relationship Id="rId25" Target="slides/slide14.xml" Type="http://schemas.openxmlformats.org/officeDocument/2006/relationships/slide"/><Relationship Id="rId26" Target="slides/slide15.xml" Type="http://schemas.openxmlformats.org/officeDocument/2006/relationships/slide"/><Relationship Id="rId27" Target="slides/slide16.xml" Type="http://schemas.openxmlformats.org/officeDocument/2006/relationships/slide"/><Relationship Id="rId28" Target="slides/slide17.xml" Type="http://schemas.openxmlformats.org/officeDocument/2006/relationships/slide"/><Relationship Id="rId29" Target="notesSlides/notesSlide5.xml" Type="http://schemas.openxmlformats.org/officeDocument/2006/relationships/notesSlide"/><Relationship Id="rId3" Target="viewProps.xml" Type="http://schemas.openxmlformats.org/officeDocument/2006/relationships/viewProps"/><Relationship Id="rId30" Target="slides/slide18.xml" Type="http://schemas.openxmlformats.org/officeDocument/2006/relationships/slide"/><Relationship Id="rId31" Target="notesSlides/notesSlide6.xml" Type="http://schemas.openxmlformats.org/officeDocument/2006/relationships/notesSlide"/><Relationship Id="rId32" Target="slides/slide19.xml" Type="http://schemas.openxmlformats.org/officeDocument/2006/relationships/slide"/><Relationship Id="rId33" Target="notesSlides/notesSlide7.xml" Type="http://schemas.openxmlformats.org/officeDocument/2006/relationships/notesSlide"/><Relationship Id="rId34" Target="slides/slide20.xml" Type="http://schemas.openxmlformats.org/officeDocument/2006/relationships/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notesMasters/notesMaster1.xml" Type="http://schemas.openxmlformats.org/officeDocument/2006/relationships/notesMaster"/><Relationship Id="rId8" Target="theme/theme2.xml" Type="http://schemas.openxmlformats.org/officeDocument/2006/relationships/theme"/><Relationship Id="rId9" Target="notesSlides/notesSlide1.xml" Type="http://schemas.openxmlformats.org/officeDocument/2006/relationships/notesSlide"/></Relationships>
</file>

<file path=ppt/notesMasters/_rels/notesMaster1.xml.rels><?xml version="1.0" encoding="UTF-8" standalone="no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4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5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6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7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notesSlide1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fld id="{AF56D908-C2A0-4594-8043-7B2A2764A612}" type="datetime1"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2023-04-11</a:t>
            </a:fld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t>ITS GSR Proposed Layout 4Q</a:t>
            </a:r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fld id="{65D332B1-6798-497D-875F-C7FAE08D878A}" type="slidenum">
              <a:rPr lang="en-US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1</a:t>
            </a:fld>
            <a:endParaRPr lang="en-US" altLang="en-US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2788" y="746125"/>
            <a:ext cx="5373687" cy="3721100"/>
          </a:xfrm>
          <a:ln/>
        </p:spPr>
      </p:sp>
      <p:sp>
        <p:nvSpPr>
          <p:cNvPr id="1127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spcBef>
                <a:spcPct val="30000"/>
              </a:spcBef>
              <a:spcAft>
                <a:spcPct val="0"/>
              </a:spcAft>
              <a:defRPr/>
            </a:pPr>
            <a:endParaRPr lang="ko-KR" altLang="en-US"/>
          </a:p>
        </p:txBody>
      </p:sp>
    </p:spTree>
  </p:cSld>
</p:notes>
</file>

<file path=ppt/notesSlides/notesSlide2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1</a:t>
            </a:fld>
            <a:endParaRPr lang="ko-KR" altLang="en-US"/>
          </a:p>
        </p:txBody>
      </p:sp>
    </p:spTree>
  </p:cSld>
</p:notes>
</file>

<file path=ppt/notesSlides/notesSlide3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98500" y="741363"/>
            <a:ext cx="5340350" cy="3697287"/>
          </a:xfrm>
          <a:ln/>
        </p:spPr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30000"/>
              </a:spcBef>
              <a:spcAft>
                <a:spcPct val="0"/>
              </a:spcAft>
            </a:pPr>
            <a:endParaRPr lang="en-NZ" altLang="ko-KR" smtClean="0"/>
          </a:p>
        </p:txBody>
      </p:sp>
    </p:spTree>
  </p:cSld>
</p:notes>
</file>

<file path=ppt/notesSlides/notesSlide4.xml><?xml version="1.0" encoding="utf-8"?>
<p:notes xmlns:p="http://schemas.openxmlformats.org/presentationml/2006/main">
  <p:cSld>
    <p:spTree xmlns:dsp="http://schemas.microsoft.com/office/drawing/2008/diagram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Rot="1" noChangeAspect="1" noChangeArrowheads="1" noTextEdit="1"/>
          </p:cNvSpPr>
          <p:nvPr>
            <p:ph type="sldImg" idx="0"/>
          </p:nvPr>
        </p:nvSpPr>
        <p:spPr>
          <a:xfrm>
            <a:off x="714375" y="746125"/>
            <a:ext cx="5370513" cy="3719513"/>
          </a:xfrm>
          <a:ln/>
        </p:spPr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notesSlides/notesSlide5.xml><?xml version="1.0" encoding="utf-8"?>
<p:notes xmlns:p="http://schemas.openxmlformats.org/presentationml/2006/main">
  <p:cSld>
    <p:spTree xmlns:dsp="http://schemas.microsoft.com/office/drawing/2008/diagram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 idx="0"/>
          </p:nvPr>
        </p:nvSpPr>
        <p:spPr>
          <a:xfrm>
            <a:off x="698500" y="741363"/>
            <a:ext cx="5340350" cy="3697287"/>
          </a:xfrm>
          <a:ln/>
        </p:spPr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notesSlides/notesSlide6.xml><?xml version="1.0" encoding="utf-8"?>
<p:notes xmlns:p="http://schemas.openxmlformats.org/presentationml/2006/main">
  <p:cSld>
    <p:spTree xmlns:dsp="http://schemas.microsoft.com/office/drawing/2008/diagram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Rot="1" noChangeAspect="1" noChangeArrowheads="1" noTextEdit="1"/>
          </p:cNvSpPr>
          <p:nvPr>
            <p:ph type="sldImg" idx="0"/>
          </p:nvPr>
        </p:nvSpPr>
        <p:spPr>
          <a:xfrm>
            <a:off x="698500" y="741363"/>
            <a:ext cx="5340350" cy="3697287"/>
          </a:xfrm>
          <a:ln/>
        </p:spPr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notesSlides/notesSlide7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1</a:t>
            </a:fld>
            <a:endParaRPr lang="ko-KR" altLang="en-US"/>
          </a:p>
        </p:txBody>
      </p:sp>
    </p:spTree>
  </p:cSld>
</p:note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lIns="0" rIns="0" anchor="b"/>
          <a:lstStyle/>
          <a:p>
            <a:pPr lvl="0" algn="l" marL="372596" indent="-372596">
              <a:spcAft>
                <a:spcPct val="0"/>
              </a:spcAft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050" y="1599162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3019" y="1599162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half" idx="3"/>
          </p:nvPr>
        </p:nvSpPr>
        <p:spPr>
          <a:xfrm>
            <a:off x="493781" y="3981637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half" idx="4"/>
          </p:nvPr>
        </p:nvSpPr>
        <p:spPr>
          <a:xfrm>
            <a:off x="5031750" y="3981637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10" name="날짜 개체 틀 3"/>
          <p:cNvSpPr>
            <a:spLocks noGrp="1"/>
          </p:cNvSpPr>
          <p:nvPr>
            <p:ph type="dt" sz="half" idx="10"/>
          </p:nvPr>
        </p:nvSpPr>
        <p:spPr>
          <a:xfrm>
            <a:off x="493650" y="6352034"/>
            <a:ext cx="231095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ea typeface="바탕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fld id="{D8D7A7C4-C82A-4D21-9AB0-F0C5A1D3EF09}" type="datetime1">
              <a:rPr kumimoji="1" lang="ko-KR" altLang="en-US" sz="1200" b="0" i="0" baseline="0">
                <a:solidFill>
                  <a:schemeClr val="tx1"/>
                </a:solidFill>
                <a:latin typeface="+mn-lt"/>
                <a:ea typeface="바탕"/>
                <a:cs typeface="+mn-cs"/>
              </a:rPr>
              <a:pPr marL="0" lvl="0" indent="0" algn="l" rtl="0" eaLnBrk="1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None/>
                <a:defRPr/>
              </a:pPr>
              <a:t>2024-02-01</a:t>
            </a:fld>
            <a:endParaRPr kumimoji="1" lang="ko-KR" altLang="en-US" sz="1200" b="0" i="0" baseline="0">
              <a:solidFill>
                <a:schemeClr val="tx1"/>
              </a:solidFill>
              <a:latin typeface="+mn-lt"/>
              <a:ea typeface="바탕"/>
              <a:cs typeface="+mn-cs"/>
            </a:endParaRPr>
          </a:p>
        </p:txBody>
      </p:sp>
      <p:sp>
        <p:nvSpPr>
          <p:cNvPr id="11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2318" y="6352034"/>
            <a:ext cx="313476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ea typeface="바탕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endParaRPr kumimoji="1" lang="ko-KR" altLang="en-US" sz="1200" b="0" i="0" baseline="0">
              <a:solidFill>
                <a:schemeClr val="tx1"/>
              </a:solidFill>
              <a:ea typeface="바탕"/>
            </a:endParaRPr>
          </a:p>
        </p:txBody>
      </p:sp>
      <p:sp>
        <p:nvSpPr>
          <p:cNvPr id="12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094854" y="6352034"/>
            <a:ext cx="231095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latin typeface="Arial"/>
                <a:ea typeface="Arial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fld id="{9327EF7B-8B08-4053-A0CD-9D52558E44A8}" type="slidenum"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Arial"/>
              </a:rPr>
              <a:pPr marL="0" lvl="0" indent="0" algn="l" rtl="0" eaLnBrk="1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None/>
                <a:defRPr/>
              </a:pPr>
              <a:t>‹#›</a:t>
            </a:fld>
            <a:endParaRPr kumimoji="1" lang="ko-KR" altLang="en-US" sz="1200" b="0" i="0" baseline="0">
              <a:solidFill>
                <a:schemeClr val="tx1"/>
              </a:solidFill>
              <a:latin typeface="Arial"/>
              <a:ea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13" Target="../media/image3.emf" Type="http://schemas.openxmlformats.org/officeDocument/2006/relationships/imag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223730" y="101530"/>
            <a:ext cx="9055507" cy="43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b" anchorCtr="0" compatLnSpc="1">
            <a:prstTxWarp prst="textNoShape">
              <a:avLst/>
            </a:prstTxWarp>
          </a:bodyPr>
          <a:lstStyle/>
          <a:p>
            <a:pPr lvl="0" algn="l" marL="372596" indent="-372596">
              <a:spcAft>
                <a:spcPct val="0"/>
              </a:spcAft>
            </a:pPr>
            <a:r>
              <a:rPr lang="en-US" altLang="ko-KR"/>
              <a:t>Header text</a:t>
            </a:r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062" y="836032"/>
            <a:ext cx="8911114" cy="5285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45720" rIns="45720" bIns="45720" numCol="1" anchor="t" anchorCtr="0" compatLnSpc="1">
            <a:prstTxWarp prst="textNoShape">
              <a:avLst/>
            </a:prstTxWarp>
          </a:bodyPr>
          <a:lstStyle/>
          <a:p>
            <a:pPr lvl="0" marL="175431" indent="-175431">
              <a:spcBef>
                <a:spcPct val="0"/>
              </a:spcBef>
              <a:spcAft>
                <a:spcPct val="0"/>
              </a:spcAft>
            </a:pPr>
            <a:r>
              <a:rPr lang="en-US" altLang="ko-KR"/>
              <a:t>Level One Text</a:t>
            </a:r>
          </a:p>
          <a:p>
            <a:pPr lvl="1" marL="526292" indent="-175431">
              <a:spcAft>
                <a:spcPct val="0"/>
              </a:spcAft>
            </a:pPr>
            <a:r>
              <a:rPr lang="en-US" altLang="ko-KR"/>
              <a:t>Level Two Text</a:t>
            </a:r>
          </a:p>
          <a:p>
            <a:pPr lvl="2" marL="875601" indent="-173878">
              <a:spcAft>
                <a:spcPct val="0"/>
              </a:spcAft>
            </a:pPr>
            <a:r>
              <a:rPr lang="en-US" altLang="ko-KR"/>
              <a:t>Level Three Text</a:t>
            </a:r>
          </a:p>
          <a:p>
            <a:pPr lvl="3" marL="1235776" indent="-184746">
              <a:spcAft>
                <a:spcPct val="0"/>
              </a:spcAft>
            </a:pPr>
            <a:r>
              <a:rPr lang="en-US" altLang="ko-KR"/>
              <a:t>Level Four Text</a:t>
            </a:r>
          </a:p>
          <a:p>
            <a:pPr lvl="4" marL="1586638" indent="-175431">
              <a:spcAft>
                <a:spcPct val="0"/>
              </a:spcAft>
            </a:pPr>
            <a:r>
              <a:rPr lang="en-US" altLang="ko-KR"/>
              <a:t>Level Five Text</a:t>
            </a:r>
          </a:p>
        </p:txBody>
      </p:sp>
      <p:sp>
        <p:nvSpPr>
          <p:cNvPr id="1028" name="Line 10"/>
          <p:cNvSpPr>
            <a:spLocks noChangeShapeType="1"/>
          </p:cNvSpPr>
          <p:nvPr/>
        </p:nvSpPr>
        <p:spPr bwMode="auto">
          <a:xfrm>
            <a:off x="152327" y="609177"/>
            <a:ext cx="9406176" cy="0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4"/>
          </a:p>
        </p:txBody>
      </p:sp>
      <p:sp>
        <p:nvSpPr>
          <p:cNvPr id="1029" name="Line 27"/>
          <p:cNvSpPr>
            <a:spLocks noChangeShapeType="1"/>
          </p:cNvSpPr>
          <p:nvPr/>
        </p:nvSpPr>
        <p:spPr bwMode="auto">
          <a:xfrm flipV="1">
            <a:off x="598200" y="6610520"/>
            <a:ext cx="0" cy="21575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sz="2714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049" y="6512166"/>
            <a:ext cx="852077" cy="318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4687223" y="6558168"/>
            <a:ext cx="493476" cy="287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1" hangingPunct="1">
              <a:defRPr/>
            </a:pPr>
            <a:fld id="{A8DA2539-2289-4BBF-8B15-ACBAB22FB2D8}" type="slidenum">
              <a:rPr kumimoji="1" lang="en-US" altLang="ko-KR" sz="978" smtClean="0">
                <a:solidFill>
                  <a:srgbClr val="000000"/>
                </a:solidFill>
                <a:latin typeface="Arial" panose="020B0604020202020204" pitchFamily="34" charset="0"/>
                <a:ea typeface="아리따M"/>
                <a:cs typeface="아리따M"/>
              </a:rPr>
              <a:pPr algn="ctr" eaLnBrk="1" latinLnBrk="1" hangingPunct="1">
                <a:defRPr/>
              </a:pPr>
              <a:t>‹#›</a:t>
            </a:fld>
            <a:endParaRPr kumimoji="1" lang="en-US" altLang="ko-KR" sz="978">
              <a:solidFill>
                <a:srgbClr val="000000"/>
              </a:solidFill>
              <a:latin typeface="Arial" panose="020B0604020202020204" pitchFamily="34" charset="0"/>
              <a:ea typeface="아리따M"/>
              <a:cs typeface="아리따M"/>
            </a:endParaRPr>
          </a:p>
        </p:txBody>
      </p:sp>
      <p:sp>
        <p:nvSpPr>
          <p:cNvPr id="2" name="MSIPCMContentMarking" descr="{&quot;HashCode&quot;:1183346205,&quot;Placement&quot;:&quot;Footer&quot;,&quot;Top&quot;:517.622253,&quot;Left&quot;:0.0,&quot;SlideWidth&quot;:779,&quot;SlideHeight&quot;:539}">
            <a:extLst>
              <a:ext uri="{FF2B5EF4-FFF2-40B4-BE49-F238E27FC236}">
                <a16:creationId xmlns:a16="http://schemas.microsoft.com/office/drawing/2014/main" id="{06CD49F0-D643-4002-B42C-3477312F1EA3}"/>
              </a:ext>
            </a:extLst>
          </p:cNvPr>
          <p:cNvSpPr txBox="1"/>
          <p:nvPr userDrawn="1"/>
        </p:nvSpPr>
        <p:spPr>
          <a:xfrm>
            <a:off x="0" y="6573803"/>
            <a:ext cx="1757926" cy="279435"/>
          </a:xfrm>
          <a:prstGeom prst="rect">
            <a:avLst/>
          </a:prstGeom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altLang="ko-KR" sz="1100">
                <a:solidFill>
                  <a:srgbClr val="5F5F5F"/>
                </a:solidFill>
                <a:latin typeface="Calibri" panose="020F0502020204030204" pitchFamily="34" charset="0"/>
              </a:rPr>
              <a:t>S-OIL: Company Use Only</a:t>
            </a:r>
            <a:endParaRPr lang="ko-KR" altLang="en-US" sz="1100">
              <a:solidFill>
                <a:srgbClr val="5F5F5F"/>
              </a:solidFill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notesSlides/notesSlide1.xml" Type="http://schemas.openxmlformats.org/officeDocument/2006/relationships/notesSlide"/></Relationships>
</file>

<file path=ppt/slides/_rels/slide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1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1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2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showMasterSp="false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Box 7"/>
          <p:cNvSpPr txBox="1">
            <a:spLocks noChangeArrowheads="1"/>
          </p:cNvSpPr>
          <p:nvPr/>
        </p:nvSpPr>
        <p:spPr>
          <a:xfrm>
            <a:off x="2054393" y="2265519"/>
            <a:ext cx="5763041" cy="50435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ITO </a:t>
            </a:r>
            <a:r>
              <a:rPr altLang="en-US" b="0" kumimoji="1" lang="ko-KR" sz="2740">
                <a:solidFill>
                  <a:srgbClr val="000000"/>
                </a:solidFill>
                <a:latin typeface="HY견고딕"/>
                <a:ea typeface="HY견고딕"/>
              </a:rPr>
              <a:t>운영 주간보고서 </a:t>
            </a: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(AMS)</a:t>
            </a:r>
            <a:endParaRPr altLang="en-US" b="0" kumimoji="1" lang="ko-KR" sz="2740">
              <a:solidFill>
                <a:srgbClr val="000000"/>
              </a:solidFill>
              <a:latin typeface="HY견고딕"/>
              <a:ea typeface="HY견고딕"/>
            </a:endParaRPr>
          </a:p>
        </p:txBody>
      </p:sp>
      <p:pic>
        <p:nvPicPr>
          <p:cNvPr id="10243" name="Picture 2"/>
          <p:cNvPicPr>
            <a:picLocks noChangeArrowheads="1"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99459" y="521072"/>
            <a:ext cx="1542506" cy="517276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descr="BD15156_" id="10244" name="Picture 4"/>
          <p:cNvPicPr>
            <a:picLocks noChangeArrowheads="1"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285470" y="2832502"/>
            <a:ext cx="7322635" cy="86989"/>
          </a:xfrm>
          <a:prstGeom prst="rect">
            <a:avLst/>
          </a:prstGeom>
          <a:noFill/>
          <a:ln>
            <a:noFill/>
          </a:ln>
        </p:spPr>
      </p:pic>
      <p:sp>
        <p:nvSpPr>
          <p:cNvPr id="10245" name="Rectangle 3"/>
          <p:cNvSpPr txBox="1">
            <a:spLocks noChangeArrowheads="1"/>
          </p:cNvSpPr>
          <p:nvPr/>
        </p:nvSpPr>
        <p:spPr>
          <a:xfrm>
            <a:off x="3034575" y="4685685"/>
            <a:ext cx="3808889" cy="372811"/>
          </a:xfrm>
          <a:prstGeom prst="rect">
            <a:avLst/>
          </a:prstGeom>
          <a:noFill/>
          <a:ln>
            <a:noFill/>
          </a:ln>
        </p:spPr>
        <p:txBody>
          <a:bodyPr bIns="46758" lIns="93521" rIns="93521" tIns="18410"/>
          <a:lstStyle>
            <a:lvl1pPr defTabSz="860425" indent="-342900" marL="342900"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1pPr>
            <a:lvl2pPr defTabSz="860425" indent="-285750" marL="74295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2pPr>
            <a:lvl3pPr defTabSz="860425" indent="-228600" marL="11430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3pPr>
            <a:lvl4pPr defTabSz="860425" indent="-228600" marL="16002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4pPr>
            <a:lvl5pPr defTabSz="860425" indent="-228600" marL="2057400">
              <a:spcBef>
                <a:spcPct val="20000"/>
              </a:spcBef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5pPr>
            <a:lvl6pPr defTabSz="860425" eaLnBrk="0" fontAlgn="base" hangingPunct="0" indent="-228600" marL="25146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6pPr>
            <a:lvl7pPr defTabSz="860425" eaLnBrk="0" fontAlgn="base" hangingPunct="0" indent="-228600" marL="29718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7pPr>
            <a:lvl8pPr defTabSz="860425" eaLnBrk="0" fontAlgn="base" hangingPunct="0" indent="-228600" marL="34290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8pPr>
            <a:lvl9pPr defTabSz="860425" eaLnBrk="0" fontAlgn="base" hangingPunct="0" indent="-228600" marL="38862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9pPr>
          </a:lstStyle>
          <a:p>
            <a:pPr algn="ctr" eaLnBrk="1" hangingPunct="1" latinLnBrk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Tx/>
              <a:buNone/>
              <a:defRPr/>
            </a:pPr>
            <a:r>
              <a:rPr b="true" lang="en-US" sz="1960">
                <a:latin typeface="맑은 고딕"/>
              </a:rPr>
              <a:t>[2024.02.20 ~ 2024.02.26]</a:t>
            </a:r>
            <a:endParaRPr altLang="ko-KR" kumimoji="0" lang="en-US" sz="1957">
              <a:latin typeface="맑은 고딕"/>
              <a:ea typeface="맑은 고딕"/>
              <a:cs typeface="+mn-cs"/>
            </a:endParaRPr>
          </a:p>
        </p:txBody>
      </p:sp>
      <p:sp>
        <p:nvSpPr>
          <p:cNvPr id="10246" name="TextBox 10"/>
          <p:cNvSpPr txBox="1">
            <a:spLocks noChangeArrowheads="1"/>
          </p:cNvSpPr>
          <p:nvPr/>
        </p:nvSpPr>
        <p:spPr>
          <a:xfrm>
            <a:off x="4171651" y="3559484"/>
            <a:ext cx="1530014" cy="45384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b="true" lang="en-US" sz="1960">
                <a:solidFill>
                  <a:srgbClr val="000000"/>
                </a:solidFill>
                <a:latin typeface="맑은 고딕"/>
              </a:rPr>
              <a:t>2월 3주차</a:t>
            </a:r>
            <a:endParaRPr altLang="en-US" kumimoji="1" lang="ko-KR" sz="2349">
              <a:solidFill>
                <a:srgbClr val="000000"/>
              </a:solidFill>
            </a:endParaRPr>
          </a:p>
        </p:txBody>
      </p:sp>
      <p:sp>
        <p:nvSpPr>
          <p:cNvPr id="9" name="Line 18"/>
          <p:cNvSpPr>
            <a:spLocks noChangeShapeType="1"/>
          </p:cNvSpPr>
          <p:nvPr/>
        </p:nvSpPr>
        <p:spPr bwMode="auto">
          <a:xfrm>
            <a:off x="0" y="1600200"/>
            <a:ext cx="9906000" cy="0"/>
          </a:xfrm>
          <a:prstGeom prst="line">
            <a:avLst/>
          </a:prstGeom>
          <a:noFill/>
          <a:ln w="9525">
            <a:solidFill>
              <a:srgbClr val="BBE0E3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>
              <a:spcBef>
                <a:spcPct val="0"/>
              </a:spcBef>
              <a:spcAft>
                <a:spcPct val="0"/>
              </a:spcAft>
            </a:pPr>
            <a:endParaRPr altLang="en-US" lang="ko-KR" sz="2716"/>
          </a:p>
        </p:txBody>
      </p:sp>
      <p:sp>
        <p:nvSpPr>
          <p:cNvPr id="10" name="Line 18"/>
          <p:cNvSpPr>
            <a:spLocks noChangeShapeType="1"/>
          </p:cNvSpPr>
          <p:nvPr/>
        </p:nvSpPr>
        <p:spPr bwMode="auto">
          <a:xfrm>
            <a:off x="0" y="5257800"/>
            <a:ext cx="9906000" cy="0"/>
          </a:xfrm>
          <a:prstGeom prst="line">
            <a:avLst/>
          </a:prstGeom>
          <a:noFill/>
          <a:ln w="9525">
            <a:solidFill>
              <a:srgbClr val="BBE0E3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>
              <a:spcBef>
                <a:spcPct val="0"/>
              </a:spcBef>
              <a:spcAft>
                <a:spcPct val="0"/>
              </a:spcAft>
            </a:pPr>
            <a:endParaRPr altLang="en-US" lang="ko-KR" sz="2716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6" name="표 3075"/>
          <p:cNvGraphicFramePr/>
          <p:nvPr>
            <p:extLst>
              <p:ext uri="{D42A27DB-BD31-4B8C-83A1-F6EECF244321}">
                <p14:modId xmlns:p14="http://schemas.microsoft.com/office/powerpoint/2010/main" val="168557776"/>
              </p:ext>
            </p:extLst>
          </p:nvPr>
        </p:nvGraphicFramePr>
        <p:xfrm>
          <a:off x="271440" y="1141189"/>
          <a:ext cx="9318451" cy="5164874"/>
        </p:xfrm>
        <a:graphic>
          <a:graphicData uri="http://schemas.openxmlformats.org/drawingml/2006/table">
            <a:tbl>
              <a:tblPr bandRow="1" firstRow="1"/>
              <a:tblGrid>
                <a:gridCol w="1320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3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50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3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51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572"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FF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일</a:t>
                      </a:r>
                      <a:endParaRPr altLang="en-US" b="0" dirty="0" i="0" kumimoji="1" lang="ko-KR" sz="900">
                        <a:solidFill>
                          <a:srgbClr val="FF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수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금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0000FF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토</a:t>
                      </a:r>
                      <a:endParaRPr altLang="en-US" b="0" dirty="0" i="0" kumimoji="1" lang="ko-KR" sz="900">
                        <a:solidFill>
                          <a:srgbClr val="0000FF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1392">
                <a:tc>
                  <a:txBody>
                    <a:bodyPr/>
                    <a:lstStyle/>
                    <a:p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6" marT="45716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917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4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5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6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설날 연휴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설날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2327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11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설날연휴</a:t>
                      </a:r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(</a:t>
                      </a:r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대체휴일</a:t>
                      </a:r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)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13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14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15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16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17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914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18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19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20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21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22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23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24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235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25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26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27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28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29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246" name="TextBox 3245"/>
          <p:cNvSpPr txBox="1"/>
          <p:nvPr/>
        </p:nvSpPr>
        <p:spPr>
          <a:xfrm>
            <a:off x="5639356" y="661884"/>
            <a:ext cx="661884" cy="36342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none">
            <a:noAutofit/>
          </a:bodyPr>
          <a:lstStyle/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00000"/>
              <a:buFont typeface="Arial"/>
              <a:buChar char="◑"/>
              <a:defRPr/>
            </a:pPr>
            <a:r>
              <a:rPr altLang="en-US" b="0" baseline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반 차</a:t>
            </a:r>
          </a:p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50000"/>
              <a:buFont typeface="Wingdings"/>
              <a:buChar char="l"/>
              <a:defRPr/>
            </a:pPr>
            <a:r>
              <a:rPr altLang="en-US" b="0" baseline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 1day</a:t>
            </a:r>
            <a:endParaRPr altLang="en-US" b="0" i="0" kumimoji="1" lang="ko-KR" sz="900">
              <a:solidFill>
                <a:srgbClr val="3333CC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7" name="TextBox 3246"/>
          <p:cNvSpPr txBox="1"/>
          <p:nvPr/>
        </p:nvSpPr>
        <p:spPr>
          <a:xfrm>
            <a:off x="226954" y="199994"/>
            <a:ext cx="9056616" cy="33646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89" lIns="91577" rIns="91577" tIns="45789" vert="horz" wrap="square">
            <a:noAutofit/>
          </a:bodyPr>
          <a:lstStyle/>
          <a:p>
            <a:pPr algn="l" defTabSz="58846888" eaLnBrk="0" hangingPunct="0" indent="-385813" latinLnBrk="0" lvl="0" marL="38581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별첨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-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2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202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4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 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02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월 휴가계획서</a:t>
            </a:r>
            <a:endParaRPr altLang="en-US" b="1" dirty="0" i="0" kumimoji="1" lang="ko-KR" sz="16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8" name="TextBox 3247"/>
          <p:cNvSpPr txBox="1"/>
          <p:nvPr/>
        </p:nvSpPr>
        <p:spPr>
          <a:xfrm>
            <a:off x="6777363" y="666628"/>
            <a:ext cx="1447571" cy="35555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Ø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예비군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/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민방위 훈련 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ü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교육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,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 내부회의 </a:t>
            </a:r>
            <a:endParaRPr altLang="en-US" b="0" dirty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2" name="TextBox 3251"/>
          <p:cNvSpPr txBox="1"/>
          <p:nvPr/>
        </p:nvSpPr>
        <p:spPr>
          <a:xfrm>
            <a:off x="7853525" y="661884"/>
            <a:ext cx="1676088" cy="355501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v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경조휴가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Arial"/>
              <a:buChar char="◇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건강검진</a:t>
            </a:r>
            <a:endParaRPr altLang="en-US" b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3" name="TextBox 3252"/>
          <p:cNvSpPr txBox="1"/>
          <p:nvPr/>
        </p:nvSpPr>
        <p:spPr>
          <a:xfrm>
            <a:off x="722167" y="6401209"/>
            <a:ext cx="3085536" cy="22382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20" lIns="91440" rIns="91440" tIns="45720" vert="horz" wrap="none">
            <a:noAutofit/>
          </a:bodyPr>
          <a:lstStyle/>
          <a:p>
            <a:pPr algn="r" defTabSz="75524200" eaLnBrk="0" hangingPunct="0" indent="0" latinLnBrk="0" lvl="0" marL="0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H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IT운영팀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R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생산IT지원팀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B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Baynex 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Q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Quintet</a:t>
            </a:r>
            <a:endParaRPr altLang="en-US" b="0" i="0" kumimoji="1" lang="ko-KR" sz="9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AutoShape 125"/>
          <p:cNvSpPr>
            <a:spLocks noChangeArrowheads="1"/>
          </p:cNvSpPr>
          <p:nvPr/>
        </p:nvSpPr>
        <p:spPr bwMode="auto">
          <a:xfrm>
            <a:off x="2486232" y="2518720"/>
            <a:ext cx="5711781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altLang="en-US" lang="ko-KR" sz="1566">
                <a:solidFill>
                  <a:schemeClr val="tx1"/>
                </a:solidFill>
              </a:rPr>
              <a:t>주간업무 실적 및 계획</a:t>
            </a:r>
          </a:p>
        </p:txBody>
      </p:sp>
      <p:sp>
        <p:nvSpPr>
          <p:cNvPr id="12291" name="Rectangle 3"/>
          <p:cNvSpPr>
            <a:spLocks noChangeArrowheads="1" noGrp="1"/>
          </p:cNvSpPr>
          <p:nvPr>
            <p:ph idx="4294967295" type="subTitle"/>
          </p:nvPr>
        </p:nvSpPr>
        <p:spPr>
          <a:xfrm>
            <a:off x="255577" y="297385"/>
            <a:ext cx="4927323" cy="372811"/>
          </a:xfrm>
        </p:spPr>
        <p:txBody>
          <a:bodyPr anchor="t" anchorCtr="0" bIns="46759" compatLnSpc="1" lIns="93521" numCol="1" rIns="93521" tIns="18410" vert="horz" wrap="square">
            <a:prstTxWarp prst="textNoShape">
              <a:avLst/>
            </a:prstTxWarp>
          </a:bodyPr>
          <a:lstStyle/>
          <a:p>
            <a:pPr defTabSz="894857" eaLnBrk="1" hangingPunct="1" indent="0" marL="0">
              <a:spcBef>
                <a:spcPct val="0"/>
              </a:spcBef>
              <a:spcAft>
                <a:spcPct val="0"/>
              </a:spcAft>
              <a:buNone/>
            </a:pPr>
            <a:r>
              <a:rPr altLang="en-US" b="1" lang="ko-KR" sz="1566">
                <a:latin charset="-127" panose="020B0503020000020004" pitchFamily="50" typeface="맑은 고딕"/>
                <a:ea charset="-127" panose="020B0503020000020004" pitchFamily="50" typeface="맑은 고딕"/>
              </a:rPr>
              <a:t>목차 </a:t>
            </a:r>
          </a:p>
        </p:txBody>
      </p:sp>
      <p:sp>
        <p:nvSpPr>
          <p:cNvPr id="12292" name="AutoShape 88"/>
          <p:cNvSpPr>
            <a:spLocks noChangeArrowheads="1"/>
          </p:cNvSpPr>
          <p:nvPr/>
        </p:nvSpPr>
        <p:spPr bwMode="auto">
          <a:xfrm>
            <a:off x="2487786" y="1943968"/>
            <a:ext cx="5711780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altLang="ko-KR" lang="en-US" sz="1566">
                <a:solidFill>
                  <a:schemeClr val="tx1"/>
                </a:solidFill>
              </a:rPr>
              <a:t>Summary</a:t>
            </a:r>
            <a:endParaRPr altLang="en-US" lang="ko-KR" sz="1566">
              <a:solidFill>
                <a:schemeClr val="tx1"/>
              </a:solidFill>
            </a:endParaRPr>
          </a:p>
        </p:txBody>
      </p:sp>
      <p:grpSp>
        <p:nvGrpSpPr>
          <p:cNvPr id="12293" name="Group 89"/>
          <p:cNvGrpSpPr>
            <a:grpSpLocks/>
          </p:cNvGrpSpPr>
          <p:nvPr/>
        </p:nvGrpSpPr>
        <p:grpSpPr bwMode="auto">
          <a:xfrm>
            <a:off x="2046626" y="2487652"/>
            <a:ext cx="539023" cy="487761"/>
            <a:chOff x="2225" y="1060"/>
            <a:chExt cx="294" cy="292"/>
          </a:xfrm>
        </p:grpSpPr>
        <p:grpSp>
          <p:nvGrpSpPr>
            <p:cNvPr id="12303" name="Group 90"/>
            <p:cNvGrpSpPr>
              <a:grpSpLocks/>
            </p:cNvGrpSpPr>
            <p:nvPr/>
          </p:nvGrpSpPr>
          <p:grpSpPr bwMode="auto">
            <a:xfrm>
              <a:off x="2225" y="1060"/>
              <a:ext cx="294" cy="292"/>
              <a:chOff x="-233" y="400"/>
              <a:chExt cx="669" cy="669"/>
            </a:xfrm>
          </p:grpSpPr>
          <p:grpSp>
            <p:nvGrpSpPr>
              <p:cNvPr id="12305" name="Group 91"/>
              <p:cNvGrpSpPr>
                <a:grpSpLocks/>
              </p:cNvGrpSpPr>
              <p:nvPr/>
            </p:nvGrpSpPr>
            <p:grpSpPr bwMode="auto">
              <a:xfrm>
                <a:off x="-233" y="400"/>
                <a:ext cx="669" cy="669"/>
                <a:chOff x="5297" y="1592"/>
                <a:chExt cx="669" cy="669"/>
              </a:xfrm>
            </p:grpSpPr>
            <p:sp>
              <p:nvSpPr>
                <p:cNvPr id="12307" name="Oval 92"/>
                <p:cNvSpPr>
                  <a:spLocks noChangeArrowheads="1"/>
                </p:cNvSpPr>
                <p:nvPr/>
              </p:nvSpPr>
              <p:spPr bwMode="auto">
                <a:xfrm>
                  <a:off x="5297" y="1592"/>
                  <a:ext cx="669" cy="669"/>
                </a:xfrm>
                <a:prstGeom prst="ellipse">
                  <a:avLst/>
                </a:prstGeom>
                <a:solidFill>
                  <a:srgbClr val="EAEEF6"/>
                </a:solidFill>
                <a:ln algn="ctr" w="6350">
                  <a:solidFill>
                    <a:srgbClr val="95AAD3"/>
                  </a:solidFill>
                  <a:round/>
                  <a:headEnd/>
                  <a:tailEnd/>
                </a:ln>
                <a:effectLst>
                  <a:outerShdw algn="ctr" dir="2700000" dist="35921" rotWithShape="0">
                    <a:schemeClr val="bg2"/>
                  </a:outerShdw>
                </a:effec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  <p:sp>
              <p:nvSpPr>
                <p:cNvPr id="12308" name="Oval 93"/>
                <p:cNvSpPr>
                  <a:spLocks noChangeArrowheads="1"/>
                </p:cNvSpPr>
                <p:nvPr/>
              </p:nvSpPr>
              <p:spPr bwMode="auto">
                <a:xfrm>
                  <a:off x="5343" y="1615"/>
                  <a:ext cx="578" cy="580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95AAD3"/>
                    </a:gs>
                    <a:gs pos="100000">
                      <a:srgbClr val="405F9E"/>
                    </a:gs>
                  </a:gsLst>
                  <a:lin ang="5400000" scaled="1"/>
                </a:gradFill>
                <a:ln>
                  <a:noFill/>
                </a:ln>
                <a:effectLst>
                  <a:outerShdw algn="ctr" dir="2700000" dist="35921" rotWithShape="0">
                    <a:schemeClr val="bg2"/>
                  </a:outerShdw>
                </a:effectLst>
                <a:extLst>
                  <a:ext uri="{91240B29-F687-4F45-9708-019B960494DF}">
                    <a14:hiddenLine xmlns:a14="http://schemas.microsoft.com/office/drawing/2010/main" algn="ctr" w="635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</p:grpSp>
          <p:sp>
            <p:nvSpPr>
              <p:cNvPr id="12306" name="Oval 94"/>
              <p:cNvSpPr>
                <a:spLocks noChangeArrowheads="1"/>
              </p:cNvSpPr>
              <p:nvPr/>
            </p:nvSpPr>
            <p:spPr bwMode="auto">
              <a:xfrm rot="-1800000">
                <a:off x="-142" y="464"/>
                <a:ext cx="307" cy="194"/>
              </a:xfrm>
              <a:prstGeom prst="ellipse">
                <a:avLst/>
              </a:prstGeom>
              <a:gradFill rotWithShape="1">
                <a:gsLst>
                  <a:gs pos="0">
                    <a:srgbClr val="EAEEF6"/>
                  </a:gs>
                  <a:gs pos="100000">
                    <a:srgbClr val="8299C8"/>
                  </a:gs>
                </a:gsLst>
                <a:lin ang="5400000" scaled="1"/>
              </a:gradFill>
              <a:ln>
                <a:noFill/>
              </a:ln>
              <a:effectLst>
                <a:outerShdw algn="ctr" dir="2700000" dist="35921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algn="ctr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wrap="none"/>
              <a:lstStyle>
                <a:lvl1pPr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1pPr>
                <a:lvl2pPr indent="-285750" marL="74295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2pPr>
                <a:lvl3pPr indent="-228600" marL="11430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3pPr>
                <a:lvl4pPr indent="-228600" marL="16002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4pPr>
                <a:lvl5pPr indent="-228600" marL="20574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5pPr>
                <a:lvl6pPr eaLnBrk="0" fontAlgn="base" hangingPunct="0" indent="-228600" marL="25146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6pPr>
                <a:lvl7pPr eaLnBrk="0" fontAlgn="base" hangingPunct="0" indent="-228600" marL="29718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7pPr>
                <a:lvl8pPr eaLnBrk="0" fontAlgn="base" hangingPunct="0" indent="-228600" marL="34290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8pPr>
                <a:lvl9pPr eaLnBrk="0" fontAlgn="base" hangingPunct="0" indent="-228600" marL="38862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9pPr>
              </a:lstStyle>
              <a:p>
                <a:pPr algn="r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altLang="en-US" lang="ko-KR" sz="1566">
                  <a:latin charset="-127" panose="02030600000101010101" pitchFamily="18" typeface="새굴림"/>
                  <a:ea charset="-127" panose="02030600000101010101" pitchFamily="18" typeface="새굴림"/>
                </a:endParaRPr>
              </a:p>
            </p:txBody>
          </p:sp>
        </p:grpSp>
        <p:sp>
          <p:nvSpPr>
            <p:cNvPr id="12304" name="Text Box 95"/>
            <p:cNvSpPr txBox="1">
              <a:spLocks noChangeArrowheads="1"/>
            </p:cNvSpPr>
            <p:nvPr/>
          </p:nvSpPr>
          <p:spPr bwMode="auto">
            <a:xfrm>
              <a:off x="2293" y="1105"/>
              <a:ext cx="163" cy="185"/>
            </a:xfrm>
            <a:prstGeom prst="rect">
              <a:avLst/>
            </a:prstGeom>
            <a:noFill/>
            <a:ln>
              <a:noFill/>
            </a:ln>
            <a:effectLst>
              <a:outerShdw algn="ctr" dir="2700000" dist="35921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wrap="none">
              <a:spAutoFit/>
            </a:bodyPr>
            <a:lstStyle>
              <a:lvl1pPr defTabSz="762000" indent="-187325" marL="187325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defTabSz="762000"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defTabSz="762000"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defTabSz="762000"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defTabSz="762000"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defTabSz="762000"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defTabSz="762000"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defTabSz="762000"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defTabSz="762000"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altLang="ko-KR" lang="en-US" sz="1566">
                  <a:latin charset="-127" panose="02030600000101010101" pitchFamily="18" typeface="새굴림"/>
                  <a:ea charset="-127" panose="02030600000101010101" pitchFamily="18" typeface="새굴림"/>
                </a:rPr>
                <a:t>2</a:t>
              </a:r>
            </a:p>
          </p:txBody>
        </p:sp>
      </p:grpSp>
      <p:grpSp>
        <p:nvGrpSpPr>
          <p:cNvPr id="12294" name="Group 116"/>
          <p:cNvGrpSpPr>
            <a:grpSpLocks/>
          </p:cNvGrpSpPr>
          <p:nvPr/>
        </p:nvGrpSpPr>
        <p:grpSpPr bwMode="auto">
          <a:xfrm>
            <a:off x="2034199" y="1928435"/>
            <a:ext cx="563877" cy="487761"/>
            <a:chOff x="2225" y="1060"/>
            <a:chExt cx="294" cy="292"/>
          </a:xfrm>
        </p:grpSpPr>
        <p:grpSp>
          <p:nvGrpSpPr>
            <p:cNvPr id="12297" name="Group 117"/>
            <p:cNvGrpSpPr>
              <a:grpSpLocks/>
            </p:cNvGrpSpPr>
            <p:nvPr/>
          </p:nvGrpSpPr>
          <p:grpSpPr bwMode="auto">
            <a:xfrm>
              <a:off x="2225" y="1060"/>
              <a:ext cx="294" cy="292"/>
              <a:chOff x="-233" y="400"/>
              <a:chExt cx="669" cy="669"/>
            </a:xfrm>
          </p:grpSpPr>
          <p:grpSp>
            <p:nvGrpSpPr>
              <p:cNvPr id="12299" name="Group 118"/>
              <p:cNvGrpSpPr>
                <a:grpSpLocks/>
              </p:cNvGrpSpPr>
              <p:nvPr/>
            </p:nvGrpSpPr>
            <p:grpSpPr bwMode="auto">
              <a:xfrm>
                <a:off x="-233" y="400"/>
                <a:ext cx="669" cy="669"/>
                <a:chOff x="5297" y="1592"/>
                <a:chExt cx="669" cy="669"/>
              </a:xfrm>
            </p:grpSpPr>
            <p:sp>
              <p:nvSpPr>
                <p:cNvPr id="12301" name="Oval 119"/>
                <p:cNvSpPr>
                  <a:spLocks noChangeArrowheads="1"/>
                </p:cNvSpPr>
                <p:nvPr/>
              </p:nvSpPr>
              <p:spPr bwMode="auto">
                <a:xfrm>
                  <a:off x="5297" y="1592"/>
                  <a:ext cx="669" cy="669"/>
                </a:xfrm>
                <a:prstGeom prst="ellipse">
                  <a:avLst/>
                </a:prstGeom>
                <a:solidFill>
                  <a:srgbClr val="EAEEF6"/>
                </a:solidFill>
                <a:ln algn="ctr" w="6350">
                  <a:solidFill>
                    <a:srgbClr val="95AAD3"/>
                  </a:solidFill>
                  <a:round/>
                  <a:headEnd/>
                  <a:tailEnd/>
                </a:ln>
                <a:effectLst>
                  <a:outerShdw algn="ctr" dir="2700000" dist="35921" rotWithShape="0">
                    <a:schemeClr val="bg2"/>
                  </a:outerShdw>
                </a:effec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  <p:sp>
              <p:nvSpPr>
                <p:cNvPr id="12302" name="Oval 120"/>
                <p:cNvSpPr>
                  <a:spLocks noChangeArrowheads="1"/>
                </p:cNvSpPr>
                <p:nvPr/>
              </p:nvSpPr>
              <p:spPr bwMode="auto">
                <a:xfrm>
                  <a:off x="5343" y="1615"/>
                  <a:ext cx="579" cy="580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95AAD3"/>
                    </a:gs>
                    <a:gs pos="100000">
                      <a:srgbClr val="405F9E"/>
                    </a:gs>
                  </a:gsLst>
                  <a:lin ang="5400000" scaled="1"/>
                </a:gradFill>
                <a:ln>
                  <a:noFill/>
                </a:ln>
                <a:effectLst>
                  <a:outerShdw algn="ctr" dir="2700000" dist="35921" rotWithShape="0">
                    <a:schemeClr val="bg2"/>
                  </a:outerShdw>
                </a:effectLst>
                <a:extLst>
                  <a:ext uri="{91240B29-F687-4F45-9708-019B960494DF}">
                    <a14:hiddenLine xmlns:a14="http://schemas.microsoft.com/office/drawing/2010/main" algn="ctr" w="635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</p:grpSp>
          <p:sp>
            <p:nvSpPr>
              <p:cNvPr id="12300" name="Oval 121"/>
              <p:cNvSpPr>
                <a:spLocks noChangeArrowheads="1"/>
              </p:cNvSpPr>
              <p:nvPr/>
            </p:nvSpPr>
            <p:spPr bwMode="auto">
              <a:xfrm rot="-1800000">
                <a:off x="-143" y="464"/>
                <a:ext cx="308" cy="194"/>
              </a:xfrm>
              <a:prstGeom prst="ellipse">
                <a:avLst/>
              </a:prstGeom>
              <a:gradFill rotWithShape="1">
                <a:gsLst>
                  <a:gs pos="0">
                    <a:srgbClr val="EAEEF6"/>
                  </a:gs>
                  <a:gs pos="100000">
                    <a:srgbClr val="8299C8"/>
                  </a:gs>
                </a:gsLst>
                <a:lin ang="5400000" scaled="1"/>
              </a:gradFill>
              <a:ln>
                <a:noFill/>
              </a:ln>
              <a:effectLst>
                <a:outerShdw algn="ctr" dir="2700000" dist="35921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algn="ctr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wrap="none"/>
              <a:lstStyle>
                <a:lvl1pPr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1pPr>
                <a:lvl2pPr indent="-285750" marL="74295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2pPr>
                <a:lvl3pPr indent="-228600" marL="11430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3pPr>
                <a:lvl4pPr indent="-228600" marL="16002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4pPr>
                <a:lvl5pPr indent="-228600" marL="20574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5pPr>
                <a:lvl6pPr eaLnBrk="0" fontAlgn="base" hangingPunct="0" indent="-228600" marL="25146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6pPr>
                <a:lvl7pPr eaLnBrk="0" fontAlgn="base" hangingPunct="0" indent="-228600" marL="29718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7pPr>
                <a:lvl8pPr eaLnBrk="0" fontAlgn="base" hangingPunct="0" indent="-228600" marL="34290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8pPr>
                <a:lvl9pPr eaLnBrk="0" fontAlgn="base" hangingPunct="0" indent="-228600" marL="38862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9pPr>
              </a:lstStyle>
              <a:p>
                <a:pPr algn="r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altLang="en-US" lang="ko-KR" sz="1566">
                  <a:latin charset="-127" panose="02030600000101010101" pitchFamily="18" typeface="새굴림"/>
                  <a:ea charset="-127" panose="02030600000101010101" pitchFamily="18" typeface="새굴림"/>
                </a:endParaRPr>
              </a:p>
            </p:txBody>
          </p:sp>
        </p:grpSp>
        <p:sp>
          <p:nvSpPr>
            <p:cNvPr id="12298" name="Text Box 122"/>
            <p:cNvSpPr txBox="1">
              <a:spLocks noChangeArrowheads="1"/>
            </p:cNvSpPr>
            <p:nvPr/>
          </p:nvSpPr>
          <p:spPr bwMode="auto">
            <a:xfrm>
              <a:off x="2295" y="1105"/>
              <a:ext cx="156" cy="185"/>
            </a:xfrm>
            <a:prstGeom prst="rect">
              <a:avLst/>
            </a:prstGeom>
            <a:noFill/>
            <a:ln>
              <a:noFill/>
            </a:ln>
            <a:effectLst>
              <a:outerShdw algn="ctr" dir="2700000" dist="35921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wrap="none">
              <a:spAutoFit/>
            </a:bodyPr>
            <a:lstStyle>
              <a:lvl1pPr defTabSz="762000" indent="-187325" marL="187325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defTabSz="762000"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defTabSz="762000"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defTabSz="762000"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defTabSz="762000"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defTabSz="762000"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defTabSz="762000"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defTabSz="762000"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defTabSz="762000"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altLang="ko-KR" lang="en-US" sz="1566">
                  <a:latin charset="-127" panose="02030600000101010101" pitchFamily="18" typeface="새굴림"/>
                  <a:ea charset="-127" panose="02030600000101010101" pitchFamily="18" typeface="새굴림"/>
                </a:rPr>
                <a:t>1</a:t>
              </a:r>
            </a:p>
          </p:txBody>
        </p:sp>
      </p:grpSp>
      <p:sp>
        <p:nvSpPr>
          <p:cNvPr id="12295" name="AutoShape 125"/>
          <p:cNvSpPr>
            <a:spLocks noChangeArrowheads="1"/>
          </p:cNvSpPr>
          <p:nvPr/>
        </p:nvSpPr>
        <p:spPr bwMode="auto">
          <a:xfrm>
            <a:off x="2492446" y="3130752"/>
            <a:ext cx="5711781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charset="2" panose="05000000000000000000" pitchFamily="2" typeface="Wingdings"/>
              <a:buChar char="v"/>
            </a:pPr>
            <a:r>
              <a:rPr altLang="en-US" kumimoji="1" lang="ko-KR" sz="1370">
                <a:solidFill>
                  <a:srgbClr val="000000"/>
                </a:solidFill>
              </a:rPr>
              <a:t>별첨 </a:t>
            </a:r>
            <a:r>
              <a:rPr altLang="ko-KR" kumimoji="1" lang="en-US" sz="1370">
                <a:solidFill>
                  <a:srgbClr val="000000"/>
                </a:solidFill>
              </a:rPr>
              <a:t>1] ERP </a:t>
            </a:r>
            <a:r>
              <a:rPr altLang="en-US" kumimoji="1" lang="ko-KR" sz="1370">
                <a:solidFill>
                  <a:srgbClr val="000000"/>
                </a:solidFill>
              </a:rPr>
              <a:t>사용자 계정 및 보안관리</a:t>
            </a:r>
          </a:p>
        </p:txBody>
      </p:sp>
      <p:sp>
        <p:nvSpPr>
          <p:cNvPr id="12296" name="AutoShape 125"/>
          <p:cNvSpPr>
            <a:spLocks noChangeArrowheads="1"/>
          </p:cNvSpPr>
          <p:nvPr/>
        </p:nvSpPr>
        <p:spPr bwMode="auto">
          <a:xfrm>
            <a:off x="2492446" y="3578125"/>
            <a:ext cx="5711781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charset="2" panose="05000000000000000000" pitchFamily="2" typeface="Wingdings"/>
              <a:buChar char="v"/>
            </a:pPr>
            <a:r>
              <a:rPr altLang="en-US" kumimoji="1" lang="ko-KR" sz="1370">
                <a:solidFill>
                  <a:srgbClr val="000000"/>
                </a:solidFill>
              </a:rPr>
              <a:t>별첨 </a:t>
            </a:r>
            <a:r>
              <a:rPr altLang="ko-KR" kumimoji="1" lang="en-US" sz="1370">
                <a:solidFill>
                  <a:srgbClr val="000000"/>
                </a:solidFill>
              </a:rPr>
              <a:t>2] </a:t>
            </a:r>
            <a:r>
              <a:rPr altLang="en-US" kumimoji="1" lang="ko-KR" sz="1370">
                <a:solidFill>
                  <a:srgbClr val="000000"/>
                </a:solidFill>
              </a:rPr>
              <a:t>휴가계획서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16522" name="Text">
    </p:cNvPr>
          <p:cNvSpPr>
            <a:spLocks noGrp="1"/>
          </p:cNvSpPr>
          <p:nvPr/>
        </p:nvSpPr>
        <p:spPr>
          <a:xfrm rot="0">
            <a:off x="8674100" y="76200"/>
            <a:ext cx="762000" cy="508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8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80">
                <a:latin typeface="맑은 고딕"/>
                <a:ea typeface="맑은 고딕"/>
                <a:cs typeface="맑은 고딕"/>
              </a:rPr>
              <a:t>: 완료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:진행중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:미완료(문제)</a:t>
            </a:r>
          </a:p>
        </p:txBody>
      </p:sp>
      <p:sp>
        <p:nvSpPr>
          <p:cNvPr id="1528383127" name="Rectangle"/>
          <p:cNvSpPr>
            <a:spLocks noGrp="1"/>
          </p:cNvSpPr>
          <p:nvPr/>
        </p:nvSpPr>
        <p:spPr>
          <a:xfrm>
            <a:off x="8420100" y="50800"/>
            <a:ext cx="254000" cy="139700"/>
          </a:xfrm>
          <a:prstGeom prst="rect">
            <a:avLst/>
          </a:prstGeom>
          <a:solidFill>
            <a:srgbClr val="00FF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305819135" name="Rectangle"/>
          <p:cNvSpPr>
            <a:spLocks noGrp="1"/>
          </p:cNvSpPr>
          <p:nvPr/>
        </p:nvSpPr>
        <p:spPr>
          <a:xfrm>
            <a:off x="8420100" y="228600"/>
            <a:ext cx="254000" cy="139700"/>
          </a:xfrm>
          <a:prstGeom prst="rect">
            <a:avLst/>
          </a:prstGeom>
          <a:solidFill>
            <a:srgbClr val="FFFF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1064958308" name="Rectangle"/>
          <p:cNvSpPr>
            <a:spLocks noGrp="1"/>
          </p:cNvSpPr>
          <p:nvPr/>
        </p:nvSpPr>
        <p:spPr>
          <a:xfrm>
            <a:off x="8420100" y="406400"/>
            <a:ext cx="254000" cy="1397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1279453439" name="Text">
    </p:cNvPr>
          <p:cNvSpPr>
            <a:spLocks noGrp="1"/>
          </p:cNvSpPr>
          <p:nvPr/>
        </p:nvSpPr>
        <p:spPr>
          <a:xfrm rot="0">
            <a:off x="127000" y="190500"/>
            <a:ext cx="5181600" cy="381000"/>
          </a:xfrm>
          <a:prstGeom prst="rect">
            <a:avLst/>
          </a:prstGeom>
        </p:spPr>
        <p:txBody>
          <a:bodyPr anchor="b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2. Summary - ①Baynex</a:t>
            </a:r>
          </a:p>
        </p:txBody>
      </p:sp>
      <p:sp>
        <p:nvSpPr>
          <p:cNvPr id="1568547358" name="Text">
    </p:cNvPr>
          <p:cNvSpPr>
            <a:spLocks noGrp="1"/>
          </p:cNvSpPr>
          <p:nvPr/>
        </p:nvSpPr>
        <p:spPr>
          <a:xfrm rot="0">
            <a:off x="190500" y="7493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476772827" name="Text">
    </p:cNvPr>
          <p:cNvSpPr>
            <a:spLocks noGrp="1"/>
          </p:cNvSpPr>
          <p:nvPr/>
        </p:nvSpPr>
        <p:spPr>
          <a:xfrm rot="0">
            <a:off x="165100" y="723900"/>
            <a:ext cx="2108200" cy="2159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 금주 업무 실적</a:t>
            </a:r>
          </a:p>
        </p:txBody>
      </p:sp>
      <p:sp>
        <p:nvSpPr>
          <p:cNvPr id="1814594027" name="Text">
    </p:cNvPr>
          <p:cNvSpPr>
            <a:spLocks noGrp="1"/>
          </p:cNvSpPr>
          <p:nvPr/>
        </p:nvSpPr>
        <p:spPr>
          <a:xfrm rot="0">
            <a:off x="152400" y="977900"/>
            <a:ext cx="7366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938908033" name="Text">
    </p:cNvPr>
          <p:cNvSpPr>
            <a:spLocks noGrp="1"/>
          </p:cNvSpPr>
          <p:nvPr/>
        </p:nvSpPr>
        <p:spPr>
          <a:xfrm rot="0">
            <a:off x="889000" y="977900"/>
            <a:ext cx="46482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464794547" name="Text">
    </p:cNvPr>
          <p:cNvSpPr>
            <a:spLocks noGrp="1"/>
          </p:cNvSpPr>
          <p:nvPr/>
        </p:nvSpPr>
        <p:spPr>
          <a:xfrm rot="0">
            <a:off x="6108700" y="977900"/>
            <a:ext cx="762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진행율</a:t>
            </a:r>
          </a:p>
        </p:txBody>
      </p:sp>
      <p:sp>
        <p:nvSpPr>
          <p:cNvPr id="1356571967" name="Text">
    </p:cNvPr>
          <p:cNvSpPr>
            <a:spLocks noGrp="1"/>
          </p:cNvSpPr>
          <p:nvPr/>
        </p:nvSpPr>
        <p:spPr>
          <a:xfrm rot="0">
            <a:off x="6870700" y="977900"/>
            <a:ext cx="254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상</a:t>
            </a:r>
            <a:br/>
            <a:r>
              <a:rPr lang="ko" sz="1000">
                <a:latin typeface="맑은 고딕"/>
                <a:ea typeface="맑은 고딕"/>
                <a:cs typeface="맑은 고딕"/>
              </a:rPr>
              <a:t>태</a:t>
            </a:r>
          </a:p>
        </p:txBody>
      </p:sp>
      <p:sp>
        <p:nvSpPr>
          <p:cNvPr id="2027180310" name="Text">
    </p:cNvPr>
          <p:cNvSpPr>
            <a:spLocks noGrp="1"/>
          </p:cNvSpPr>
          <p:nvPr/>
        </p:nvSpPr>
        <p:spPr>
          <a:xfrm rot="0">
            <a:off x="7124700" y="977900"/>
            <a:ext cx="26543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2079192348" name="Text">
    </p:cNvPr>
          <p:cNvSpPr>
            <a:spLocks noGrp="1"/>
          </p:cNvSpPr>
          <p:nvPr/>
        </p:nvSpPr>
        <p:spPr>
          <a:xfrm rot="0">
            <a:off x="5537200" y="977900"/>
            <a:ext cx="5715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107196025" name="Frame"/>
          <p:cNvSpPr>
            <a:spLocks noGrp="1"/>
          </p:cNvSpPr>
          <p:nvPr/>
        </p:nvSpPr>
        <p:spPr>
          <a:xfrm>
            <a:off x="25400" y="5245100"/>
            <a:ext cx="9855200" cy="11430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283579684" name="Text">
    </p:cNvPr>
          <p:cNvSpPr>
            <a:spLocks noGrp="1"/>
          </p:cNvSpPr>
          <p:nvPr/>
        </p:nvSpPr>
        <p:spPr>
          <a:xfrm rot="0">
            <a:off x="152400" y="5270500"/>
            <a:ext cx="2476500" cy="228600"/>
          </a:xfrm>
          <a:prstGeom prst="rect">
            <a:avLst/>
          </a:prstGeom>
          <a:solidFill>
            <a:srgbClr val="CCFFCC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ERP 디버깅 권한신청 처리현황</a:t>
            </a:r>
          </a:p>
        </p:txBody>
      </p:sp>
      <p:sp>
        <p:nvSpPr>
          <p:cNvPr id="369589059" name="Text">
    </p:cNvPr>
          <p:cNvSpPr>
            <a:spLocks noGrp="1"/>
          </p:cNvSpPr>
          <p:nvPr/>
        </p:nvSpPr>
        <p:spPr>
          <a:xfrm rot="0">
            <a:off x="6451600" y="58039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9201162" name="Text">
    </p:cNvPr>
          <p:cNvSpPr>
            <a:spLocks noGrp="1"/>
          </p:cNvSpPr>
          <p:nvPr/>
        </p:nvSpPr>
        <p:spPr>
          <a:xfrm rot="0">
            <a:off x="2057400" y="58039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19569673" name="Text">
    </p:cNvPr>
          <p:cNvSpPr>
            <a:spLocks noGrp="1"/>
          </p:cNvSpPr>
          <p:nvPr/>
        </p:nvSpPr>
        <p:spPr>
          <a:xfrm rot="0">
            <a:off x="101600" y="58039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19104457" name="Text">
    </p:cNvPr>
          <p:cNvSpPr>
            <a:spLocks noGrp="1"/>
          </p:cNvSpPr>
          <p:nvPr/>
        </p:nvSpPr>
        <p:spPr>
          <a:xfrm rot="0">
            <a:off x="101600" y="5562600"/>
            <a:ext cx="1143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Date</a:t>
            </a:r>
          </a:p>
        </p:txBody>
      </p:sp>
      <p:sp>
        <p:nvSpPr>
          <p:cNvPr id="1603503525" name="Text">
    </p:cNvPr>
          <p:cNvSpPr>
            <a:spLocks noGrp="1"/>
          </p:cNvSpPr>
          <p:nvPr/>
        </p:nvSpPr>
        <p:spPr>
          <a:xfrm rot="0">
            <a:off x="2057400" y="5562600"/>
            <a:ext cx="43942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Text (변경값)</a:t>
            </a:r>
          </a:p>
        </p:txBody>
      </p:sp>
      <p:sp>
        <p:nvSpPr>
          <p:cNvPr id="1815801252" name="Text">
    </p:cNvPr>
          <p:cNvSpPr>
            <a:spLocks noGrp="1"/>
          </p:cNvSpPr>
          <p:nvPr/>
        </p:nvSpPr>
        <p:spPr>
          <a:xfrm rot="0">
            <a:off x="6451600" y="5562600"/>
            <a:ext cx="1651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 권한신청서번호</a:t>
            </a:r>
          </a:p>
        </p:txBody>
      </p:sp>
      <p:sp>
        <p:nvSpPr>
          <p:cNvPr id="297723334" name="Text">
    </p:cNvPr>
          <p:cNvSpPr>
            <a:spLocks noGrp="1"/>
          </p:cNvSpPr>
          <p:nvPr/>
        </p:nvSpPr>
        <p:spPr>
          <a:xfrm rot="0">
            <a:off x="101600" y="60960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48411461" name="Text">
    </p:cNvPr>
          <p:cNvSpPr>
            <a:spLocks noGrp="1"/>
          </p:cNvSpPr>
          <p:nvPr/>
        </p:nvSpPr>
        <p:spPr>
          <a:xfrm rot="0">
            <a:off x="6451600" y="60960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62939662" name="Text">
    </p:cNvPr>
          <p:cNvSpPr>
            <a:spLocks noGrp="1"/>
          </p:cNvSpPr>
          <p:nvPr/>
        </p:nvSpPr>
        <p:spPr>
          <a:xfrm rot="0">
            <a:off x="2057400" y="60960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4199115" name="Text">
    </p:cNvPr>
          <p:cNvSpPr>
            <a:spLocks noGrp="1"/>
          </p:cNvSpPr>
          <p:nvPr/>
        </p:nvSpPr>
        <p:spPr>
          <a:xfrm rot="0">
            <a:off x="1244600" y="60960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94470937" name="Text">
    </p:cNvPr>
          <p:cNvSpPr>
            <a:spLocks noGrp="1"/>
          </p:cNvSpPr>
          <p:nvPr/>
        </p:nvSpPr>
        <p:spPr>
          <a:xfrm rot="0">
            <a:off x="1244600" y="58039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58565548" name="Text">
    </p:cNvPr>
          <p:cNvSpPr>
            <a:spLocks noGrp="1"/>
          </p:cNvSpPr>
          <p:nvPr/>
        </p:nvSpPr>
        <p:spPr>
          <a:xfrm rot="0">
            <a:off x="1244600" y="5562600"/>
            <a:ext cx="812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User</a:t>
            </a:r>
          </a:p>
        </p:txBody>
      </p:sp>
      <p:sp>
        <p:nvSpPr>
          <p:cNvPr id="1338760965" name="Text">
    </p:cNvPr>
          <p:cNvSpPr>
            <a:spLocks noGrp="1"/>
          </p:cNvSpPr>
          <p:nvPr/>
        </p:nvSpPr>
        <p:spPr>
          <a:xfrm rot="0">
            <a:off x="8102600" y="60960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4321977" name="Text">
    </p:cNvPr>
          <p:cNvSpPr>
            <a:spLocks noGrp="1"/>
          </p:cNvSpPr>
          <p:nvPr/>
        </p:nvSpPr>
        <p:spPr>
          <a:xfrm rot="0">
            <a:off x="8102600" y="5562600"/>
            <a:ext cx="1701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구분(일반/긴급)</a:t>
            </a:r>
          </a:p>
        </p:txBody>
      </p:sp>
      <p:sp>
        <p:nvSpPr>
          <p:cNvPr id="465821468" name="Text">
    </p:cNvPr>
          <p:cNvSpPr>
            <a:spLocks noGrp="1"/>
          </p:cNvSpPr>
          <p:nvPr/>
        </p:nvSpPr>
        <p:spPr>
          <a:xfrm rot="0">
            <a:off x="8102600" y="58039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74259834" name="Frame"/>
          <p:cNvSpPr>
            <a:spLocks noGrp="1"/>
          </p:cNvSpPr>
          <p:nvPr/>
        </p:nvSpPr>
        <p:spPr>
          <a:xfrm>
            <a:off x="101600" y="3136900"/>
            <a:ext cx="9779000" cy="19431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2028197808" name="Text">
    </p:cNvPr>
          <p:cNvSpPr>
            <a:spLocks noGrp="1"/>
          </p:cNvSpPr>
          <p:nvPr/>
        </p:nvSpPr>
        <p:spPr>
          <a:xfrm rot="0">
            <a:off x="165100" y="32004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472041150" name="Text">
    </p:cNvPr>
          <p:cNvSpPr>
            <a:spLocks noGrp="1"/>
          </p:cNvSpPr>
          <p:nvPr/>
        </p:nvSpPr>
        <p:spPr>
          <a:xfrm rot="0">
            <a:off x="152400" y="3162300"/>
            <a:ext cx="2095500" cy="228600"/>
          </a:xfrm>
          <a:prstGeom prst="rect">
            <a:avLst/>
          </a:prstGeom>
          <a:solidFill>
            <a:srgbClr val="FF9900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 차주 업무 계획</a:t>
            </a:r>
          </a:p>
        </p:txBody>
      </p:sp>
      <p:sp>
        <p:nvSpPr>
          <p:cNvPr id="429703449" name="Text">
    </p:cNvPr>
          <p:cNvSpPr>
            <a:spLocks noGrp="1"/>
          </p:cNvSpPr>
          <p:nvPr/>
        </p:nvSpPr>
        <p:spPr>
          <a:xfrm rot="0">
            <a:off x="165100" y="3416300"/>
            <a:ext cx="7366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2026880654" name="Text">
    </p:cNvPr>
          <p:cNvSpPr>
            <a:spLocks noGrp="1"/>
          </p:cNvSpPr>
          <p:nvPr/>
        </p:nvSpPr>
        <p:spPr>
          <a:xfrm rot="0">
            <a:off x="901700" y="3416300"/>
            <a:ext cx="46482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511162480" name="Text">
    </p:cNvPr>
          <p:cNvSpPr>
            <a:spLocks noGrp="1"/>
          </p:cNvSpPr>
          <p:nvPr/>
        </p:nvSpPr>
        <p:spPr>
          <a:xfrm rot="0">
            <a:off x="5549900" y="3416300"/>
            <a:ext cx="5715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완료예정</a:t>
            </a:r>
          </a:p>
        </p:txBody>
      </p:sp>
      <p:sp>
        <p:nvSpPr>
          <p:cNvPr id="342526518" name="Text">
    </p:cNvPr>
          <p:cNvSpPr>
            <a:spLocks noGrp="1"/>
          </p:cNvSpPr>
          <p:nvPr/>
        </p:nvSpPr>
        <p:spPr>
          <a:xfrm rot="0">
            <a:off x="6121400" y="3416300"/>
            <a:ext cx="36449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1803617707" name="Frame"/>
          <p:cNvSpPr>
            <a:spLocks noGrp="1"/>
          </p:cNvSpPr>
          <p:nvPr/>
        </p:nvSpPr>
        <p:spPr>
          <a:xfrm>
            <a:off x="165100" y="4457700"/>
            <a:ext cx="9664700" cy="6223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858071963" name="Text">
    </p:cNvPr>
          <p:cNvSpPr>
            <a:spLocks noGrp="1"/>
          </p:cNvSpPr>
          <p:nvPr/>
        </p:nvSpPr>
        <p:spPr>
          <a:xfrm rot="0">
            <a:off x="165100" y="4432300"/>
            <a:ext cx="7366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1294498820" name="Text">
    </p:cNvPr>
          <p:cNvSpPr>
            <a:spLocks noGrp="1"/>
          </p:cNvSpPr>
          <p:nvPr/>
        </p:nvSpPr>
        <p:spPr>
          <a:xfrm rot="0">
            <a:off x="965200" y="4483100"/>
            <a:ext cx="4584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[e-Biz] ITSM-107407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[PRM]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[E-Approval] 대주주감사 지적사항 F/up을 위한 시스템 개선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[EAI] PRM 영업시설물 지원 시스템 개발</a:t>
            </a:r>
          </a:p>
        </p:txBody>
      </p:sp>
      <p:sp>
        <p:nvSpPr>
          <p:cNvPr id="231957677" name="Text">
    </p:cNvPr>
          <p:cNvSpPr>
            <a:spLocks noGrp="1"/>
          </p:cNvSpPr>
          <p:nvPr/>
        </p:nvSpPr>
        <p:spPr>
          <a:xfrm rot="0">
            <a:off x="7239000" y="4483100"/>
            <a:ext cx="2552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855755489" name="Text">
    </p:cNvPr>
          <p:cNvSpPr>
            <a:spLocks noGrp="1"/>
          </p:cNvSpPr>
          <p:nvPr/>
        </p:nvSpPr>
        <p:spPr>
          <a:xfrm rot="0">
            <a:off x="5549900" y="4483100"/>
            <a:ext cx="5715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</a:p>
        </p:txBody>
      </p:sp>
      <p:sp>
        <p:nvSpPr>
          <p:cNvPr id="2136895388" name="Text">
    </p:cNvPr>
          <p:cNvSpPr>
            <a:spLocks noGrp="1"/>
          </p:cNvSpPr>
          <p:nvPr/>
        </p:nvSpPr>
        <p:spPr>
          <a:xfrm rot="0">
            <a:off x="901700" y="4432300"/>
            <a:ext cx="46482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97456687" name="Text">
    </p:cNvPr>
          <p:cNvSpPr>
            <a:spLocks noGrp="1"/>
          </p:cNvSpPr>
          <p:nvPr/>
        </p:nvSpPr>
        <p:spPr>
          <a:xfrm rot="0">
            <a:off x="6121400" y="4432300"/>
            <a:ext cx="36449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35921837" name="Text">
    </p:cNvPr>
          <p:cNvSpPr>
            <a:spLocks noGrp="1"/>
          </p:cNvSpPr>
          <p:nvPr/>
        </p:nvSpPr>
        <p:spPr>
          <a:xfrm rot="0">
            <a:off x="5549900" y="4432300"/>
            <a:ext cx="5715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33544511" name="Frame"/>
          <p:cNvSpPr>
            <a:spLocks noGrp="1"/>
          </p:cNvSpPr>
          <p:nvPr/>
        </p:nvSpPr>
        <p:spPr>
          <a:xfrm>
            <a:off x="165100" y="3759200"/>
            <a:ext cx="9639300" cy="6731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634147205" name="Text">
    </p:cNvPr>
          <p:cNvSpPr>
            <a:spLocks noGrp="1"/>
          </p:cNvSpPr>
          <p:nvPr/>
        </p:nvSpPr>
        <p:spPr>
          <a:xfrm rot="0">
            <a:off x="165100" y="3759200"/>
            <a:ext cx="7366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1474863642" name="Text">
    </p:cNvPr>
          <p:cNvSpPr>
            <a:spLocks noGrp="1"/>
          </p:cNvSpPr>
          <p:nvPr/>
        </p:nvSpPr>
        <p:spPr>
          <a:xfrm rot="0">
            <a:off x="965200" y="3835400"/>
            <a:ext cx="4584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[CO] 구분회계기준 비용의 1차원가요소 data 산출 프로그램 생성(ZCPR1050)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[FI] 대주주 감사자료 생성-MRO 자재계정의 상대계정 리스트 테이블 저장(ZFIR7035,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ZFIT7035)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자산취득 장기 미정산 누락 방지를 위한 시스템 개선</a:t>
            </a:r>
          </a:p>
        </p:txBody>
      </p:sp>
      <p:sp>
        <p:nvSpPr>
          <p:cNvPr id="1882336562" name="Text">
    </p:cNvPr>
          <p:cNvSpPr>
            <a:spLocks noGrp="1"/>
          </p:cNvSpPr>
          <p:nvPr/>
        </p:nvSpPr>
        <p:spPr>
          <a:xfrm rot="0">
            <a:off x="7239000" y="3835400"/>
            <a:ext cx="2552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350721624" name="Text">
    </p:cNvPr>
          <p:cNvSpPr>
            <a:spLocks noGrp="1"/>
          </p:cNvSpPr>
          <p:nvPr/>
        </p:nvSpPr>
        <p:spPr>
          <a:xfrm rot="0">
            <a:off x="5549900" y="3835400"/>
            <a:ext cx="5715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</a:p>
        </p:txBody>
      </p:sp>
      <p:sp>
        <p:nvSpPr>
          <p:cNvPr id="165737214" name="Text">
    </p:cNvPr>
          <p:cNvSpPr>
            <a:spLocks noGrp="1"/>
          </p:cNvSpPr>
          <p:nvPr/>
        </p:nvSpPr>
        <p:spPr>
          <a:xfrm rot="0">
            <a:off x="901700" y="3759200"/>
            <a:ext cx="46482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53671338" name="Text">
    </p:cNvPr>
          <p:cNvSpPr>
            <a:spLocks noGrp="1"/>
          </p:cNvSpPr>
          <p:nvPr/>
        </p:nvSpPr>
        <p:spPr>
          <a:xfrm rot="0">
            <a:off x="6121400" y="3759200"/>
            <a:ext cx="36449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58394692" name="Text">
    </p:cNvPr>
          <p:cNvSpPr>
            <a:spLocks noGrp="1"/>
          </p:cNvSpPr>
          <p:nvPr/>
        </p:nvSpPr>
        <p:spPr>
          <a:xfrm rot="0">
            <a:off x="5549900" y="3759200"/>
            <a:ext cx="5715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72268522" name="Frame"/>
          <p:cNvSpPr>
            <a:spLocks noGrp="1"/>
          </p:cNvSpPr>
          <p:nvPr/>
        </p:nvSpPr>
        <p:spPr>
          <a:xfrm>
            <a:off x="127000" y="1384300"/>
            <a:ext cx="9779000" cy="16129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931844392" name="Frame"/>
          <p:cNvSpPr>
            <a:spLocks noGrp="1"/>
          </p:cNvSpPr>
          <p:nvPr/>
        </p:nvSpPr>
        <p:spPr>
          <a:xfrm>
            <a:off x="152400" y="2070100"/>
            <a:ext cx="9664700" cy="9271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2131048794" name="Text">
    </p:cNvPr>
          <p:cNvSpPr>
            <a:spLocks noGrp="1"/>
          </p:cNvSpPr>
          <p:nvPr/>
        </p:nvSpPr>
        <p:spPr>
          <a:xfrm rot="0">
            <a:off x="152400" y="2044700"/>
            <a:ext cx="736600" cy="95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19519554" name="Text">
    </p:cNvPr>
          <p:cNvSpPr>
            <a:spLocks noGrp="1"/>
          </p:cNvSpPr>
          <p:nvPr/>
        </p:nvSpPr>
        <p:spPr>
          <a:xfrm rot="0">
            <a:off x="952500" y="2095500"/>
            <a:ext cx="4597400" cy="9017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[e-Biz] 사후적립 조회필드변경 및 로직수정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[OAS] S-imoms 연동을 위한 ePSMS, OAS Web API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[E-Approval] 인감날인 신청서(부서용)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[LMS] 2024년 회사필수 공통지식 강의 영상 다운시 WAS 부하 발생을 회피하기 위한 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WEB서버에서 WAS 서버를 통하지 않는 정적 다운로드 방안 검토(본사vod서버에 업로드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및 링크 url로 영상 수강 제공)</a:t>
            </a:r>
          </a:p>
        </p:txBody>
      </p:sp>
      <p:sp>
        <p:nvSpPr>
          <p:cNvPr id="627165054" name="Text">
    </p:cNvPr>
          <p:cNvSpPr>
            <a:spLocks noGrp="1"/>
          </p:cNvSpPr>
          <p:nvPr/>
        </p:nvSpPr>
        <p:spPr>
          <a:xfrm rot="0">
            <a:off x="7226300" y="2095500"/>
            <a:ext cx="2552700" cy="9017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141064043" name="Text">
    </p:cNvPr>
          <p:cNvSpPr>
            <a:spLocks noGrp="1"/>
          </p:cNvSpPr>
          <p:nvPr/>
        </p:nvSpPr>
        <p:spPr>
          <a:xfrm rot="0">
            <a:off x="6108700" y="2044700"/>
            <a:ext cx="762000" cy="95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312115032" name="Text">
    </p:cNvPr>
          <p:cNvSpPr>
            <a:spLocks noGrp="1"/>
          </p:cNvSpPr>
          <p:nvPr/>
        </p:nvSpPr>
        <p:spPr>
          <a:xfrm rot="0">
            <a:off x="5537200" y="2095500"/>
            <a:ext cx="571500" cy="9017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</a:p>
        </p:txBody>
      </p:sp>
      <p:sp>
        <p:nvSpPr>
          <p:cNvPr id="1564364417" name="Text">
    </p:cNvPr>
          <p:cNvSpPr>
            <a:spLocks noGrp="1"/>
          </p:cNvSpPr>
          <p:nvPr/>
        </p:nvSpPr>
        <p:spPr>
          <a:xfrm rot="0">
            <a:off x="889000" y="2044700"/>
            <a:ext cx="4648200" cy="95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93291887" name="Text">
    </p:cNvPr>
          <p:cNvSpPr>
            <a:spLocks noGrp="1"/>
          </p:cNvSpPr>
          <p:nvPr/>
        </p:nvSpPr>
        <p:spPr>
          <a:xfrm rot="0">
            <a:off x="7124700" y="2044700"/>
            <a:ext cx="2654300" cy="95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72737220" name="Text">
    </p:cNvPr>
          <p:cNvSpPr>
            <a:spLocks noGrp="1"/>
          </p:cNvSpPr>
          <p:nvPr/>
        </p:nvSpPr>
        <p:spPr>
          <a:xfrm rot="0">
            <a:off x="5537200" y="2044700"/>
            <a:ext cx="571500" cy="95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65338400" name="Rectangle"/>
          <p:cNvSpPr>
            <a:spLocks noGrp="1"/>
          </p:cNvSpPr>
          <p:nvPr/>
        </p:nvSpPr>
        <p:spPr>
          <a:xfrm>
            <a:off x="6870700" y="2044700"/>
            <a:ext cx="254000" cy="9525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1180564672" name="Frame"/>
          <p:cNvSpPr>
            <a:spLocks noGrp="1"/>
          </p:cNvSpPr>
          <p:nvPr/>
        </p:nvSpPr>
        <p:spPr>
          <a:xfrm>
            <a:off x="152400" y="1371600"/>
            <a:ext cx="9639300" cy="6731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230940196" name="Text">
    </p:cNvPr>
          <p:cNvSpPr>
            <a:spLocks noGrp="1"/>
          </p:cNvSpPr>
          <p:nvPr/>
        </p:nvSpPr>
        <p:spPr>
          <a:xfrm rot="0">
            <a:off x="152400" y="1371600"/>
            <a:ext cx="7366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672698828" name="Text">
    </p:cNvPr>
          <p:cNvSpPr>
            <a:spLocks noGrp="1"/>
          </p:cNvSpPr>
          <p:nvPr/>
        </p:nvSpPr>
        <p:spPr>
          <a:xfrm rot="0">
            <a:off x="939800" y="1422400"/>
            <a:ext cx="4610100" cy="622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[FI] 총계정원장 당월 금액 계산로직 수정(ZSIR2000)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[TR] 법인카드 WBS 마스터 CCS 전송 신규개발(ZCOT9040)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PO 4501183143, B/L 관리번호 2000017968 데이터 병합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[TD] 차량 마스터 수송가능 거래처 등록시 안내 메세지 표출</a:t>
            </a:r>
          </a:p>
        </p:txBody>
      </p:sp>
      <p:sp>
        <p:nvSpPr>
          <p:cNvPr id="107427842" name="Text">
    </p:cNvPr>
          <p:cNvSpPr>
            <a:spLocks noGrp="1"/>
          </p:cNvSpPr>
          <p:nvPr/>
        </p:nvSpPr>
        <p:spPr>
          <a:xfrm rot="0">
            <a:off x="7226300" y="1447800"/>
            <a:ext cx="2552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804614130" name="Text">
    </p:cNvPr>
          <p:cNvSpPr>
            <a:spLocks noGrp="1"/>
          </p:cNvSpPr>
          <p:nvPr/>
        </p:nvSpPr>
        <p:spPr>
          <a:xfrm rot="0">
            <a:off x="6108700" y="1371600"/>
            <a:ext cx="7620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332852640" name="Text">
    </p:cNvPr>
          <p:cNvSpPr>
            <a:spLocks noGrp="1"/>
          </p:cNvSpPr>
          <p:nvPr/>
        </p:nvSpPr>
        <p:spPr>
          <a:xfrm rot="0">
            <a:off x="5537200" y="1447800"/>
            <a:ext cx="5715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</a:p>
        </p:txBody>
      </p:sp>
      <p:sp>
        <p:nvSpPr>
          <p:cNvPr id="2133629159" name="Text">
    </p:cNvPr>
          <p:cNvSpPr>
            <a:spLocks noGrp="1"/>
          </p:cNvSpPr>
          <p:nvPr/>
        </p:nvSpPr>
        <p:spPr>
          <a:xfrm rot="0">
            <a:off x="889000" y="1371600"/>
            <a:ext cx="46482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77151784" name="Text">
    </p:cNvPr>
          <p:cNvSpPr>
            <a:spLocks noGrp="1"/>
          </p:cNvSpPr>
          <p:nvPr/>
        </p:nvSpPr>
        <p:spPr>
          <a:xfrm rot="0">
            <a:off x="7124700" y="1371600"/>
            <a:ext cx="26543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53070371" name="Text">
    </p:cNvPr>
          <p:cNvSpPr>
            <a:spLocks noGrp="1"/>
          </p:cNvSpPr>
          <p:nvPr/>
        </p:nvSpPr>
        <p:spPr>
          <a:xfrm rot="0">
            <a:off x="5537200" y="1371600"/>
            <a:ext cx="5715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13048825" name="Rectangle"/>
          <p:cNvSpPr>
            <a:spLocks noGrp="1"/>
          </p:cNvSpPr>
          <p:nvPr/>
        </p:nvSpPr>
        <p:spPr>
          <a:xfrm>
            <a:off x="6870700" y="1371600"/>
            <a:ext cx="254000" cy="6731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97"/>
          <p:cNvSpPr>
            <a:spLocks noChangeArrowheads="1"/>
          </p:cNvSpPr>
          <p:nvPr/>
        </p:nvSpPr>
        <p:spPr bwMode="auto">
          <a:xfrm>
            <a:off x="330140" y="744758"/>
            <a:ext cx="2288130" cy="212814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174">
                <a:solidFill>
                  <a:srgbClr val="000000"/>
                </a:solidFill>
              </a:rPr>
              <a:t>금주 업무 실적</a:t>
            </a:r>
            <a:endParaRPr altLang="ko-KR" kumimoji="1" lang="en-US" sz="1174">
              <a:solidFill>
                <a:srgbClr val="000000"/>
              </a:solidFill>
            </a:endParaRPr>
          </a:p>
        </p:txBody>
      </p:sp>
      <p:sp>
        <p:nvSpPr>
          <p:cNvPr id="7171" name="Rectangle 755"/>
          <p:cNvSpPr>
            <a:spLocks noChangeArrowheads="1"/>
          </p:cNvSpPr>
          <p:nvPr/>
        </p:nvSpPr>
        <p:spPr bwMode="auto">
          <a:xfrm>
            <a:off x="268005" y="296321"/>
            <a:ext cx="7667486" cy="331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bIns="44805" lIns="89609" rIns="89609" tIns="44805">
            <a:spAutoFit/>
          </a:bodyPr>
          <a:lstStyle>
            <a:lvl1pPr defTabSz="957263" indent="-381000" marL="381000">
              <a:buChar char="•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1pPr>
            <a:lvl2pPr defTabSz="957263" indent="-285750" marL="74295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2pPr>
            <a:lvl3pPr defTabSz="957263" indent="-228600" marL="11430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3pPr>
            <a:lvl4pPr defTabSz="957263" indent="-228600" marL="16002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4pPr>
            <a:lvl5pPr defTabSz="957263" indent="-228600" marL="2057400">
              <a:spcBef>
                <a:spcPct val="20000"/>
              </a:spcBef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5pPr>
            <a:lvl6pPr defTabSz="957263" eaLnBrk="0" fontAlgn="base" hangingPunct="0" indent="-228600" marL="25146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6pPr>
            <a:lvl7pPr defTabSz="957263" eaLnBrk="0" fontAlgn="base" hangingPunct="0" indent="-228600" marL="29718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7pPr>
            <a:lvl8pPr defTabSz="957263" eaLnBrk="0" fontAlgn="base" hangingPunct="0" indent="-228600" marL="34290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8pPr>
            <a:lvl9pPr defTabSz="957263" eaLnBrk="0" fontAlgn="base" hangingPunct="0" indent="-228600" marL="38862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altLang="ko-KR" lang="en-US" sz="1566">
                <a:solidFill>
                  <a:srgbClr val="000000"/>
                </a:solidFill>
                <a:latin charset="-127" panose="020B0503020000020004" pitchFamily="50" typeface="맑은 고딕"/>
                <a:ea charset="-127" panose="020B0503020000020004" pitchFamily="50" typeface="맑은 고딕"/>
              </a:rPr>
              <a:t>2. Summary – </a:t>
            </a:r>
            <a:r>
              <a:rPr altLang="en-US" lang="ko-KR" sz="1566">
                <a:solidFill>
                  <a:srgbClr val="000000"/>
                </a:solidFill>
                <a:latin charset="-127" panose="020B0503020000020004" pitchFamily="50" typeface="맑은 고딕"/>
                <a:ea charset="-127" panose="020B0503020000020004" pitchFamily="50" typeface="맑은 고딕"/>
              </a:rPr>
              <a:t>②</a:t>
            </a:r>
            <a:r>
              <a:rPr altLang="ko-KR" lang="en-US" sz="1566">
                <a:latin charset="-127" panose="020B0503020000020004" pitchFamily="50" typeface="맑은 고딕"/>
                <a:ea charset="-127" panose="020B0503020000020004" pitchFamily="50" typeface="맑은 고딕"/>
              </a:rPr>
              <a:t>Quintet</a:t>
            </a:r>
            <a:endParaRPr altLang="en-US" lang="ko-KR" sz="1566">
              <a:latin charset="-127" panose="020B0503020000020004" pitchFamily="50" typeface="맑은 고딕"/>
              <a:ea charset="-127" panose="020B0503020000020004" pitchFamily="50" typeface="맑은 고딕"/>
            </a:endParaRPr>
          </a:p>
        </p:txBody>
      </p:sp>
      <p:sp>
        <p:nvSpPr>
          <p:cNvPr id="7172" name="Rectangle 1382"/>
          <p:cNvSpPr>
            <a:spLocks noChangeArrowheads="1"/>
          </p:cNvSpPr>
          <p:nvPr/>
        </p:nvSpPr>
        <p:spPr bwMode="auto">
          <a:xfrm>
            <a:off x="330140" y="5740430"/>
            <a:ext cx="2311430" cy="223687"/>
          </a:xfrm>
          <a:prstGeom prst="rect">
            <a:avLst/>
          </a:prstGeom>
          <a:solidFill>
            <a:srgbClr val="CCFFCC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174">
                <a:solidFill>
                  <a:srgbClr val="000000"/>
                </a:solidFill>
              </a:rPr>
              <a:t>ISSUE</a:t>
            </a:r>
            <a:r>
              <a:rPr altLang="en-US" kumimoji="1" lang="ko-KR" sz="1174">
                <a:solidFill>
                  <a:srgbClr val="000000"/>
                </a:solidFill>
              </a:rPr>
              <a:t> 및 공지사항</a:t>
            </a:r>
            <a:endParaRPr altLang="ko-KR" kumimoji="1" lang="en-US" sz="1174">
              <a:solidFill>
                <a:srgbClr val="000000"/>
              </a:solidFill>
            </a:endParaRPr>
          </a:p>
        </p:txBody>
      </p:sp>
      <p:graphicFrame>
        <p:nvGraphicFramePr>
          <p:cNvPr id="20" name="Group 3691"/>
          <p:cNvGraphicFramePr>
            <a:graphicFrameLocks noGrp="1"/>
          </p:cNvGraphicFramePr>
          <p:nvPr/>
        </p:nvGraphicFramePr>
        <p:xfrm>
          <a:off x="468391" y="5964118"/>
          <a:ext cx="8809220" cy="568537"/>
        </p:xfrm>
        <a:graphic>
          <a:graphicData uri="http://schemas.openxmlformats.org/drawingml/2006/table">
            <a:tbl>
              <a:tblPr/>
              <a:tblGrid>
                <a:gridCol w="8809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68537"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charset="0" panose="020B0604020202020204" pitchFamily="34" typeface="Arial"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typeface="Arial"/>
                      </a:endParaRPr>
                    </a:p>
                  </a:txBody>
                  <a:tcPr anchor="ctr" horzOverflow="overflow" marB="45823" marL="88066" marR="88066" marT="4582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7179" name="Group 240"/>
          <p:cNvGrpSpPr>
            <a:grpSpLocks/>
          </p:cNvGrpSpPr>
          <p:nvPr/>
        </p:nvGrpSpPr>
        <p:grpSpPr bwMode="auto">
          <a:xfrm>
            <a:off x="8218216" y="73699"/>
            <a:ext cx="1059407" cy="591838"/>
            <a:chOff x="5222" y="377"/>
            <a:chExt cx="682" cy="381"/>
          </a:xfrm>
        </p:grpSpPr>
        <p:sp>
          <p:nvSpPr>
            <p:cNvPr id="7236" name="Rectangle 94"/>
            <p:cNvSpPr>
              <a:spLocks noChangeArrowheads="1"/>
            </p:cNvSpPr>
            <p:nvPr/>
          </p:nvSpPr>
          <p:spPr bwMode="auto">
            <a:xfrm>
              <a:off x="5222" y="406"/>
              <a:ext cx="144" cy="96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  <a:effectLst>
              <a:prstShdw dir="2700000" dist="17961" prst="shdw17">
                <a:srgbClr val="009900"/>
              </a:prstShdw>
            </a:effectLst>
            <a:extLst>
              <a:ext uri="{91240B29-F687-4F45-9708-019B960494DF}">
                <a14:hiddenLine xmlns:a14="http://schemas.microsoft.com/office/drawing/2010/main" algn="ctr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lIns="0" rIns="0" wrap="none"/>
            <a:lstStyle>
              <a:lvl1pPr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r">
                <a:spcBef>
                  <a:spcPct val="0"/>
                </a:spcBef>
                <a:spcAft>
                  <a:spcPct val="0"/>
                </a:spcAft>
              </a:pPr>
              <a:endParaRPr altLang="en-US" b="0" lang="ko-KR" sz="783">
                <a:solidFill>
                  <a:srgbClr val="FF6600"/>
                </a:solidFill>
              </a:endParaRPr>
            </a:p>
          </p:txBody>
        </p:sp>
        <p:sp>
          <p:nvSpPr>
            <p:cNvPr id="7237" name="Rectangle 95"/>
            <p:cNvSpPr>
              <a:spLocks noChangeArrowheads="1"/>
            </p:cNvSpPr>
            <p:nvPr/>
          </p:nvSpPr>
          <p:spPr bwMode="auto">
            <a:xfrm>
              <a:off x="5222" y="518"/>
              <a:ext cx="144" cy="96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>
              <a:prstShdw dir="2700000" dist="17961" prst="shdw17">
                <a:srgbClr val="999900"/>
              </a:prstShdw>
            </a:effectLst>
            <a:extLst>
              <a:ext uri="{91240B29-F687-4F45-9708-019B960494DF}">
                <a14:hiddenLine xmlns:a14="http://schemas.microsoft.com/office/drawing/2010/main" algn="ctr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lIns="0" rIns="0" wrap="none"/>
            <a:lstStyle>
              <a:lvl1pPr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r">
                <a:spcBef>
                  <a:spcPct val="0"/>
                </a:spcBef>
                <a:spcAft>
                  <a:spcPct val="0"/>
                </a:spcAft>
              </a:pPr>
              <a:endParaRPr altLang="en-US" b="0" lang="ko-KR" sz="783">
                <a:solidFill>
                  <a:srgbClr val="FF6600"/>
                </a:solidFill>
              </a:endParaRPr>
            </a:p>
          </p:txBody>
        </p:sp>
        <p:sp>
          <p:nvSpPr>
            <p:cNvPr id="7238" name="Rectangle 96"/>
            <p:cNvSpPr>
              <a:spLocks noChangeArrowheads="1"/>
            </p:cNvSpPr>
            <p:nvPr/>
          </p:nvSpPr>
          <p:spPr bwMode="auto">
            <a:xfrm>
              <a:off x="5222" y="622"/>
              <a:ext cx="144" cy="9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>
              <a:prstShdw dir="2700000" dist="17961" prst="shdw17">
                <a:srgbClr val="990000"/>
              </a:prstShdw>
            </a:effectLst>
            <a:extLst>
              <a:ext uri="{91240B29-F687-4F45-9708-019B960494DF}">
                <a14:hiddenLine xmlns:a14="http://schemas.microsoft.com/office/drawing/2010/main" algn="ctr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lIns="0" rIns="0" wrap="none"/>
            <a:lstStyle>
              <a:lvl1pPr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r">
                <a:spcBef>
                  <a:spcPct val="0"/>
                </a:spcBef>
                <a:spcAft>
                  <a:spcPct val="0"/>
                </a:spcAft>
              </a:pPr>
              <a:endParaRPr altLang="en-US" b="0" lang="ko-KR" sz="783">
                <a:solidFill>
                  <a:srgbClr val="FF6600"/>
                </a:solidFill>
              </a:endParaRPr>
            </a:p>
          </p:txBody>
        </p:sp>
        <p:sp>
          <p:nvSpPr>
            <p:cNvPr id="29" name="Text Box 97"/>
            <p:cNvSpPr txBox="1">
              <a:spLocks noChangeArrowheads="1"/>
            </p:cNvSpPr>
            <p:nvPr/>
          </p:nvSpPr>
          <p:spPr bwMode="auto">
            <a:xfrm>
              <a:off x="5395" y="377"/>
              <a:ext cx="207" cy="156"/>
            </a:xfrm>
            <a:prstGeom prst="rect">
              <a:avLst/>
            </a:prstGeom>
            <a:noFill/>
            <a:ln algn="ctr" w="9525">
              <a:noFill/>
              <a:miter lim="800000"/>
              <a:headEnd/>
              <a:tailEnd/>
            </a:ln>
            <a:effectLst>
              <a:prstShdw dir="2700000" dist="17961" prst="shdw17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lIns="0" rIns="0" wrap="none">
              <a:spAutoFit/>
            </a:bodyPr>
            <a:lstStyle/>
            <a:p>
              <a:pPr algn="ctr" defTabSz="842035" eaLnBrk="1" hangingPunct="1" indent="-177107" marL="177107">
                <a:spcBef>
                  <a:spcPct val="40000"/>
                </a:spcBef>
                <a:spcAft>
                  <a:spcPct val="0"/>
                </a:spcAft>
                <a:defRPr/>
              </a:pPr>
              <a:r>
                <a:rPr altLang="ko-KR" b="0" lang="en-US" sz="979">
                  <a:solidFill>
                    <a:srgbClr val="000000"/>
                  </a:solidFill>
                </a:rPr>
                <a:t>: </a:t>
              </a:r>
              <a:r>
                <a:rPr altLang="en-US" b="0" lang="ko-KR" sz="979">
                  <a:solidFill>
                    <a:srgbClr val="000000"/>
                  </a:solidFill>
                </a:rPr>
                <a:t>완료</a:t>
              </a:r>
              <a:endParaRPr altLang="ko-KR" b="0" lang="en-US" sz="979">
                <a:solidFill>
                  <a:srgbClr val="000000"/>
                </a:solidFill>
              </a:endParaRPr>
            </a:p>
          </p:txBody>
        </p:sp>
        <p:sp>
          <p:nvSpPr>
            <p:cNvPr id="30" name="Text Box 98"/>
            <p:cNvSpPr txBox="1">
              <a:spLocks noChangeArrowheads="1"/>
            </p:cNvSpPr>
            <p:nvPr/>
          </p:nvSpPr>
          <p:spPr bwMode="auto">
            <a:xfrm>
              <a:off x="5397" y="489"/>
              <a:ext cx="288" cy="156"/>
            </a:xfrm>
            <a:prstGeom prst="rect">
              <a:avLst/>
            </a:prstGeom>
            <a:noFill/>
            <a:ln algn="ctr" w="9525">
              <a:noFill/>
              <a:miter lim="800000"/>
              <a:headEnd/>
              <a:tailEnd/>
            </a:ln>
            <a:effectLst>
              <a:prstShdw dir="2700000" dist="17961" prst="shdw17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lIns="0" rIns="0" wrap="none">
              <a:spAutoFit/>
            </a:bodyPr>
            <a:lstStyle/>
            <a:p>
              <a:pPr algn="ctr" defTabSz="842035" eaLnBrk="1" hangingPunct="1" indent="-177107" marL="177107">
                <a:spcBef>
                  <a:spcPct val="40000"/>
                </a:spcBef>
                <a:spcAft>
                  <a:spcPct val="0"/>
                </a:spcAft>
                <a:defRPr/>
              </a:pPr>
              <a:r>
                <a:rPr altLang="ko-KR" b="0" lang="en-US" sz="979">
                  <a:solidFill>
                    <a:srgbClr val="000000"/>
                  </a:solidFill>
                </a:rPr>
                <a:t>: </a:t>
              </a:r>
              <a:r>
                <a:rPr altLang="en-US" b="0" lang="ko-KR" sz="979">
                  <a:solidFill>
                    <a:srgbClr val="000000"/>
                  </a:solidFill>
                </a:rPr>
                <a:t>진행중</a:t>
              </a:r>
              <a:endParaRPr altLang="ko-KR" b="0" lang="en-US" sz="979">
                <a:solidFill>
                  <a:srgbClr val="000000"/>
                </a:solidFill>
              </a:endParaRPr>
            </a:p>
          </p:txBody>
        </p:sp>
        <p:sp>
          <p:nvSpPr>
            <p:cNvPr id="31" name="Text Box 99"/>
            <p:cNvSpPr txBox="1">
              <a:spLocks noChangeArrowheads="1"/>
            </p:cNvSpPr>
            <p:nvPr/>
          </p:nvSpPr>
          <p:spPr bwMode="auto">
            <a:xfrm>
              <a:off x="5406" y="602"/>
              <a:ext cx="498" cy="156"/>
            </a:xfrm>
            <a:prstGeom prst="rect">
              <a:avLst/>
            </a:prstGeom>
            <a:noFill/>
            <a:ln algn="ctr" w="9525">
              <a:noFill/>
              <a:miter lim="800000"/>
              <a:headEnd/>
              <a:tailEnd/>
            </a:ln>
            <a:effectLst>
              <a:prstShdw dir="2700000" dist="17961" prst="shdw17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lIns="0" rIns="0" wrap="none">
              <a:spAutoFit/>
            </a:bodyPr>
            <a:lstStyle/>
            <a:p>
              <a:pPr algn="ctr" defTabSz="842035" eaLnBrk="1" hangingPunct="1" indent="-177107" marL="177107">
                <a:spcBef>
                  <a:spcPct val="40000"/>
                </a:spcBef>
                <a:spcAft>
                  <a:spcPct val="0"/>
                </a:spcAft>
                <a:defRPr/>
              </a:pPr>
              <a:r>
                <a:rPr altLang="ko-KR" b="0" lang="en-US" sz="979">
                  <a:solidFill>
                    <a:srgbClr val="000000"/>
                  </a:solidFill>
                </a:rPr>
                <a:t>: </a:t>
              </a:r>
              <a:r>
                <a:rPr altLang="en-US" b="0" lang="ko-KR" sz="979">
                  <a:solidFill>
                    <a:srgbClr val="000000"/>
                  </a:solidFill>
                </a:rPr>
                <a:t>미완료</a:t>
              </a:r>
              <a:r>
                <a:rPr altLang="ko-KR" b="0" lang="en-US" sz="979">
                  <a:solidFill>
                    <a:srgbClr val="000000"/>
                  </a:solidFill>
                </a:rPr>
                <a:t>(</a:t>
              </a:r>
              <a:r>
                <a:rPr altLang="en-US" b="0" lang="ko-KR" sz="979">
                  <a:solidFill>
                    <a:srgbClr val="000000"/>
                  </a:solidFill>
                </a:rPr>
                <a:t>문제</a:t>
              </a:r>
              <a:r>
                <a:rPr altLang="ko-KR" b="0" lang="en-US" sz="979">
                  <a:solidFill>
                    <a:srgbClr val="000000"/>
                  </a:solidFill>
                </a:rPr>
                <a:t>)</a:t>
              </a:r>
            </a:p>
          </p:txBody>
        </p:sp>
      </p:grpSp>
      <p:graphicFrame>
        <p:nvGraphicFramePr>
          <p:cNvPr id="15" name="Group 3690"/>
          <p:cNvGraphicFramePr>
            <a:graphicFrameLocks noGrp="1"/>
          </p:cNvGraphicFramePr>
          <p:nvPr/>
        </p:nvGraphicFramePr>
        <p:xfrm>
          <a:off x="479264" y="1043008"/>
          <a:ext cx="8798347" cy="2816279"/>
        </p:xfrm>
        <a:graphic>
          <a:graphicData uri="http://schemas.openxmlformats.org/drawingml/2006/table">
            <a:tbl>
              <a:tblPr/>
              <a:tblGrid>
                <a:gridCol w="8232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69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1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64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386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19605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구분 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업무 내용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완료일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err="1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진행율</a:t>
                      </a: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상태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비고</a:t>
                      </a:r>
                      <a:endParaRPr altLang="ko-KR" b="0" baseline="0" cap="none" dirty="0" i="0" kumimoji="1" lang="en-US" normalizeH="0" smtClean="0" strike="noStrike" sz="11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3753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CRM/BI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키오스크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즉발카드 등록 연동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홈페이지 중복로그인 제한 개발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인카페이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</a:t>
                      </a:r>
                      <a:r>
                        <a:rPr altLang="ko-KR" b="0" baseline="0" dirty="0" lang="en-US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_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테스트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마케팅 플랫폼 필드테스트 지원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상품권 제휴관련 성능저하 개선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50%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70%</a:t>
                      </a: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mtClean="0" strike="noStrike" sz="1000" u="none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921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VOC/PRM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VOC Summary </a:t>
                      </a:r>
                      <a:r>
                        <a:rPr altLang="en-US" b="0" baseline="0" cap="none" dirty="0" i="0" kern="1200" kumimoji="1" lang="ko-KR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발송 </a:t>
                      </a:r>
                      <a:r>
                        <a:rPr altLang="en-US" b="0" baseline="0" cap="none" dirty="0" err="1" i="0" kern="1200" kumimoji="1" lang="ko-KR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변경</a:t>
                      </a:r>
                    </a:p>
                  </a:txBody>
                  <a:tcPr anchor="ctr" horzOverflow="overflow" marB="45783" marL="88066" marR="88066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1/15</a:t>
                      </a:r>
                    </a:p>
                  </a:txBody>
                  <a:tcPr anchor="ctr" horzOverflow="overflow" marB="45783" marL="88066" marR="88066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mtClean="0" strike="noStrike" sz="1000" u="none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211" name="Rectangle 3082"/>
          <p:cNvSpPr>
            <a:spLocks noChangeArrowheads="1"/>
          </p:cNvSpPr>
          <p:nvPr/>
        </p:nvSpPr>
        <p:spPr bwMode="auto">
          <a:xfrm>
            <a:off x="330140" y="3950936"/>
            <a:ext cx="2311430" cy="245434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174">
                <a:solidFill>
                  <a:srgbClr val="000000"/>
                </a:solidFill>
              </a:rPr>
              <a:t>차주 업무 계획</a:t>
            </a:r>
            <a:endParaRPr altLang="ko-KR" kumimoji="1" lang="en-US" sz="1174">
              <a:solidFill>
                <a:srgbClr val="000000"/>
              </a:solidFill>
            </a:endParaRPr>
          </a:p>
        </p:txBody>
      </p:sp>
      <p:graphicFrame>
        <p:nvGraphicFramePr>
          <p:cNvPr id="16" name="Group 3690"/>
          <p:cNvGraphicFramePr>
            <a:graphicFrameLocks noGrp="1"/>
          </p:cNvGraphicFramePr>
          <p:nvPr/>
        </p:nvGraphicFramePr>
        <p:xfrm>
          <a:off x="479264" y="4249185"/>
          <a:ext cx="8798347" cy="1143651"/>
        </p:xfrm>
        <a:graphic>
          <a:graphicData uri="http://schemas.openxmlformats.org/drawingml/2006/table">
            <a:tbl>
              <a:tblPr/>
              <a:tblGrid>
                <a:gridCol w="8201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6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1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807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7202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구분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업무 내용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완료일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비고</a:t>
                      </a:r>
                      <a:endParaRPr altLang="ko-KR" b="0" baseline="0" cap="none" dirty="0" i="0" kumimoji="1" lang="en-US" normalizeH="0" smtClean="0" strike="noStrike" sz="11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8703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004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VOC/PRM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ern="1200" kumimoji="0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37">
            <a:extLst>
              <a:ext uri="{FF2B5EF4-FFF2-40B4-BE49-F238E27FC236}">
                <a16:creationId xmlns:a16="http://schemas.microsoft.com/office/drawing/2014/main" id="{95DBC0E4-3FED-4168-A811-F22F73E27A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2179" y="296320"/>
            <a:ext cx="8761066" cy="3314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bIns="44805" lIns="89609" rIns="89609" tIns="44805">
            <a:spAutoFit/>
          </a:bodyPr>
          <a:lstStyle>
            <a:lvl1pPr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566">
                <a:solidFill>
                  <a:srgbClr val="000000"/>
                </a:solidFill>
              </a:rPr>
              <a:t>3. </a:t>
            </a:r>
            <a:r>
              <a:rPr altLang="en-US" kumimoji="1" lang="ko-KR" sz="1566">
                <a:solidFill>
                  <a:srgbClr val="000000"/>
                </a:solidFill>
              </a:rPr>
              <a:t>주간업무 실적 및 계획</a:t>
            </a:r>
            <a:r>
              <a:rPr altLang="ko-KR" kumimoji="1" lang="en-US" sz="1566">
                <a:solidFill>
                  <a:srgbClr val="000000"/>
                </a:solidFill>
              </a:rPr>
              <a:t>(CP(IT Winner))</a:t>
            </a:r>
          </a:p>
        </p:txBody>
      </p:sp>
      <p:graphicFrame>
        <p:nvGraphicFramePr>
          <p:cNvPr id="7" name="Group 108">
            <a:extLst>
              <a:ext uri="{FF2B5EF4-FFF2-40B4-BE49-F238E27FC236}">
                <a16:creationId xmlns:a16="http://schemas.microsoft.com/office/drawing/2014/main" id="{D1918DE1-D523-480A-B775-91AD5D4C84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1939277"/>
              </p:ext>
            </p:extLst>
          </p:nvPr>
        </p:nvGraphicFramePr>
        <p:xfrm>
          <a:off x="255578" y="1117570"/>
          <a:ext cx="4846547" cy="2400406"/>
        </p:xfrm>
        <a:graphic>
          <a:graphicData uri="http://schemas.openxmlformats.org/drawingml/2006/table">
            <a:tbl>
              <a:tblPr/>
              <a:tblGrid>
                <a:gridCol w="5964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351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64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64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4684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  <a:endParaRPr altLang="ko-KR" b="1" baseline="0" cap="none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1" baseline="0" cap="none" i="0" kumimoji="1" lang="ko-KR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진행율</a:t>
                      </a:r>
                      <a:endParaRPr altLang="ko-KR" b="1" baseline="0" cap="none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완료일</a:t>
                      </a:r>
                      <a:endParaRPr altLang="ko-KR" b="1" baseline="0" cap="none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2881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CP/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이영주</a:t>
                      </a:r>
                      <a:endParaRPr altLang="ko-KR" b="0" baseline="0" cap="none" dirty="0" i="0" kumimoji="1" lang="en-US" normalizeH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6" marL="88066" marR="88066" marT="4575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indent="-169863" marL="169863"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더보기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메뉴 권한 중복 조회 이슈 수정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ERS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규정관리지안지 누락 배치 재 실행 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ADOBE FLASH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종료에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따른 운영 반영 작업</a:t>
                      </a: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자원예약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본사 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20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년도 화상 전체 자료 작성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전직원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품질 만족도 조사 설문 생성 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유가 조회 권한 기능 변경 및 권한 추가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정유제품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Spread HSK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누락 데이터 등록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안전수업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/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안전지킴이가이드북 메뉴 전환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유가 연동 배치 변경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(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범위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:3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일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-&gt;15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일로 변경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)</a:t>
                      </a: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01/13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01/15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01/13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01/15</a:t>
                      </a: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Group 109">
            <a:extLst>
              <a:ext uri="{FF2B5EF4-FFF2-40B4-BE49-F238E27FC236}">
                <a16:creationId xmlns:a16="http://schemas.microsoft.com/office/drawing/2014/main" id="{7721BB07-7B10-4642-8619-4B25D434FC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6118837"/>
              </p:ext>
            </p:extLst>
          </p:nvPr>
        </p:nvGraphicFramePr>
        <p:xfrm>
          <a:off x="5176687" y="1117570"/>
          <a:ext cx="4399173" cy="1944545"/>
        </p:xfrm>
        <a:graphic>
          <a:graphicData uri="http://schemas.openxmlformats.org/drawingml/2006/table">
            <a:tbl>
              <a:tblPr/>
              <a:tblGrid>
                <a:gridCol w="6601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59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58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71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976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8287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i="0" kumimoji="1" lang="en-US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CP/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이영주</a:t>
                      </a:r>
                      <a:endParaRPr altLang="ko-KR" b="0" baseline="0" cap="none" i="0" kumimoji="1" lang="en-US" normalizeH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L="88066" marR="8806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228600" marL="25146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228600" marL="29718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228600" marL="34290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228600" marL="38862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CP 1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월 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2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회차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정기점검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(WAS/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배치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재기동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)</a:t>
                      </a: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rtl="0"/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ADOBE FLASH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종료에 따른 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HTML5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전환 </a:t>
                      </a: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rtl="0"/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  ( * 1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차 개발 완료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,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테스트 및 보완 예정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)</a:t>
                      </a:r>
                      <a:endParaRPr altLang="en-US" dirty="0" kern="1200" kumimoji="1" lang="ko-KR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817" marL="88066" marR="88066" marT="5358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endParaRPr altLang="ko-KR" b="0" baseline="0" cap="none" dirty="0" i="0" kern="1200" kumimoji="1" lang="en-US" noProof="0" normalizeH="0" smtClean="0" spc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817" marL="88066" marR="88066" marT="5358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01/20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01/29</a:t>
                      </a:r>
                    </a:p>
                  </a:txBody>
                  <a:tcPr horzOverflow="overflow" marB="45817" marL="88066" marR="88066" marT="5358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184" name="Rectangle 136">
            <a:extLst>
              <a:ext uri="{FF2B5EF4-FFF2-40B4-BE49-F238E27FC236}">
                <a16:creationId xmlns:a16="http://schemas.microsoft.com/office/drawing/2014/main" id="{546AF6F6-150A-4F5D-B79C-9EC68A793C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6687" y="760293"/>
            <a:ext cx="4399174" cy="310676"/>
          </a:xfrm>
          <a:prstGeom prst="rect">
            <a:avLst/>
          </a:prstGeom>
          <a:solidFill>
            <a:srgbClr val="C7CDFD"/>
          </a:solidFill>
          <a:ln algn="ctr" w="9525">
            <a:noFill/>
            <a:miter lim="800000"/>
            <a:headEnd/>
            <a:tailEnd/>
          </a:ln>
          <a:effectLst>
            <a:outerShdw algn="ctr" dir="2700000" dist="35921" rotWithShape="0">
              <a:schemeClr val="bg2"/>
            </a:outerShdw>
          </a:effectLst>
        </p:spPr>
        <p:txBody>
          <a:bodyPr anchor="ctr"/>
          <a:lstStyle/>
          <a:p>
            <a:pPr algn="ctr" defTabSz="789214" eaLnBrk="1" hangingPunct="1" indent="-242357" marL="242357">
              <a:spcBef>
                <a:spcPct val="0"/>
              </a:spcBef>
              <a:spcAft>
                <a:spcPct val="0"/>
              </a:spcAft>
              <a:defRPr/>
            </a:pPr>
            <a:r>
              <a:rPr altLang="en-US" kumimoji="1" lang="ko-KR" sz="1370">
                <a:solidFill>
                  <a:srgbClr val="000000"/>
                </a:solidFill>
              </a:rPr>
              <a:t>차주 업무 계획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  <p:sp>
        <p:nvSpPr>
          <p:cNvPr id="6185" name="Rectangle 136">
            <a:extLst>
              <a:ext uri="{FF2B5EF4-FFF2-40B4-BE49-F238E27FC236}">
                <a16:creationId xmlns:a16="http://schemas.microsoft.com/office/drawing/2014/main" id="{227A3DDD-F02B-4FC8-A75A-DDE02A45CE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577" y="744759"/>
            <a:ext cx="4846547" cy="310676"/>
          </a:xfrm>
          <a:prstGeom prst="rect">
            <a:avLst/>
          </a:prstGeom>
          <a:solidFill>
            <a:srgbClr val="C7CDFD"/>
          </a:solidFill>
          <a:ln algn="ctr" w="9525">
            <a:noFill/>
            <a:miter lim="800000"/>
            <a:headEnd/>
            <a:tailEnd/>
          </a:ln>
          <a:effectLst>
            <a:outerShdw algn="ctr" dir="2700000" dist="35921" rotWithShape="0">
              <a:schemeClr val="bg2"/>
            </a:outerShdw>
          </a:effectLst>
        </p:spPr>
        <p:txBody>
          <a:bodyPr anchor="ctr"/>
          <a:lstStyle/>
          <a:p>
            <a:pPr algn="ctr" defTabSz="789214" eaLnBrk="1" hangingPunct="1" indent="-242357" marL="242357">
              <a:spcBef>
                <a:spcPct val="0"/>
              </a:spcBef>
              <a:spcAft>
                <a:spcPct val="0"/>
              </a:spcAft>
              <a:defRPr/>
            </a:pPr>
            <a:r>
              <a:rPr altLang="en-US" kumimoji="1" lang="ko-KR" sz="1370">
                <a:solidFill>
                  <a:srgbClr val="000000"/>
                </a:solidFill>
              </a:rPr>
              <a:t>금주 업무 실적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038018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18318839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550289926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275934866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652015870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245447321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211831737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270801618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394440553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84179186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6147336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012043568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042912820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790564009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474403041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br/>
          </a:p>
        </p:txBody>
      </p:sp>
      <p:sp>
        <p:nvSpPr>
          <p:cNvPr id="885389142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02/23</a:t>
            </a:r>
            <a:br/>
            <a:br/>
          </a:p>
        </p:txBody>
      </p:sp>
      <p:sp>
        <p:nvSpPr>
          <p:cNvPr id="1185894348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구분회계기준 비용의 1차원가요소 data 산출 프로그램 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성 (ZCPR1050)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PP(Polypropylene) 제품별 원가내역 조회 Report 개발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청(ZPCOR2030)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대주주 감사자료 생성-MRO 자재계정의 상대계정 리스트 테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이블 저장 (ZFIR7035, ZFIT7035)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[TR] 일반차입금 자본화 이자율 계산 시스템 개발요청 프로세스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분석(ZTRR1422)</a:t>
            </a:r>
          </a:p>
        </p:txBody>
      </p:sp>
      <p:sp>
        <p:nvSpPr>
          <p:cNvPr id="293763572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996762365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546135425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전표 금액 더블 오류 원인 분석 및 수정(ZGMR1511, ZGMR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3511)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[TR] 법인카드 WBS 마스터 CCS 전송 신규개발(ZCOT9040)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총계정원장 당월 금액 계산로직 수정 (ZSIR2000)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유저별 UC3000 조직 조회 가능 권한 요청(ZCOR1210)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[TR] 일반차입금 자본화 이자율 계산 시스템 개발요청 프로세스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분석(ZTRR1422)</a:t>
            </a:r>
          </a:p>
        </p:txBody>
      </p:sp>
      <p:sp>
        <p:nvSpPr>
          <p:cNvPr id="476100467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br/>
          </a:p>
        </p:txBody>
      </p:sp>
      <p:sp>
        <p:nvSpPr>
          <p:cNvPr id="506409170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br/>
          </a:p>
        </p:txBody>
      </p:sp>
      <p:sp>
        <p:nvSpPr>
          <p:cNvPr id="1847711584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02/23</a:t>
            </a:r>
            <a:br/>
            <a:br/>
          </a:p>
        </p:txBody>
      </p:sp>
      <p:sp>
        <p:nvSpPr>
          <p:cNvPr id="613088880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36521149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18735478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</a:p>
        </p:txBody>
      </p:sp>
      <p:sp>
        <p:nvSpPr>
          <p:cNvPr id="989615761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02/13</a:t>
            </a:r>
            <a:br/>
          </a:p>
        </p:txBody>
      </p:sp>
      <p:sp>
        <p:nvSpPr>
          <p:cNvPr id="1240876736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업무인수인계(SAPUI5 , Odata )</a:t>
            </a:r>
          </a:p>
        </p:txBody>
      </p:sp>
      <p:sp>
        <p:nvSpPr>
          <p:cNvPr id="884343973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김예린</a:t>
            </a:r>
          </a:p>
        </p:txBody>
      </p:sp>
      <p:sp>
        <p:nvSpPr>
          <p:cNvPr id="1591322597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김예린</a:t>
            </a:r>
          </a:p>
        </p:txBody>
      </p:sp>
      <p:sp>
        <p:nvSpPr>
          <p:cNvPr id="113850993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퇴직연금 운용방식 변경 신청서 개발	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업무인수인계(SAPUI5 , Odata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평가 메뉴 개선</a:t>
            </a:r>
          </a:p>
        </p:txBody>
      </p:sp>
      <p:sp>
        <p:nvSpPr>
          <p:cNvPr id="2104671278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02/23</a:t>
            </a:r>
            <a:br/>
          </a:p>
        </p:txBody>
      </p:sp>
      <p:sp>
        <p:nvSpPr>
          <p:cNvPr id="2036665353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0223</a:t>
            </a:r>
            <a:br/>
          </a:p>
        </p:txBody>
      </p:sp>
      <p:sp>
        <p:nvSpPr>
          <p:cNvPr id="1779464783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02/22</a:t>
            </a:r>
            <a:br/>
          </a:p>
        </p:txBody>
      </p:sp>
      <p:sp>
        <p:nvSpPr>
          <p:cNvPr id="625336270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95942788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153902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975590846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121340263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196602505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219220385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892731730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08802562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423456440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367437187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670938298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089891941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434354491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65884512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170947653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918414815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</a:p>
        </p:txBody>
      </p:sp>
      <p:sp>
        <p:nvSpPr>
          <p:cNvPr id="402382696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</a:p>
        </p:txBody>
      </p:sp>
      <p:sp>
        <p:nvSpPr>
          <p:cNvPr id="1358859492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전표 자동승인(회계팀)시 전표의 증빙일과 계산서 발행일 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크로직 추가요청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수입 제품 구입대금 및 기타 발생 비용 문서 조회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중복 생성 오류 해결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원유 구입 물품대 및 선박 관련 비용문서 Report 보완 요청</a:t>
            </a:r>
          </a:p>
        </p:txBody>
      </p:sp>
      <p:sp>
        <p:nvSpPr>
          <p:cNvPr id="1281075624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353451745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1557701556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전표 자동승인(회계팀)시 전표의 증빙일과 계산서 발행일 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크로직 추가요청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수입 제품 구입대금 및 기타 발생 비용 문서 조회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중복 생성 오류 해결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원유 구입 물품대 및 선박 관련 비용문서 Report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PO 4501183143, B/L 관리번호 2000017968 데이터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병합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선박 카테고리 변경 요청</a:t>
            </a:r>
          </a:p>
        </p:txBody>
      </p:sp>
      <p:sp>
        <p:nvSpPr>
          <p:cNvPr id="2028309863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</a:p>
        </p:txBody>
      </p:sp>
      <p:sp>
        <p:nvSpPr>
          <p:cNvPr id="1776450874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02/22</a:t>
            </a:r>
            <a:br/>
          </a:p>
        </p:txBody>
      </p:sp>
      <p:sp>
        <p:nvSpPr>
          <p:cNvPr id="1972936913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02/22</a:t>
            </a:r>
            <a:br/>
          </a:p>
        </p:txBody>
      </p:sp>
      <p:sp>
        <p:nvSpPr>
          <p:cNvPr id="1816426709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49902991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23020555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03/04</a:t>
            </a:r>
            <a:br/>
          </a:p>
        </p:txBody>
      </p:sp>
      <p:sp>
        <p:nvSpPr>
          <p:cNvPr id="1916879279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02/27</a:t>
            </a:r>
            <a:br/>
          </a:p>
        </p:txBody>
      </p:sp>
      <p:sp>
        <p:nvSpPr>
          <p:cNvPr id="1024200162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</a:p>
        </p:txBody>
      </p:sp>
      <p:sp>
        <p:nvSpPr>
          <p:cNvPr id="1999390442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1241934003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850527333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HCM개발 File System 가용공간 부족에 따른 로그삭제 작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업(‘23년04월~06월 로그삭제)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용인 2023년도 하반기 FW Rule Revalidation 수행 결과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검증에 따른 업무지원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HCM운영 보안접속 사용자 SNC 접속 문제로 원격 업무지원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(인력개발팀)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HCM운영 Cloud(평가시스템) 인사 마스터 전송 배치 재등록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및 일시중지</a:t>
            </a:r>
          </a:p>
        </p:txBody>
      </p:sp>
      <p:sp>
        <p:nvSpPr>
          <p:cNvPr id="1871477964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02/23</a:t>
            </a:r>
            <a:br/>
            <a:br/>
          </a:p>
        </p:txBody>
      </p:sp>
      <p:sp>
        <p:nvSpPr>
          <p:cNvPr id="2055371969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02/23</a:t>
            </a:r>
            <a:br/>
            <a:br/>
          </a:p>
        </p:txBody>
      </p:sp>
      <p:sp>
        <p:nvSpPr>
          <p:cNvPr id="54051026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02/23</a:t>
            </a:r>
            <a:br/>
            <a:br/>
          </a:p>
        </p:txBody>
      </p:sp>
      <p:sp>
        <p:nvSpPr>
          <p:cNvPr id="554397180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62126093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7144725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8574363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063959369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054173267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2057436478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536886725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004405057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652208141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390593393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906494537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19272714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809948478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418528308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847488297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922051653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</a:p>
        </p:txBody>
      </p:sp>
      <p:sp>
        <p:nvSpPr>
          <p:cNvPr id="807188608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</a:p>
        </p:txBody>
      </p:sp>
      <p:sp>
        <p:nvSpPr>
          <p:cNvPr id="965091627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</a:p>
        </p:txBody>
      </p:sp>
      <p:sp>
        <p:nvSpPr>
          <p:cNvPr id="620520981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959904131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1824235165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예약 상신 시 Equipment가 등록된 Itemized 자재는 Pop-up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을 통한 사양 확인 요청* 대그룹 1000, 2000, 3000, 7000,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7500에 속한 자재가 Equipment 등록되어 있을 경우 예약 상신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시 팝업창으로 사양 확인 요청 </a:t>
            </a:r>
          </a:p>
        </p:txBody>
      </p:sp>
      <p:sp>
        <p:nvSpPr>
          <p:cNvPr id="1681679704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br/>
            <a:br/>
          </a:p>
        </p:txBody>
      </p:sp>
      <p:sp>
        <p:nvSpPr>
          <p:cNvPr id="590834436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br/>
            <a:br/>
          </a:p>
        </p:txBody>
      </p:sp>
      <p:sp>
        <p:nvSpPr>
          <p:cNvPr id="759391232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br/>
            <a:br/>
            <a:br/>
          </a:p>
        </p:txBody>
      </p:sp>
      <p:sp>
        <p:nvSpPr>
          <p:cNvPr id="498882627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39220233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9509763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02/28</a:t>
            </a:r>
            <a:br/>
            <a:br/>
          </a:p>
        </p:txBody>
      </p:sp>
      <p:sp>
        <p:nvSpPr>
          <p:cNvPr id="873453612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02/26</a:t>
            </a:r>
            <a:br/>
            <a:br/>
          </a:p>
        </p:txBody>
      </p:sp>
      <p:sp>
        <p:nvSpPr>
          <p:cNvPr id="1259266222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업무인수 : 향후 진행해야할 운영업무 파악                 (근태와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출입관리시스템 자동연동 등)</a:t>
            </a:r>
          </a:p>
        </p:txBody>
      </p:sp>
      <p:sp>
        <p:nvSpPr>
          <p:cNvPr id="1050063990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이상엽</a:t>
            </a:r>
          </a:p>
        </p:txBody>
      </p:sp>
      <p:sp>
        <p:nvSpPr>
          <p:cNvPr id="1793119840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이상엽</a:t>
            </a:r>
          </a:p>
        </p:txBody>
      </p:sp>
      <p:sp>
        <p:nvSpPr>
          <p:cNvPr id="543473064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업무인수: Fiori 개발환경 소개 및 정보처리 신청사항 수정(다면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평가 피평가자 지정 기준일관련 수정)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업무인수: Fiori 개발환경 소개 및 정보처리 신청사항 수정(퇴직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연금 전환 신청화면관련 수정)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업무인수: 안면인식 출입관리시스템 연동 특근확인서 변경적용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내용분석(Fiori 및 HCM)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업무인수: 평가관련 MSS 및 ESS 화면 수정(JIRA기준 2건)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업무인수: JIRA 사용법 및 업무처리절차 소개</a:t>
            </a:r>
          </a:p>
        </p:txBody>
      </p:sp>
      <p:sp>
        <p:nvSpPr>
          <p:cNvPr id="475214490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02/23</a:t>
            </a:r>
            <a:br/>
          </a:p>
        </p:txBody>
      </p:sp>
      <p:sp>
        <p:nvSpPr>
          <p:cNvPr id="401412194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02/23</a:t>
            </a:r>
            <a:br/>
          </a:p>
        </p:txBody>
      </p:sp>
      <p:sp>
        <p:nvSpPr>
          <p:cNvPr id="2069010217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02/23</a:t>
            </a:r>
            <a:br/>
          </a:p>
        </p:txBody>
      </p:sp>
      <p:sp>
        <p:nvSpPr>
          <p:cNvPr id="2120154134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73876133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96468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795785683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648262376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2139797492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382967718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836997556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539718236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71201722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9491701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768842594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443996950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116594410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014965414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226859084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306333547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</a:p>
        </p:txBody>
      </p:sp>
      <p:sp>
        <p:nvSpPr>
          <p:cNvPr id="688308275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</a:p>
        </p:txBody>
      </p:sp>
      <p:sp>
        <p:nvSpPr>
          <p:cNvPr id="517830507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근로소득 원천징수명세서 내 국외소득 합산 오류 개선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생산직 평가 대상자 정보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퇴직연금 운용방식 변경 신청서 개발 - PDF 개발 </a:t>
            </a:r>
          </a:p>
        </p:txBody>
      </p:sp>
      <p:sp>
        <p:nvSpPr>
          <p:cNvPr id="1420121342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최연화</a:t>
            </a:r>
          </a:p>
        </p:txBody>
      </p:sp>
      <p:sp>
        <p:nvSpPr>
          <p:cNvPr id="1423714334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최연화</a:t>
            </a:r>
          </a:p>
        </p:txBody>
      </p:sp>
      <p:sp>
        <p:nvSpPr>
          <p:cNvPr id="1271164398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HCM 퇴직급여명세서 내 결재선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DC퇴직연금 계산 관련 개선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근로소득 원천징수명세서 내 국외소득 합산 오류 개선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생산직 평가 대상자 정보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임원 평가결과 조회 화면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국내출장명령서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사외외국어 학습비 신청 관련, CCS 결제금액 초기화 및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HCM 신청 데이터 삭제</a:t>
            </a:r>
          </a:p>
        </p:txBody>
      </p:sp>
      <p:sp>
        <p:nvSpPr>
          <p:cNvPr id="1054293458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03/08</a:t>
            </a:r>
            <a:br/>
            <a:br/>
          </a:p>
        </p:txBody>
      </p:sp>
      <p:sp>
        <p:nvSpPr>
          <p:cNvPr id="1076595794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100%</a:t>
            </a:r>
            <a:br/>
            <a:br/>
          </a:p>
        </p:txBody>
      </p:sp>
      <p:sp>
        <p:nvSpPr>
          <p:cNvPr id="1971503249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br/>
          </a:p>
        </p:txBody>
      </p:sp>
      <p:sp>
        <p:nvSpPr>
          <p:cNvPr id="499218642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52984597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1851780" name="Text">
    </p:cNvPr>
          <p:cNvSpPr>
            <a:spLocks noGrp="1"/>
          </p:cNvSpPr>
          <p:nvPr/>
        </p:nvSpPr>
        <p:spPr>
          <a:xfrm rot="0">
            <a:off x="97028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  <a:br/>
            <a:br/>
            <a:br/>
            <a:br/>
            <a:br/>
            <a:br/>
            <a:br/>
            <a:br/>
          </a:p>
        </p:txBody>
      </p:sp>
      <p:sp>
        <p:nvSpPr>
          <p:cNvPr id="1699702536" name="Text">
    </p:cNvPr>
          <p:cNvSpPr>
            <a:spLocks noGrp="1"/>
          </p:cNvSpPr>
          <p:nvPr/>
        </p:nvSpPr>
        <p:spPr>
          <a:xfrm rot="0">
            <a:off x="93345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br/>
            <a:br/>
            <a:br/>
            <a:br/>
            <a:br/>
            <a:br/>
            <a:br/>
            <a:br/>
            <a:br/>
          </a:p>
        </p:txBody>
      </p:sp>
      <p:sp>
        <p:nvSpPr>
          <p:cNvPr id="1943966875" name="Text">
    </p:cNvPr>
          <p:cNvSpPr>
            <a:spLocks noGrp="1"/>
          </p:cNvSpPr>
          <p:nvPr/>
        </p:nvSpPr>
        <p:spPr>
          <a:xfrm rot="0">
            <a:off x="5930900" y="3771900"/>
            <a:ext cx="3403600" cy="27305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ITSM-107407자영대리점 거래처 관리업무 간소화 추진(1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차)02/201. ZSDR1040/ZSDR1040N/ZSDR1041 라디오버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튼 추가 및 SELECT 후 KRX필터링 로직추가2. ZSDR5212/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ZSDR5212N/ZSDR5213 용도 선택조건 추가 및 용도가 KRX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인경우 빌링취소차단 (남해화학만 예외)3. ZSDR5680/ZSDR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5680A/ZSDR5682/ZSDR5682 ABRVW필드 이미 있어 사용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-&gt;용도로 이름변경4. 확인하였으나 하드코딩되어있는 부분은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ZSDR1230 C_VTWEG '30' 이외에 없음02/211. ZSD_RFC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_EWEB_SO_EXECUTE KRX 하드코딩 주석처리2. ZSDR123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0_TOP VTWEG 30-&gt;20 변경</a:t>
            </a:r>
          </a:p>
        </p:txBody>
      </p:sp>
      <p:sp>
        <p:nvSpPr>
          <p:cNvPr id="381471394" name="Text">
    </p:cNvPr>
          <p:cNvSpPr>
            <a:spLocks noGrp="1"/>
          </p:cNvSpPr>
          <p:nvPr/>
        </p:nvSpPr>
        <p:spPr>
          <a:xfrm rot="0">
            <a:off x="5308600" y="3771900"/>
            <a:ext cx="5715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1158493160" name="Text">
    </p:cNvPr>
          <p:cNvSpPr>
            <a:spLocks noGrp="1"/>
          </p:cNvSpPr>
          <p:nvPr/>
        </p:nvSpPr>
        <p:spPr>
          <a:xfrm rot="0">
            <a:off x="88900" y="3771900"/>
            <a:ext cx="5715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1541700454" name="Text">
    </p:cNvPr>
          <p:cNvSpPr>
            <a:spLocks noGrp="1"/>
          </p:cNvSpPr>
          <p:nvPr/>
        </p:nvSpPr>
        <p:spPr>
          <a:xfrm rot="0">
            <a:off x="711200" y="3771900"/>
            <a:ext cx="3403600" cy="27305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ITSM-107407자영대리점 거래처 관리업무 간소화 추진(1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차)02/201. ZSDR1040/ZSDR1040N/ZSDR1041 라디오버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튼 추가 및 SELECT 후 KRX필터링 로직추가2. ZSDR5212/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ZSDR5212N/ZSDR5213 용도 선택조건 추가 및 용도가 KRX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인경우 빌링취소차단 (남해화학만 예외)3. ZSDR5680/ZSDR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5680A/ZSDR5682/ZSDR5682 ABRVW필드 이미 있어 사용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-&gt;용도로 이름변경4. 확인하였으나 하드코딩되어있는 부분은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ZSDR1230 C_VTWEG '30' 이외에 없음02/211. ZSD_RFC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_EWEB_SO_EXECUTE KRX 하드코딩 주석처리2. ZSDR123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0_TOP VTWEG 30-&gt;20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ITSM-107760외항항행선박용 면세유류공급명세서 수정0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2/231. 양수자 코드 F000000000일경우 양수자 명을 구매자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명으로 대체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[TD] ITSM-104304차량 마스터 수송가능 거래처 등록시 안내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메세지 표출02/211. Non-Brand 실거리 운임 거래처 체크 및 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시지표출로직 추가2. BDC 실행시 팝업 뜨지 않도록 조건 추가</a:t>
            </a:r>
          </a:p>
        </p:txBody>
      </p:sp>
      <p:sp>
        <p:nvSpPr>
          <p:cNvPr id="1545160397" name="Text">
    </p:cNvPr>
          <p:cNvSpPr>
            <a:spLocks noGrp="1"/>
          </p:cNvSpPr>
          <p:nvPr/>
        </p:nvSpPr>
        <p:spPr>
          <a:xfrm rot="0">
            <a:off x="44831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  <a:br/>
            <a:br/>
            <a:br/>
            <a:br/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[보류]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03/28</a:t>
            </a:r>
            <a:br/>
            <a:br/>
            <a:br/>
          </a:p>
        </p:txBody>
      </p:sp>
      <p:sp>
        <p:nvSpPr>
          <p:cNvPr id="738225718" name="Text">
    </p:cNvPr>
          <p:cNvSpPr>
            <a:spLocks noGrp="1"/>
          </p:cNvSpPr>
          <p:nvPr/>
        </p:nvSpPr>
        <p:spPr>
          <a:xfrm rot="0">
            <a:off x="48514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br/>
            <a:br/>
            <a:br/>
            <a:br/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br/>
            <a:br/>
          </a:p>
        </p:txBody>
      </p:sp>
      <p:sp>
        <p:nvSpPr>
          <p:cNvPr id="4098605" name="Text">
    </p:cNvPr>
          <p:cNvSpPr>
            <a:spLocks noGrp="1"/>
          </p:cNvSpPr>
          <p:nvPr/>
        </p:nvSpPr>
        <p:spPr>
          <a:xfrm rot="0">
            <a:off x="41148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br/>
            <a:br/>
            <a:br/>
            <a:br/>
            <a:br/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br/>
            <a:br/>
          </a:p>
        </p:txBody>
      </p:sp>
      <p:sp>
        <p:nvSpPr>
          <p:cNvPr id="2021256711" name="Text">
    </p:cNvPr>
          <p:cNvSpPr>
            <a:spLocks noGrp="1"/>
          </p:cNvSpPr>
          <p:nvPr/>
        </p:nvSpPr>
        <p:spPr>
          <a:xfrm rot="0">
            <a:off x="660400" y="3771900"/>
            <a:ext cx="34544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49749739" name="Text">
    </p:cNvPr>
          <p:cNvSpPr>
            <a:spLocks noGrp="1"/>
          </p:cNvSpPr>
          <p:nvPr/>
        </p:nvSpPr>
        <p:spPr>
          <a:xfrm rot="0">
            <a:off x="5880100" y="3771900"/>
            <a:ext cx="34544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529156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150059684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619876719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491117806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204876916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733944206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837468201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586792923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515352363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920281824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001691344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33830323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776116186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273638288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195347935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</a:p>
        </p:txBody>
      </p:sp>
      <p:sp>
        <p:nvSpPr>
          <p:cNvPr id="899660516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</a:p>
        </p:txBody>
      </p:sp>
      <p:sp>
        <p:nvSpPr>
          <p:cNvPr id="265885642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[FLBIZ] 취약점조치(데이터평문전송)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취약점조치(불충분한인증)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ITSM-107407 자영대리점 거래처 관리업무 간소화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진</a:t>
            </a:r>
          </a:p>
        </p:txBody>
      </p:sp>
      <p:sp>
        <p:nvSpPr>
          <p:cNvPr id="365247756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공현호</a:t>
            </a:r>
          </a:p>
        </p:txBody>
      </p:sp>
      <p:sp>
        <p:nvSpPr>
          <p:cNvPr id="775887132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공현호</a:t>
            </a:r>
          </a:p>
        </p:txBody>
      </p:sp>
      <p:sp>
        <p:nvSpPr>
          <p:cNvPr id="1715457701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[FLBIZ] 취약점조치(데이터평문전송)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사후적립 조회필드변경 및 로직수정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홍보물 신청시 요청사항 기재란 삭제요청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취약점조치(데이터평문전송)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취약점조치(불충분한인증)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ITSM-107559 교육결과보고 및 교육출장비 신청서 이력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삭제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ITSM-107477 사외외국어 학습비 신청 관련, CCS 결제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금액 초기화 및 HCM 신청 데이터 삭제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ITSM-107407 자영대리점 거래처 관리업무 간소화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[FLBIZ] 취약점조치(logback)</a:t>
            </a:r>
          </a:p>
        </p:txBody>
      </p:sp>
      <p:sp>
        <p:nvSpPr>
          <p:cNvPr id="564126447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</a:p>
        </p:txBody>
      </p:sp>
      <p:sp>
        <p:nvSpPr>
          <p:cNvPr id="487491213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02/22</a:t>
            </a:r>
            <a:br/>
          </a:p>
        </p:txBody>
      </p:sp>
      <p:sp>
        <p:nvSpPr>
          <p:cNvPr id="1261407177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01/26</a:t>
            </a:r>
            <a:br/>
          </a:p>
        </p:txBody>
      </p:sp>
      <p:sp>
        <p:nvSpPr>
          <p:cNvPr id="1409105647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20931813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85648163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</a:p>
        </p:txBody>
      </p:sp>
      <p:sp>
        <p:nvSpPr>
          <p:cNvPr id="1404980646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</a:p>
        </p:txBody>
      </p:sp>
      <p:sp>
        <p:nvSpPr>
          <p:cNvPr id="1762532216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 문의응대</a:t>
            </a:r>
          </a:p>
        </p:txBody>
      </p:sp>
      <p:sp>
        <p:nvSpPr>
          <p:cNvPr id="1027998898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503581138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1073132745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Dashboard사이버보안 컴플라이언스 점검 결과에 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른 개선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Simoms 연동을 위한 ePSMS, OAS Web API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[ITSM-107316]OAS(유류회계) 마감 계유 자료 중 제품이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관( 기간별/기간별 합계)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[ITSM-107707]OAS 유량기록 수정 요청</a:t>
            </a:r>
          </a:p>
        </p:txBody>
      </p:sp>
      <p:sp>
        <p:nvSpPr>
          <p:cNvPr id="641379732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02/23</a:t>
            </a:r>
            <a:br/>
          </a:p>
        </p:txBody>
      </p:sp>
      <p:sp>
        <p:nvSpPr>
          <p:cNvPr id="726945397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02/22</a:t>
            </a:r>
            <a:br/>
          </a:p>
        </p:txBody>
      </p:sp>
      <p:sp>
        <p:nvSpPr>
          <p:cNvPr id="362842196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02/22</a:t>
            </a:r>
            <a:br/>
          </a:p>
        </p:txBody>
      </p:sp>
      <p:sp>
        <p:nvSpPr>
          <p:cNvPr id="536487637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26586291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338747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946317945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973093026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767419319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160898769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586673586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428414054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542188219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99294839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06640514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563036234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495313248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144546155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2066405910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994389347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</a:p>
        </p:txBody>
      </p:sp>
      <p:sp>
        <p:nvSpPr>
          <p:cNvPr id="720910707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</a:p>
        </p:txBody>
      </p:sp>
      <p:sp>
        <p:nvSpPr>
          <p:cNvPr id="1286005042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CI 시설 대금청구 매뉴에서 PR 일괄 생성 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국내 내국수출 거래처 PRM 마스터 등록수정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화면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자영대리점 거래처 관리업무 간소화 추진</a:t>
            </a:r>
            <a:br/>
          </a:p>
        </p:txBody>
      </p:sp>
      <p:sp>
        <p:nvSpPr>
          <p:cNvPr id="1634826458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1746730872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54812841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CI 시설 대금청구 매뉴에서 PR 일괄 생성 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국내 내국수출 거래처 PRM 마스터 등록수정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화면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자영대리점 거래처 관리업무 간소화 추진</a:t>
            </a:r>
            <a:br/>
          </a:p>
        </p:txBody>
      </p:sp>
      <p:sp>
        <p:nvSpPr>
          <p:cNvPr id="2022751874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</a:p>
        </p:txBody>
      </p:sp>
      <p:sp>
        <p:nvSpPr>
          <p:cNvPr id="315469538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99%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</a:p>
        </p:txBody>
      </p:sp>
      <p:sp>
        <p:nvSpPr>
          <p:cNvPr id="497378556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</a:p>
        </p:txBody>
      </p:sp>
      <p:sp>
        <p:nvSpPr>
          <p:cNvPr id="1036259017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79886685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58594570" name="Text">
    </p:cNvPr>
          <p:cNvSpPr>
            <a:spLocks noGrp="1"/>
          </p:cNvSpPr>
          <p:nvPr/>
        </p:nvSpPr>
        <p:spPr>
          <a:xfrm rot="0">
            <a:off x="97028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</a:p>
        </p:txBody>
      </p:sp>
      <p:sp>
        <p:nvSpPr>
          <p:cNvPr id="162324113" name="Text">
    </p:cNvPr>
          <p:cNvSpPr>
            <a:spLocks noGrp="1"/>
          </p:cNvSpPr>
          <p:nvPr/>
        </p:nvSpPr>
        <p:spPr>
          <a:xfrm rot="0">
            <a:off x="93345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02/26</a:t>
            </a:r>
            <a:br/>
          </a:p>
        </p:txBody>
      </p:sp>
      <p:sp>
        <p:nvSpPr>
          <p:cNvPr id="335751979" name="Text">
    </p:cNvPr>
          <p:cNvSpPr>
            <a:spLocks noGrp="1"/>
          </p:cNvSpPr>
          <p:nvPr/>
        </p:nvSpPr>
        <p:spPr>
          <a:xfrm rot="0">
            <a:off x="5930900" y="3771900"/>
            <a:ext cx="3403600" cy="27305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ASM 변경 관리 요청 업무</a:t>
            </a:r>
          </a:p>
        </p:txBody>
      </p:sp>
      <p:sp>
        <p:nvSpPr>
          <p:cNvPr id="980043229" name="Text">
    </p:cNvPr>
          <p:cNvSpPr>
            <a:spLocks noGrp="1"/>
          </p:cNvSpPr>
          <p:nvPr/>
        </p:nvSpPr>
        <p:spPr>
          <a:xfrm rot="0">
            <a:off x="5308600" y="3771900"/>
            <a:ext cx="5715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131621653" name="Text">
    </p:cNvPr>
          <p:cNvSpPr>
            <a:spLocks noGrp="1"/>
          </p:cNvSpPr>
          <p:nvPr/>
        </p:nvSpPr>
        <p:spPr>
          <a:xfrm rot="0">
            <a:off x="88900" y="3771900"/>
            <a:ext cx="5715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742669244" name="Text">
    </p:cNvPr>
          <p:cNvSpPr>
            <a:spLocks noGrp="1"/>
          </p:cNvSpPr>
          <p:nvPr/>
        </p:nvSpPr>
        <p:spPr>
          <a:xfrm rot="0">
            <a:off x="711200" y="3771900"/>
            <a:ext cx="3403600" cy="27305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취약점 점검 장애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ITSM-107089 작업 유형 변경ITSM-106656 CTS 번호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asm 신규계정 생성 및 그룹권한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jira 요청문서 list 송부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ITSM-107377 견적 재반영ITSM-107582 변경결과 작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성ITSM-97994 변경요청서 삭제ITSM-107603 변경요청서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삭제ITSM-107601 변경요청서 삭제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atss 거리 및 요율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ebiz 권한 요청 화면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ITSM-107348 변경결과 작성ITSM-107547 변경결과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작성ITSM-100864 변경결과 작성ITSM-104487 담당자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ITSM-104415 담당자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거리 및 요율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ITSM-104733 변경요청서 삭제 및 작업유형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atss 설치 지원</a:t>
            </a:r>
          </a:p>
        </p:txBody>
      </p:sp>
      <p:sp>
        <p:nvSpPr>
          <p:cNvPr id="554895212" name="Text">
    </p:cNvPr>
          <p:cNvSpPr>
            <a:spLocks noGrp="1"/>
          </p:cNvSpPr>
          <p:nvPr/>
        </p:nvSpPr>
        <p:spPr>
          <a:xfrm rot="0">
            <a:off x="44831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02/23</a:t>
            </a:r>
            <a:br/>
          </a:p>
        </p:txBody>
      </p:sp>
      <p:sp>
        <p:nvSpPr>
          <p:cNvPr id="1228929598" name="Text">
    </p:cNvPr>
          <p:cNvSpPr>
            <a:spLocks noGrp="1"/>
          </p:cNvSpPr>
          <p:nvPr/>
        </p:nvSpPr>
        <p:spPr>
          <a:xfrm rot="0">
            <a:off x="48514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02/23</a:t>
            </a:r>
            <a:br/>
          </a:p>
        </p:txBody>
      </p:sp>
      <p:sp>
        <p:nvSpPr>
          <p:cNvPr id="327056777" name="Text">
    </p:cNvPr>
          <p:cNvSpPr>
            <a:spLocks noGrp="1"/>
          </p:cNvSpPr>
          <p:nvPr/>
        </p:nvSpPr>
        <p:spPr>
          <a:xfrm rot="0">
            <a:off x="41148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02/23</a:t>
            </a:r>
            <a:br/>
          </a:p>
        </p:txBody>
      </p:sp>
      <p:sp>
        <p:nvSpPr>
          <p:cNvPr id="510274945" name="Text">
    </p:cNvPr>
          <p:cNvSpPr>
            <a:spLocks noGrp="1"/>
          </p:cNvSpPr>
          <p:nvPr/>
        </p:nvSpPr>
        <p:spPr>
          <a:xfrm rot="0">
            <a:off x="660400" y="3771900"/>
            <a:ext cx="34544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62397255" name="Text">
    </p:cNvPr>
          <p:cNvSpPr>
            <a:spLocks noGrp="1"/>
          </p:cNvSpPr>
          <p:nvPr/>
        </p:nvSpPr>
        <p:spPr>
          <a:xfrm rot="0">
            <a:off x="5880100" y="3771900"/>
            <a:ext cx="34544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928220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901143060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041762714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117070919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329066216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935206046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226086186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584595281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377313618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361074531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017847102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457455064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39822929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831713199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723433652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</a:p>
        </p:txBody>
      </p:sp>
      <p:sp>
        <p:nvSpPr>
          <p:cNvPr id="1550422350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02/14</a:t>
            </a:r>
            <a:br/>
            <a:br/>
          </a:p>
        </p:txBody>
      </p:sp>
      <p:sp>
        <p:nvSpPr>
          <p:cNvPr id="2023946909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이상관리 및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A11 -&gt; A360 '회계팀 - #1 회계지급계좌 증빙대사' 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Migration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A11 -&gt; A360 '자금운영팀 - #2 외화지급계좌 증빙대사'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작업 Migration 완료 -&gt; 로직 보완 및 테스트</a:t>
            </a:r>
          </a:p>
        </p:txBody>
      </p:sp>
      <p:sp>
        <p:nvSpPr>
          <p:cNvPr id="1592499633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1961695482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1679688904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A11 -&gt; A360 '회계팀 - #1 회계지급계좌 증빙대사' 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Migration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A11 -&gt; A360 '자금운영팀 - #2 외화지급계좌 증빙대사'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작업 Migration 완료 -&gt; 로직 보완 및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'법인영업팀 - 항공급유 매출입력'         - LJ 급유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항목 VBA 수정         - 사용자여신 로직 삭제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운영서버 문제발생 EAI 시스템 재기동 및 정상작동 안내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'월간 나프타 수입부과금' 오류 확인 및 재수행   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 - 파일 문제. 현업 안내 및 가이드자료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[PPS] CP(https)-&gt;SSO(http)-&gt;PPS(http) 로 인한 연결문제 및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적용방향 문의https 적용 완료 안내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'사전점검' 작업 CP, WMS 점검과정 수정</a:t>
            </a:r>
          </a:p>
        </p:txBody>
      </p:sp>
      <p:sp>
        <p:nvSpPr>
          <p:cNvPr id="193428676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02/23</a:t>
            </a:r>
            <a:br/>
          </a:p>
        </p:txBody>
      </p:sp>
      <p:sp>
        <p:nvSpPr>
          <p:cNvPr id="159608336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99%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02/23</a:t>
            </a:r>
            <a:br/>
          </a:p>
        </p:txBody>
      </p:sp>
      <p:sp>
        <p:nvSpPr>
          <p:cNvPr id="355831058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02/22</a:t>
            </a:r>
            <a:br/>
          </a:p>
        </p:txBody>
      </p:sp>
      <p:sp>
        <p:nvSpPr>
          <p:cNvPr id="18473784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26855043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98328660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</a:p>
        </p:txBody>
      </p:sp>
      <p:sp>
        <p:nvSpPr>
          <p:cNvPr id="449679662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</a:p>
        </p:txBody>
      </p:sp>
      <p:sp>
        <p:nvSpPr>
          <p:cNvPr id="1417912684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[TPMS] Application 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대주주감사 지적사항 F/up을 위한 시스템 개선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퇴직연금 운용방식 변경 신청서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법인휴대폰 해외 데이터로밍 신청서 수정/신규 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청서 도입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지류상품권 구매신청서 수정 개발 요청</a:t>
            </a:r>
          </a:p>
        </p:txBody>
      </p:sp>
      <p:sp>
        <p:nvSpPr>
          <p:cNvPr id="591942057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1311159281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949227514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[TPMS] Application 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대주주감사 지적사항 F/up을 위한 시스템 개선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퇴직연금 운용방식 변경 신청서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법인휴대폰 해외 데이터로밍 신청서 수정/신규 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청서 도입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인감날인 신청서(부서용)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지류상품권 구매신청서 수정 개발 요청</a:t>
            </a:r>
          </a:p>
        </p:txBody>
      </p:sp>
      <p:sp>
        <p:nvSpPr>
          <p:cNvPr id="1909801285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</a:p>
        </p:txBody>
      </p:sp>
      <p:sp>
        <p:nvSpPr>
          <p:cNvPr id="275874767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40%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</a:p>
        </p:txBody>
      </p:sp>
      <p:sp>
        <p:nvSpPr>
          <p:cNvPr id="1798509323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</a:p>
        </p:txBody>
      </p:sp>
      <p:sp>
        <p:nvSpPr>
          <p:cNvPr id="1933584968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83966988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409120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206908406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890209577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962045286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905252719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227347554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147332151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083840328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569318467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939659148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803687397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066902922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763390801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103964561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983245168" name="Text">
    </p:cNvPr>
          <p:cNvSpPr>
            <a:spLocks noGrp="1"/>
          </p:cNvSpPr>
          <p:nvPr/>
        </p:nvSpPr>
        <p:spPr>
          <a:xfrm rot="0">
            <a:off x="9702800" y="1511300"/>
            <a:ext cx="3683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03/01</a:t>
            </a:r>
            <a:br/>
          </a:p>
        </p:txBody>
      </p:sp>
      <p:sp>
        <p:nvSpPr>
          <p:cNvPr id="1388136342" name="Text">
    </p:cNvPr>
          <p:cNvSpPr>
            <a:spLocks noGrp="1"/>
          </p:cNvSpPr>
          <p:nvPr/>
        </p:nvSpPr>
        <p:spPr>
          <a:xfrm rot="0">
            <a:off x="9334500" y="1511300"/>
            <a:ext cx="3683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02/26</a:t>
            </a:r>
            <a:br/>
          </a:p>
        </p:txBody>
      </p:sp>
      <p:sp>
        <p:nvSpPr>
          <p:cNvPr id="1656508717" name="Text">
    </p:cNvPr>
          <p:cNvSpPr>
            <a:spLocks noGrp="1"/>
          </p:cNvSpPr>
          <p:nvPr/>
        </p:nvSpPr>
        <p:spPr>
          <a:xfrm rot="0">
            <a:off x="5930900" y="1511300"/>
            <a:ext cx="3403600" cy="2882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 전자결재 관련 업무분석</a:t>
            </a:r>
            <a:br/>
          </a:p>
        </p:txBody>
      </p:sp>
      <p:sp>
        <p:nvSpPr>
          <p:cNvPr id="1251310922" name="Text">
    </p:cNvPr>
          <p:cNvSpPr>
            <a:spLocks noGrp="1"/>
          </p:cNvSpPr>
          <p:nvPr/>
        </p:nvSpPr>
        <p:spPr>
          <a:xfrm rot="0">
            <a:off x="5308600" y="1511300"/>
            <a:ext cx="5715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변석범</a:t>
            </a:r>
          </a:p>
        </p:txBody>
      </p:sp>
      <p:sp>
        <p:nvSpPr>
          <p:cNvPr id="694572489" name="Text">
    </p:cNvPr>
          <p:cNvSpPr>
            <a:spLocks noGrp="1"/>
          </p:cNvSpPr>
          <p:nvPr/>
        </p:nvSpPr>
        <p:spPr>
          <a:xfrm rot="0">
            <a:off x="88900" y="1511300"/>
            <a:ext cx="5715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변석범</a:t>
            </a:r>
          </a:p>
        </p:txBody>
      </p:sp>
      <p:sp>
        <p:nvSpPr>
          <p:cNvPr id="299841156" name="Text">
    </p:cNvPr>
          <p:cNvSpPr>
            <a:spLocks noGrp="1"/>
          </p:cNvSpPr>
          <p:nvPr/>
        </p:nvSpPr>
        <p:spPr>
          <a:xfrm rot="0">
            <a:off x="711200" y="1511300"/>
            <a:ext cx="3403600" cy="2882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 OSPM 편의성 수정 및 취약점 업로드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취약점 처리 관련 ITSM-102045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ITSM-107456 특정문서 조회함 / 담당업무 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서함 권한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ITSM-107186 DCS/ESD 계정등록신청서 / 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과 보고서 삭제신청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ITSM-107596 구매품의서 CO240200534 오타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ITSM-107559 교육결과보고 및 교육출장비 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청서 이력 삭제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ITSM-107479 기승인 소액구매요구/승인서 내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품의금액 변경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ITSM-107608 -&gt; 국내출장명령서 용무내용 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ITSM-107600 -&gt; 결재완료 문서에 첨부 파일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 전자결재 관련 업무부석</a:t>
            </a:r>
            <a:br/>
          </a:p>
        </p:txBody>
      </p:sp>
      <p:sp>
        <p:nvSpPr>
          <p:cNvPr id="292169899" name="Text">
    </p:cNvPr>
          <p:cNvSpPr>
            <a:spLocks noGrp="1"/>
          </p:cNvSpPr>
          <p:nvPr/>
        </p:nvSpPr>
        <p:spPr>
          <a:xfrm rot="0">
            <a:off x="4483100" y="1511300"/>
            <a:ext cx="3683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02/22</a:t>
            </a:r>
            <a:br/>
          </a:p>
        </p:txBody>
      </p:sp>
      <p:sp>
        <p:nvSpPr>
          <p:cNvPr id="1886681313" name="Text">
    </p:cNvPr>
          <p:cNvSpPr>
            <a:spLocks noGrp="1"/>
          </p:cNvSpPr>
          <p:nvPr/>
        </p:nvSpPr>
        <p:spPr>
          <a:xfrm rot="0">
            <a:off x="4851400" y="1511300"/>
            <a:ext cx="3683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</a:p>
        </p:txBody>
      </p:sp>
      <p:sp>
        <p:nvSpPr>
          <p:cNvPr id="1797759803" name="Text">
    </p:cNvPr>
          <p:cNvSpPr>
            <a:spLocks noGrp="1"/>
          </p:cNvSpPr>
          <p:nvPr/>
        </p:nvSpPr>
        <p:spPr>
          <a:xfrm rot="0">
            <a:off x="4114800" y="1511300"/>
            <a:ext cx="3683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</a:p>
        </p:txBody>
      </p:sp>
      <p:sp>
        <p:nvSpPr>
          <p:cNvPr id="52741069" name="Text">
    </p:cNvPr>
          <p:cNvSpPr>
            <a:spLocks noGrp="1"/>
          </p:cNvSpPr>
          <p:nvPr/>
        </p:nvSpPr>
        <p:spPr>
          <a:xfrm rot="0">
            <a:off x="660400" y="1511300"/>
            <a:ext cx="34544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29024626" name="Text">
    </p:cNvPr>
          <p:cNvSpPr>
            <a:spLocks noGrp="1"/>
          </p:cNvSpPr>
          <p:nvPr/>
        </p:nvSpPr>
        <p:spPr>
          <a:xfrm rot="0">
            <a:off x="5880100" y="1511300"/>
            <a:ext cx="34544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275914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187188943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667012977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2095817076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909520484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756173573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874697840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325163250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237196871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236996424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257654289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739610191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605689574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309969161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911926298" name="Text">
    </p:cNvPr>
          <p:cNvSpPr>
            <a:spLocks noGrp="1"/>
          </p:cNvSpPr>
          <p:nvPr/>
        </p:nvSpPr>
        <p:spPr>
          <a:xfrm rot="0">
            <a:off x="97028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</a:p>
        </p:txBody>
      </p:sp>
      <p:sp>
        <p:nvSpPr>
          <p:cNvPr id="1397600446" name="Text">
    </p:cNvPr>
          <p:cNvSpPr>
            <a:spLocks noGrp="1"/>
          </p:cNvSpPr>
          <p:nvPr/>
        </p:nvSpPr>
        <p:spPr>
          <a:xfrm rot="0">
            <a:off x="93345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02/26</a:t>
            </a:r>
            <a:br/>
            <a:br/>
          </a:p>
        </p:txBody>
      </p:sp>
      <p:sp>
        <p:nvSpPr>
          <p:cNvPr id="721869281" name="Text">
    </p:cNvPr>
          <p:cNvSpPr>
            <a:spLocks noGrp="1"/>
          </p:cNvSpPr>
          <p:nvPr/>
        </p:nvSpPr>
        <p:spPr>
          <a:xfrm rot="0">
            <a:off x="5930900" y="1511300"/>
            <a:ext cx="3403600" cy="24257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정기적검토 메일링 주기 설정 및 변경 건에 대해 일정 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검 및 운영 반영 지원 예정</a:t>
            </a:r>
          </a:p>
        </p:txBody>
      </p:sp>
      <p:sp>
        <p:nvSpPr>
          <p:cNvPr id="1092633419" name="Text">
    </p:cNvPr>
          <p:cNvSpPr>
            <a:spLocks noGrp="1"/>
          </p:cNvSpPr>
          <p:nvPr/>
        </p:nvSpPr>
        <p:spPr>
          <a:xfrm rot="0">
            <a:off x="5308600" y="1511300"/>
            <a:ext cx="5715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549131585" name="Text">
    </p:cNvPr>
          <p:cNvSpPr>
            <a:spLocks noGrp="1"/>
          </p:cNvSpPr>
          <p:nvPr/>
        </p:nvSpPr>
        <p:spPr>
          <a:xfrm rot="0">
            <a:off x="88900" y="1511300"/>
            <a:ext cx="5715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508402088" name="Text">
    </p:cNvPr>
          <p:cNvSpPr>
            <a:spLocks noGrp="1"/>
          </p:cNvSpPr>
          <p:nvPr/>
        </p:nvSpPr>
        <p:spPr>
          <a:xfrm rot="0">
            <a:off x="711200" y="1511300"/>
            <a:ext cx="3403600" cy="24257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ERM 알림메일 리스크 관리팀 담당자 변경 요청 적용(황중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연 책임-&gt;이재승 선임)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2024년 회사필수 공통지식 강의 영상 다운시 WAS 부하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발생을 회피하기 위한  WEB서버에서 WAS 서버를 통하지 않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는 정적 다운로드 방안 검토(본사vod서버에 업로드 및 링크 u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rl로 영상 수강 제공)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교육결과보고 및 교육출장비 신청서 이력 삭제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ERM 시스템 관련 이상현상 확인 요청 및 ERM sub Commi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ttee회의록 개최회차 정보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ERM 시스템 데이트 수정 및 입력 요청	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U50100 정상운전절차 개정오류 확인 재개정처리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교육결과보고서 기각 후 조회 안됨 문의, 수강자 재등록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RHDS1-C-0003 문서 상태 복구 요청(탈황1팀 강기태 주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임) </a:t>
            </a:r>
          </a:p>
        </p:txBody>
      </p:sp>
      <p:sp>
        <p:nvSpPr>
          <p:cNvPr id="52003409" name="Text">
    </p:cNvPr>
          <p:cNvSpPr>
            <a:spLocks noGrp="1"/>
          </p:cNvSpPr>
          <p:nvPr/>
        </p:nvSpPr>
        <p:spPr>
          <a:xfrm rot="0">
            <a:off x="44831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02/23</a:t>
            </a:r>
            <a:br/>
            <a:br/>
          </a:p>
        </p:txBody>
      </p:sp>
      <p:sp>
        <p:nvSpPr>
          <p:cNvPr id="1088467810" name="Text">
    </p:cNvPr>
          <p:cNvSpPr>
            <a:spLocks noGrp="1"/>
          </p:cNvSpPr>
          <p:nvPr/>
        </p:nvSpPr>
        <p:spPr>
          <a:xfrm rot="0">
            <a:off x="48514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02/23</a:t>
            </a:r>
            <a:br/>
            <a:br/>
          </a:p>
        </p:txBody>
      </p:sp>
      <p:sp>
        <p:nvSpPr>
          <p:cNvPr id="940160802" name="Text">
    </p:cNvPr>
          <p:cNvSpPr>
            <a:spLocks noGrp="1"/>
          </p:cNvSpPr>
          <p:nvPr/>
        </p:nvSpPr>
        <p:spPr>
          <a:xfrm rot="0">
            <a:off x="41148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02/23</a:t>
            </a:r>
            <a:br/>
            <a:br/>
          </a:p>
        </p:txBody>
      </p:sp>
      <p:sp>
        <p:nvSpPr>
          <p:cNvPr id="1258027346" name="Text">
    </p:cNvPr>
          <p:cNvSpPr>
            <a:spLocks noGrp="1"/>
          </p:cNvSpPr>
          <p:nvPr/>
        </p:nvSpPr>
        <p:spPr>
          <a:xfrm rot="0">
            <a:off x="660400" y="1511300"/>
            <a:ext cx="34544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6461142" name="Text">
    </p:cNvPr>
          <p:cNvSpPr>
            <a:spLocks noGrp="1"/>
          </p:cNvSpPr>
          <p:nvPr/>
        </p:nvSpPr>
        <p:spPr>
          <a:xfrm rot="0">
            <a:off x="5880100" y="1511300"/>
            <a:ext cx="34544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82206496" name="Text">
    </p:cNvPr>
          <p:cNvSpPr>
            <a:spLocks noGrp="1"/>
          </p:cNvSpPr>
          <p:nvPr/>
        </p:nvSpPr>
        <p:spPr>
          <a:xfrm rot="0">
            <a:off x="9702800" y="39370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03/04</a:t>
            </a:r>
            <a:br/>
            <a:br/>
          </a:p>
        </p:txBody>
      </p:sp>
      <p:sp>
        <p:nvSpPr>
          <p:cNvPr id="902047413" name="Text">
    </p:cNvPr>
          <p:cNvSpPr>
            <a:spLocks noGrp="1"/>
          </p:cNvSpPr>
          <p:nvPr/>
        </p:nvSpPr>
        <p:spPr>
          <a:xfrm rot="0">
            <a:off x="9334500" y="39370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02/26</a:t>
            </a:r>
            <a:br/>
            <a:br/>
          </a:p>
        </p:txBody>
      </p:sp>
      <p:sp>
        <p:nvSpPr>
          <p:cNvPr id="551581750" name="Text">
    </p:cNvPr>
          <p:cNvSpPr>
            <a:spLocks noGrp="1"/>
          </p:cNvSpPr>
          <p:nvPr/>
        </p:nvSpPr>
        <p:spPr>
          <a:xfrm rot="0">
            <a:off x="5930900" y="3937000"/>
            <a:ext cx="3403600" cy="24257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[WMS] Application 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http 로 접근 시 https로 redirect 적용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사이버 보안 컴플라이언스 점검 조치 사항 中- ADMIN 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정 삭제 및 로그인 실패시 매세지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사이버 보안 컴플라이언스 점검 조치 사항 中- 협력업체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사용계정에 대한 만료기간 설정</a:t>
            </a:r>
          </a:p>
        </p:txBody>
      </p:sp>
      <p:sp>
        <p:nvSpPr>
          <p:cNvPr id="1513068589" name="Text">
    </p:cNvPr>
          <p:cNvSpPr>
            <a:spLocks noGrp="1"/>
          </p:cNvSpPr>
          <p:nvPr/>
        </p:nvSpPr>
        <p:spPr>
          <a:xfrm rot="0">
            <a:off x="5308600" y="3937000"/>
            <a:ext cx="5715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321811041" name="Text">
    </p:cNvPr>
          <p:cNvSpPr>
            <a:spLocks noGrp="1"/>
          </p:cNvSpPr>
          <p:nvPr/>
        </p:nvSpPr>
        <p:spPr>
          <a:xfrm rot="0">
            <a:off x="88900" y="3937000"/>
            <a:ext cx="5715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130752319" name="Text">
    </p:cNvPr>
          <p:cNvSpPr>
            <a:spLocks noGrp="1"/>
          </p:cNvSpPr>
          <p:nvPr/>
        </p:nvSpPr>
        <p:spPr>
          <a:xfrm rot="0">
            <a:off x="711200" y="3937000"/>
            <a:ext cx="3403600" cy="24257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[WMS] Application 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출고완료 된 출고내역 中 해당 자제에 대한 할당된 로트번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호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Window 서버 보안 패치 작업 hqwmswb1, hqwmswb2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사이버보안 컴플라이언스 점검 개선 계획 및 공수 산정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사이버 보안 컴플라이언스 점검 조치 사항 中- ADMIN 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정 삭제 및 로그인 실패시 매세지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지류상품권 구권 신권으로 교환 판매 처리 로직 확인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울산지사 상품권 회수 사용자 오류로 인한 데이터 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분석관리 &gt; 보험금액산출 데이터 작업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제작/이관입고등록 데이터 추출 요청</a:t>
            </a:r>
          </a:p>
        </p:txBody>
      </p:sp>
      <p:sp>
        <p:nvSpPr>
          <p:cNvPr id="617211448" name="Text">
    </p:cNvPr>
          <p:cNvSpPr>
            <a:spLocks noGrp="1"/>
          </p:cNvSpPr>
          <p:nvPr/>
        </p:nvSpPr>
        <p:spPr>
          <a:xfrm rot="0">
            <a:off x="4483100" y="39370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</a:p>
        </p:txBody>
      </p:sp>
      <p:sp>
        <p:nvSpPr>
          <p:cNvPr id="33680508" name="Text">
    </p:cNvPr>
          <p:cNvSpPr>
            <a:spLocks noGrp="1"/>
          </p:cNvSpPr>
          <p:nvPr/>
        </p:nvSpPr>
        <p:spPr>
          <a:xfrm rot="0">
            <a:off x="4851400" y="39370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</a:p>
        </p:txBody>
      </p:sp>
      <p:sp>
        <p:nvSpPr>
          <p:cNvPr id="1650211623" name="Text">
    </p:cNvPr>
          <p:cNvSpPr>
            <a:spLocks noGrp="1"/>
          </p:cNvSpPr>
          <p:nvPr/>
        </p:nvSpPr>
        <p:spPr>
          <a:xfrm rot="0">
            <a:off x="4114800" y="39370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</a:p>
        </p:txBody>
      </p:sp>
      <p:sp>
        <p:nvSpPr>
          <p:cNvPr id="1035068084" name="Text">
    </p:cNvPr>
          <p:cNvSpPr>
            <a:spLocks noGrp="1"/>
          </p:cNvSpPr>
          <p:nvPr/>
        </p:nvSpPr>
        <p:spPr>
          <a:xfrm rot="0">
            <a:off x="660400" y="3937000"/>
            <a:ext cx="34544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53468444" name="Text">
    </p:cNvPr>
          <p:cNvSpPr>
            <a:spLocks noGrp="1"/>
          </p:cNvSpPr>
          <p:nvPr/>
        </p:nvSpPr>
        <p:spPr>
          <a:xfrm rot="0">
            <a:off x="5880100" y="3937000"/>
            <a:ext cx="34544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1793336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481364213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792884490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761267078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484555037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440077326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429741356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885791146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628385663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735218339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346704215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090454305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186388958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274238951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23698751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03/01</a:t>
            </a:r>
            <a:br/>
            <a:br/>
          </a:p>
        </p:txBody>
      </p:sp>
      <p:sp>
        <p:nvSpPr>
          <p:cNvPr id="889955263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02/07</a:t>
            </a:r>
            <a:br/>
            <a:br/>
          </a:p>
        </p:txBody>
      </p:sp>
      <p:sp>
        <p:nvSpPr>
          <p:cNvPr id="1167320811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[계정관리] 문서번호 : A36-24-0003, 03/01 인사명령 관련 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처리 (03/01 이후 처리 예정)</a:t>
            </a:r>
            <a:br/>
          </a:p>
        </p:txBody>
      </p:sp>
      <p:sp>
        <p:nvSpPr>
          <p:cNvPr id="344907217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LOPAS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856016088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LOPAS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1534828380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재고관리 &gt; 저유소 재고 현황, 코드명 및 검색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조건 입력 시 search 늦어지는 현상 확인 및 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HR 관련 배치 임의 실행 (2024.02.20, 10시경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작업 수행 완료)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[계정관리] 문서번호 : A36-24-0003, 03/01 인사명령 관련 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처리 (03/01 이후 처리 예정)</a:t>
            </a:r>
            <a:br/>
          </a:p>
        </p:txBody>
      </p:sp>
      <p:sp>
        <p:nvSpPr>
          <p:cNvPr id="25534054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03/01</a:t>
            </a:r>
            <a:br/>
            <a:br/>
          </a:p>
        </p:txBody>
      </p:sp>
      <p:sp>
        <p:nvSpPr>
          <p:cNvPr id="1661451218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0%</a:t>
            </a:r>
            <a:br/>
            <a:br/>
          </a:p>
        </p:txBody>
      </p:sp>
      <p:sp>
        <p:nvSpPr>
          <p:cNvPr id="2126090350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02/07</a:t>
            </a:r>
            <a:br/>
            <a:br/>
          </a:p>
        </p:txBody>
      </p:sp>
      <p:sp>
        <p:nvSpPr>
          <p:cNvPr id="2034200986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24275061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4280208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</a:p>
        </p:txBody>
      </p:sp>
      <p:sp>
        <p:nvSpPr>
          <p:cNvPr id="946574802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</a:p>
        </p:txBody>
      </p:sp>
      <p:sp>
        <p:nvSpPr>
          <p:cNvPr id="987398372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2024.1월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저유소 PM 관련 작업의뢰서 전자결재(T-Code : IW21) 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PRM 영업시설물 지원 시스템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[HCM] 퇴직연금 운용방식 변경 신청서 개발</a:t>
            </a:r>
          </a:p>
        </p:txBody>
      </p:sp>
      <p:sp>
        <p:nvSpPr>
          <p:cNvPr id="1274859220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1543445109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1063178717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2024.1월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저유소 PM 관련 작업의뢰서 전자결재(T-Code : IW21) 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PRM 영업시설물 지원 시스템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[HCM] 퇴직연금 운용방식 변경 신청서 개발</a:t>
            </a:r>
          </a:p>
        </p:txBody>
      </p:sp>
      <p:sp>
        <p:nvSpPr>
          <p:cNvPr id="1366141810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</a:p>
        </p:txBody>
      </p:sp>
      <p:sp>
        <p:nvSpPr>
          <p:cNvPr id="2085246437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</a:p>
        </p:txBody>
      </p:sp>
      <p:sp>
        <p:nvSpPr>
          <p:cNvPr id="1606796459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</a:p>
        </p:txBody>
      </p:sp>
      <p:sp>
        <p:nvSpPr>
          <p:cNvPr id="383530679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10293797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505" name="Group 97"/>
          <p:cNvGraphicFramePr>
            <a:graphicFrameLocks noGrp="1"/>
          </p:cNvGraphicFramePr>
          <p:nvPr/>
        </p:nvGraphicFramePr>
        <p:xfrm>
          <a:off x="255577" y="1105143"/>
          <a:ext cx="4771985" cy="3535492"/>
        </p:xfrm>
        <a:graphic>
          <a:graphicData uri="http://schemas.openxmlformats.org/drawingml/2006/table">
            <a:tbl>
              <a:tblPr/>
              <a:tblGrid>
                <a:gridCol w="5219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88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7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5077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494" marL="88055" marR="88055" marT="4549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err="1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진행율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922">
                <a:tc rowSpan="7">
                  <a:txBody>
                    <a:bodyPr/>
                    <a:lstStyle>
                      <a:lvl1pPr algn="l"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algn="l"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algn="l"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algn="l"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algn="l"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Market.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박치영</a:t>
                      </a:r>
                    </a:p>
                  </a:txBody>
                  <a:tcPr horzOverflow="overflow" marB="45527" marL="81282" marR="81282" marT="4552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전화번호로 포인트 적립 적용 조회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73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G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카페이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 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(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주유소연동추가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_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현대서버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)</a:t>
                      </a: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489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주유소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금결원전송관련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수정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158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플랫폼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테스트 대응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,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수정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993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부정적립관련 대응 조치 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993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키오스크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즉발카드 등록 개발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40%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9932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526" marL="83067" marR="83067" marT="4652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모바일상품권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제휴 성능 저하문제 수정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568">
                <a:tc rowSpan="7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IF.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이승범</a:t>
                      </a:r>
                    </a:p>
                  </a:txBody>
                  <a:tcPr horzOverflow="overflow" marB="45527" marL="81282" marR="81282" marT="4552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금결원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 전문 수정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02/03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773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680" marL="83077" marR="83077" marT="4668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쿠폰 전문 수정 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(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사용가능상품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)</a:t>
                      </a: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02/16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</a:t>
                      </a:r>
                      <a:r>
                        <a:rPr altLang="ko-KR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523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G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카페이 연동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+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제네시스앱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09/21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01/29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5247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680" marL="83077" marR="83077" marT="4668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국민카드 배치 서버 변경으로 인한 연계 테스트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5529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 쿠폰 발행 점검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02/28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56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롯데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멤버스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데이터 정합성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,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후속 조치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0569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525" marL="83067" marR="83067" marT="4652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8274" name="Rectangle 137"/>
          <p:cNvSpPr>
            <a:spLocks noChangeArrowheads="1"/>
          </p:cNvSpPr>
          <p:nvPr/>
        </p:nvSpPr>
        <p:spPr bwMode="auto">
          <a:xfrm>
            <a:off x="302179" y="302534"/>
            <a:ext cx="8761066" cy="331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bIns="44805" lIns="89609" rIns="89609" tIns="44805">
            <a:spAutoFit/>
          </a:bodyPr>
          <a:lstStyle>
            <a:lvl1pPr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566">
                <a:solidFill>
                  <a:srgbClr val="000000"/>
                </a:solidFill>
              </a:rPr>
              <a:t>3. </a:t>
            </a:r>
            <a:r>
              <a:rPr altLang="en-US" kumimoji="1" lang="ko-KR" sz="1566">
                <a:solidFill>
                  <a:srgbClr val="000000"/>
                </a:solidFill>
              </a:rPr>
              <a:t>주간업무 실적 및 계획</a:t>
            </a:r>
            <a:r>
              <a:rPr altLang="ko-KR" kumimoji="1" lang="en-US" sz="1566">
                <a:solidFill>
                  <a:srgbClr val="000000"/>
                </a:solidFill>
              </a:rPr>
              <a:t>(</a:t>
            </a:r>
            <a:r>
              <a:rPr altLang="en-US" lang="ko-KR" sz="1566">
                <a:solidFill>
                  <a:srgbClr val="000000"/>
                </a:solidFill>
              </a:rPr>
              <a:t>②</a:t>
            </a:r>
            <a:r>
              <a:rPr altLang="ko-KR" kumimoji="1" lang="en-US" sz="1566">
                <a:solidFill>
                  <a:srgbClr val="000000"/>
                </a:solidFill>
              </a:rPr>
              <a:t>Quintet - CRM)</a:t>
            </a:r>
          </a:p>
        </p:txBody>
      </p:sp>
      <p:sp>
        <p:nvSpPr>
          <p:cNvPr id="8275" name="Rectangle 135"/>
          <p:cNvSpPr>
            <a:spLocks noChangeArrowheads="1"/>
          </p:cNvSpPr>
          <p:nvPr/>
        </p:nvSpPr>
        <p:spPr bwMode="auto">
          <a:xfrm>
            <a:off x="255577" y="752526"/>
            <a:ext cx="4771985" cy="298249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금주 업무 실적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  <p:graphicFrame>
        <p:nvGraphicFramePr>
          <p:cNvPr id="7" name="Group 9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426789"/>
              </p:ext>
            </p:extLst>
          </p:nvPr>
        </p:nvGraphicFramePr>
        <p:xfrm>
          <a:off x="5102125" y="1048417"/>
          <a:ext cx="4473736" cy="3871829"/>
        </p:xfrm>
        <a:graphic>
          <a:graphicData uri="http://schemas.openxmlformats.org/drawingml/2006/table">
            <a:tbl>
              <a:tblPr/>
              <a:tblGrid>
                <a:gridCol w="668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1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0165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49" marL="88066" marR="88066" marT="4574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49" marL="88066" marR="88066" marT="4574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49" marL="88066" marR="88066" marT="4574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749" marL="88066" marR="88066" marT="4574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1896">
                <a:tc rowSpan="5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Market.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박치영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1" marR="81291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법인 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1896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70" marL="83077" marR="83077" marT="4677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거래내역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(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신규 결제 수단 정의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)</a:t>
                      </a: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1896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chemeClr val="bg1">
                              <a:lumMod val="85000"/>
                            </a:schemeClr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ko-KR" b="0" baseline="0" dirty="0" err="1" lang="en-US" smtClean="0" sz="800">
                          <a:solidFill>
                            <a:schemeClr val="bg1">
                              <a:lumMod val="85000"/>
                            </a:schemeClr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Pb</a:t>
                      </a:r>
                      <a:r>
                        <a:rPr altLang="en-US" b="0" baseline="0" dirty="0" lang="ko-KR" smtClean="0" sz="800">
                          <a:solidFill>
                            <a:schemeClr val="bg1">
                              <a:lumMod val="85000"/>
                            </a:schemeClr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상품적립</a:t>
                      </a:r>
                      <a:endParaRPr altLang="ko-KR" b="0" baseline="0" dirty="0" lang="en-US" smtClean="0" sz="800">
                        <a:solidFill>
                          <a:schemeClr val="bg1">
                            <a:lumMod val="85000"/>
                          </a:schemeClr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1896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-171450" latinLnBrk="1" lvl="0" marL="17145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사후적립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PRM,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전자결재 연동개발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5434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70" marL="83077" marR="83077" marT="4677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App push</a:t>
                      </a: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0934">
                <a:tc rowSpan="8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IF.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이승범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1" marR="81291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금결원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전문 수정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41" marL="81282" marR="81282" marT="456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02/03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9" marL="81282" marR="81282" marT="4562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9" marL="81282" marR="81282" marT="4562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0848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6" marL="83077" marR="83077" marT="4676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쿠폰 전문 수정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5" marL="81282" marR="81282" marT="456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02/16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0784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6" marL="83077" marR="83077" marT="4676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G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카페이 연동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+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제네시스앱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09/21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01/29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0784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국민카드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배치 서버 변경으로 인한 연계 테스트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824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 쿠폰 발행 점검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02/28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824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롯데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멤버스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데이터 정합성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,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후속 조치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824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5" marL="81282" marR="81282" marT="456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555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6" marL="83077" marR="83077" marT="4676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5" marL="81282" marR="81282" marT="456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8336" name="Rectangle 136"/>
          <p:cNvSpPr>
            <a:spLocks noChangeArrowheads="1"/>
          </p:cNvSpPr>
          <p:nvPr/>
        </p:nvSpPr>
        <p:spPr bwMode="auto">
          <a:xfrm>
            <a:off x="5092804" y="744759"/>
            <a:ext cx="4473736" cy="310676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차주 업무 계획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505" name="Group 97"/>
          <p:cNvGraphicFramePr>
            <a:graphicFrameLocks noGrp="1"/>
          </p:cNvGraphicFramePr>
          <p:nvPr/>
        </p:nvGraphicFramePr>
        <p:xfrm>
          <a:off x="264898" y="1097377"/>
          <a:ext cx="4771985" cy="5727215"/>
        </p:xfrm>
        <a:graphic>
          <a:graphicData uri="http://schemas.openxmlformats.org/drawingml/2006/table">
            <a:tbl>
              <a:tblPr/>
              <a:tblGrid>
                <a:gridCol w="6556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61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02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45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53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1374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55" marL="88075" marR="88075" marT="4575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err="1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진행율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완료일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977">
                <a:tc rowSpan="5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홈페이지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김재희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3" marL="88075" marR="88075" marT="4575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법인 하위 카드 등록 </a:t>
                      </a:r>
                    </a:p>
                  </a:txBody>
                  <a:tcPr horzOverflow="overflow" marB="45727" marL="81298" marR="81298" marT="4572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12/24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3" marL="81298" marR="81298" marT="4573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12/31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06" marL="81298" marR="81298" marT="4580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47" marL="81301" marR="81301" marT="4574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97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프로모션 기간내 가입자 정보 제공 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1/13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47" marL="81301" marR="81301" marT="4574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97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모바일주유권 문자 발송 </a:t>
                      </a:r>
                    </a:p>
                  </a:txBody>
                  <a:tcPr horzOverflow="overflow" marB="45736" marL="81298" marR="81298" marT="4573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8" marR="81298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1/15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47" marL="81301" marR="81301" marT="4574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950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7" marL="90003" marR="90003" marT="4675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모의해킹 중복로그인 제한 개발 및 운영 이관 </a:t>
                      </a:r>
                    </a:p>
                  </a:txBody>
                  <a:tcPr horzOverflow="overflow" marB="45751" marL="81298" marR="81298" marT="4575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11/02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1/12</a:t>
                      </a: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2" marL="81301" marR="81301" marT="457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17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1" marL="90003" marR="90003" marT="4676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믿음가득주유소 화면 오류 확인 및 수정 요청</a:t>
                      </a:r>
                      <a:endParaRPr altLang="ko-KR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1" marL="81298" marR="81298" marT="4575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50%</a:t>
                      </a:r>
                    </a:p>
                  </a:txBody>
                  <a:tcPr horzOverflow="overflow" marB="45752" marL="81301" marR="81301" marT="457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0913">
                <a:tc rowSpan="7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강길제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3" marL="88075" marR="88075" marT="45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감사인원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</a:t>
                      </a: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VOC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관리자 권한 부여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1/8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1/11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091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Summary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발송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변경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1/14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1/15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91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배치 스케줄러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8" marL="81301" marR="81301" marT="4575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1/13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9" marL="81301" marR="81301" marT="4575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1/13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9" marL="81301" marR="81301" marT="4575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091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검색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9" marL="81294" marR="81294" marT="4578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091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087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438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829">
                <a:tc rowSpan="1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 BI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석주연</a:t>
                      </a:r>
                    </a:p>
                  </a:txBody>
                  <a:tcPr horzOverflow="overflow" marB="45753" marL="88075" marR="88075" marT="45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보너스카드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매출비율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사입량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반영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itchFamily="50" typeface="맑은 고딕"/>
                          <a:ea charset="-127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itchFamily="50" typeface="맑은 고딕"/>
                        <a:ea charset="-127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‘20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월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남선석유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리드코프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매출비율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반영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itchFamily="50" typeface="맑은 고딕"/>
                          <a:ea charset="-127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itchFamily="50" typeface="맑은 고딕"/>
                        <a:ea charset="-127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735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’20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월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UNDEFINED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유치실적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데이터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itchFamily="50" typeface="맑은 고딕"/>
                          <a:ea charset="-127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itchFamily="50" typeface="맑은 고딕"/>
                        <a:ea charset="-127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7744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신규회원 분석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BI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엑셀 파일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085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관련 문의 응대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0857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5" marL="90010" marR="90010" marT="46755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중단대상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거래처 및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재산정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개발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1/14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1/19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3" marL="90010" marR="90010" marT="46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46" marL="90010" marR="90010" marT="46746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10857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46" marL="90010" marR="90010" marT="46746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49" marL="90010" marR="90010" marT="46749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330140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4" marL="90010" marR="90010" marT="46754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</a:tbl>
          </a:graphicData>
        </a:graphic>
      </p:graphicFrame>
      <p:sp>
        <p:nvSpPr>
          <p:cNvPr id="9339" name="Rectangle 137"/>
          <p:cNvSpPr>
            <a:spLocks noChangeArrowheads="1"/>
          </p:cNvSpPr>
          <p:nvPr/>
        </p:nvSpPr>
        <p:spPr bwMode="auto">
          <a:xfrm>
            <a:off x="302179" y="302534"/>
            <a:ext cx="8761066" cy="331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bIns="44805" lIns="89609" rIns="89609" tIns="44805">
            <a:spAutoFit/>
          </a:bodyPr>
          <a:lstStyle>
            <a:lvl1pPr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566">
                <a:solidFill>
                  <a:srgbClr val="000000"/>
                </a:solidFill>
              </a:rPr>
              <a:t>3. </a:t>
            </a:r>
            <a:r>
              <a:rPr altLang="en-US" kumimoji="1" lang="ko-KR" sz="1566">
                <a:solidFill>
                  <a:srgbClr val="000000"/>
                </a:solidFill>
              </a:rPr>
              <a:t>주간업무 실적 및 계획</a:t>
            </a:r>
            <a:r>
              <a:rPr altLang="ko-KR" kumimoji="1" lang="en-US" sz="1566">
                <a:solidFill>
                  <a:srgbClr val="000000"/>
                </a:solidFill>
              </a:rPr>
              <a:t>(</a:t>
            </a:r>
            <a:r>
              <a:rPr altLang="en-US" lang="ko-KR" sz="1566">
                <a:solidFill>
                  <a:srgbClr val="000000"/>
                </a:solidFill>
              </a:rPr>
              <a:t>②</a:t>
            </a:r>
            <a:r>
              <a:rPr altLang="ko-KR" kumimoji="1" lang="en-US" sz="1566">
                <a:solidFill>
                  <a:srgbClr val="000000"/>
                </a:solidFill>
              </a:rPr>
              <a:t>Quintet - CRM)</a:t>
            </a:r>
          </a:p>
        </p:txBody>
      </p:sp>
      <p:sp>
        <p:nvSpPr>
          <p:cNvPr id="9340" name="Rectangle 135"/>
          <p:cNvSpPr>
            <a:spLocks noChangeArrowheads="1"/>
          </p:cNvSpPr>
          <p:nvPr/>
        </p:nvSpPr>
        <p:spPr bwMode="auto">
          <a:xfrm>
            <a:off x="246257" y="750972"/>
            <a:ext cx="4771985" cy="298249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금주 업무 실적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  <p:graphicFrame>
        <p:nvGraphicFramePr>
          <p:cNvPr id="7" name="Group 97"/>
          <p:cNvGraphicFramePr>
            <a:graphicFrameLocks noGrp="1"/>
          </p:cNvGraphicFramePr>
          <p:nvPr/>
        </p:nvGraphicFramePr>
        <p:xfrm>
          <a:off x="5111445" y="1108250"/>
          <a:ext cx="4473736" cy="4374258"/>
        </p:xfrm>
        <a:graphic>
          <a:graphicData uri="http://schemas.openxmlformats.org/drawingml/2006/table">
            <a:tbl>
              <a:tblPr/>
              <a:tblGrid>
                <a:gridCol w="668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1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4752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5" marL="88066" marR="88066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55" marL="88066" marR="88066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55" marL="88066" marR="88066" marT="4575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755" marL="88066" marR="88066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1029">
                <a:tc rowSpan="5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홈페이지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김재희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latinLnBrk="1"/>
                      <a:endParaRPr altLang="en-US" dirty="0" lang="ko-KR" sz="900"/>
                    </a:p>
                  </a:txBody>
                  <a:tcPr horzOverflow="overflow" marB="45753" marL="88066" marR="88066" marT="45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보너스카드홈페이지 카드 안내 페이지 수정</a:t>
                      </a: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9/17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미정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1019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믿음가득주유소 화면 테스트 및 운영 이관</a:t>
                      </a:r>
                      <a:endParaRPr altLang="ko-KR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1" marL="81298" marR="81298" marT="4575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95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95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6" marL="81298" marR="81298" marT="4573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8" marR="81298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094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0987">
                <a:tc rowSpan="6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강길제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3" marL="88066" marR="88066" marT="4575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분류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3" marL="81301" marR="81301" marT="4576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4" marL="81301" marR="81301" marT="4576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4" marL="81301" marR="81301" marT="4576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098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검색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9" marL="81294" marR="81294" marT="4578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99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4" marL="81301" marR="81301" marT="4577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4" marL="81301" marR="81301" marT="4577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098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5" marL="81301" marR="81301" marT="4577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098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5" marL="81301" marR="81301" marT="4577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088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2" marL="81294" marR="81294" marT="4578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3" marL="81294" marR="81294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3" marL="81294" marR="81294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0879">
                <a:tc rowSpan="8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 BI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석주연</a:t>
                      </a:r>
                    </a:p>
                  </a:txBody>
                  <a:tcPr horzOverflow="overflow" marB="45753" marL="88066" marR="88066" marT="4575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산정식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수정 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88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포인트 적립 사용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ERP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보고용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‘20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년도 데이터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088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’20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중단대상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거래처 대상 리스트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258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이벤트 기간 중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신규회원의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주유데이터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088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중단대상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거래처 및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재산정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개발 및 검증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1/14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1/19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089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0893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0" marL="90000" marR="90000" marT="46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0893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4" marL="90000" marR="90000" marT="4675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9423" name="Rectangle 136"/>
          <p:cNvSpPr>
            <a:spLocks noChangeArrowheads="1"/>
          </p:cNvSpPr>
          <p:nvPr/>
        </p:nvSpPr>
        <p:spPr bwMode="auto">
          <a:xfrm>
            <a:off x="5092804" y="750972"/>
            <a:ext cx="4473736" cy="310676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차주 업무 계획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6" name="표 3075"/>
          <p:cNvGraphicFramePr/>
          <p:nvPr>
            <p:extLst>
              <p:ext uri="{D42A27DB-BD31-4B8C-83A1-F6EECF244321}">
                <p14:modId xmlns:p14="http://schemas.microsoft.com/office/powerpoint/2010/main" val="168557776"/>
              </p:ext>
            </p:extLst>
          </p:nvPr>
        </p:nvGraphicFramePr>
        <p:xfrm>
          <a:off x="271440" y="1141189"/>
          <a:ext cx="9318451" cy="5164874"/>
        </p:xfrm>
        <a:graphic>
          <a:graphicData uri="http://schemas.openxmlformats.org/drawingml/2006/table">
            <a:tbl>
              <a:tblPr bandRow="1" firstRow="1"/>
              <a:tblGrid>
                <a:gridCol w="1320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3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50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3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51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572"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FF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일</a:t>
                      </a:r>
                      <a:endParaRPr altLang="en-US" b="0" dirty="0" i="0" kumimoji="1" lang="ko-KR" sz="900">
                        <a:solidFill>
                          <a:srgbClr val="FF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수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금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0000FF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토</a:t>
                      </a:r>
                      <a:endParaRPr altLang="en-US" b="0" dirty="0" i="0" kumimoji="1" lang="ko-KR" sz="900">
                        <a:solidFill>
                          <a:srgbClr val="0000FF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1392">
                <a:tc>
                  <a:txBody>
                    <a:bodyPr/>
                    <a:lstStyle/>
                    <a:p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김원기</a:t>
                      </a:r>
                    </a:p>
                  </a:txBody>
                  <a:tcPr marB="45716" marT="45716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917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4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5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6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◑ 박남신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남대현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◑ 순현국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설날 연휴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설날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2327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11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설날연휴</a:t>
                      </a:r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(</a:t>
                      </a:r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대체휴일</a:t>
                      </a:r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)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13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강민경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최진우</a:t>
                      </a: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14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15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16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이지은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17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914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18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19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◐ 이병준</a:t>
                      </a: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20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21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22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23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변석범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24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235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25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26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박선미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최연화</a:t>
                      </a: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27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28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29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◑ 배영식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황보람</a:t>
                      </a: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246" name="TextBox 3245"/>
          <p:cNvSpPr txBox="1"/>
          <p:nvPr/>
        </p:nvSpPr>
        <p:spPr>
          <a:xfrm>
            <a:off x="5639356" y="661884"/>
            <a:ext cx="661884" cy="36342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none">
            <a:noAutofit/>
          </a:bodyPr>
          <a:lstStyle/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00000"/>
              <a:buFont typeface="Arial"/>
              <a:buChar char="◑"/>
              <a:defRPr/>
            </a:pPr>
            <a:r>
              <a:rPr altLang="en-US" b="0" baseline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반 차</a:t>
            </a:r>
          </a:p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50000"/>
              <a:buFont typeface="Wingdings"/>
              <a:buChar char="l"/>
              <a:defRPr/>
            </a:pPr>
            <a:r>
              <a:rPr altLang="en-US" b="0" baseline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 1day</a:t>
            </a:r>
            <a:endParaRPr altLang="en-US" b="0" i="0" kumimoji="1" lang="ko-KR" sz="900">
              <a:solidFill>
                <a:srgbClr val="3333CC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7" name="TextBox 3246"/>
          <p:cNvSpPr txBox="1"/>
          <p:nvPr/>
        </p:nvSpPr>
        <p:spPr>
          <a:xfrm>
            <a:off x="226954" y="199994"/>
            <a:ext cx="9056616" cy="33646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89" lIns="91577" rIns="91577" tIns="45789" vert="horz" wrap="square">
            <a:noAutofit/>
          </a:bodyPr>
          <a:lstStyle/>
          <a:p>
            <a:pPr algn="l" defTabSz="58846888" eaLnBrk="0" hangingPunct="0" indent="-385813" latinLnBrk="0" lvl="0" marL="38581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별첨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-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2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202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4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 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02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월 휴가계획서</a:t>
            </a:r>
            <a:endParaRPr altLang="en-US" b="1" dirty="0" i="0" kumimoji="1" lang="ko-KR" sz="16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8" name="TextBox 3247"/>
          <p:cNvSpPr txBox="1"/>
          <p:nvPr/>
        </p:nvSpPr>
        <p:spPr>
          <a:xfrm>
            <a:off x="6777363" y="666628"/>
            <a:ext cx="1447571" cy="35555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Ø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예비군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/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민방위 훈련 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ü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교육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,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 내부회의 </a:t>
            </a:r>
            <a:endParaRPr altLang="en-US" b="0" dirty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2" name="TextBox 3251"/>
          <p:cNvSpPr txBox="1"/>
          <p:nvPr/>
        </p:nvSpPr>
        <p:spPr>
          <a:xfrm>
            <a:off x="7853525" y="661884"/>
            <a:ext cx="1676088" cy="355501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v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경조휴가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Arial"/>
              <a:buChar char="◇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건강검진</a:t>
            </a:r>
            <a:endParaRPr altLang="en-US" b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3" name="TextBox 3252"/>
          <p:cNvSpPr txBox="1"/>
          <p:nvPr/>
        </p:nvSpPr>
        <p:spPr>
          <a:xfrm>
            <a:off x="722167" y="6401209"/>
            <a:ext cx="3085536" cy="22382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20" lIns="91440" rIns="91440" tIns="45720" vert="horz" wrap="none">
            <a:noAutofit/>
          </a:bodyPr>
          <a:lstStyle/>
          <a:p>
            <a:pPr algn="r" defTabSz="75524200" eaLnBrk="0" hangingPunct="0" indent="0" latinLnBrk="0" lvl="0" marL="0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H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IT운영팀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R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생산IT지원팀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B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Baynex 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Q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Quintet</a:t>
            </a:r>
            <a:endParaRPr altLang="en-US" b="0" i="0" kumimoji="1" lang="ko-KR" sz="9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showMasterSp="fals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