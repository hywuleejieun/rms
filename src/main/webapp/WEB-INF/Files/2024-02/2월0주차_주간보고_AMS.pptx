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2024-02-01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[2024.01.30 ~ 2024.02.05]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2월 0주차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899581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16182085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298845577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0265488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74946405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71640983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6154931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9287054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120766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3153688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7999749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8051327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79474528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7592783" name="Frame"/>
          <p:cNvSpPr>
            <a:spLocks noGrp="1"/>
          </p:cNvSpPr>
          <p:nvPr/>
        </p:nvSpPr>
        <p:spPr>
          <a:xfrm>
            <a:off x="25400" y="52451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960386441" name="Text">
    </p:cNvPr>
          <p:cNvSpPr>
            <a:spLocks noGrp="1"/>
          </p:cNvSpPr>
          <p:nvPr/>
        </p:nvSpPr>
        <p:spPr>
          <a:xfrm rot="0">
            <a:off x="152400" y="52705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548034267" name="Text">
    </p:cNvPr>
          <p:cNvSpPr>
            <a:spLocks noGrp="1"/>
          </p:cNvSpPr>
          <p:nvPr/>
        </p:nvSpPr>
        <p:spPr>
          <a:xfrm rot="0">
            <a:off x="6451600" y="58039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781741" name="Text">
    </p:cNvPr>
          <p:cNvSpPr>
            <a:spLocks noGrp="1"/>
          </p:cNvSpPr>
          <p:nvPr/>
        </p:nvSpPr>
        <p:spPr>
          <a:xfrm rot="0">
            <a:off x="2057400" y="58039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1344791" name="Text">
    </p:cNvPr>
          <p:cNvSpPr>
            <a:spLocks noGrp="1"/>
          </p:cNvSpPr>
          <p:nvPr/>
        </p:nvSpPr>
        <p:spPr>
          <a:xfrm rot="0">
            <a:off x="101600" y="58039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1189300" name="Text">
    </p:cNvPr>
          <p:cNvSpPr>
            <a:spLocks noGrp="1"/>
          </p:cNvSpPr>
          <p:nvPr/>
        </p:nvSpPr>
        <p:spPr>
          <a:xfrm rot="0">
            <a:off x="101600" y="55626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753877309" name="Text">
    </p:cNvPr>
          <p:cNvSpPr>
            <a:spLocks noGrp="1"/>
          </p:cNvSpPr>
          <p:nvPr/>
        </p:nvSpPr>
        <p:spPr>
          <a:xfrm rot="0">
            <a:off x="2057400" y="55626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057105919" name="Text">
    </p:cNvPr>
          <p:cNvSpPr>
            <a:spLocks noGrp="1"/>
          </p:cNvSpPr>
          <p:nvPr/>
        </p:nvSpPr>
        <p:spPr>
          <a:xfrm rot="0">
            <a:off x="6451600" y="55626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17065279" name="Text">
    </p:cNvPr>
          <p:cNvSpPr>
            <a:spLocks noGrp="1"/>
          </p:cNvSpPr>
          <p:nvPr/>
        </p:nvSpPr>
        <p:spPr>
          <a:xfrm rot="0">
            <a:off x="101600" y="60960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5341294" name="Text">
    </p:cNvPr>
          <p:cNvSpPr>
            <a:spLocks noGrp="1"/>
          </p:cNvSpPr>
          <p:nvPr/>
        </p:nvSpPr>
        <p:spPr>
          <a:xfrm rot="0">
            <a:off x="6451600" y="60960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6238" name="Text">
    </p:cNvPr>
          <p:cNvSpPr>
            <a:spLocks noGrp="1"/>
          </p:cNvSpPr>
          <p:nvPr/>
        </p:nvSpPr>
        <p:spPr>
          <a:xfrm rot="0">
            <a:off x="2057400" y="60960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0766221" name="Text">
    </p:cNvPr>
          <p:cNvSpPr>
            <a:spLocks noGrp="1"/>
          </p:cNvSpPr>
          <p:nvPr/>
        </p:nvSpPr>
        <p:spPr>
          <a:xfrm rot="0">
            <a:off x="1244600" y="60960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326749" name="Text">
    </p:cNvPr>
          <p:cNvSpPr>
            <a:spLocks noGrp="1"/>
          </p:cNvSpPr>
          <p:nvPr/>
        </p:nvSpPr>
        <p:spPr>
          <a:xfrm rot="0">
            <a:off x="1244600" y="58039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9722072" name="Text">
    </p:cNvPr>
          <p:cNvSpPr>
            <a:spLocks noGrp="1"/>
          </p:cNvSpPr>
          <p:nvPr/>
        </p:nvSpPr>
        <p:spPr>
          <a:xfrm rot="0">
            <a:off x="1244600" y="55626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463603963" name="Text">
    </p:cNvPr>
          <p:cNvSpPr>
            <a:spLocks noGrp="1"/>
          </p:cNvSpPr>
          <p:nvPr/>
        </p:nvSpPr>
        <p:spPr>
          <a:xfrm rot="0">
            <a:off x="8102600" y="60960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2731750" name="Text">
    </p:cNvPr>
          <p:cNvSpPr>
            <a:spLocks noGrp="1"/>
          </p:cNvSpPr>
          <p:nvPr/>
        </p:nvSpPr>
        <p:spPr>
          <a:xfrm rot="0">
            <a:off x="8102600" y="55626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873523466" name="Text">
    </p:cNvPr>
          <p:cNvSpPr>
            <a:spLocks noGrp="1"/>
          </p:cNvSpPr>
          <p:nvPr/>
        </p:nvSpPr>
        <p:spPr>
          <a:xfrm rot="0">
            <a:off x="8102600" y="58039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3210484" name="Frame"/>
          <p:cNvSpPr>
            <a:spLocks noGrp="1"/>
          </p:cNvSpPr>
          <p:nvPr/>
        </p:nvSpPr>
        <p:spPr>
          <a:xfrm>
            <a:off x="101600" y="3136900"/>
            <a:ext cx="9779000" cy="194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43020841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93011314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572333295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71316639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7164781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116048881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873518782" name="Frame"/>
          <p:cNvSpPr>
            <a:spLocks noGrp="1"/>
          </p:cNvSpPr>
          <p:nvPr/>
        </p:nvSpPr>
        <p:spPr>
          <a:xfrm>
            <a:off x="165100" y="445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39598988" name="Text">
    </p:cNvPr>
          <p:cNvSpPr>
            <a:spLocks noGrp="1"/>
          </p:cNvSpPr>
          <p:nvPr/>
        </p:nvSpPr>
        <p:spPr>
          <a:xfrm rot="0">
            <a:off x="165100" y="443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03356213" name="Text">
    </p:cNvPr>
          <p:cNvSpPr>
            <a:spLocks noGrp="1"/>
          </p:cNvSpPr>
          <p:nvPr/>
        </p:nvSpPr>
        <p:spPr>
          <a:xfrm rot="0">
            <a:off x="965200" y="44831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대주주감사 지적사항 F/up을 위한 시스템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관리자 화면 부서 카테고리 분류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[HCM] 퇴직연금 운용방식 변경 신청서 개발</a:t>
            </a:r>
          </a:p>
        </p:txBody>
      </p:sp>
      <p:sp>
        <p:nvSpPr>
          <p:cNvPr id="1435437094" name="Text">
    </p:cNvPr>
          <p:cNvSpPr>
            <a:spLocks noGrp="1"/>
          </p:cNvSpPr>
          <p:nvPr/>
        </p:nvSpPr>
        <p:spPr>
          <a:xfrm rot="0">
            <a:off x="7239000" y="448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738047759" name="Text">
    </p:cNvPr>
          <p:cNvSpPr>
            <a:spLocks noGrp="1"/>
          </p:cNvSpPr>
          <p:nvPr/>
        </p:nvSpPr>
        <p:spPr>
          <a:xfrm rot="0">
            <a:off x="5549900" y="448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621007986" name="Text">
    </p:cNvPr>
          <p:cNvSpPr>
            <a:spLocks noGrp="1"/>
          </p:cNvSpPr>
          <p:nvPr/>
        </p:nvSpPr>
        <p:spPr>
          <a:xfrm rot="0">
            <a:off x="901700" y="443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6692513" name="Text">
    </p:cNvPr>
          <p:cNvSpPr>
            <a:spLocks noGrp="1"/>
          </p:cNvSpPr>
          <p:nvPr/>
        </p:nvSpPr>
        <p:spPr>
          <a:xfrm rot="0">
            <a:off x="6121400" y="44323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2427477" name="Text">
    </p:cNvPr>
          <p:cNvSpPr>
            <a:spLocks noGrp="1"/>
          </p:cNvSpPr>
          <p:nvPr/>
        </p:nvSpPr>
        <p:spPr>
          <a:xfrm rot="0">
            <a:off x="5549900" y="443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0816629" name="Frame"/>
          <p:cNvSpPr>
            <a:spLocks noGrp="1"/>
          </p:cNvSpPr>
          <p:nvPr/>
        </p:nvSpPr>
        <p:spPr>
          <a:xfrm>
            <a:off x="165100" y="37592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30050089" name="Text">
    </p:cNvPr>
          <p:cNvSpPr>
            <a:spLocks noGrp="1"/>
          </p:cNvSpPr>
          <p:nvPr/>
        </p:nvSpPr>
        <p:spPr>
          <a:xfrm rot="0">
            <a:off x="165100" y="37592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420755165" name="Text">
    </p:cNvPr>
          <p:cNvSpPr>
            <a:spLocks noGrp="1"/>
          </p:cNvSpPr>
          <p:nvPr/>
        </p:nvSpPr>
        <p:spPr>
          <a:xfrm rot="0">
            <a:off x="965200" y="38354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</a:p>
        </p:txBody>
      </p:sp>
      <p:sp>
        <p:nvSpPr>
          <p:cNvPr id="53719299" name="Text">
    </p:cNvPr>
          <p:cNvSpPr>
            <a:spLocks noGrp="1"/>
          </p:cNvSpPr>
          <p:nvPr/>
        </p:nvSpPr>
        <p:spPr>
          <a:xfrm rot="0">
            <a:off x="7239000" y="38354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59331024" name="Text">
    </p:cNvPr>
          <p:cNvSpPr>
            <a:spLocks noGrp="1"/>
          </p:cNvSpPr>
          <p:nvPr/>
        </p:nvSpPr>
        <p:spPr>
          <a:xfrm rot="0">
            <a:off x="5549900" y="38354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</a:p>
        </p:txBody>
      </p:sp>
      <p:sp>
        <p:nvSpPr>
          <p:cNvPr id="1554740500" name="Text">
    </p:cNvPr>
          <p:cNvSpPr>
            <a:spLocks noGrp="1"/>
          </p:cNvSpPr>
          <p:nvPr/>
        </p:nvSpPr>
        <p:spPr>
          <a:xfrm rot="0">
            <a:off x="901700" y="37592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0937602" name="Text">
    </p:cNvPr>
          <p:cNvSpPr>
            <a:spLocks noGrp="1"/>
          </p:cNvSpPr>
          <p:nvPr/>
        </p:nvSpPr>
        <p:spPr>
          <a:xfrm rot="0">
            <a:off x="6121400" y="37592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48138414" name="Text">
    </p:cNvPr>
          <p:cNvSpPr>
            <a:spLocks noGrp="1"/>
          </p:cNvSpPr>
          <p:nvPr/>
        </p:nvSpPr>
        <p:spPr>
          <a:xfrm rot="0">
            <a:off x="5549900" y="37592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1835658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76553479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6877371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594243548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[ITSM-106623]기존 공장 Fuel Gas 도입량에 따라 변경된 MW, LHV 계유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(1/18~22, 1/24~29)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거래처 마스터상 주소 일괄변경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산업안전보건관리비 계상 관련 시스템 보완 요청</a:t>
            </a:r>
          </a:p>
        </p:txBody>
      </p:sp>
      <p:sp>
        <p:nvSpPr>
          <p:cNvPr id="933691299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22013542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70876526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</a:p>
        </p:txBody>
      </p:sp>
      <p:sp>
        <p:nvSpPr>
          <p:cNvPr id="2017276840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9987691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49944042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0631000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3867509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11375254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2271149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법인세 신고 관련 업무용 승용차 비용집계 프로그램 추가 개발(ZFIR6070)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 *구매요구서 전송(ZMMT4040),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성보고서 전송(ZMMT4060) 관련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당사 NH알뜰 가격소급 정산시 중부권/남부권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S-OIL &amp; SABIC Integration을 통한 ERP 내부 시스템 개선 추가 요청-버그수정</a:t>
            </a:r>
          </a:p>
        </p:txBody>
      </p:sp>
      <p:sp>
        <p:nvSpPr>
          <p:cNvPr id="999747382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20205791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17291238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</a:p>
        </p:txBody>
      </p:sp>
      <p:sp>
        <p:nvSpPr>
          <p:cNvPr id="199229278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785420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60823849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9113075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2873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41372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41959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753865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959540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897347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90309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63864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79053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24075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981979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8446587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66230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2876051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931697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4268138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29973986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168061828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85388822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6122467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추가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발(ZFIR6070)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결재 유형 오류 분석 및 해결(ZEAM8010)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기존 사원번호였던 필드 전부 이전사원번호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드로 변경(ZFIR9057)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구매처생성 취소처리 인터페이스 오류 원인 분석 및 해결(Z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FI_RFC_VENDOR_CONF)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부가세신고자료 사업자번호별 현황 일부수정(ZFIR5082)</a:t>
            </a:r>
          </a:p>
        </p:txBody>
      </p:sp>
      <p:sp>
        <p:nvSpPr>
          <p:cNvPr id="4854362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43410804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20053497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34734314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96044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21561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</a:p>
        </p:txBody>
      </p:sp>
      <p:sp>
        <p:nvSpPr>
          <p:cNvPr id="49429115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</a:p>
        </p:txBody>
      </p:sp>
      <p:sp>
        <p:nvSpPr>
          <p:cNvPr id="99873578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</a:t>
            </a:r>
          </a:p>
        </p:txBody>
      </p:sp>
      <p:sp>
        <p:nvSpPr>
          <p:cNvPr id="20156742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5341089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4992394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DC퇴직연금 불입 명세서 최종결재자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출입관리시스템(안면인식)기록 자동 연동 구축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 종료(퇴근)시간 선택 시, 익일인 경우 퇴근시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간 리스트 제한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개발(전자결재 ,HCM 화면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설계)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SAP 기능 일부 수정(중식비 실근태, 마곡 중식비 개선)</a:t>
            </a:r>
          </a:p>
        </p:txBody>
      </p:sp>
      <p:sp>
        <p:nvSpPr>
          <p:cNvPr id="49045202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0863190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</a:p>
        </p:txBody>
      </p:sp>
      <p:sp>
        <p:nvSpPr>
          <p:cNvPr id="336572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28537534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47809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45223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032439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38794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84919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066438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639251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66383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383205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89254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16013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0660870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61970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15821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733883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90347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658081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13981783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</a:p>
        </p:txBody>
      </p:sp>
      <p:sp>
        <p:nvSpPr>
          <p:cNvPr id="152485904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3023734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5776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 실적 외자건 조회 기간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단위변경 요청</a:t>
            </a:r>
          </a:p>
        </p:txBody>
      </p:sp>
      <p:sp>
        <p:nvSpPr>
          <p:cNvPr id="173640796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56826713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9402401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62527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7455615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211941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02/12</a:t>
            </a:r>
            <a:br/>
          </a:p>
        </p:txBody>
      </p:sp>
      <p:sp>
        <p:nvSpPr>
          <p:cNvPr id="46171563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</a:p>
        </p:txBody>
      </p:sp>
      <p:sp>
        <p:nvSpPr>
          <p:cNvPr id="60740674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89790168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27669195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5798117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SAP GUI 사용자 엑셀통합 관련 문제 건 원격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무지원(인천지사)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인프라팀 HQSAPROUTE 서버 리부팅에 따른 SAP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61091625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68011453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147353340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20645675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711848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850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9396673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73867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637211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8945826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4629899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22493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52593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029069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80104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617304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140042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968656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093266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370643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53137840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23566160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28060722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567567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7952856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61629012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0316356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6033064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79533840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930723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4678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875509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12519745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 50%</a:t>
            </a:r>
          </a:p>
        </p:txBody>
      </p:sp>
      <p:sp>
        <p:nvSpPr>
          <p:cNvPr id="75822210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14656075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008127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23년연차보상관련 시스템 일부 개선요청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하기휴가사용관련 HCM뷰 기수정부분 원상복구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DC 1%전환금 데이터 업로드 요청</a:t>
            </a:r>
          </a:p>
        </p:txBody>
      </p:sp>
      <p:sp>
        <p:nvSpPr>
          <p:cNvPr id="19013975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3535303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75503163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</a:p>
        </p:txBody>
      </p:sp>
      <p:sp>
        <p:nvSpPr>
          <p:cNvPr id="210275449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939570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6157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89500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110112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932108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120712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745879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648786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98663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197872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399228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12218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74889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865606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586931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72188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7334540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</a:p>
        </p:txBody>
      </p:sp>
      <p:sp>
        <p:nvSpPr>
          <p:cNvPr id="13428452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</a:p>
        </p:txBody>
      </p:sp>
      <p:sp>
        <p:nvSpPr>
          <p:cNvPr id="12268770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8493873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0372387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ITSM-106137S-OIL &amp; SABIC Integration을 통한 ERP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내부 시스템 개선 추가 요청-버그수정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ITSM-106542현대오일뱅크의 배차오류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ITSM-104304차량 마스터 수송가능 거래처 등록시 안내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메세지 표출- 다운로드 프로세스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ITSM-105439당사 NH알뜰 가격소급 정산시 중부권/남부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권 분리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ITSM-104108모바일상품권 취소 캐시백 수정요청- 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조건 수정</a:t>
            </a:r>
          </a:p>
        </p:txBody>
      </p:sp>
      <p:sp>
        <p:nvSpPr>
          <p:cNvPr id="20289674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8850152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256675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37139650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82479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003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4161389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18810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5093675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028158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147746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03482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02107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314865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0998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61435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187698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33615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3825676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14917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6807160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9124040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취약점조치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취약점조치</a:t>
            </a:r>
          </a:p>
        </p:txBody>
      </p:sp>
      <p:sp>
        <p:nvSpPr>
          <p:cNvPr id="5281453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6657268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606086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전표처리요청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eBiz/FLBIZ  관리자 계정 권한 부여 </a:t>
            </a:r>
          </a:p>
        </p:txBody>
      </p:sp>
      <p:sp>
        <p:nvSpPr>
          <p:cNvPr id="11627219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</a:p>
        </p:txBody>
      </p:sp>
      <p:sp>
        <p:nvSpPr>
          <p:cNvPr id="20366088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3606920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168305247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14935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425096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4956215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93369547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</a:p>
        </p:txBody>
      </p:sp>
      <p:sp>
        <p:nvSpPr>
          <p:cNvPr id="180828166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8459849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5418545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[ITSM-106623]기존 공장 Fuel Gas 도입량에 따라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MW, LHV 계유 반영 요청(1/18~22, 1/24~29)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[ITSM-106296]OAS System 상 Tank Gross Volume 계산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수식 변경</a:t>
            </a:r>
          </a:p>
        </p:txBody>
      </p:sp>
      <p:sp>
        <p:nvSpPr>
          <p:cNvPr id="142091910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211930580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6608142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</a:p>
        </p:txBody>
      </p:sp>
      <p:sp>
        <p:nvSpPr>
          <p:cNvPr id="124577974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59216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5990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134745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990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761084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9626499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682182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28103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72279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26208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6419392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850918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888972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74694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55300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375914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</a:p>
        </p:txBody>
      </p:sp>
      <p:sp>
        <p:nvSpPr>
          <p:cNvPr id="16905912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4162093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164853170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9141980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35621430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거래처 마스터상 주소 일괄변경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혼유재처리 완료문서 노출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조회 메뉴권한 자동 세팅관련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 소스 추가 수정</a:t>
            </a:r>
          </a:p>
        </p:txBody>
      </p:sp>
      <p:sp>
        <p:nvSpPr>
          <p:cNvPr id="12285130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</a:p>
        </p:txBody>
      </p:sp>
      <p:sp>
        <p:nvSpPr>
          <p:cNvPr id="10702161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24805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</a:p>
        </p:txBody>
      </p:sp>
      <p:sp>
        <p:nvSpPr>
          <p:cNvPr id="18313331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132027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448183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102177212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</a:p>
        </p:txBody>
      </p:sp>
      <p:sp>
        <p:nvSpPr>
          <p:cNvPr id="1409851848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</a:p>
        </p:txBody>
      </p:sp>
      <p:sp>
        <p:nvSpPr>
          <p:cNvPr id="615333920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20629631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93632553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요율 및 거리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ITSM-97564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ITSM-98503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ITSM-105723 동료검토자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ITSM-82617 작업담당자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ITSM-95572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ITSM-99234 배포수행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OOME 오류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사용자명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ITSM-106597 변경수행자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자동배포 셋팅</a:t>
            </a:r>
            <a:br/>
          </a:p>
        </p:txBody>
      </p:sp>
      <p:sp>
        <p:nvSpPr>
          <p:cNvPr id="134080406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25816642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77%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670336300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512293716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3796265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2616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353858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98132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53485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760077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621981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071422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874034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14022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558421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90876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09777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85818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932276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7838887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140853312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3463384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1416325076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42644008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300634845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   -  프로세스 상세 확인을 위한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녹화   - 작업 Log 추가하기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A11 117pc AA 미쟉동으로 인한 재부팅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데이터정리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 작업 일시중단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(현업 24년 작업파일 미제공)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A360 115pc Outlook 작동 불가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SSO 접근 시 보안화면 열림 원인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'CCS 사전점검' 작업 object 선택 불가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'법인영업팀-항공사 매출입력' 수행 및 문제상황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인, 재수행수행 도중 엑셀 저장 불가 object 재설정 및 딜레이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'생산최적화팀-Margin' 작업 파일 복사 불가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테스트, Task 따로 생성</a:t>
            </a:r>
          </a:p>
        </p:txBody>
      </p:sp>
      <p:sp>
        <p:nvSpPr>
          <p:cNvPr id="723256321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608605041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419900305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</a:p>
        </p:txBody>
      </p:sp>
      <p:sp>
        <p:nvSpPr>
          <p:cNvPr id="1379008470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2461213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720143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703654364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952611451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529296215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4273812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11020062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124949068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560092407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1972472868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74918677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8466088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811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71613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41838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816029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337237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14540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848869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2461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55696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454307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499827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086910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6758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95385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567227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</a:p>
        </p:txBody>
      </p:sp>
      <p:sp>
        <p:nvSpPr>
          <p:cNvPr id="203091692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</a:p>
        </p:txBody>
      </p:sp>
      <p:sp>
        <p:nvSpPr>
          <p:cNvPr id="704733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</a:t>
            </a:r>
          </a:p>
        </p:txBody>
      </p:sp>
      <p:sp>
        <p:nvSpPr>
          <p:cNvPr id="16808902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4644206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7360107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OSPM 업무분석1. DB테이블 및 OSPM 페이지내에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서버 코드내역들 분석정리2. 작업 후 운영에 반영하는 데이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 내역 확인3. 취약점 재점검4. 작업계획서 -&gt; 작업계획관리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-&gt; 승인요청 -&gt; 수신처 추가오류 수정[maxAmt 변수 크기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(코드+프로시저)]</a:t>
            </a:r>
          </a:p>
        </p:txBody>
      </p:sp>
      <p:sp>
        <p:nvSpPr>
          <p:cNvPr id="8934241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br/>
            <a:br/>
            <a:br/>
            <a:br/>
          </a:p>
        </p:txBody>
      </p:sp>
      <p:sp>
        <p:nvSpPr>
          <p:cNvPr id="14068654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br/>
            <a:br/>
            <a:br/>
          </a:p>
        </p:txBody>
      </p:sp>
      <p:sp>
        <p:nvSpPr>
          <p:cNvPr id="6666933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br/>
            <a:br/>
            <a:br/>
            <a:br/>
          </a:p>
        </p:txBody>
      </p:sp>
      <p:sp>
        <p:nvSpPr>
          <p:cNvPr id="204178507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32221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3256411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</a:p>
        </p:txBody>
      </p:sp>
      <p:sp>
        <p:nvSpPr>
          <p:cNvPr id="594237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66192685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화면 부서 카테고리 분류 추가 요청</a:t>
            </a:r>
          </a:p>
        </p:txBody>
      </p:sp>
      <p:sp>
        <p:nvSpPr>
          <p:cNvPr id="69611251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7243328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0978766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관리자 화면 부서 카테고리 분류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표준문서 'Hydrocarbon Loss Control Policy(SOM-0-74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0)' 개정 품의 개정오류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인력개발팀 팀리더 변경으로 인한 기존 환급발송메일 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조자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(RI-23) 연체율,(RI-24) 중점관리대상거래처 채권총액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준일자 호출 오류로 수동 스케쥴러 실행하여 데이터 연계 처리</a:t>
            </a:r>
          </a:p>
        </p:txBody>
      </p:sp>
      <p:sp>
        <p:nvSpPr>
          <p:cNvPr id="60714651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67184250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101344542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</a:p>
        </p:txBody>
      </p:sp>
      <p:sp>
        <p:nvSpPr>
          <p:cNvPr id="7922425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5078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82889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331970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386960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385583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600302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479203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40040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049414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11855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691892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89650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24562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229525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7913371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36698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</a:p>
        </p:txBody>
      </p:sp>
      <p:sp>
        <p:nvSpPr>
          <p:cNvPr id="16214562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53973772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</a:t>
            </a:r>
          </a:p>
        </p:txBody>
      </p:sp>
      <p:sp>
        <p:nvSpPr>
          <p:cNvPr id="121165787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524509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7083847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DB 서버 계정 유효성 검증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권한변경 요청 노재곤 계장 &lt;-&gt; 김종명 계장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http 로 접근 시 https로 redirect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취약점 점검 hqgiftap 서버 FTP 확인 요청</a:t>
            </a:r>
          </a:p>
        </p:txBody>
      </p:sp>
      <p:sp>
        <p:nvSpPr>
          <p:cNvPr id="104644883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89077540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2872566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</a:p>
        </p:txBody>
      </p:sp>
      <p:sp>
        <p:nvSpPr>
          <p:cNvPr id="17867193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453201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00461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br/>
          </a:p>
        </p:txBody>
      </p:sp>
      <p:sp>
        <p:nvSpPr>
          <p:cNvPr id="88236768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66477817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</a:p>
        </p:txBody>
      </p:sp>
      <p:sp>
        <p:nvSpPr>
          <p:cNvPr id="73733399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77513738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7286023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관리자 &gt; 스케쥴러 관리 / 배치 관리 최신화 및 연결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/ 점검</a:t>
            </a:r>
          </a:p>
        </p:txBody>
      </p:sp>
      <p:sp>
        <p:nvSpPr>
          <p:cNvPr id="9708261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02/09</a:t>
            </a:r>
            <a:br/>
            <a:br/>
          </a:p>
        </p:txBody>
      </p:sp>
      <p:sp>
        <p:nvSpPr>
          <p:cNvPr id="758562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5160341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3951652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56578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25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537676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2275886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729499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4503726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318178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75795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395874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30429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687534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11948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81726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07881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436400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625544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03057570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108023858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시스템 정기점진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TAS/RAS 노후서버 교체작업으로 인한 서버설정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I/F서비스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5803954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678583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0338276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TAS/RAS 노후서버 교체작업으로 인한 서버설정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I/F서비스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[HCM] 퇴직연금 운용방식 변경 신청서 개발</a:t>
            </a:r>
          </a:p>
        </p:txBody>
      </p:sp>
      <p:sp>
        <p:nvSpPr>
          <p:cNvPr id="168896093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3187032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66815043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02/02</a:t>
            </a:r>
            <a:br/>
          </a:p>
        </p:txBody>
      </p:sp>
      <p:sp>
        <p:nvSpPr>
          <p:cNvPr id="6890301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540674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855777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 연휴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설날연휴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이병준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