
<file path=[Content_Types].xml><?xml version="1.0" encoding="utf-8"?>
<Types xmlns="http://schemas.openxmlformats.org/package/2006/content-types">
  <Default ContentType="image/x-emf" Extension="emf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no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sldIdLst>
    <p:sldId id="256" r:id="rId6"/>
    <p:sldId id="257" r:id="rId10"/>
    <p:sldId id="258" r:id="rId12"/>
    <p:sldId id="259" r:id="rId13"/>
    <p:sldId id="260" r:id="rId14"/>
    <p:sldId id="261" r:id="rId16"/>
    <p:sldId id="262" r:id="rId18"/>
    <p:sldId id="263" r:id="rId19"/>
    <p:sldId id="264" r:id="rId20"/>
    <p:sldId id="265" r:id="rId21"/>
    <p:sldId id="266" r:id="rId22"/>
    <p:sldId id="267" r:id="rId23"/>
    <p:sldId id="268" r:id="rId24"/>
    <p:sldId id="269" r:id="rId25"/>
    <p:sldId id="270" r:id="rId26"/>
    <p:sldId id="271" r:id="rId27"/>
    <p:sldId id="272" r:id="rId28"/>
    <p:sldId id="273" r:id="rId30"/>
    <p:sldId id="274" r:id="rId32"/>
    <p:sldId id="275" r:id="rId34"/>
  </p:sldIdLst>
  <p:sldSz cx="10160000" cy="69215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no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2.xml" Type="http://schemas.openxmlformats.org/officeDocument/2006/relationships/slide"/><Relationship Id="rId11" Target="notesSlides/notesSlide2.xml" Type="http://schemas.openxmlformats.org/officeDocument/2006/relationships/notesSlide"/><Relationship Id="rId12" Target="slides/slide3.xml" Type="http://schemas.openxmlformats.org/officeDocument/2006/relationships/slide"/><Relationship Id="rId13" Target="slides/slide4.xml" Type="http://schemas.openxmlformats.org/officeDocument/2006/relationships/slide"/><Relationship Id="rId14" Target="slides/slide5.xml" Type="http://schemas.openxmlformats.org/officeDocument/2006/relationships/slide"/><Relationship Id="rId15" Target="notesSlides/notesSlide3.xml" Type="http://schemas.openxmlformats.org/officeDocument/2006/relationships/notesSlide"/><Relationship Id="rId16" Target="slides/slide6.xml" Type="http://schemas.openxmlformats.org/officeDocument/2006/relationships/slide"/><Relationship Id="rId17" Target="notesSlides/notesSlide4.xml" Type="http://schemas.openxmlformats.org/officeDocument/2006/relationships/notesSlide"/><Relationship Id="rId18" Target="slides/slide7.xml" Type="http://schemas.openxmlformats.org/officeDocument/2006/relationships/slide"/><Relationship Id="rId19" Target="slides/slide8.xml" Type="http://schemas.openxmlformats.org/officeDocument/2006/relationships/slide"/><Relationship Id="rId2" Target="presProps.xml" Type="http://schemas.openxmlformats.org/officeDocument/2006/relationships/presProps"/><Relationship Id="rId20" Target="slides/slide9.xml" Type="http://schemas.openxmlformats.org/officeDocument/2006/relationships/slide"/><Relationship Id="rId21" Target="slides/slide10.xml" Type="http://schemas.openxmlformats.org/officeDocument/2006/relationships/slide"/><Relationship Id="rId22" Target="slides/slide11.xml" Type="http://schemas.openxmlformats.org/officeDocument/2006/relationships/slide"/><Relationship Id="rId23" Target="slides/slide12.xml" Type="http://schemas.openxmlformats.org/officeDocument/2006/relationships/slide"/><Relationship Id="rId24" Target="slides/slide13.xml" Type="http://schemas.openxmlformats.org/officeDocument/2006/relationships/slide"/><Relationship Id="rId25" Target="slides/slide14.xml" Type="http://schemas.openxmlformats.org/officeDocument/2006/relationships/slide"/><Relationship Id="rId26" Target="slides/slide15.xml" Type="http://schemas.openxmlformats.org/officeDocument/2006/relationships/slide"/><Relationship Id="rId27" Target="slides/slide16.xml" Type="http://schemas.openxmlformats.org/officeDocument/2006/relationships/slide"/><Relationship Id="rId28" Target="slides/slide17.xml" Type="http://schemas.openxmlformats.org/officeDocument/2006/relationships/slide"/><Relationship Id="rId29" Target="notesSlides/notesSlide5.xml" Type="http://schemas.openxmlformats.org/officeDocument/2006/relationships/notesSlide"/><Relationship Id="rId3" Target="viewProps.xml" Type="http://schemas.openxmlformats.org/officeDocument/2006/relationships/viewProps"/><Relationship Id="rId30" Target="slides/slide18.xml" Type="http://schemas.openxmlformats.org/officeDocument/2006/relationships/slide"/><Relationship Id="rId31" Target="notesSlides/notesSlide6.xml" Type="http://schemas.openxmlformats.org/officeDocument/2006/relationships/notesSlide"/><Relationship Id="rId32" Target="slides/slide19.xml" Type="http://schemas.openxmlformats.org/officeDocument/2006/relationships/slide"/><Relationship Id="rId33" Target="notesSlides/notesSlide7.xml" Type="http://schemas.openxmlformats.org/officeDocument/2006/relationships/notesSlide"/><Relationship Id="rId34" Target="slides/slide20.xml" Type="http://schemas.openxmlformats.org/officeDocument/2006/relationships/slide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notesMasters/notesMaster1.xml" Type="http://schemas.openxmlformats.org/officeDocument/2006/relationships/notesMaster"/><Relationship Id="rId8" Target="theme/theme2.xml" Type="http://schemas.openxmlformats.org/officeDocument/2006/relationships/theme"/><Relationship Id="rId9" Target="notesSlides/notesSlide1.xml" Type="http://schemas.openxmlformats.org/officeDocument/2006/relationships/notesSlide"/></Relationships>
</file>

<file path=ppt/notesMasters/_rels/notesMaster1.xml.rels><?xml version="1.0" encoding="UTF-8" standalone="no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no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no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no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4.xml.rels><?xml version="1.0" encoding="UTF-8" standalone="no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5.xml.rels><?xml version="1.0" encoding="UTF-8" standalone="no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7.xml" Type="http://schemas.openxmlformats.org/officeDocument/2006/relationships/slide"/></Relationships>
</file>

<file path=ppt/notesSlides/_rels/notesSlide6.xml.rels><?xml version="1.0" encoding="UTF-8" standalone="no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8.xml" Type="http://schemas.openxmlformats.org/officeDocument/2006/relationships/slide"/></Relationships>
</file>

<file path=ppt/notesSlides/_rels/notesSlide7.xml.rels><?xml version="1.0" encoding="UTF-8" standalone="no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9.xml" Type="http://schemas.openxmlformats.org/officeDocument/2006/relationships/slide"/></Relationships>
</file>

<file path=ppt/notesSlides/notesSlide1.xml><?xml version="1.0" encoding="utf-8"?>
<p:notes xmlns:p="http://schemas.openxmlformats.org/presentationml/2006/main">
  <p:cSld>
    <p:spTree xmlns:a="http://schemas.openxmlformats.org/drawingml/2006/main"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</p:spPr>
        <p:txBody>
          <a:bodyPr/>
          <a:lstStyle>
            <a:lvl1pPr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1pPr>
            <a:lvl2pPr marL="747713" indent="-28733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2pPr>
            <a:lvl3pPr marL="1150938" indent="-23018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3pPr>
            <a:lvl4pPr marL="1611313" indent="-23018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4pPr>
            <a:lvl5pPr marL="2071688" indent="-23018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5pPr>
            <a:lvl6pPr marL="25288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6pPr>
            <a:lvl7pPr marL="29860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7pPr>
            <a:lvl8pPr marL="34432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8pPr>
            <a:lvl9pPr marL="39004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9pPr>
          </a:lstStyle>
          <a:p>
            <a:pPr lvl="0">
              <a:spcBef>
                <a:spcPct val="30000"/>
              </a:spcBef>
              <a:spcAft>
                <a:spcPct val="0"/>
              </a:spcAft>
              <a:defRPr/>
            </a:pPr>
            <a:fld id="{AF56D908-C2A0-4594-8043-7B2A2764A612}" type="datetime1">
              <a:rPr lang="ko-KR" altLang="en-US" sz="1200" b="0">
                <a:solidFill>
                  <a:schemeClr val="tx1"/>
                </a:solidFill>
                <a:latin typeface="Times New Roman"/>
                <a:ea typeface="굴림"/>
              </a:rPr>
              <a:pPr lvl="0">
                <a:defRPr/>
              </a:pPr>
              <a:t>2023-04-11</a:t>
            </a:fld>
            <a:endParaRPr lang="en-US" altLang="ko-KR" sz="1200" b="0">
              <a:solidFill>
                <a:schemeClr val="tx1"/>
              </a:solidFill>
              <a:latin typeface="Times New Roman"/>
              <a:ea typeface="굴림"/>
            </a:endParaRPr>
          </a:p>
        </p:txBody>
      </p:sp>
      <p:sp>
        <p:nvSpPr>
          <p:cNvPr id="11267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</p:spPr>
        <p:txBody>
          <a:bodyPr/>
          <a:lstStyle>
            <a:lvl1pPr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1pPr>
            <a:lvl2pPr marL="747713" indent="-28733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2pPr>
            <a:lvl3pPr marL="1150938" indent="-23018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3pPr>
            <a:lvl4pPr marL="1611313" indent="-23018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4pPr>
            <a:lvl5pPr marL="2071688" indent="-23018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5pPr>
            <a:lvl6pPr marL="25288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6pPr>
            <a:lvl7pPr marL="29860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7pPr>
            <a:lvl8pPr marL="34432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8pPr>
            <a:lvl9pPr marL="39004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9pPr>
          </a:lstStyle>
          <a:p>
            <a:pPr lvl="0">
              <a:spcBef>
                <a:spcPct val="30000"/>
              </a:spcBef>
              <a:spcAft>
                <a:spcPct val="0"/>
              </a:spcAft>
              <a:defRPr/>
            </a:pPr>
            <a:r>
              <a:rPr lang="ko-KR" altLang="en-US" sz="1200" b="0">
                <a:solidFill>
                  <a:schemeClr val="tx1"/>
                </a:solidFill>
                <a:latin typeface="Times New Roman"/>
                <a:ea typeface="굴림"/>
              </a:rPr>
              <a:t>ITS GSR Proposed Layout 4Q</a:t>
            </a:r>
            <a:endParaRPr lang="en-US" altLang="ko-KR" sz="1200" b="0">
              <a:solidFill>
                <a:schemeClr val="tx1"/>
              </a:solidFill>
              <a:latin typeface="Times New Roman"/>
              <a:ea typeface="굴림"/>
            </a:endParaRPr>
          </a:p>
        </p:txBody>
      </p:sp>
      <p:sp>
        <p:nvSpPr>
          <p:cNvPr id="1126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</p:spPr>
        <p:txBody>
          <a:bodyPr/>
          <a:lstStyle>
            <a:lvl1pPr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1pPr>
            <a:lvl2pPr marL="747713" indent="-28733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2pPr>
            <a:lvl3pPr marL="1150938" indent="-23018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3pPr>
            <a:lvl4pPr marL="1611313" indent="-23018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4pPr>
            <a:lvl5pPr marL="2071688" indent="-23018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5pPr>
            <a:lvl6pPr marL="25288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6pPr>
            <a:lvl7pPr marL="29860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7pPr>
            <a:lvl8pPr marL="34432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8pPr>
            <a:lvl9pPr marL="39004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9pPr>
          </a:lstStyle>
          <a:p>
            <a:pPr lvl="0">
              <a:spcBef>
                <a:spcPct val="30000"/>
              </a:spcBef>
              <a:spcAft>
                <a:spcPct val="0"/>
              </a:spcAft>
              <a:defRPr/>
            </a:pPr>
            <a:fld id="{65D332B1-6798-497D-875F-C7FAE08D878A}" type="slidenum">
              <a:rPr lang="en-US" altLang="en-US" sz="1200" b="0">
                <a:solidFill>
                  <a:schemeClr val="tx1"/>
                </a:solidFill>
                <a:latin typeface="Times New Roman"/>
                <a:ea typeface="굴림"/>
              </a:rPr>
              <a:pPr lvl="0">
                <a:defRPr/>
              </a:pPr>
              <a:t>1</a:t>
            </a:fld>
            <a:endParaRPr lang="en-US" altLang="en-US" sz="1200" b="0">
              <a:solidFill>
                <a:schemeClr val="tx1"/>
              </a:solidFill>
              <a:latin typeface="Times New Roman"/>
              <a:ea typeface="굴림"/>
            </a:endParaRPr>
          </a:p>
        </p:txBody>
      </p:sp>
      <p:sp>
        <p:nvSpPr>
          <p:cNvPr id="1126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712788" y="746125"/>
            <a:ext cx="5373687" cy="3721100"/>
          </a:xfrm>
          <a:ln/>
        </p:spPr>
      </p:sp>
      <p:sp>
        <p:nvSpPr>
          <p:cNvPr id="1127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>
              <a:spcBef>
                <a:spcPct val="30000"/>
              </a:spcBef>
              <a:spcAft>
                <a:spcPct val="0"/>
              </a:spcAft>
              <a:defRPr/>
            </a:pPr>
            <a:endParaRPr lang="ko-KR" altLang="en-US"/>
          </a:p>
        </p:txBody>
      </p:sp>
    </p:spTree>
  </p:cSld>
</p:notes>
</file>

<file path=ppt/notesSlides/notesSlide2.xml><?xml version="1.0" encoding="utf-8"?>
<p:notes xmlns:p="http://schemas.openxmlformats.org/presentationml/2006/main">
  <p:cSld>
    <p:spTree xmlns:a="http://schemas.openxmlformats.org/drawingml/2006/main"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952500" y="685800"/>
            <a:ext cx="4953000" cy="34290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09F4262C-968C-4EE9-8164-CE16364706B3}" type="slidenum">
              <a:rPr lang="ko-KR" altLang="en-US" smtClean="0"/>
              <a:pPr lvl="0">
                <a:defRPr/>
              </a:pPr>
              <a:t>1</a:t>
            </a:fld>
            <a:endParaRPr lang="ko-KR" altLang="en-US"/>
          </a:p>
        </p:txBody>
      </p:sp>
    </p:spTree>
  </p:cSld>
</p:notes>
</file>

<file path=ppt/notesSlides/notesSlide3.xml><?xml version="1.0" encoding="utf-8"?>
<p:notes xmlns:p="http://schemas.openxmlformats.org/presentationml/2006/main">
  <p:cSld>
    <p:spTree xmlns:a="http://schemas.openxmlformats.org/drawingml/2006/main"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698500" y="741363"/>
            <a:ext cx="5340350" cy="3697287"/>
          </a:xfrm>
          <a:ln/>
        </p:spPr>
      </p:sp>
      <p:sp>
        <p:nvSpPr>
          <p:cNvPr id="1331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spcBef>
                <a:spcPct val="30000"/>
              </a:spcBef>
              <a:spcAft>
                <a:spcPct val="0"/>
              </a:spcAft>
            </a:pPr>
            <a:endParaRPr lang="en-NZ" altLang="ko-KR" smtClean="0"/>
          </a:p>
        </p:txBody>
      </p:sp>
    </p:spTree>
  </p:cSld>
</p:notes>
</file>

<file path=ppt/notesSlides/notesSlide4.xml><?xml version="1.0" encoding="utf-8"?>
<p:notes xmlns:p="http://schemas.openxmlformats.org/presentationml/2006/main">
  <p:cSld>
    <p:spTree xmlns:dsp="http://schemas.microsoft.com/office/drawing/2008/diagram" xmlns:a="http://schemas.openxmlformats.org/drawingml/2006/main" xmlns:r="http://schemas.openxmlformats.org/officeDocument/2006/relationships" xmlns:c="http://schemas.openxmlformats.org/drawingml/2006/chart" xmlns:dgm="http://schemas.openxmlformats.org/drawingml/2006/diagram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Rot="1" noChangeAspect="1" noChangeArrowheads="1" noTextEdit="1"/>
          </p:cNvSpPr>
          <p:nvPr>
            <p:ph type="sldImg" idx="0"/>
          </p:nvPr>
        </p:nvSpPr>
        <p:spPr>
          <a:xfrm>
            <a:off x="714375" y="746125"/>
            <a:ext cx="5370513" cy="3719513"/>
          </a:xfrm>
          <a:ln/>
        </p:spPr>
      </p:sp>
      <p:sp>
        <p:nvSpPr>
          <p:cNvPr id="819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lvl="0">
              <a:spcBef>
                <a:spcPct val="30000"/>
              </a:spcBef>
              <a:spcAft>
                <a:spcPct val="0"/>
              </a:spcAft>
              <a:defRPr/>
            </a:pPr>
            <a:r>
              <a:rPr lang="ko-KR" altLang="en-US"/>
              <a:t/>
            </a:r>
            <a:endParaRPr lang="ko-KR" altLang="en-US"/>
          </a:p>
        </p:txBody>
      </p:sp>
    </p:spTree>
  </p:cSld>
</p:notes>
</file>

<file path=ppt/notesSlides/notesSlide5.xml><?xml version="1.0" encoding="utf-8"?>
<p:notes xmlns:p="http://schemas.openxmlformats.org/presentationml/2006/main">
  <p:cSld>
    <p:spTree xmlns:dsp="http://schemas.microsoft.com/office/drawing/2008/diagram" xmlns:a="http://schemas.openxmlformats.org/drawingml/2006/main" xmlns:r="http://schemas.openxmlformats.org/officeDocument/2006/relationships" xmlns:c="http://schemas.openxmlformats.org/drawingml/2006/chart" xmlns:dgm="http://schemas.openxmlformats.org/drawingml/2006/diagram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Rot="1" noChangeAspect="1" noChangeArrowheads="1" noTextEdit="1"/>
          </p:cNvSpPr>
          <p:nvPr>
            <p:ph type="sldImg" idx="0"/>
          </p:nvPr>
        </p:nvSpPr>
        <p:spPr>
          <a:xfrm>
            <a:off x="698500" y="741363"/>
            <a:ext cx="5340350" cy="3697287"/>
          </a:xfrm>
          <a:ln/>
        </p:spPr>
      </p:sp>
      <p:sp>
        <p:nvSpPr>
          <p:cNvPr id="1433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lvl="0">
              <a:spcBef>
                <a:spcPct val="30000"/>
              </a:spcBef>
              <a:spcAft>
                <a:spcPct val="0"/>
              </a:spcAft>
              <a:defRPr/>
            </a:pPr>
            <a:r>
              <a:rPr lang="ko-KR" altLang="en-US"/>
              <a:t/>
            </a:r>
            <a:endParaRPr lang="ko-KR" altLang="en-US"/>
          </a:p>
        </p:txBody>
      </p:sp>
    </p:spTree>
  </p:cSld>
</p:notes>
</file>

<file path=ppt/notesSlides/notesSlide6.xml><?xml version="1.0" encoding="utf-8"?>
<p:notes xmlns:p="http://schemas.openxmlformats.org/presentationml/2006/main">
  <p:cSld>
    <p:spTree xmlns:dsp="http://schemas.microsoft.com/office/drawing/2008/diagram" xmlns:a="http://schemas.openxmlformats.org/drawingml/2006/main" xmlns:r="http://schemas.openxmlformats.org/officeDocument/2006/relationships" xmlns:c="http://schemas.openxmlformats.org/drawingml/2006/chart" xmlns:dgm="http://schemas.openxmlformats.org/drawingml/2006/diagram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Rot="1" noChangeAspect="1" noChangeArrowheads="1" noTextEdit="1"/>
          </p:cNvSpPr>
          <p:nvPr>
            <p:ph type="sldImg" idx="0"/>
          </p:nvPr>
        </p:nvSpPr>
        <p:spPr>
          <a:xfrm>
            <a:off x="698500" y="741363"/>
            <a:ext cx="5340350" cy="3697287"/>
          </a:xfrm>
          <a:ln/>
        </p:spPr>
      </p:sp>
      <p:sp>
        <p:nvSpPr>
          <p:cNvPr id="1536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lvl="0">
              <a:spcBef>
                <a:spcPct val="30000"/>
              </a:spcBef>
              <a:spcAft>
                <a:spcPct val="0"/>
              </a:spcAft>
              <a:defRPr/>
            </a:pPr>
            <a:r>
              <a:rPr lang="ko-KR" altLang="en-US"/>
              <a:t/>
            </a:r>
            <a:endParaRPr lang="ko-KR" altLang="en-US"/>
          </a:p>
        </p:txBody>
      </p:sp>
    </p:spTree>
  </p:cSld>
</p:notes>
</file>

<file path=ppt/notesSlides/notesSlide7.xml><?xml version="1.0" encoding="utf-8"?>
<p:notes xmlns:p="http://schemas.openxmlformats.org/presentationml/2006/main">
  <p:cSld>
    <p:spTree xmlns:a="http://schemas.openxmlformats.org/drawingml/2006/main"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952500" y="685800"/>
            <a:ext cx="4953000" cy="34290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09F4262C-968C-4EE9-8164-CE16364706B3}" type="slidenum">
              <a:rPr lang="ko-KR" altLang="en-US" smtClean="0"/>
              <a:pPr lvl="0">
                <a:defRPr/>
              </a:pPr>
              <a:t>1</a:t>
            </a:fld>
            <a:endParaRPr lang="ko-KR" altLang="en-US"/>
          </a:p>
        </p:txBody>
      </p:sp>
    </p:spTree>
  </p:cSld>
</p:notes>
</file>

<file path=ppt/slideLayouts/_rels/slideLayout1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 lIns="0" rIns="0" anchor="b"/>
          <a:lstStyle/>
          <a:p>
            <a:pPr lvl="0" algn="l" marL="372596" indent="-372596">
              <a:spcAft>
                <a:spcPct val="0"/>
              </a:spcAft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95050" y="1599162"/>
            <a:ext cx="4372951" cy="2194576"/>
          </a:xfrm>
        </p:spPr>
        <p:txBody>
          <a:bodyPr lIns="45720" rIns="45720"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marL="175431" indent="-175431">
              <a:spcBef>
                <a:spcPct val="0"/>
              </a:spcBef>
              <a:spcAft>
                <a:spcPct val="0"/>
              </a:spcAft>
              <a:defRPr/>
            </a:pPr>
            <a:r>
              <a:rPr lang="ko-KR" altLang="en-US"/>
              <a:t>마스터 텍스트 스타일을 편집합니다</a:t>
            </a:r>
          </a:p>
          <a:p>
            <a:pPr lvl="1" marL="526292" indent="-175431">
              <a:spcAft>
                <a:spcPct val="0"/>
              </a:spcAft>
              <a:defRPr/>
            </a:pPr>
            <a:r>
              <a:rPr lang="ko-KR" altLang="en-US"/>
              <a:t>둘째 수준</a:t>
            </a:r>
          </a:p>
          <a:p>
            <a:pPr lvl="2" marL="875601" indent="-173878">
              <a:spcAft>
                <a:spcPct val="0"/>
              </a:spcAft>
              <a:defRPr/>
            </a:pPr>
            <a:r>
              <a:rPr lang="ko-KR" altLang="en-US"/>
              <a:t>셋째 수준</a:t>
            </a:r>
          </a:p>
          <a:p>
            <a:pPr lvl="3" marL="1235776" indent="-184746">
              <a:spcAft>
                <a:spcPct val="0"/>
              </a:spcAft>
              <a:defRPr/>
            </a:pPr>
            <a:r>
              <a:rPr lang="ko-KR" altLang="en-US"/>
              <a:t>넷째 수준</a:t>
            </a:r>
          </a:p>
          <a:p>
            <a:pPr lvl="4" marL="1586638" indent="-175431">
              <a:spcAft>
                <a:spcPct val="0"/>
              </a:spcAft>
              <a:defRPr/>
            </a:pPr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5033019" y="1599162"/>
            <a:ext cx="4372951" cy="2194576"/>
          </a:xfrm>
        </p:spPr>
        <p:txBody>
          <a:bodyPr lIns="45720" rIns="45720"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marL="175431" indent="-175431">
              <a:spcBef>
                <a:spcPct val="0"/>
              </a:spcBef>
              <a:spcAft>
                <a:spcPct val="0"/>
              </a:spcAft>
              <a:defRPr/>
            </a:pPr>
            <a:r>
              <a:rPr lang="ko-KR" altLang="en-US"/>
              <a:t>마스터 텍스트 스타일을 편집합니다</a:t>
            </a:r>
          </a:p>
          <a:p>
            <a:pPr lvl="1" marL="526292" indent="-175431">
              <a:spcAft>
                <a:spcPct val="0"/>
              </a:spcAft>
              <a:defRPr/>
            </a:pPr>
            <a:r>
              <a:rPr lang="ko-KR" altLang="en-US"/>
              <a:t>둘째 수준</a:t>
            </a:r>
          </a:p>
          <a:p>
            <a:pPr lvl="2" marL="875601" indent="-173878">
              <a:spcAft>
                <a:spcPct val="0"/>
              </a:spcAft>
              <a:defRPr/>
            </a:pPr>
            <a:r>
              <a:rPr lang="ko-KR" altLang="en-US"/>
              <a:t>셋째 수준</a:t>
            </a:r>
          </a:p>
          <a:p>
            <a:pPr lvl="3" marL="1235776" indent="-184746">
              <a:spcAft>
                <a:spcPct val="0"/>
              </a:spcAft>
              <a:defRPr/>
            </a:pPr>
            <a:r>
              <a:rPr lang="ko-KR" altLang="en-US"/>
              <a:t>넷째 수준</a:t>
            </a:r>
          </a:p>
          <a:p>
            <a:pPr lvl="4" marL="1586638" indent="-175431">
              <a:spcAft>
                <a:spcPct val="0"/>
              </a:spcAft>
              <a:defRPr/>
            </a:pPr>
            <a:r>
              <a:rPr lang="ko-KR" altLang="en-US"/>
              <a:t>다섯째 수준</a:t>
            </a:r>
          </a:p>
        </p:txBody>
      </p:sp>
      <p:sp>
        <p:nvSpPr>
          <p:cNvPr id="5" name="내용 개체 틀 4"/>
          <p:cNvSpPr>
            <a:spLocks noGrp="1"/>
          </p:cNvSpPr>
          <p:nvPr>
            <p:ph sz="half" idx="3"/>
          </p:nvPr>
        </p:nvSpPr>
        <p:spPr>
          <a:xfrm>
            <a:off x="493781" y="3981637"/>
            <a:ext cx="4372951" cy="2194576"/>
          </a:xfrm>
        </p:spPr>
        <p:txBody>
          <a:bodyPr lIns="45720" rIns="45720"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marL="175431" indent="-175431">
              <a:spcBef>
                <a:spcPct val="0"/>
              </a:spcBef>
              <a:spcAft>
                <a:spcPct val="0"/>
              </a:spcAft>
              <a:defRPr/>
            </a:pPr>
            <a:r>
              <a:rPr lang="ko-KR" altLang="en-US"/>
              <a:t>마스터 텍스트 스타일을 편집합니다</a:t>
            </a:r>
          </a:p>
          <a:p>
            <a:pPr lvl="1" marL="526292" indent="-175431">
              <a:spcAft>
                <a:spcPct val="0"/>
              </a:spcAft>
              <a:defRPr/>
            </a:pPr>
            <a:r>
              <a:rPr lang="ko-KR" altLang="en-US"/>
              <a:t>둘째 수준</a:t>
            </a:r>
          </a:p>
          <a:p>
            <a:pPr lvl="2" marL="875601" indent="-173878">
              <a:spcAft>
                <a:spcPct val="0"/>
              </a:spcAft>
              <a:defRPr/>
            </a:pPr>
            <a:r>
              <a:rPr lang="ko-KR" altLang="en-US"/>
              <a:t>셋째 수준</a:t>
            </a:r>
          </a:p>
          <a:p>
            <a:pPr lvl="3" marL="1235776" indent="-184746">
              <a:spcAft>
                <a:spcPct val="0"/>
              </a:spcAft>
              <a:defRPr/>
            </a:pPr>
            <a:r>
              <a:rPr lang="ko-KR" altLang="en-US"/>
              <a:t>넷째 수준</a:t>
            </a:r>
          </a:p>
          <a:p>
            <a:pPr lvl="4" marL="1586638" indent="-175431">
              <a:spcAft>
                <a:spcPct val="0"/>
              </a:spcAft>
              <a:defRPr/>
            </a:pPr>
            <a:r>
              <a:rPr lang="ko-KR" altLang="en-US"/>
              <a:t>다섯째 수준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half" idx="4"/>
          </p:nvPr>
        </p:nvSpPr>
        <p:spPr>
          <a:xfrm>
            <a:off x="5031750" y="3981637"/>
            <a:ext cx="4372951" cy="2194576"/>
          </a:xfrm>
        </p:spPr>
        <p:txBody>
          <a:bodyPr lIns="45720" rIns="45720"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marL="175431" indent="-175431">
              <a:spcBef>
                <a:spcPct val="0"/>
              </a:spcBef>
              <a:spcAft>
                <a:spcPct val="0"/>
              </a:spcAft>
              <a:defRPr/>
            </a:pPr>
            <a:r>
              <a:rPr lang="ko-KR" altLang="en-US"/>
              <a:t>마스터 텍스트 스타일을 편집합니다</a:t>
            </a:r>
          </a:p>
          <a:p>
            <a:pPr lvl="1" marL="526292" indent="-175431">
              <a:spcAft>
                <a:spcPct val="0"/>
              </a:spcAft>
              <a:defRPr/>
            </a:pPr>
            <a:r>
              <a:rPr lang="ko-KR" altLang="en-US"/>
              <a:t>둘째 수준</a:t>
            </a:r>
          </a:p>
          <a:p>
            <a:pPr lvl="2" marL="875601" indent="-173878">
              <a:spcAft>
                <a:spcPct val="0"/>
              </a:spcAft>
              <a:defRPr/>
            </a:pPr>
            <a:r>
              <a:rPr lang="ko-KR" altLang="en-US"/>
              <a:t>셋째 수준</a:t>
            </a:r>
          </a:p>
          <a:p>
            <a:pPr lvl="3" marL="1235776" indent="-184746">
              <a:spcAft>
                <a:spcPct val="0"/>
              </a:spcAft>
              <a:defRPr/>
            </a:pPr>
            <a:r>
              <a:rPr lang="ko-KR" altLang="en-US"/>
              <a:t>넷째 수준</a:t>
            </a:r>
          </a:p>
          <a:p>
            <a:pPr lvl="4" marL="1586638" indent="-175431">
              <a:spcAft>
                <a:spcPct val="0"/>
              </a:spcAft>
              <a:defRPr/>
            </a:pPr>
            <a:r>
              <a:rPr lang="ko-KR" altLang="en-US"/>
              <a:t>다섯째 수준</a:t>
            </a:r>
          </a:p>
        </p:txBody>
      </p:sp>
      <p:sp>
        <p:nvSpPr>
          <p:cNvPr id="10" name="날짜 개체 틀 3"/>
          <p:cNvSpPr>
            <a:spLocks noGrp="1"/>
          </p:cNvSpPr>
          <p:nvPr>
            <p:ph type="dt" sz="half" idx="10"/>
          </p:nvPr>
        </p:nvSpPr>
        <p:spPr>
          <a:xfrm>
            <a:off x="493650" y="6352034"/>
            <a:ext cx="2310957" cy="365046"/>
          </a:xfrm>
          <a:noFill/>
          <a:ln w="9525" cap="flat" cmpd="sng" algn="ctr">
            <a:noFill/>
            <a:prstDash val="solid"/>
            <a:round/>
          </a:ln>
        </p:spPr>
        <p:txBody>
          <a:bodyPr vert="horz" wrap="square" lIns="91440" tIns="45720" rIns="91440" bIns="45720" anchor="t">
            <a:noAutofit/>
          </a:bodyPr>
          <a:lstStyle>
            <a:lvl1pPr marL="0" lvl="0" indent="0" algn="l" rtl="0" eaLnBrk="1" latinLnBrk="1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None/>
              <a:defRPr kumimoji="1" lang="ko-KR" altLang="en-US" sz="1200" b="0" i="0" baseline="0">
                <a:solidFill>
                  <a:schemeClr val="tx1"/>
                </a:solidFill>
                <a:ea typeface="바탕"/>
              </a:defRPr>
            </a:lvl1pPr>
          </a:lstStyle>
          <a:p>
            <a:pPr marL="0" lvl="0" indent="0" algn="l" rtl="0" eaLnBrk="1" latinLnBrk="1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None/>
              <a:defRPr/>
            </a:pPr>
            <a:fld id="{D8D7A7C4-C82A-4D21-9AB0-F0C5A1D3EF09}" type="datetime1">
              <a:rPr kumimoji="1" lang="ko-KR" altLang="en-US" sz="1200" b="0" i="0" baseline="0">
                <a:solidFill>
                  <a:schemeClr val="tx1"/>
                </a:solidFill>
                <a:latin typeface="+mn-lt"/>
                <a:ea typeface="바탕"/>
                <a:cs typeface="+mn-cs"/>
              </a:rPr>
              <a:pPr marL="0" lvl="0" indent="0" algn="l" rtl="0" eaLnBrk="1" latinLnBrk="1" hangingPunct="1">
                <a:lnSpc>
                  <a:spcPct val="100000"/>
                </a:lnSpc>
                <a:spcBef>
                  <a:spcPct val="30000"/>
                </a:spcBef>
                <a:spcAft>
                  <a:spcPct val="0"/>
                </a:spcAft>
                <a:buNone/>
                <a:defRPr/>
              </a:pPr>
              <a:t>2024-10-31</a:t>
            </a:fld>
            <a:endParaRPr kumimoji="1" lang="ko-KR" altLang="en-US" sz="1200" b="0" i="0" baseline="0">
              <a:solidFill>
                <a:schemeClr val="tx1"/>
              </a:solidFill>
              <a:latin typeface="+mn-lt"/>
              <a:ea typeface="바탕"/>
              <a:cs typeface="+mn-cs"/>
            </a:endParaRPr>
          </a:p>
        </p:txBody>
      </p:sp>
      <p:sp>
        <p:nvSpPr>
          <p:cNvPr id="11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3382318" y="6352034"/>
            <a:ext cx="3134767" cy="365046"/>
          </a:xfrm>
          <a:noFill/>
          <a:ln w="9525" cap="flat" cmpd="sng" algn="ctr">
            <a:noFill/>
            <a:prstDash val="solid"/>
            <a:round/>
          </a:ln>
        </p:spPr>
        <p:txBody>
          <a:bodyPr vert="horz" wrap="square" lIns="91440" tIns="45720" rIns="91440" bIns="45720" anchor="t">
            <a:noAutofit/>
          </a:bodyPr>
          <a:lstStyle>
            <a:lvl1pPr marL="0" lvl="0" indent="0" algn="l" rtl="0" eaLnBrk="1" latinLnBrk="1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None/>
              <a:defRPr kumimoji="1" lang="ko-KR" altLang="en-US" sz="1200" b="0" i="0" baseline="0">
                <a:solidFill>
                  <a:schemeClr val="tx1"/>
                </a:solidFill>
                <a:ea typeface="바탕"/>
              </a:defRPr>
            </a:lvl1pPr>
          </a:lstStyle>
          <a:p>
            <a:pPr marL="0" lvl="0" indent="0" algn="l" rtl="0" eaLnBrk="1" latinLnBrk="1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None/>
              <a:defRPr/>
            </a:pPr>
            <a:endParaRPr kumimoji="1" lang="ko-KR" altLang="en-US" sz="1200" b="0" i="0" baseline="0">
              <a:solidFill>
                <a:schemeClr val="tx1"/>
              </a:solidFill>
              <a:ea typeface="바탕"/>
            </a:endParaRPr>
          </a:p>
        </p:txBody>
      </p:sp>
      <p:sp>
        <p:nvSpPr>
          <p:cNvPr id="12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7094854" y="6352034"/>
            <a:ext cx="2310957" cy="365046"/>
          </a:xfrm>
          <a:noFill/>
          <a:ln w="9525" cap="flat" cmpd="sng" algn="ctr">
            <a:noFill/>
            <a:prstDash val="solid"/>
            <a:round/>
          </a:ln>
        </p:spPr>
        <p:txBody>
          <a:bodyPr vert="horz" wrap="square" lIns="91440" tIns="45720" rIns="91440" bIns="45720" anchor="t">
            <a:noAutofit/>
          </a:bodyPr>
          <a:lstStyle>
            <a:lvl1pPr marL="0" lvl="0" indent="0" algn="l" rtl="0" eaLnBrk="1" latinLnBrk="1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None/>
              <a:defRPr kumimoji="1" lang="ko-KR" altLang="en-US" sz="1200" b="0" i="0" baseline="0">
                <a:solidFill>
                  <a:schemeClr val="tx1"/>
                </a:solidFill>
                <a:latin typeface="Arial"/>
                <a:ea typeface="Arial"/>
              </a:defRPr>
            </a:lvl1pPr>
          </a:lstStyle>
          <a:p>
            <a:pPr marL="0" lvl="0" indent="0" algn="l" rtl="0" eaLnBrk="1" latinLnBrk="1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None/>
              <a:defRPr/>
            </a:pPr>
            <a:fld id="{9327EF7B-8B08-4053-A0CD-9D52558E44A8}" type="slidenum">
              <a:rPr kumimoji="1" lang="ko-KR" altLang="en-US" sz="1200" b="0" i="0" baseline="0">
                <a:solidFill>
                  <a:schemeClr val="tx1"/>
                </a:solidFill>
                <a:latin typeface="Arial"/>
                <a:ea typeface="Arial"/>
              </a:rPr>
              <a:pPr marL="0" lvl="0" indent="0" algn="l" rtl="0" eaLnBrk="1" latinLnBrk="1" hangingPunct="1">
                <a:lnSpc>
                  <a:spcPct val="100000"/>
                </a:lnSpc>
                <a:spcBef>
                  <a:spcPct val="30000"/>
                </a:spcBef>
                <a:spcAft>
                  <a:spcPct val="0"/>
                </a:spcAft>
                <a:buNone/>
                <a:defRPr/>
              </a:pPr>
              <a:t>‹#›</a:t>
            </a:fld>
            <a:endParaRPr kumimoji="1" lang="ko-KR" altLang="en-US" sz="1200" b="0" i="0" baseline="0">
              <a:solidFill>
                <a:schemeClr val="tx1"/>
              </a:solidFill>
              <a:latin typeface="Arial"/>
              <a:ea typeface="Arial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no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13" Target="../media/image3.emf" Type="http://schemas.openxmlformats.org/officeDocument/2006/relationships/imag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4"/>
          <p:cNvSpPr>
            <a:spLocks noGrp="1" noChangeArrowheads="1"/>
          </p:cNvSpPr>
          <p:nvPr>
            <p:ph type="title"/>
          </p:nvPr>
        </p:nvSpPr>
        <p:spPr bwMode="auto">
          <a:xfrm>
            <a:off x="223730" y="101530"/>
            <a:ext cx="9055507" cy="431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45720" rIns="0" bIns="45720" numCol="1" anchor="b" anchorCtr="0" compatLnSpc="1">
            <a:prstTxWarp prst="textNoShape">
              <a:avLst/>
            </a:prstTxWarp>
          </a:bodyPr>
          <a:lstStyle/>
          <a:p>
            <a:pPr lvl="0" algn="l" marL="372596" indent="-372596">
              <a:spcAft>
                <a:spcPct val="0"/>
              </a:spcAft>
            </a:pPr>
            <a:r>
              <a:rPr lang="en-US" altLang="ko-KR"/>
              <a:t>Header text</a:t>
            </a:r>
          </a:p>
        </p:txBody>
      </p:sp>
      <p:sp>
        <p:nvSpPr>
          <p:cNvPr id="1027" name="Rectangle 5"/>
          <p:cNvSpPr>
            <a:spLocks noGrp="1" noChangeArrowheads="1"/>
          </p:cNvSpPr>
          <p:nvPr>
            <p:ph type="body" idx="1"/>
          </p:nvPr>
        </p:nvSpPr>
        <p:spPr bwMode="auto">
          <a:xfrm>
            <a:off x="495062" y="836032"/>
            <a:ext cx="8911114" cy="52858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45720" tIns="45720" rIns="45720" bIns="45720" numCol="1" anchor="t" anchorCtr="0" compatLnSpc="1">
            <a:prstTxWarp prst="textNoShape">
              <a:avLst/>
            </a:prstTxWarp>
          </a:bodyPr>
          <a:lstStyle/>
          <a:p>
            <a:pPr lvl="0" marL="175431" indent="-175431">
              <a:spcBef>
                <a:spcPct val="0"/>
              </a:spcBef>
              <a:spcAft>
                <a:spcPct val="0"/>
              </a:spcAft>
            </a:pPr>
            <a:r>
              <a:rPr lang="en-US" altLang="ko-KR"/>
              <a:t>Level One Text</a:t>
            </a:r>
          </a:p>
          <a:p>
            <a:pPr lvl="1" marL="526292" indent="-175431">
              <a:spcAft>
                <a:spcPct val="0"/>
              </a:spcAft>
            </a:pPr>
            <a:r>
              <a:rPr lang="en-US" altLang="ko-KR"/>
              <a:t>Level Two Text</a:t>
            </a:r>
          </a:p>
          <a:p>
            <a:pPr lvl="2" marL="875601" indent="-173878">
              <a:spcAft>
                <a:spcPct val="0"/>
              </a:spcAft>
            </a:pPr>
            <a:r>
              <a:rPr lang="en-US" altLang="ko-KR"/>
              <a:t>Level Three Text</a:t>
            </a:r>
          </a:p>
          <a:p>
            <a:pPr lvl="3" marL="1235776" indent="-184746">
              <a:spcAft>
                <a:spcPct val="0"/>
              </a:spcAft>
            </a:pPr>
            <a:r>
              <a:rPr lang="en-US" altLang="ko-KR"/>
              <a:t>Level Four Text</a:t>
            </a:r>
          </a:p>
          <a:p>
            <a:pPr lvl="4" marL="1586638" indent="-175431">
              <a:spcAft>
                <a:spcPct val="0"/>
              </a:spcAft>
            </a:pPr>
            <a:r>
              <a:rPr lang="en-US" altLang="ko-KR"/>
              <a:t>Level Five Text</a:t>
            </a:r>
          </a:p>
        </p:txBody>
      </p:sp>
      <p:sp>
        <p:nvSpPr>
          <p:cNvPr id="1028" name="Line 10"/>
          <p:cNvSpPr>
            <a:spLocks noChangeShapeType="1"/>
          </p:cNvSpPr>
          <p:nvPr/>
        </p:nvSpPr>
        <p:spPr bwMode="auto">
          <a:xfrm>
            <a:off x="152327" y="609177"/>
            <a:ext cx="9406176" cy="0"/>
          </a:xfrm>
          <a:prstGeom prst="line">
            <a:avLst/>
          </a:prstGeom>
          <a:noFill/>
          <a:ln w="1905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ko-KR" altLang="en-US" sz="2714"/>
          </a:p>
        </p:txBody>
      </p:sp>
      <p:sp>
        <p:nvSpPr>
          <p:cNvPr id="1029" name="Line 27"/>
          <p:cNvSpPr>
            <a:spLocks noChangeShapeType="1"/>
          </p:cNvSpPr>
          <p:nvPr/>
        </p:nvSpPr>
        <p:spPr bwMode="auto">
          <a:xfrm flipV="1">
            <a:off x="598200" y="6610520"/>
            <a:ext cx="0" cy="215750"/>
          </a:xfrm>
          <a:prstGeom prst="line">
            <a:avLst/>
          </a:prstGeom>
          <a:noFill/>
          <a:ln w="9525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 sz="2714"/>
          </a:p>
        </p:txBody>
      </p:sp>
      <p:pic>
        <p:nvPicPr>
          <p:cNvPr id="1030" name="Picture 6"/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8049" y="6512166"/>
            <a:ext cx="852077" cy="3188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34" name="Rectangle 10"/>
          <p:cNvSpPr>
            <a:spLocks noChangeArrowheads="1"/>
          </p:cNvSpPr>
          <p:nvPr/>
        </p:nvSpPr>
        <p:spPr bwMode="auto">
          <a:xfrm>
            <a:off x="4687223" y="6558168"/>
            <a:ext cx="493476" cy="287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>
            <a:lvl1pPr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 eaLnBrk="1" latinLnBrk="1" hangingPunct="1">
              <a:defRPr/>
            </a:pPr>
            <a:fld id="{A8DA2539-2289-4BBF-8B15-ACBAB22FB2D8}" type="slidenum">
              <a:rPr kumimoji="1" lang="en-US" altLang="ko-KR" sz="978" smtClean="0">
                <a:solidFill>
                  <a:srgbClr val="000000"/>
                </a:solidFill>
                <a:latin typeface="Arial" panose="020B0604020202020204" pitchFamily="34" charset="0"/>
                <a:ea typeface="아리따M"/>
                <a:cs typeface="아리따M"/>
              </a:rPr>
              <a:pPr algn="ctr" eaLnBrk="1" latinLnBrk="1" hangingPunct="1">
                <a:defRPr/>
              </a:pPr>
              <a:t>‹#›</a:t>
            </a:fld>
            <a:endParaRPr kumimoji="1" lang="en-US" altLang="ko-KR" sz="978">
              <a:solidFill>
                <a:srgbClr val="000000"/>
              </a:solidFill>
              <a:latin typeface="Arial" panose="020B0604020202020204" pitchFamily="34" charset="0"/>
              <a:ea typeface="아리따M"/>
              <a:cs typeface="아리따M"/>
            </a:endParaRPr>
          </a:p>
        </p:txBody>
      </p:sp>
      <p:sp>
        <p:nvSpPr>
          <p:cNvPr id="2" name="MSIPCMContentMarking" descr="{&quot;HashCode&quot;:1183346205,&quot;Placement&quot;:&quot;Footer&quot;,&quot;Top&quot;:517.622253,&quot;Left&quot;:0.0,&quot;SlideWidth&quot;:779,&quot;SlideHeight&quot;:539}">
            <a:extLst>
              <a:ext uri="{FF2B5EF4-FFF2-40B4-BE49-F238E27FC236}">
                <a16:creationId xmlns:a16="http://schemas.microsoft.com/office/drawing/2014/main" id="{06CD49F0-D643-4002-B42C-3477312F1EA3}"/>
              </a:ext>
            </a:extLst>
          </p:cNvPr>
          <p:cNvSpPr txBox="1"/>
          <p:nvPr userDrawn="1"/>
        </p:nvSpPr>
        <p:spPr>
          <a:xfrm>
            <a:off x="0" y="6573803"/>
            <a:ext cx="1757926" cy="279435"/>
          </a:xfrm>
          <a:prstGeom prst="rect">
            <a:avLst/>
          </a:prstGeom>
        </p:spPr>
        <p:txBody>
          <a:bodyPr vert="horz" wrap="square" lIns="0" tIns="0" rIns="0" bIns="0" rtlCol="0" anchor="ctr" anchorCtr="1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altLang="ko-KR" sz="1100">
                <a:solidFill>
                  <a:srgbClr val="5F5F5F"/>
                </a:solidFill>
                <a:latin typeface="Calibri" panose="020F0502020204030204" pitchFamily="34" charset="0"/>
              </a:rPr>
              <a:t>S-OIL: Company Use Only</a:t>
            </a:r>
            <a:endParaRPr lang="ko-KR" altLang="en-US" sz="1100">
              <a:solidFill>
                <a:srgbClr val="5F5F5F"/>
              </a:solidFill>
              <a:latin typeface="Calibri" panose="020F050202020403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notesSlides/notesSlide1.xml" Type="http://schemas.openxmlformats.org/officeDocument/2006/relationships/notesSlide"/></Relationships>
</file>

<file path=ppt/slides/_rels/slide2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.xml" Type="http://schemas.openxmlformats.org/officeDocument/2006/relationships/notesSlide"/></Relationships>
</file>

<file path=ppt/slides/_rels/slide3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5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.xml" Type="http://schemas.openxmlformats.org/officeDocument/2006/relationships/notesSlide"/></Relationships>
</file>

<file path=ppt/slides/_rels/slide6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.xml" Type="http://schemas.openxmlformats.org/officeDocument/2006/relationships/notesSlide"/></Relationships>
</file>

<file path=ppt/slides/_rels/slide7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8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9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0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1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2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3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4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5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6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7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5.xml" Type="http://schemas.openxmlformats.org/officeDocument/2006/relationships/notesSlide"/></Relationships>
</file>

<file path=ppt/slides/_rels/slide18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6.xml" Type="http://schemas.openxmlformats.org/officeDocument/2006/relationships/notesSlide"/></Relationships>
</file>

<file path=ppt/slides/_rels/slide19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7.xml" Type="http://schemas.openxmlformats.org/officeDocument/2006/relationships/notesSlide"/></Relationships>
</file>

<file path=ppt/slides/_rels/slide20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 showMasterSp="false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TextBox 7"/>
          <p:cNvSpPr txBox="1">
            <a:spLocks noChangeArrowheads="1"/>
          </p:cNvSpPr>
          <p:nvPr/>
        </p:nvSpPr>
        <p:spPr>
          <a:xfrm>
            <a:off x="2054393" y="2265519"/>
            <a:ext cx="5763041" cy="504351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1pPr>
            <a:lvl2pPr indent="-285750" marL="742950"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2pPr>
            <a:lvl3pPr indent="-228600" marL="1143000"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3pPr>
            <a:lvl4pPr indent="-228600" marL="1600200"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4pPr>
            <a:lvl5pPr indent="-228600" marL="2057400"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5pPr>
            <a:lvl6pPr eaLnBrk="0" fontAlgn="base" hangingPunct="0" indent="-228600" marL="25146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6pPr>
            <a:lvl7pPr eaLnBrk="0" fontAlgn="base" hangingPunct="0" indent="-228600" marL="29718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7pPr>
            <a:lvl8pPr eaLnBrk="0" fontAlgn="base" hangingPunct="0" indent="-228600" marL="34290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8pPr>
            <a:lvl9pPr eaLnBrk="0" fontAlgn="base" hangingPunct="0" indent="-228600" marL="38862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9pPr>
          </a:lstStyle>
          <a:p>
            <a:pPr algn="ctr" eaLnBrk="1" hangingPunct="1">
              <a:spcBef>
                <a:spcPct val="0"/>
              </a:spcBef>
              <a:spcAft>
                <a:spcPct val="0"/>
              </a:spcAft>
              <a:defRPr/>
            </a:pPr>
            <a:r>
              <a:rPr altLang="ko-KR" b="0" kumimoji="1" lang="en-US" sz="2740">
                <a:solidFill>
                  <a:srgbClr val="000000"/>
                </a:solidFill>
                <a:latin typeface="HY견고딕"/>
                <a:ea typeface="HY견고딕"/>
              </a:rPr>
              <a:t>ITO </a:t>
            </a:r>
            <a:r>
              <a:rPr altLang="en-US" b="0" kumimoji="1" lang="ko-KR" sz="2740">
                <a:solidFill>
                  <a:srgbClr val="000000"/>
                </a:solidFill>
                <a:latin typeface="HY견고딕"/>
                <a:ea typeface="HY견고딕"/>
              </a:rPr>
              <a:t>운영 주간보고서 </a:t>
            </a:r>
            <a:r>
              <a:rPr altLang="ko-KR" b="0" kumimoji="1" lang="en-US" sz="2740">
                <a:solidFill>
                  <a:srgbClr val="000000"/>
                </a:solidFill>
                <a:latin typeface="HY견고딕"/>
                <a:ea typeface="HY견고딕"/>
              </a:rPr>
              <a:t>(AMS)</a:t>
            </a:r>
            <a:endParaRPr altLang="en-US" b="0" kumimoji="1" lang="ko-KR" sz="2740">
              <a:solidFill>
                <a:srgbClr val="000000"/>
              </a:solidFill>
              <a:latin typeface="HY견고딕"/>
              <a:ea typeface="HY견고딕"/>
            </a:endParaRPr>
          </a:p>
        </p:txBody>
      </p:sp>
      <p:pic>
        <p:nvPicPr>
          <p:cNvPr id="10243" name="Picture 2"/>
          <p:cNvPicPr>
            <a:picLocks noChangeArrowheads="1" noChangeAspect="1"/>
          </p:cNvPicPr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499459" y="521072"/>
            <a:ext cx="1542506" cy="517276"/>
          </a:xfrm>
          <a:prstGeom prst="rect">
            <a:avLst/>
          </a:prstGeom>
          <a:noFill/>
          <a:ln>
            <a:noFill/>
          </a:ln>
          <a:effectLst/>
        </p:spPr>
      </p:pic>
      <p:pic>
        <p:nvPicPr>
          <p:cNvPr descr="BD15156_" id="10244" name="Picture 4"/>
          <p:cNvPicPr>
            <a:picLocks noChangeArrowheads="1" noChangeAspect="1"/>
          </p:cNvPicPr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1285470" y="2832502"/>
            <a:ext cx="7322635" cy="86989"/>
          </a:xfrm>
          <a:prstGeom prst="rect">
            <a:avLst/>
          </a:prstGeom>
          <a:noFill/>
          <a:ln>
            <a:noFill/>
          </a:ln>
        </p:spPr>
      </p:pic>
      <p:sp>
        <p:nvSpPr>
          <p:cNvPr id="10245" name="Rectangle 3"/>
          <p:cNvSpPr txBox="1">
            <a:spLocks noChangeArrowheads="1"/>
          </p:cNvSpPr>
          <p:nvPr/>
        </p:nvSpPr>
        <p:spPr>
          <a:xfrm>
            <a:off x="3034575" y="4685685"/>
            <a:ext cx="3808889" cy="372811"/>
          </a:xfrm>
          <a:prstGeom prst="rect">
            <a:avLst/>
          </a:prstGeom>
          <a:noFill/>
          <a:ln>
            <a:noFill/>
          </a:ln>
        </p:spPr>
        <p:txBody>
          <a:bodyPr bIns="46758" lIns="93521" rIns="93521" tIns="18410"/>
          <a:lstStyle>
            <a:lvl1pPr defTabSz="860425" indent="-342900" marL="342900">
              <a:buChar char="•"/>
              <a:defRPr kumimoji="1" sz="1400">
                <a:solidFill>
                  <a:schemeClr val="tx1"/>
                </a:solidFill>
                <a:latin typeface="Arial"/>
                <a:ea typeface="굴림체"/>
                <a:cs typeface="Arial"/>
              </a:defRPr>
            </a:lvl1pPr>
            <a:lvl2pPr defTabSz="860425" indent="-285750" marL="742950">
              <a:spcBef>
                <a:spcPct val="20000"/>
              </a:spcBef>
              <a:buChar char="–"/>
              <a:defRPr kumimoji="1" sz="1400">
                <a:solidFill>
                  <a:schemeClr val="tx1"/>
                </a:solidFill>
                <a:latin typeface="Arial"/>
                <a:ea typeface="굴림체"/>
                <a:cs typeface="Arial"/>
              </a:defRPr>
            </a:lvl2pPr>
            <a:lvl3pPr defTabSz="860425" indent="-228600" marL="1143000">
              <a:spcBef>
                <a:spcPct val="20000"/>
              </a:spcBef>
              <a:buChar char="•"/>
              <a:defRPr kumimoji="1" sz="1400">
                <a:solidFill>
                  <a:schemeClr val="tx1"/>
                </a:solidFill>
                <a:latin typeface="Arial"/>
                <a:ea typeface="굴림체"/>
                <a:cs typeface="Arial"/>
              </a:defRPr>
            </a:lvl3pPr>
            <a:lvl4pPr defTabSz="860425" indent="-228600" marL="1600200">
              <a:spcBef>
                <a:spcPct val="20000"/>
              </a:spcBef>
              <a:buChar char="–"/>
              <a:defRPr kumimoji="1" sz="1400">
                <a:solidFill>
                  <a:schemeClr val="tx1"/>
                </a:solidFill>
                <a:latin typeface="Arial"/>
                <a:ea typeface="굴림체"/>
                <a:cs typeface="Arial"/>
              </a:defRPr>
            </a:lvl4pPr>
            <a:lvl5pPr defTabSz="860425" indent="-228600" marL="2057400">
              <a:spcBef>
                <a:spcPct val="20000"/>
              </a:spcBef>
              <a:buChar char="»"/>
              <a:defRPr kumimoji="1" sz="1400">
                <a:solidFill>
                  <a:schemeClr val="tx1"/>
                </a:solidFill>
                <a:latin typeface="Arial"/>
                <a:ea typeface="굴림체"/>
                <a:cs typeface="Arial"/>
              </a:defRPr>
            </a:lvl5pPr>
            <a:lvl6pPr defTabSz="860425" eaLnBrk="0" fontAlgn="base" hangingPunct="0" indent="-228600" marL="2514600">
              <a:spcBef>
                <a:spcPct val="20000"/>
              </a:spcBef>
              <a:spcAft>
                <a:spcPct val="0"/>
              </a:spcAft>
              <a:buChar char="»"/>
              <a:defRPr kumimoji="1" sz="1400">
                <a:solidFill>
                  <a:schemeClr val="tx1"/>
                </a:solidFill>
                <a:latin typeface="Arial"/>
                <a:ea typeface="굴림체"/>
                <a:cs typeface="Arial"/>
              </a:defRPr>
            </a:lvl6pPr>
            <a:lvl7pPr defTabSz="860425" eaLnBrk="0" fontAlgn="base" hangingPunct="0" indent="-228600" marL="2971800">
              <a:spcBef>
                <a:spcPct val="20000"/>
              </a:spcBef>
              <a:spcAft>
                <a:spcPct val="0"/>
              </a:spcAft>
              <a:buChar char="»"/>
              <a:defRPr kumimoji="1" sz="1400">
                <a:solidFill>
                  <a:schemeClr val="tx1"/>
                </a:solidFill>
                <a:latin typeface="Arial"/>
                <a:ea typeface="굴림체"/>
                <a:cs typeface="Arial"/>
              </a:defRPr>
            </a:lvl7pPr>
            <a:lvl8pPr defTabSz="860425" eaLnBrk="0" fontAlgn="base" hangingPunct="0" indent="-228600" marL="3429000">
              <a:spcBef>
                <a:spcPct val="20000"/>
              </a:spcBef>
              <a:spcAft>
                <a:spcPct val="0"/>
              </a:spcAft>
              <a:buChar char="»"/>
              <a:defRPr kumimoji="1" sz="1400">
                <a:solidFill>
                  <a:schemeClr val="tx1"/>
                </a:solidFill>
                <a:latin typeface="Arial"/>
                <a:ea typeface="굴림체"/>
                <a:cs typeface="Arial"/>
              </a:defRPr>
            </a:lvl8pPr>
            <a:lvl9pPr defTabSz="860425" eaLnBrk="0" fontAlgn="base" hangingPunct="0" indent="-228600" marL="3886200">
              <a:spcBef>
                <a:spcPct val="20000"/>
              </a:spcBef>
              <a:spcAft>
                <a:spcPct val="0"/>
              </a:spcAft>
              <a:buChar char="»"/>
              <a:defRPr kumimoji="1" sz="1400">
                <a:solidFill>
                  <a:schemeClr val="tx1"/>
                </a:solidFill>
                <a:latin typeface="Arial"/>
                <a:ea typeface="굴림체"/>
                <a:cs typeface="Arial"/>
              </a:defRPr>
            </a:lvl9pPr>
          </a:lstStyle>
          <a:p>
            <a:pPr algn="ctr" eaLnBrk="1" hangingPunct="1" latinLnBrk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FontTx/>
              <a:buNone/>
              <a:defRPr/>
            </a:pPr>
            <a:r>
              <a:rPr b="true" lang="en-US" sz="1960">
                <a:latin typeface="맑은 고딕"/>
              </a:rPr>
              <a:t>[2024.11.19 ~ 2024.11.25]</a:t>
            </a:r>
            <a:endParaRPr altLang="ko-KR" kumimoji="0" lang="en-US" sz="1957">
              <a:latin typeface="맑은 고딕"/>
              <a:ea typeface="맑은 고딕"/>
              <a:cs typeface="+mn-cs"/>
            </a:endParaRPr>
          </a:p>
        </p:txBody>
      </p:sp>
      <p:sp>
        <p:nvSpPr>
          <p:cNvPr id="10246" name="TextBox 10"/>
          <p:cNvSpPr txBox="1">
            <a:spLocks noChangeArrowheads="1"/>
          </p:cNvSpPr>
          <p:nvPr/>
        </p:nvSpPr>
        <p:spPr>
          <a:xfrm>
            <a:off x="4171651" y="3559484"/>
            <a:ext cx="1530014" cy="453842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1pPr>
            <a:lvl2pPr indent="-285750" marL="742950"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2pPr>
            <a:lvl3pPr indent="-228600" marL="1143000"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3pPr>
            <a:lvl4pPr indent="-228600" marL="1600200"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4pPr>
            <a:lvl5pPr indent="-228600" marL="2057400"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5pPr>
            <a:lvl6pPr eaLnBrk="0" fontAlgn="base" hangingPunct="0" indent="-228600" marL="25146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6pPr>
            <a:lvl7pPr eaLnBrk="0" fontAlgn="base" hangingPunct="0" indent="-228600" marL="29718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7pPr>
            <a:lvl8pPr eaLnBrk="0" fontAlgn="base" hangingPunct="0" indent="-228600" marL="34290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8pPr>
            <a:lvl9pPr eaLnBrk="0" fontAlgn="base" hangingPunct="0" indent="-228600" marL="38862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9pPr>
          </a:lstStyle>
          <a:p>
            <a:pPr eaLnBrk="1" hangingPunct="1">
              <a:spcBef>
                <a:spcPct val="0"/>
              </a:spcBef>
              <a:spcAft>
                <a:spcPct val="0"/>
              </a:spcAft>
              <a:defRPr/>
            </a:pPr>
            <a:r>
              <a:rPr b="true" lang="en-US" sz="1960">
                <a:solidFill>
                  <a:srgbClr val="000000"/>
                </a:solidFill>
                <a:latin typeface="맑은 고딕"/>
              </a:rPr>
              <a:t>11월 6주차</a:t>
            </a:r>
            <a:endParaRPr altLang="en-US" kumimoji="1" lang="ko-KR" sz="2349">
              <a:solidFill>
                <a:srgbClr val="000000"/>
              </a:solidFill>
            </a:endParaRPr>
          </a:p>
        </p:txBody>
      </p:sp>
      <p:sp>
        <p:nvSpPr>
          <p:cNvPr id="9" name="Line 18"/>
          <p:cNvSpPr>
            <a:spLocks noChangeShapeType="1"/>
          </p:cNvSpPr>
          <p:nvPr/>
        </p:nvSpPr>
        <p:spPr bwMode="auto">
          <a:xfrm>
            <a:off x="0" y="1600200"/>
            <a:ext cx="9906000" cy="0"/>
          </a:xfrm>
          <a:prstGeom prst="line">
            <a:avLst/>
          </a:prstGeom>
          <a:noFill/>
          <a:ln w="9525">
            <a:solidFill>
              <a:srgbClr val="BBE0E3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pPr>
              <a:spcBef>
                <a:spcPct val="0"/>
              </a:spcBef>
              <a:spcAft>
                <a:spcPct val="0"/>
              </a:spcAft>
            </a:pPr>
            <a:endParaRPr altLang="en-US" lang="ko-KR" sz="2716"/>
          </a:p>
        </p:txBody>
      </p:sp>
      <p:sp>
        <p:nvSpPr>
          <p:cNvPr id="10" name="Line 18"/>
          <p:cNvSpPr>
            <a:spLocks noChangeShapeType="1"/>
          </p:cNvSpPr>
          <p:nvPr/>
        </p:nvSpPr>
        <p:spPr bwMode="auto">
          <a:xfrm>
            <a:off x="0" y="5257800"/>
            <a:ext cx="9906000" cy="0"/>
          </a:xfrm>
          <a:prstGeom prst="line">
            <a:avLst/>
          </a:prstGeom>
          <a:noFill/>
          <a:ln w="9525">
            <a:solidFill>
              <a:srgbClr val="BBE0E3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pPr>
              <a:spcBef>
                <a:spcPct val="0"/>
              </a:spcBef>
              <a:spcAft>
                <a:spcPct val="0"/>
              </a:spcAft>
            </a:pPr>
            <a:endParaRPr altLang="en-US" lang="ko-KR" sz="2716"/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076" name="표 3075"/>
          <p:cNvGraphicFramePr/>
          <p:nvPr>
            <p:extLst>
              <p:ext uri="{D42A27DB-BD31-4B8C-83A1-F6EECF244321}">
                <p14:modId xmlns:p14="http://schemas.microsoft.com/office/powerpoint/2010/main" val="1625678617"/>
              </p:ext>
            </p:extLst>
          </p:nvPr>
        </p:nvGraphicFramePr>
        <p:xfrm>
          <a:off x="271440" y="1141189"/>
          <a:ext cx="9318451" cy="5164874"/>
        </p:xfrm>
        <a:graphic>
          <a:graphicData uri="http://schemas.openxmlformats.org/drawingml/2006/table">
            <a:tbl>
              <a:tblPr bandRow="1" firstRow="1"/>
              <a:tblGrid>
                <a:gridCol w="13205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205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2053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2533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6501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7132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29518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28572">
                <a:tc>
                  <a:txBody>
                    <a:bodyPr/>
                    <a:lstStyle/>
                    <a:p>
                      <a:pPr algn="ctr" defTabSz="58846888" eaLnBrk="0" hangingPunct="0" indent="0" latinLnBrk="0" lvl="0" marL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altLang="en-US" b="0" baseline="0" dirty="0" i="0" kumimoji="1" lang="ko-KR" sz="900">
                          <a:solidFill>
                            <a:srgbClr val="FF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</a:rPr>
                        <a:t>일</a:t>
                      </a:r>
                      <a:endParaRPr altLang="en-US" b="0" dirty="0" i="0" kumimoji="1" lang="ko-KR" sz="900">
                        <a:solidFill>
                          <a:srgbClr val="FF0000">
                            <a:alpha val="100000"/>
                          </a:srgbClr>
                        </a:solidFill>
                        <a:latin typeface="맑은 고딕"/>
                        <a:ea typeface="맑은 고딕"/>
                      </a:endParaRPr>
                    </a:p>
                  </a:txBody>
                  <a:tcPr anchor="ctr" marB="45719" marT="45719">
                    <a:lnL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solidFill>
                      <a:srgbClr val="EAEA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58846888" eaLnBrk="0" hangingPunct="0" indent="0" latinLnBrk="0" lvl="0" marL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altLang="en-US" b="0" baseline="0" i="0" kumimoji="1" lang="ko-KR" sz="90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</a:rPr>
                        <a:t>월</a:t>
                      </a:r>
                      <a:endParaRPr altLang="en-US" b="0" i="0" kumimoji="1" lang="ko-KR" sz="90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</a:endParaRPr>
                    </a:p>
                  </a:txBody>
                  <a:tcPr anchor="ctr"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solidFill>
                      <a:srgbClr val="EAEA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58846888" eaLnBrk="0" hangingPunct="0" indent="0" latinLnBrk="0" lvl="0" marL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altLang="en-US" b="0" baseline="0" dirty="0" i="0" kumimoji="1" lang="ko-KR" sz="90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</a:rPr>
                        <a:t>화</a:t>
                      </a:r>
                      <a:endParaRPr altLang="en-US" b="0" dirty="0" i="0" kumimoji="1" lang="ko-KR" sz="90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</a:endParaRPr>
                    </a:p>
                  </a:txBody>
                  <a:tcPr anchor="ctr"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solidFill>
                      <a:srgbClr val="EAEA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58846888" eaLnBrk="0" hangingPunct="0" indent="0" latinLnBrk="0" lvl="0" marL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altLang="en-US" b="0" baseline="0" i="0" kumimoji="1" lang="ko-KR" sz="90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</a:rPr>
                        <a:t>수</a:t>
                      </a:r>
                      <a:endParaRPr altLang="en-US" b="0" i="0" kumimoji="1" lang="ko-KR" sz="90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</a:endParaRPr>
                    </a:p>
                  </a:txBody>
                  <a:tcPr anchor="ctr"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solidFill>
                      <a:srgbClr val="EAEA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58846888" eaLnBrk="0" hangingPunct="0" indent="0" latinLnBrk="0" lvl="0" marL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altLang="en-US" b="0" baseline="0" i="0" kumimoji="1" lang="ko-KR" sz="90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</a:rPr>
                        <a:t>목</a:t>
                      </a:r>
                      <a:endParaRPr altLang="en-US" b="0" i="0" kumimoji="1" lang="ko-KR" sz="90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</a:endParaRPr>
                    </a:p>
                  </a:txBody>
                  <a:tcPr anchor="ctr"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solidFill>
                      <a:srgbClr val="EAEA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58846888" eaLnBrk="0" hangingPunct="0" indent="0" latinLnBrk="0" lvl="0" marL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altLang="en-US" b="0" baseline="0" i="0" kumimoji="1" lang="ko-KR" sz="90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</a:rPr>
                        <a:t>금</a:t>
                      </a:r>
                      <a:endParaRPr altLang="en-US" b="0" i="0" kumimoji="1" lang="ko-KR" sz="90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</a:endParaRPr>
                    </a:p>
                  </a:txBody>
                  <a:tcPr anchor="ctr"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solidFill>
                      <a:srgbClr val="EAEA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58846888" eaLnBrk="0" hangingPunct="0" indent="0" latinLnBrk="0" lvl="0" marL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altLang="en-US" b="0" baseline="0" dirty="0" i="0" kumimoji="1" lang="ko-KR" sz="900">
                          <a:solidFill>
                            <a:srgbClr val="0000FF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</a:rPr>
                        <a:t>토</a:t>
                      </a:r>
                      <a:endParaRPr altLang="en-US" b="0" dirty="0" i="0" kumimoji="1" lang="ko-KR" sz="900">
                        <a:solidFill>
                          <a:srgbClr val="0000FF">
                            <a:alpha val="100000"/>
                          </a:srgbClr>
                        </a:solidFill>
                        <a:latin typeface="맑은 고딕"/>
                        <a:ea typeface="맑은 고딕"/>
                      </a:endParaRPr>
                    </a:p>
                  </a:txBody>
                  <a:tcPr anchor="ctr"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solidFill>
                      <a:srgbClr val="EAEAEA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71392">
                <a:tc>
                  <a:txBody>
                    <a:bodyPr/>
                    <a:lstStyle/>
                    <a:p>
                      <a:endParaRPr altLang="en-US" dirty="0" lang="ko-KR" sz="900">
                        <a:solidFill>
                          <a:srgbClr val="FF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>
                    <a:lnL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dirty="0" lang="ko-KR" sz="900">
                        <a:solidFill>
                          <a:schemeClr val="tx1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dirty="0" lang="ko-KR" sz="900">
                        <a:solidFill>
                          <a:srgbClr val="FF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dirty="0" lang="ko-KR" sz="900">
                        <a:solidFill>
                          <a:schemeClr val="tx1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dirty="0" lang="ko-KR" sz="900">
                        <a:solidFill>
                          <a:srgbClr val="FF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</a:t>
                      </a:r>
                      <a:endParaRPr altLang="en-US" dirty="0" lang="ko-KR" sz="900">
                        <a:solidFill>
                          <a:schemeClr val="tx1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6" marT="45716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0070C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</a:t>
                      </a:r>
                      <a:endParaRPr altLang="en-US" dirty="0" lang="ko-KR" sz="900">
                        <a:solidFill>
                          <a:srgbClr val="0070C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49176"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FF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3</a:t>
                      </a:r>
                      <a:endParaRPr altLang="en-US" dirty="0" lang="ko-KR" sz="900">
                        <a:solidFill>
                          <a:srgbClr val="FF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4</a:t>
                      </a:r>
                      <a:endParaRPr altLang="en-US" dirty="0" lang="ko-KR" sz="900">
                        <a:solidFill>
                          <a:schemeClr val="tx1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5</a:t>
                      </a:r>
                      <a:endParaRPr altLang="en-US" dirty="0" lang="ko-KR" sz="900">
                        <a:solidFill>
                          <a:schemeClr val="tx1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6</a:t>
                      </a:r>
                      <a:endParaRPr altLang="en-US" dirty="0" lang="ko-KR" sz="900">
                        <a:solidFill>
                          <a:schemeClr val="tx1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7</a:t>
                      </a:r>
                      <a:endParaRPr altLang="en-US" dirty="0" lang="ko-KR" sz="900">
                        <a:solidFill>
                          <a:schemeClr val="tx1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8</a:t>
                      </a:r>
                      <a:endParaRPr altLang="en-US" dirty="0" lang="ko-KR" sz="900">
                        <a:solidFill>
                          <a:schemeClr val="tx1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0070C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9</a:t>
                      </a:r>
                      <a:endParaRPr altLang="en-US" dirty="0" lang="ko-KR" sz="900">
                        <a:solidFill>
                          <a:srgbClr val="0070C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52327"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FF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10</a:t>
                      </a:r>
                      <a:endParaRPr altLang="en-US" dirty="0" lang="ko-KR" sz="900">
                        <a:solidFill>
                          <a:srgbClr val="FF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03" marT="45703">
                    <a:lnL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2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11</a:t>
                      </a:r>
                      <a:endParaRPr altLang="en-US" dirty="0" lang="ko-KR" sz="900">
                        <a:solidFill>
                          <a:schemeClr val="tx2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03" marT="45703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2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12</a:t>
                      </a:r>
                      <a:endParaRPr altLang="en-US" dirty="0" lang="ko-KR" sz="900">
                        <a:solidFill>
                          <a:schemeClr val="tx2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03" marT="45703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2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13</a:t>
                      </a:r>
                      <a:endParaRPr altLang="en-US" dirty="0" lang="ko-KR" sz="900">
                        <a:solidFill>
                          <a:schemeClr val="tx2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2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14</a:t>
                      </a:r>
                      <a:endParaRPr altLang="en-US" dirty="0" lang="ko-KR" sz="900">
                        <a:solidFill>
                          <a:schemeClr val="tx2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15</a:t>
                      </a:r>
                      <a:endParaRPr altLang="en-US" dirty="0" lang="ko-KR" sz="900">
                        <a:solidFill>
                          <a:schemeClr val="tx1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0070C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16</a:t>
                      </a:r>
                      <a:endParaRPr altLang="en-US" dirty="0" lang="ko-KR" sz="900">
                        <a:solidFill>
                          <a:srgbClr val="0070C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049146"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FF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17</a:t>
                      </a:r>
                      <a:endParaRPr altLang="en-US" dirty="0" lang="ko-KR" sz="900">
                        <a:solidFill>
                          <a:srgbClr val="FF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03" marT="45703">
                    <a:lnL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18</a:t>
                      </a:r>
                      <a:endParaRPr altLang="en-US" dirty="0" lang="ko-KR" sz="900">
                        <a:solidFill>
                          <a:schemeClr val="tx1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03" marT="45703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19</a:t>
                      </a:r>
                      <a:endParaRPr altLang="en-US" dirty="0" lang="ko-KR" sz="900">
                        <a:solidFill>
                          <a:schemeClr val="tx1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03" marT="45703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20</a:t>
                      </a:r>
                      <a:endParaRPr altLang="en-US" dirty="0" lang="ko-KR" sz="900">
                        <a:solidFill>
                          <a:schemeClr val="tx1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21</a:t>
                      </a:r>
                      <a:endParaRPr altLang="en-US" dirty="0" lang="ko-KR" sz="900">
                        <a:solidFill>
                          <a:schemeClr val="tx1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22</a:t>
                      </a:r>
                      <a:endParaRPr altLang="en-US" dirty="0" lang="ko-KR" sz="900">
                        <a:solidFill>
                          <a:schemeClr val="tx1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0070C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23</a:t>
                      </a:r>
                      <a:endParaRPr altLang="en-US" dirty="0" lang="ko-KR" sz="900">
                        <a:solidFill>
                          <a:srgbClr val="0070C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914235"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FF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24</a:t>
                      </a:r>
                      <a:endParaRPr altLang="en-US" dirty="0" lang="ko-KR" sz="900">
                        <a:solidFill>
                          <a:srgbClr val="FF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03" marT="45703">
                    <a:lnL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25</a:t>
                      </a:r>
                      <a:endParaRPr altLang="en-US" dirty="0" lang="ko-KR" sz="900">
                        <a:solidFill>
                          <a:schemeClr val="tx1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26</a:t>
                      </a:r>
                      <a:endParaRPr altLang="en-US" dirty="0" lang="ko-KR" sz="9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27</a:t>
                      </a:r>
                      <a:endParaRPr altLang="en-US" dirty="0" lang="ko-KR" sz="900">
                        <a:solidFill>
                          <a:schemeClr val="tx1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28</a:t>
                      </a:r>
                      <a:endParaRPr altLang="en-US" dirty="0" lang="ko-KR" sz="900">
                        <a:solidFill>
                          <a:schemeClr val="tx1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29</a:t>
                      </a:r>
                      <a:endParaRPr altLang="en-US" dirty="0" lang="ko-KR" sz="900">
                        <a:solidFill>
                          <a:schemeClr val="tx1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0070C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30</a:t>
                      </a:r>
                      <a:endParaRPr altLang="en-US" dirty="0" lang="ko-KR" sz="900">
                        <a:solidFill>
                          <a:srgbClr val="0070C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3246" name="TextBox 3245"/>
          <p:cNvSpPr txBox="1"/>
          <p:nvPr/>
        </p:nvSpPr>
        <p:spPr>
          <a:xfrm>
            <a:off x="5639356" y="661884"/>
            <a:ext cx="661884" cy="363427"/>
          </a:xfrm>
          <a:prstGeom prst="rect">
            <a:avLst/>
          </a:prstGeom>
          <a:noFill/>
          <a:ln algn="ctr" cap="flat" cmpd="sng" w="9525">
            <a:noFill/>
            <a:prstDash val="solid"/>
            <a:round/>
          </a:ln>
        </p:spPr>
        <p:txBody>
          <a:bodyPr anchor="t" bIns="45720" lIns="91440" rIns="91440" tIns="45720" vert="horz" wrap="none">
            <a:noAutofit/>
          </a:bodyPr>
          <a:lstStyle/>
          <a:p>
            <a:pPr algn="r" defTabSz="75524200" eaLnBrk="0" hangingPunct="0" indent="-188937" latinLnBrk="0" lvl="0" marL="188937" rtl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3333CC">
                  <a:alpha val="100000"/>
                </a:srgbClr>
              </a:buClr>
              <a:buSzPct val="100000"/>
              <a:buFont typeface="Arial"/>
              <a:buChar char="◑"/>
              <a:defRPr/>
            </a:pPr>
            <a:r>
              <a:rPr altLang="en-US" b="0" baseline="0" dirty="0" i="0" kumimoji="1" lang="ko-KR" sz="900">
                <a:solidFill>
                  <a:srgbClr val="3333CC">
                    <a:alpha val="100000"/>
                  </a:srgbClr>
                </a:solidFill>
                <a:latin typeface="맑은 고딕"/>
                <a:ea typeface="맑은 고딕"/>
              </a:rPr>
              <a:t>반 차</a:t>
            </a:r>
          </a:p>
          <a:p>
            <a:pPr algn="r" defTabSz="75524200" eaLnBrk="0" hangingPunct="0" indent="-188937" latinLnBrk="0" lvl="0" marL="188937" rtl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3333CC">
                  <a:alpha val="100000"/>
                </a:srgbClr>
              </a:buClr>
              <a:buSzPct val="150000"/>
              <a:buFont typeface="Wingdings"/>
              <a:buChar char="l"/>
              <a:defRPr/>
            </a:pPr>
            <a:r>
              <a:rPr altLang="en-US" b="0" baseline="0" dirty="0" i="0" kumimoji="1" lang="ko-KR" sz="900">
                <a:solidFill>
                  <a:srgbClr val="3333CC">
                    <a:alpha val="100000"/>
                  </a:srgbClr>
                </a:solidFill>
                <a:latin typeface="맑은 고딕"/>
                <a:ea typeface="맑은 고딕"/>
              </a:rPr>
              <a:t> 1day</a:t>
            </a:r>
            <a:endParaRPr altLang="en-US" b="0" dirty="0" i="0" kumimoji="1" lang="ko-KR" sz="900">
              <a:solidFill>
                <a:srgbClr val="3333CC">
                  <a:alpha val="100000"/>
                </a:srgbClr>
              </a:solidFill>
              <a:latin typeface="맑은 고딕"/>
              <a:ea typeface="맑은 고딕"/>
            </a:endParaRPr>
          </a:p>
        </p:txBody>
      </p:sp>
      <p:sp>
        <p:nvSpPr>
          <p:cNvPr id="3247" name="TextBox 3246"/>
          <p:cNvSpPr txBox="1"/>
          <p:nvPr/>
        </p:nvSpPr>
        <p:spPr>
          <a:xfrm>
            <a:off x="226954" y="199994"/>
            <a:ext cx="9056616" cy="336468"/>
          </a:xfrm>
          <a:prstGeom prst="rect">
            <a:avLst/>
          </a:prstGeom>
          <a:noFill/>
          <a:ln algn="ctr" cap="flat" cmpd="sng" w="9525">
            <a:noFill/>
            <a:prstDash val="solid"/>
            <a:round/>
          </a:ln>
        </p:spPr>
        <p:txBody>
          <a:bodyPr anchor="ctr" bIns="45789" lIns="91577" rIns="91577" tIns="45789" vert="horz" wrap="square">
            <a:noAutofit/>
          </a:bodyPr>
          <a:lstStyle/>
          <a:p>
            <a:pPr algn="l" defTabSz="58846888" eaLnBrk="0" hangingPunct="0" indent="-385813" latinLnBrk="0" lvl="0" marL="385813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/>
            </a:pPr>
            <a:r>
              <a:rPr altLang="en-US" b="1" baseline="0" dirty="0" i="0" kumimoji="1" lang="ko-KR" sz="16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별첨</a:t>
            </a:r>
            <a:r>
              <a:rPr altLang="en-US" b="1" baseline="0" dirty="0" i="0" kumimoji="1" lang="ko-KR" sz="16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-</a:t>
            </a:r>
            <a:r>
              <a:rPr altLang="en-US" b="1" baseline="0" dirty="0" i="0" kumimoji="1" lang="ko-KR" sz="16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2</a:t>
            </a:r>
            <a:r>
              <a:rPr altLang="en-US" b="1" baseline="0" dirty="0" i="0" kumimoji="1" lang="ko-KR" sz="16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.</a:t>
            </a:r>
            <a:r>
              <a:rPr altLang="en-US" b="1" baseline="0" dirty="0" i="0" kumimoji="1" lang="ko-KR" sz="16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 202</a:t>
            </a:r>
            <a:r>
              <a:rPr altLang="ko-KR" b="1" baseline="0" dirty="0" i="0" kumimoji="1" lang="en-US" sz="16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4</a:t>
            </a:r>
            <a:r>
              <a:rPr altLang="en-US" b="1" baseline="0" dirty="0" i="0" kumimoji="1" lang="ko-KR" sz="16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. </a:t>
            </a:r>
            <a:r>
              <a:rPr altLang="ko-KR" b="1" dirty="0" kumimoji="1" lang="en-US" sz="16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11</a:t>
            </a:r>
            <a:r>
              <a:rPr altLang="en-US" b="1" baseline="0" dirty="0" i="0" kumimoji="1" lang="ko-KR" sz="16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월 휴가계획서</a:t>
            </a:r>
            <a:endParaRPr altLang="en-US" b="1" dirty="0" i="0" kumimoji="1" lang="ko-KR" sz="1600">
              <a:solidFill>
                <a:srgbClr val="000000">
                  <a:alpha val="100000"/>
                </a:srgbClr>
              </a:solidFill>
              <a:latin typeface="맑은 고딕"/>
              <a:ea typeface="맑은 고딕"/>
            </a:endParaRPr>
          </a:p>
        </p:txBody>
      </p:sp>
      <p:sp>
        <p:nvSpPr>
          <p:cNvPr id="3248" name="TextBox 3247"/>
          <p:cNvSpPr txBox="1"/>
          <p:nvPr/>
        </p:nvSpPr>
        <p:spPr>
          <a:xfrm>
            <a:off x="6777363" y="666628"/>
            <a:ext cx="1447571" cy="355557"/>
          </a:xfrm>
          <a:prstGeom prst="rect">
            <a:avLst/>
          </a:prstGeom>
          <a:noFill/>
          <a:ln algn="ctr" cap="flat" cmpd="sng" w="9525">
            <a:noFill/>
            <a:prstDash val="solid"/>
            <a:round/>
          </a:ln>
        </p:spPr>
        <p:txBody>
          <a:bodyPr anchor="t" bIns="45720" lIns="91440" rIns="91440" tIns="45720" vert="horz" wrap="square">
            <a:noAutofit/>
          </a:bodyPr>
          <a:lstStyle/>
          <a:p>
            <a:pPr algn="r" defTabSz="75524200" eaLnBrk="1" hangingPunct="1" indent="-188937" latinLnBrk="0" lvl="0" marL="188937" rtl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333399">
                  <a:alpha val="100000"/>
                </a:srgbClr>
              </a:buClr>
              <a:buSzPct val="100000"/>
              <a:buFont typeface="Wingdings"/>
              <a:buChar char="Ø"/>
              <a:defRPr/>
            </a:pPr>
            <a:r>
              <a:rPr altLang="en-US" b="0" baseline="0" dirty="0" i="0" kumimoji="1" lang="ko-KR" sz="900">
                <a:solidFill>
                  <a:srgbClr val="333399">
                    <a:alpha val="100000"/>
                  </a:srgbClr>
                </a:solidFill>
                <a:latin typeface="맑은 고딕"/>
                <a:ea typeface="맑은 고딕"/>
              </a:rPr>
              <a:t>예비군</a:t>
            </a:r>
            <a:r>
              <a:rPr altLang="en-US" b="0" baseline="0" dirty="0" i="0" kumimoji="1" lang="ko-KR" sz="900">
                <a:solidFill>
                  <a:srgbClr val="333399">
                    <a:alpha val="100000"/>
                  </a:srgbClr>
                </a:solidFill>
                <a:latin typeface="바탕"/>
                <a:ea typeface="맑은 고딕"/>
              </a:rPr>
              <a:t>/</a:t>
            </a:r>
            <a:r>
              <a:rPr altLang="en-US" b="0" baseline="0" dirty="0" i="0" kumimoji="1" lang="ko-KR" sz="900">
                <a:solidFill>
                  <a:srgbClr val="333399">
                    <a:alpha val="100000"/>
                  </a:srgbClr>
                </a:solidFill>
                <a:latin typeface="맑은 고딕"/>
                <a:ea typeface="맑은 고딕"/>
              </a:rPr>
              <a:t>민방위 훈련 </a:t>
            </a:r>
          </a:p>
          <a:p>
            <a:pPr algn="r" defTabSz="75524200" eaLnBrk="1" hangingPunct="1" indent="-188937" latinLnBrk="0" lvl="0" marL="188937" rtl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333399">
                  <a:alpha val="100000"/>
                </a:srgbClr>
              </a:buClr>
              <a:buSzPct val="100000"/>
              <a:buFont typeface="Wingdings"/>
              <a:buChar char="ü"/>
              <a:defRPr/>
            </a:pPr>
            <a:r>
              <a:rPr altLang="en-US" b="0" baseline="0" dirty="0" i="0" kumimoji="1" lang="ko-KR" sz="900">
                <a:solidFill>
                  <a:srgbClr val="333399">
                    <a:alpha val="100000"/>
                  </a:srgbClr>
                </a:solidFill>
                <a:latin typeface="맑은 고딕"/>
                <a:ea typeface="맑은 고딕"/>
              </a:rPr>
              <a:t>교육</a:t>
            </a:r>
            <a:r>
              <a:rPr altLang="en-US" b="0" baseline="0" dirty="0" i="0" kumimoji="1" lang="ko-KR" sz="900">
                <a:solidFill>
                  <a:srgbClr val="333399">
                    <a:alpha val="100000"/>
                  </a:srgbClr>
                </a:solidFill>
                <a:latin typeface="바탕"/>
                <a:ea typeface="맑은 고딕"/>
              </a:rPr>
              <a:t>,</a:t>
            </a:r>
            <a:r>
              <a:rPr altLang="en-US" b="0" baseline="0" dirty="0" i="0" kumimoji="1" lang="ko-KR" sz="900">
                <a:solidFill>
                  <a:srgbClr val="333399">
                    <a:alpha val="100000"/>
                  </a:srgbClr>
                </a:solidFill>
                <a:latin typeface="맑은 고딕"/>
                <a:ea typeface="맑은 고딕"/>
              </a:rPr>
              <a:t> 내부회의 </a:t>
            </a:r>
            <a:endParaRPr altLang="en-US" b="0" dirty="0" i="0" kumimoji="1" lang="ko-KR" sz="900">
              <a:solidFill>
                <a:srgbClr val="333399">
                  <a:alpha val="100000"/>
                </a:srgbClr>
              </a:solidFill>
              <a:latin typeface="맑은 고딕"/>
              <a:ea typeface="맑은 고딕"/>
            </a:endParaRPr>
          </a:p>
        </p:txBody>
      </p:sp>
      <p:sp>
        <p:nvSpPr>
          <p:cNvPr id="3252" name="TextBox 3251"/>
          <p:cNvSpPr txBox="1"/>
          <p:nvPr/>
        </p:nvSpPr>
        <p:spPr>
          <a:xfrm>
            <a:off x="7853525" y="661884"/>
            <a:ext cx="1676088" cy="355501"/>
          </a:xfrm>
          <a:prstGeom prst="rect">
            <a:avLst/>
          </a:prstGeom>
          <a:noFill/>
          <a:ln algn="ctr" cap="flat" cmpd="sng" w="9525">
            <a:noFill/>
            <a:prstDash val="solid"/>
            <a:round/>
          </a:ln>
        </p:spPr>
        <p:txBody>
          <a:bodyPr anchor="t" bIns="45720" lIns="91440" rIns="91440" tIns="45720" vert="horz" wrap="square">
            <a:noAutofit/>
          </a:bodyPr>
          <a:lstStyle/>
          <a:p>
            <a:pPr algn="r" defTabSz="75524200" eaLnBrk="1" hangingPunct="1" indent="-188937" latinLnBrk="0" lvl="0" marL="188937" rtl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333399">
                  <a:alpha val="100000"/>
                </a:srgbClr>
              </a:buClr>
              <a:buSzPct val="100000"/>
              <a:buFont typeface="Wingdings"/>
              <a:buChar char="v"/>
              <a:defRPr/>
            </a:pPr>
            <a:r>
              <a:rPr altLang="en-US" b="0" baseline="0" i="0" kumimoji="1" lang="ko-KR" sz="900">
                <a:solidFill>
                  <a:srgbClr val="333399">
                    <a:alpha val="100000"/>
                  </a:srgbClr>
                </a:solidFill>
                <a:latin typeface="맑은 고딕"/>
                <a:ea typeface="맑은 고딕"/>
              </a:rPr>
              <a:t>경조휴가</a:t>
            </a:r>
          </a:p>
          <a:p>
            <a:pPr algn="r" defTabSz="75524200" eaLnBrk="1" hangingPunct="1" indent="-188937" latinLnBrk="0" lvl="0" marL="188937" rtl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333399">
                  <a:alpha val="100000"/>
                </a:srgbClr>
              </a:buClr>
              <a:buSzPct val="100000"/>
              <a:buFont typeface="Arial"/>
              <a:buChar char="◇"/>
              <a:defRPr/>
            </a:pPr>
            <a:r>
              <a:rPr altLang="en-US" b="0" baseline="0" i="0" kumimoji="1" lang="ko-KR" sz="900">
                <a:solidFill>
                  <a:srgbClr val="333399">
                    <a:alpha val="100000"/>
                  </a:srgbClr>
                </a:solidFill>
                <a:latin typeface="맑은 고딕"/>
                <a:ea typeface="맑은 고딕"/>
              </a:rPr>
              <a:t>건강검진</a:t>
            </a:r>
            <a:endParaRPr altLang="en-US" b="0" i="0" kumimoji="1" lang="ko-KR" sz="900">
              <a:solidFill>
                <a:srgbClr val="333399">
                  <a:alpha val="100000"/>
                </a:srgbClr>
              </a:solidFill>
              <a:latin typeface="맑은 고딕"/>
              <a:ea typeface="맑은 고딕"/>
            </a:endParaRPr>
          </a:p>
        </p:txBody>
      </p:sp>
      <p:sp>
        <p:nvSpPr>
          <p:cNvPr id="3253" name="TextBox 3252"/>
          <p:cNvSpPr txBox="1"/>
          <p:nvPr/>
        </p:nvSpPr>
        <p:spPr>
          <a:xfrm>
            <a:off x="722167" y="6401209"/>
            <a:ext cx="3085536" cy="223828"/>
          </a:xfrm>
          <a:prstGeom prst="rect">
            <a:avLst/>
          </a:prstGeom>
          <a:noFill/>
          <a:ln algn="ctr" cap="flat" cmpd="sng" w="9525">
            <a:noFill/>
            <a:prstDash val="solid"/>
            <a:round/>
          </a:ln>
        </p:spPr>
        <p:txBody>
          <a:bodyPr anchor="ctr" bIns="45720" lIns="91440" rIns="91440" tIns="45720" vert="horz" wrap="none">
            <a:noAutofit/>
          </a:bodyPr>
          <a:lstStyle/>
          <a:p>
            <a:pPr algn="r" defTabSz="75524200" eaLnBrk="0" hangingPunct="0" indent="0" latinLnBrk="0" lvl="0" marL="0" rtl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None/>
              <a:defRPr/>
            </a:pP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(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H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)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 IT운영팀  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(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R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)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 생산IT지원팀  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(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B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)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 Baynex   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(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Q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)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 Quintet</a:t>
            </a:r>
            <a:endParaRPr altLang="en-US" b="0" i="0" kumimoji="1" lang="ko-KR" sz="900">
              <a:solidFill>
                <a:srgbClr val="000000">
                  <a:alpha val="100000"/>
                </a:srgbClr>
              </a:solidFill>
              <a:latin typeface="맑은 고딕"/>
              <a:ea typeface="맑은 고딕"/>
            </a:endParaRP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AutoShape 125"/>
          <p:cNvSpPr>
            <a:spLocks noChangeArrowheads="1"/>
          </p:cNvSpPr>
          <p:nvPr/>
        </p:nvSpPr>
        <p:spPr bwMode="auto">
          <a:xfrm>
            <a:off x="2486232" y="2518720"/>
            <a:ext cx="5711781" cy="391452"/>
          </a:xfrm>
          <a:prstGeom prst="roundRect">
            <a:avLst>
              <a:gd fmla="val 16667" name="adj"/>
            </a:avLst>
          </a:prstGeom>
          <a:solidFill>
            <a:schemeClr val="bg1"/>
          </a:solidFill>
          <a:ln>
            <a:noFill/>
          </a:ln>
          <a:effectLst>
            <a:outerShdw algn="ctr" dir="2700000" dist="35921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algn="ctr" w="635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anchor="ctr" lIns="176131" wrap="none"/>
          <a:lstStyle>
            <a:lvl1pPr defTabSz="762000" indent="-342900" marL="3429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1pPr>
            <a:lvl2pPr defTabSz="762000" indent="-385763" marL="5651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2pPr>
            <a:lvl3pPr defTabSz="762000" indent="-228600" marL="11430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3pPr>
            <a:lvl4pPr defTabSz="762000" indent="-228600" marL="16002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4pPr>
            <a:lvl5pPr defTabSz="762000" indent="-228600" marL="20574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5pPr>
            <a:lvl6pPr defTabSz="762000" eaLnBrk="0" fontAlgn="base" hangingPunct="0" indent="-228600" marL="25146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6pPr>
            <a:lvl7pPr defTabSz="762000" eaLnBrk="0" fontAlgn="base" hangingPunct="0" indent="-228600" marL="29718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7pPr>
            <a:lvl8pPr defTabSz="762000" eaLnBrk="0" fontAlgn="base" hangingPunct="0" indent="-228600" marL="34290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8pPr>
            <a:lvl9pPr defTabSz="762000" eaLnBrk="0" fontAlgn="base" hangingPunct="0" indent="-228600" marL="38862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9pPr>
          </a:lstStyle>
          <a:p>
            <a:pPr lvl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altLang="en-US" lang="ko-KR" sz="1566">
                <a:solidFill>
                  <a:schemeClr val="tx1"/>
                </a:solidFill>
              </a:rPr>
              <a:t>주간업무 실적 및 계획</a:t>
            </a:r>
          </a:p>
        </p:txBody>
      </p:sp>
      <p:sp>
        <p:nvSpPr>
          <p:cNvPr id="12291" name="Rectangle 3"/>
          <p:cNvSpPr>
            <a:spLocks noChangeArrowheads="1" noGrp="1"/>
          </p:cNvSpPr>
          <p:nvPr>
            <p:ph idx="4294967295" type="subTitle"/>
          </p:nvPr>
        </p:nvSpPr>
        <p:spPr>
          <a:xfrm>
            <a:off x="255577" y="297385"/>
            <a:ext cx="4927323" cy="372811"/>
          </a:xfrm>
        </p:spPr>
        <p:txBody>
          <a:bodyPr anchor="t" anchorCtr="0" bIns="46759" compatLnSpc="1" lIns="93521" numCol="1" rIns="93521" tIns="18410" vert="horz" wrap="square">
            <a:prstTxWarp prst="textNoShape">
              <a:avLst/>
            </a:prstTxWarp>
          </a:bodyPr>
          <a:lstStyle/>
          <a:p>
            <a:pPr defTabSz="894857" eaLnBrk="1" hangingPunct="1" indent="0" marL="0">
              <a:spcBef>
                <a:spcPct val="0"/>
              </a:spcBef>
              <a:spcAft>
                <a:spcPct val="0"/>
              </a:spcAft>
              <a:buNone/>
            </a:pPr>
            <a:r>
              <a:rPr altLang="en-US" b="1" lang="ko-KR" sz="1566">
                <a:latin charset="-127" panose="020B0503020000020004" pitchFamily="50" typeface="맑은 고딕"/>
                <a:ea charset="-127" panose="020B0503020000020004" pitchFamily="50" typeface="맑은 고딕"/>
              </a:rPr>
              <a:t>목차 </a:t>
            </a:r>
          </a:p>
        </p:txBody>
      </p:sp>
      <p:sp>
        <p:nvSpPr>
          <p:cNvPr id="12292" name="AutoShape 88"/>
          <p:cNvSpPr>
            <a:spLocks noChangeArrowheads="1"/>
          </p:cNvSpPr>
          <p:nvPr/>
        </p:nvSpPr>
        <p:spPr bwMode="auto">
          <a:xfrm>
            <a:off x="2487786" y="1943968"/>
            <a:ext cx="5711780" cy="391452"/>
          </a:xfrm>
          <a:prstGeom prst="roundRect">
            <a:avLst>
              <a:gd fmla="val 16667" name="adj"/>
            </a:avLst>
          </a:prstGeom>
          <a:solidFill>
            <a:schemeClr val="bg1"/>
          </a:solidFill>
          <a:ln>
            <a:noFill/>
          </a:ln>
          <a:effectLst>
            <a:outerShdw algn="ctr" dir="2700000" dist="35921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algn="ctr" w="635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anchor="ctr" lIns="176131" wrap="none"/>
          <a:lstStyle>
            <a:lvl1pPr defTabSz="762000" indent="-342900" marL="3429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1pPr>
            <a:lvl2pPr defTabSz="762000" indent="-385763" marL="5651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2pPr>
            <a:lvl3pPr defTabSz="762000" indent="-228600" marL="11430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3pPr>
            <a:lvl4pPr defTabSz="762000" indent="-228600" marL="16002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4pPr>
            <a:lvl5pPr defTabSz="762000" indent="-228600" marL="20574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5pPr>
            <a:lvl6pPr defTabSz="762000" eaLnBrk="0" fontAlgn="base" hangingPunct="0" indent="-228600" marL="25146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6pPr>
            <a:lvl7pPr defTabSz="762000" eaLnBrk="0" fontAlgn="base" hangingPunct="0" indent="-228600" marL="29718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7pPr>
            <a:lvl8pPr defTabSz="762000" eaLnBrk="0" fontAlgn="base" hangingPunct="0" indent="-228600" marL="34290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8pPr>
            <a:lvl9pPr defTabSz="762000" eaLnBrk="0" fontAlgn="base" hangingPunct="0" indent="-228600" marL="38862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9pPr>
          </a:lstStyle>
          <a:p>
            <a:pPr lvl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altLang="ko-KR" lang="en-US" sz="1566">
                <a:solidFill>
                  <a:schemeClr val="tx1"/>
                </a:solidFill>
              </a:rPr>
              <a:t>Summary</a:t>
            </a:r>
            <a:endParaRPr altLang="en-US" lang="ko-KR" sz="1566">
              <a:solidFill>
                <a:schemeClr val="tx1"/>
              </a:solidFill>
            </a:endParaRPr>
          </a:p>
        </p:txBody>
      </p:sp>
      <p:grpSp>
        <p:nvGrpSpPr>
          <p:cNvPr id="12293" name="Group 89"/>
          <p:cNvGrpSpPr>
            <a:grpSpLocks/>
          </p:cNvGrpSpPr>
          <p:nvPr/>
        </p:nvGrpSpPr>
        <p:grpSpPr bwMode="auto">
          <a:xfrm>
            <a:off x="2046626" y="2487652"/>
            <a:ext cx="539023" cy="487761"/>
            <a:chOff x="2225" y="1060"/>
            <a:chExt cx="294" cy="292"/>
          </a:xfrm>
        </p:grpSpPr>
        <p:grpSp>
          <p:nvGrpSpPr>
            <p:cNvPr id="12303" name="Group 90"/>
            <p:cNvGrpSpPr>
              <a:grpSpLocks/>
            </p:cNvGrpSpPr>
            <p:nvPr/>
          </p:nvGrpSpPr>
          <p:grpSpPr bwMode="auto">
            <a:xfrm>
              <a:off x="2225" y="1060"/>
              <a:ext cx="294" cy="292"/>
              <a:chOff x="-233" y="400"/>
              <a:chExt cx="669" cy="669"/>
            </a:xfrm>
          </p:grpSpPr>
          <p:grpSp>
            <p:nvGrpSpPr>
              <p:cNvPr id="12305" name="Group 91"/>
              <p:cNvGrpSpPr>
                <a:grpSpLocks/>
              </p:cNvGrpSpPr>
              <p:nvPr/>
            </p:nvGrpSpPr>
            <p:grpSpPr bwMode="auto">
              <a:xfrm>
                <a:off x="-233" y="400"/>
                <a:ext cx="669" cy="669"/>
                <a:chOff x="5297" y="1592"/>
                <a:chExt cx="669" cy="669"/>
              </a:xfrm>
            </p:grpSpPr>
            <p:sp>
              <p:nvSpPr>
                <p:cNvPr id="12307" name="Oval 92"/>
                <p:cNvSpPr>
                  <a:spLocks noChangeArrowheads="1"/>
                </p:cNvSpPr>
                <p:nvPr/>
              </p:nvSpPr>
              <p:spPr bwMode="auto">
                <a:xfrm>
                  <a:off x="5297" y="1592"/>
                  <a:ext cx="669" cy="669"/>
                </a:xfrm>
                <a:prstGeom prst="ellipse">
                  <a:avLst/>
                </a:prstGeom>
                <a:solidFill>
                  <a:srgbClr val="EAEEF6"/>
                </a:solidFill>
                <a:ln algn="ctr" w="6350">
                  <a:solidFill>
                    <a:srgbClr val="95AAD3"/>
                  </a:solidFill>
                  <a:round/>
                  <a:headEnd/>
                  <a:tailEnd/>
                </a:ln>
                <a:effectLst>
                  <a:outerShdw algn="ctr" dir="2700000" dist="35921" rotWithShape="0">
                    <a:schemeClr val="bg2"/>
                  </a:outerShdw>
                </a:effectLst>
              </p:spPr>
              <p:txBody>
                <a:bodyPr anchor="ctr" wrap="none"/>
                <a:lstStyle>
                  <a:lvl1pPr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1pPr>
                  <a:lvl2pPr indent="-285750" marL="742950"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2pPr>
                  <a:lvl3pPr indent="-228600" marL="1143000"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3pPr>
                  <a:lvl4pPr indent="-228600" marL="1600200"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4pPr>
                  <a:lvl5pPr indent="-228600" marL="2057400"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5pPr>
                  <a:lvl6pPr eaLnBrk="0" fontAlgn="base" hangingPunct="0" indent="-228600" marL="2514600">
                    <a:spcBef>
                      <a:spcPct val="0"/>
                    </a:spcBef>
                    <a:spcAft>
                      <a:spcPct val="0"/>
                    </a:spcAft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6pPr>
                  <a:lvl7pPr eaLnBrk="0" fontAlgn="base" hangingPunct="0" indent="-228600" marL="2971800">
                    <a:spcBef>
                      <a:spcPct val="0"/>
                    </a:spcBef>
                    <a:spcAft>
                      <a:spcPct val="0"/>
                    </a:spcAft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7pPr>
                  <a:lvl8pPr eaLnBrk="0" fontAlgn="base" hangingPunct="0" indent="-228600" marL="3429000">
                    <a:spcBef>
                      <a:spcPct val="0"/>
                    </a:spcBef>
                    <a:spcAft>
                      <a:spcPct val="0"/>
                    </a:spcAft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8pPr>
                  <a:lvl9pPr eaLnBrk="0" fontAlgn="base" hangingPunct="0" indent="-228600" marL="3886200">
                    <a:spcBef>
                      <a:spcPct val="0"/>
                    </a:spcBef>
                    <a:spcAft>
                      <a:spcPct val="0"/>
                    </a:spcAft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9pPr>
                </a:lstStyle>
                <a:p>
                  <a:pPr algn="r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0"/>
                    </a:spcAft>
                  </a:pPr>
                  <a:endParaRPr altLang="en-US" lang="ko-KR" sz="1566">
                    <a:latin charset="-127" panose="02030600000101010101" pitchFamily="18" typeface="새굴림"/>
                    <a:ea charset="-127" panose="02030600000101010101" pitchFamily="18" typeface="새굴림"/>
                  </a:endParaRPr>
                </a:p>
              </p:txBody>
            </p:sp>
            <p:sp>
              <p:nvSpPr>
                <p:cNvPr id="12308" name="Oval 93"/>
                <p:cNvSpPr>
                  <a:spLocks noChangeArrowheads="1"/>
                </p:cNvSpPr>
                <p:nvPr/>
              </p:nvSpPr>
              <p:spPr bwMode="auto">
                <a:xfrm>
                  <a:off x="5343" y="1615"/>
                  <a:ext cx="578" cy="580"/>
                </a:xfrm>
                <a:prstGeom prst="ellipse">
                  <a:avLst/>
                </a:prstGeom>
                <a:gradFill rotWithShape="1">
                  <a:gsLst>
                    <a:gs pos="0">
                      <a:srgbClr val="95AAD3"/>
                    </a:gs>
                    <a:gs pos="100000">
                      <a:srgbClr val="405F9E"/>
                    </a:gs>
                  </a:gsLst>
                  <a:lin ang="5400000" scaled="1"/>
                </a:gradFill>
                <a:ln>
                  <a:noFill/>
                </a:ln>
                <a:effectLst>
                  <a:outerShdw algn="ctr" dir="2700000" dist="35921" rotWithShape="0">
                    <a:schemeClr val="bg2"/>
                  </a:outerShdw>
                </a:effectLst>
                <a:extLst>
                  <a:ext uri="{91240B29-F687-4F45-9708-019B960494DF}">
                    <a14:hiddenLine xmlns:a14="http://schemas.microsoft.com/office/drawing/2010/main" algn="ctr" w="6350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anchor="ctr" wrap="none"/>
                <a:lstStyle>
                  <a:lvl1pPr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1pPr>
                  <a:lvl2pPr indent="-285750" marL="742950"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2pPr>
                  <a:lvl3pPr indent="-228600" marL="1143000"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3pPr>
                  <a:lvl4pPr indent="-228600" marL="1600200"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4pPr>
                  <a:lvl5pPr indent="-228600" marL="2057400"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5pPr>
                  <a:lvl6pPr eaLnBrk="0" fontAlgn="base" hangingPunct="0" indent="-228600" marL="2514600">
                    <a:spcBef>
                      <a:spcPct val="0"/>
                    </a:spcBef>
                    <a:spcAft>
                      <a:spcPct val="0"/>
                    </a:spcAft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6pPr>
                  <a:lvl7pPr eaLnBrk="0" fontAlgn="base" hangingPunct="0" indent="-228600" marL="2971800">
                    <a:spcBef>
                      <a:spcPct val="0"/>
                    </a:spcBef>
                    <a:spcAft>
                      <a:spcPct val="0"/>
                    </a:spcAft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7pPr>
                  <a:lvl8pPr eaLnBrk="0" fontAlgn="base" hangingPunct="0" indent="-228600" marL="3429000">
                    <a:spcBef>
                      <a:spcPct val="0"/>
                    </a:spcBef>
                    <a:spcAft>
                      <a:spcPct val="0"/>
                    </a:spcAft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8pPr>
                  <a:lvl9pPr eaLnBrk="0" fontAlgn="base" hangingPunct="0" indent="-228600" marL="3886200">
                    <a:spcBef>
                      <a:spcPct val="0"/>
                    </a:spcBef>
                    <a:spcAft>
                      <a:spcPct val="0"/>
                    </a:spcAft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9pPr>
                </a:lstStyle>
                <a:p>
                  <a:pPr algn="r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0"/>
                    </a:spcAft>
                  </a:pPr>
                  <a:endParaRPr altLang="en-US" lang="ko-KR" sz="1566">
                    <a:latin charset="-127" panose="02030600000101010101" pitchFamily="18" typeface="새굴림"/>
                    <a:ea charset="-127" panose="02030600000101010101" pitchFamily="18" typeface="새굴림"/>
                  </a:endParaRPr>
                </a:p>
              </p:txBody>
            </p:sp>
          </p:grpSp>
          <p:sp>
            <p:nvSpPr>
              <p:cNvPr id="12306" name="Oval 94"/>
              <p:cNvSpPr>
                <a:spLocks noChangeArrowheads="1"/>
              </p:cNvSpPr>
              <p:nvPr/>
            </p:nvSpPr>
            <p:spPr bwMode="auto">
              <a:xfrm rot="-1800000">
                <a:off x="-142" y="464"/>
                <a:ext cx="307" cy="194"/>
              </a:xfrm>
              <a:prstGeom prst="ellipse">
                <a:avLst/>
              </a:prstGeom>
              <a:gradFill rotWithShape="1">
                <a:gsLst>
                  <a:gs pos="0">
                    <a:srgbClr val="EAEEF6"/>
                  </a:gs>
                  <a:gs pos="100000">
                    <a:srgbClr val="8299C8"/>
                  </a:gs>
                </a:gsLst>
                <a:lin ang="5400000" scaled="1"/>
              </a:gradFill>
              <a:ln>
                <a:noFill/>
              </a:ln>
              <a:effectLst>
                <a:outerShdw algn="ctr" dir="2700000" dist="35921" rotWithShape="0">
                  <a:schemeClr val="bg2"/>
                </a:outerShdw>
              </a:effectLst>
              <a:extLst>
                <a:ext uri="{91240B29-F687-4F45-9708-019B960494DF}">
                  <a14:hiddenLine xmlns:a14="http://schemas.microsoft.com/office/drawing/2010/main" algn="ctr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 wrap="none"/>
              <a:lstStyle>
                <a:lvl1pPr>
                  <a:defRPr b="1" sz="900">
                    <a:solidFill>
                      <a:schemeClr val="bg1"/>
                    </a:solidFill>
                    <a:latin charset="-127" panose="020B0503020000020004" pitchFamily="50" typeface="맑은 고딕"/>
                    <a:ea charset="-127" panose="020B0503020000020004" pitchFamily="50" typeface="맑은 고딕"/>
                  </a:defRPr>
                </a:lvl1pPr>
                <a:lvl2pPr indent="-285750" marL="742950">
                  <a:defRPr b="1" sz="900">
                    <a:solidFill>
                      <a:schemeClr val="bg1"/>
                    </a:solidFill>
                    <a:latin charset="-127" panose="020B0503020000020004" pitchFamily="50" typeface="맑은 고딕"/>
                    <a:ea charset="-127" panose="020B0503020000020004" pitchFamily="50" typeface="맑은 고딕"/>
                  </a:defRPr>
                </a:lvl2pPr>
                <a:lvl3pPr indent="-228600" marL="1143000">
                  <a:defRPr b="1" sz="900">
                    <a:solidFill>
                      <a:schemeClr val="bg1"/>
                    </a:solidFill>
                    <a:latin charset="-127" panose="020B0503020000020004" pitchFamily="50" typeface="맑은 고딕"/>
                    <a:ea charset="-127" panose="020B0503020000020004" pitchFamily="50" typeface="맑은 고딕"/>
                  </a:defRPr>
                </a:lvl3pPr>
                <a:lvl4pPr indent="-228600" marL="1600200">
                  <a:defRPr b="1" sz="900">
                    <a:solidFill>
                      <a:schemeClr val="bg1"/>
                    </a:solidFill>
                    <a:latin charset="-127" panose="020B0503020000020004" pitchFamily="50" typeface="맑은 고딕"/>
                    <a:ea charset="-127" panose="020B0503020000020004" pitchFamily="50" typeface="맑은 고딕"/>
                  </a:defRPr>
                </a:lvl4pPr>
                <a:lvl5pPr indent="-228600" marL="2057400">
                  <a:defRPr b="1" sz="900">
                    <a:solidFill>
                      <a:schemeClr val="bg1"/>
                    </a:solidFill>
                    <a:latin charset="-127" panose="020B0503020000020004" pitchFamily="50" typeface="맑은 고딕"/>
                    <a:ea charset="-127" panose="020B0503020000020004" pitchFamily="50" typeface="맑은 고딕"/>
                  </a:defRPr>
                </a:lvl5pPr>
                <a:lvl6pPr eaLnBrk="0" fontAlgn="base" hangingPunct="0" indent="-228600" marL="2514600">
                  <a:spcBef>
                    <a:spcPct val="0"/>
                  </a:spcBef>
                  <a:spcAft>
                    <a:spcPct val="0"/>
                  </a:spcAft>
                  <a:defRPr b="1" sz="900">
                    <a:solidFill>
                      <a:schemeClr val="bg1"/>
                    </a:solidFill>
                    <a:latin charset="-127" panose="020B0503020000020004" pitchFamily="50" typeface="맑은 고딕"/>
                    <a:ea charset="-127" panose="020B0503020000020004" pitchFamily="50" typeface="맑은 고딕"/>
                  </a:defRPr>
                </a:lvl6pPr>
                <a:lvl7pPr eaLnBrk="0" fontAlgn="base" hangingPunct="0" indent="-228600" marL="2971800">
                  <a:spcBef>
                    <a:spcPct val="0"/>
                  </a:spcBef>
                  <a:spcAft>
                    <a:spcPct val="0"/>
                  </a:spcAft>
                  <a:defRPr b="1" sz="900">
                    <a:solidFill>
                      <a:schemeClr val="bg1"/>
                    </a:solidFill>
                    <a:latin charset="-127" panose="020B0503020000020004" pitchFamily="50" typeface="맑은 고딕"/>
                    <a:ea charset="-127" panose="020B0503020000020004" pitchFamily="50" typeface="맑은 고딕"/>
                  </a:defRPr>
                </a:lvl7pPr>
                <a:lvl8pPr eaLnBrk="0" fontAlgn="base" hangingPunct="0" indent="-228600" marL="3429000">
                  <a:spcBef>
                    <a:spcPct val="0"/>
                  </a:spcBef>
                  <a:spcAft>
                    <a:spcPct val="0"/>
                  </a:spcAft>
                  <a:defRPr b="1" sz="900">
                    <a:solidFill>
                      <a:schemeClr val="bg1"/>
                    </a:solidFill>
                    <a:latin charset="-127" panose="020B0503020000020004" pitchFamily="50" typeface="맑은 고딕"/>
                    <a:ea charset="-127" panose="020B0503020000020004" pitchFamily="50" typeface="맑은 고딕"/>
                  </a:defRPr>
                </a:lvl8pPr>
                <a:lvl9pPr eaLnBrk="0" fontAlgn="base" hangingPunct="0" indent="-228600" marL="3886200">
                  <a:spcBef>
                    <a:spcPct val="0"/>
                  </a:spcBef>
                  <a:spcAft>
                    <a:spcPct val="0"/>
                  </a:spcAft>
                  <a:defRPr b="1" sz="900">
                    <a:solidFill>
                      <a:schemeClr val="bg1"/>
                    </a:solidFill>
                    <a:latin charset="-127" panose="020B0503020000020004" pitchFamily="50" typeface="맑은 고딕"/>
                    <a:ea charset="-127" panose="020B0503020000020004" pitchFamily="50" typeface="맑은 고딕"/>
                  </a:defRPr>
                </a:lvl9pPr>
              </a:lstStyle>
              <a:p>
                <a:pPr algn="r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endParaRPr altLang="en-US" lang="ko-KR" sz="1566">
                  <a:latin charset="-127" panose="02030600000101010101" pitchFamily="18" typeface="새굴림"/>
                  <a:ea charset="-127" panose="02030600000101010101" pitchFamily="18" typeface="새굴림"/>
                </a:endParaRPr>
              </a:p>
            </p:txBody>
          </p:sp>
        </p:grpSp>
        <p:sp>
          <p:nvSpPr>
            <p:cNvPr id="12304" name="Text Box 95"/>
            <p:cNvSpPr txBox="1">
              <a:spLocks noChangeArrowheads="1"/>
            </p:cNvSpPr>
            <p:nvPr/>
          </p:nvSpPr>
          <p:spPr bwMode="auto">
            <a:xfrm>
              <a:off x="2293" y="1105"/>
              <a:ext cx="163" cy="185"/>
            </a:xfrm>
            <a:prstGeom prst="rect">
              <a:avLst/>
            </a:prstGeom>
            <a:noFill/>
            <a:ln>
              <a:noFill/>
            </a:ln>
            <a:effectLst>
              <a:outerShdw algn="ctr" dir="2700000" dist="35921" rotWithShape="0">
                <a:schemeClr val="bg2"/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 wrap="none">
              <a:spAutoFit/>
            </a:bodyPr>
            <a:lstStyle>
              <a:lvl1pPr defTabSz="762000" indent="-187325" marL="187325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1pPr>
              <a:lvl2pPr defTabSz="762000" indent="-285750" marL="74295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2pPr>
              <a:lvl3pPr defTabSz="762000" indent="-228600" marL="114300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3pPr>
              <a:lvl4pPr defTabSz="762000" indent="-228600" marL="160020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4pPr>
              <a:lvl5pPr defTabSz="762000" indent="-228600" marL="205740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5pPr>
              <a:lvl6pPr defTabSz="762000" eaLnBrk="0" fontAlgn="base" hangingPunct="0" indent="-228600" marL="25146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6pPr>
              <a:lvl7pPr defTabSz="762000" eaLnBrk="0" fontAlgn="base" hangingPunct="0" indent="-228600" marL="29718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7pPr>
              <a:lvl8pPr defTabSz="762000" eaLnBrk="0" fontAlgn="base" hangingPunct="0" indent="-228600" marL="34290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8pPr>
              <a:lvl9pPr defTabSz="762000" eaLnBrk="0" fontAlgn="base" hangingPunct="0" indent="-228600" marL="38862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9pPr>
            </a:lstStyle>
            <a:p>
              <a:pPr algn="ctr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altLang="ko-KR" lang="en-US" sz="1566">
                  <a:latin charset="-127" panose="02030600000101010101" pitchFamily="18" typeface="새굴림"/>
                  <a:ea charset="-127" panose="02030600000101010101" pitchFamily="18" typeface="새굴림"/>
                </a:rPr>
                <a:t>2</a:t>
              </a:r>
            </a:p>
          </p:txBody>
        </p:sp>
      </p:grpSp>
      <p:grpSp>
        <p:nvGrpSpPr>
          <p:cNvPr id="12294" name="Group 116"/>
          <p:cNvGrpSpPr>
            <a:grpSpLocks/>
          </p:cNvGrpSpPr>
          <p:nvPr/>
        </p:nvGrpSpPr>
        <p:grpSpPr bwMode="auto">
          <a:xfrm>
            <a:off x="2034199" y="1928435"/>
            <a:ext cx="563877" cy="487761"/>
            <a:chOff x="2225" y="1060"/>
            <a:chExt cx="294" cy="292"/>
          </a:xfrm>
        </p:grpSpPr>
        <p:grpSp>
          <p:nvGrpSpPr>
            <p:cNvPr id="12297" name="Group 117"/>
            <p:cNvGrpSpPr>
              <a:grpSpLocks/>
            </p:cNvGrpSpPr>
            <p:nvPr/>
          </p:nvGrpSpPr>
          <p:grpSpPr bwMode="auto">
            <a:xfrm>
              <a:off x="2225" y="1060"/>
              <a:ext cx="294" cy="292"/>
              <a:chOff x="-233" y="400"/>
              <a:chExt cx="669" cy="669"/>
            </a:xfrm>
          </p:grpSpPr>
          <p:grpSp>
            <p:nvGrpSpPr>
              <p:cNvPr id="12299" name="Group 118"/>
              <p:cNvGrpSpPr>
                <a:grpSpLocks/>
              </p:cNvGrpSpPr>
              <p:nvPr/>
            </p:nvGrpSpPr>
            <p:grpSpPr bwMode="auto">
              <a:xfrm>
                <a:off x="-233" y="400"/>
                <a:ext cx="669" cy="669"/>
                <a:chOff x="5297" y="1592"/>
                <a:chExt cx="669" cy="669"/>
              </a:xfrm>
            </p:grpSpPr>
            <p:sp>
              <p:nvSpPr>
                <p:cNvPr id="12301" name="Oval 119"/>
                <p:cNvSpPr>
                  <a:spLocks noChangeArrowheads="1"/>
                </p:cNvSpPr>
                <p:nvPr/>
              </p:nvSpPr>
              <p:spPr bwMode="auto">
                <a:xfrm>
                  <a:off x="5297" y="1592"/>
                  <a:ext cx="669" cy="669"/>
                </a:xfrm>
                <a:prstGeom prst="ellipse">
                  <a:avLst/>
                </a:prstGeom>
                <a:solidFill>
                  <a:srgbClr val="EAEEF6"/>
                </a:solidFill>
                <a:ln algn="ctr" w="6350">
                  <a:solidFill>
                    <a:srgbClr val="95AAD3"/>
                  </a:solidFill>
                  <a:round/>
                  <a:headEnd/>
                  <a:tailEnd/>
                </a:ln>
                <a:effectLst>
                  <a:outerShdw algn="ctr" dir="2700000" dist="35921" rotWithShape="0">
                    <a:schemeClr val="bg2"/>
                  </a:outerShdw>
                </a:effectLst>
              </p:spPr>
              <p:txBody>
                <a:bodyPr anchor="ctr" wrap="none"/>
                <a:lstStyle>
                  <a:lvl1pPr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1pPr>
                  <a:lvl2pPr indent="-285750" marL="742950"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2pPr>
                  <a:lvl3pPr indent="-228600" marL="1143000"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3pPr>
                  <a:lvl4pPr indent="-228600" marL="1600200"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4pPr>
                  <a:lvl5pPr indent="-228600" marL="2057400"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5pPr>
                  <a:lvl6pPr eaLnBrk="0" fontAlgn="base" hangingPunct="0" indent="-228600" marL="2514600">
                    <a:spcBef>
                      <a:spcPct val="0"/>
                    </a:spcBef>
                    <a:spcAft>
                      <a:spcPct val="0"/>
                    </a:spcAft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6pPr>
                  <a:lvl7pPr eaLnBrk="0" fontAlgn="base" hangingPunct="0" indent="-228600" marL="2971800">
                    <a:spcBef>
                      <a:spcPct val="0"/>
                    </a:spcBef>
                    <a:spcAft>
                      <a:spcPct val="0"/>
                    </a:spcAft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7pPr>
                  <a:lvl8pPr eaLnBrk="0" fontAlgn="base" hangingPunct="0" indent="-228600" marL="3429000">
                    <a:spcBef>
                      <a:spcPct val="0"/>
                    </a:spcBef>
                    <a:spcAft>
                      <a:spcPct val="0"/>
                    </a:spcAft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8pPr>
                  <a:lvl9pPr eaLnBrk="0" fontAlgn="base" hangingPunct="0" indent="-228600" marL="3886200">
                    <a:spcBef>
                      <a:spcPct val="0"/>
                    </a:spcBef>
                    <a:spcAft>
                      <a:spcPct val="0"/>
                    </a:spcAft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9pPr>
                </a:lstStyle>
                <a:p>
                  <a:pPr algn="r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0"/>
                    </a:spcAft>
                  </a:pPr>
                  <a:endParaRPr altLang="en-US" lang="ko-KR" sz="1566">
                    <a:latin charset="-127" panose="02030600000101010101" pitchFamily="18" typeface="새굴림"/>
                    <a:ea charset="-127" panose="02030600000101010101" pitchFamily="18" typeface="새굴림"/>
                  </a:endParaRPr>
                </a:p>
              </p:txBody>
            </p:sp>
            <p:sp>
              <p:nvSpPr>
                <p:cNvPr id="12302" name="Oval 120"/>
                <p:cNvSpPr>
                  <a:spLocks noChangeArrowheads="1"/>
                </p:cNvSpPr>
                <p:nvPr/>
              </p:nvSpPr>
              <p:spPr bwMode="auto">
                <a:xfrm>
                  <a:off x="5343" y="1615"/>
                  <a:ext cx="579" cy="580"/>
                </a:xfrm>
                <a:prstGeom prst="ellipse">
                  <a:avLst/>
                </a:prstGeom>
                <a:gradFill rotWithShape="1">
                  <a:gsLst>
                    <a:gs pos="0">
                      <a:srgbClr val="95AAD3"/>
                    </a:gs>
                    <a:gs pos="100000">
                      <a:srgbClr val="405F9E"/>
                    </a:gs>
                  </a:gsLst>
                  <a:lin ang="5400000" scaled="1"/>
                </a:gradFill>
                <a:ln>
                  <a:noFill/>
                </a:ln>
                <a:effectLst>
                  <a:outerShdw algn="ctr" dir="2700000" dist="35921" rotWithShape="0">
                    <a:schemeClr val="bg2"/>
                  </a:outerShdw>
                </a:effectLst>
                <a:extLst>
                  <a:ext uri="{91240B29-F687-4F45-9708-019B960494DF}">
                    <a14:hiddenLine xmlns:a14="http://schemas.microsoft.com/office/drawing/2010/main" algn="ctr" w="6350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anchor="ctr" wrap="none"/>
                <a:lstStyle>
                  <a:lvl1pPr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1pPr>
                  <a:lvl2pPr indent="-285750" marL="742950"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2pPr>
                  <a:lvl3pPr indent="-228600" marL="1143000"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3pPr>
                  <a:lvl4pPr indent="-228600" marL="1600200"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4pPr>
                  <a:lvl5pPr indent="-228600" marL="2057400"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5pPr>
                  <a:lvl6pPr eaLnBrk="0" fontAlgn="base" hangingPunct="0" indent="-228600" marL="2514600">
                    <a:spcBef>
                      <a:spcPct val="0"/>
                    </a:spcBef>
                    <a:spcAft>
                      <a:spcPct val="0"/>
                    </a:spcAft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6pPr>
                  <a:lvl7pPr eaLnBrk="0" fontAlgn="base" hangingPunct="0" indent="-228600" marL="2971800">
                    <a:spcBef>
                      <a:spcPct val="0"/>
                    </a:spcBef>
                    <a:spcAft>
                      <a:spcPct val="0"/>
                    </a:spcAft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7pPr>
                  <a:lvl8pPr eaLnBrk="0" fontAlgn="base" hangingPunct="0" indent="-228600" marL="3429000">
                    <a:spcBef>
                      <a:spcPct val="0"/>
                    </a:spcBef>
                    <a:spcAft>
                      <a:spcPct val="0"/>
                    </a:spcAft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8pPr>
                  <a:lvl9pPr eaLnBrk="0" fontAlgn="base" hangingPunct="0" indent="-228600" marL="3886200">
                    <a:spcBef>
                      <a:spcPct val="0"/>
                    </a:spcBef>
                    <a:spcAft>
                      <a:spcPct val="0"/>
                    </a:spcAft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9pPr>
                </a:lstStyle>
                <a:p>
                  <a:pPr algn="r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0"/>
                    </a:spcAft>
                  </a:pPr>
                  <a:endParaRPr altLang="en-US" lang="ko-KR" sz="1566">
                    <a:latin charset="-127" panose="02030600000101010101" pitchFamily="18" typeface="새굴림"/>
                    <a:ea charset="-127" panose="02030600000101010101" pitchFamily="18" typeface="새굴림"/>
                  </a:endParaRPr>
                </a:p>
              </p:txBody>
            </p:sp>
          </p:grpSp>
          <p:sp>
            <p:nvSpPr>
              <p:cNvPr id="12300" name="Oval 121"/>
              <p:cNvSpPr>
                <a:spLocks noChangeArrowheads="1"/>
              </p:cNvSpPr>
              <p:nvPr/>
            </p:nvSpPr>
            <p:spPr bwMode="auto">
              <a:xfrm rot="-1800000">
                <a:off x="-143" y="464"/>
                <a:ext cx="308" cy="194"/>
              </a:xfrm>
              <a:prstGeom prst="ellipse">
                <a:avLst/>
              </a:prstGeom>
              <a:gradFill rotWithShape="1">
                <a:gsLst>
                  <a:gs pos="0">
                    <a:srgbClr val="EAEEF6"/>
                  </a:gs>
                  <a:gs pos="100000">
                    <a:srgbClr val="8299C8"/>
                  </a:gs>
                </a:gsLst>
                <a:lin ang="5400000" scaled="1"/>
              </a:gradFill>
              <a:ln>
                <a:noFill/>
              </a:ln>
              <a:effectLst>
                <a:outerShdw algn="ctr" dir="2700000" dist="35921" rotWithShape="0">
                  <a:schemeClr val="bg2"/>
                </a:outerShdw>
              </a:effectLst>
              <a:extLst>
                <a:ext uri="{91240B29-F687-4F45-9708-019B960494DF}">
                  <a14:hiddenLine xmlns:a14="http://schemas.microsoft.com/office/drawing/2010/main" algn="ctr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 wrap="none"/>
              <a:lstStyle>
                <a:lvl1pPr>
                  <a:defRPr b="1" sz="900">
                    <a:solidFill>
                      <a:schemeClr val="bg1"/>
                    </a:solidFill>
                    <a:latin charset="-127" panose="020B0503020000020004" pitchFamily="50" typeface="맑은 고딕"/>
                    <a:ea charset="-127" panose="020B0503020000020004" pitchFamily="50" typeface="맑은 고딕"/>
                  </a:defRPr>
                </a:lvl1pPr>
                <a:lvl2pPr indent="-285750" marL="742950">
                  <a:defRPr b="1" sz="900">
                    <a:solidFill>
                      <a:schemeClr val="bg1"/>
                    </a:solidFill>
                    <a:latin charset="-127" panose="020B0503020000020004" pitchFamily="50" typeface="맑은 고딕"/>
                    <a:ea charset="-127" panose="020B0503020000020004" pitchFamily="50" typeface="맑은 고딕"/>
                  </a:defRPr>
                </a:lvl2pPr>
                <a:lvl3pPr indent="-228600" marL="1143000">
                  <a:defRPr b="1" sz="900">
                    <a:solidFill>
                      <a:schemeClr val="bg1"/>
                    </a:solidFill>
                    <a:latin charset="-127" panose="020B0503020000020004" pitchFamily="50" typeface="맑은 고딕"/>
                    <a:ea charset="-127" panose="020B0503020000020004" pitchFamily="50" typeface="맑은 고딕"/>
                  </a:defRPr>
                </a:lvl3pPr>
                <a:lvl4pPr indent="-228600" marL="1600200">
                  <a:defRPr b="1" sz="900">
                    <a:solidFill>
                      <a:schemeClr val="bg1"/>
                    </a:solidFill>
                    <a:latin charset="-127" panose="020B0503020000020004" pitchFamily="50" typeface="맑은 고딕"/>
                    <a:ea charset="-127" panose="020B0503020000020004" pitchFamily="50" typeface="맑은 고딕"/>
                  </a:defRPr>
                </a:lvl4pPr>
                <a:lvl5pPr indent="-228600" marL="2057400">
                  <a:defRPr b="1" sz="900">
                    <a:solidFill>
                      <a:schemeClr val="bg1"/>
                    </a:solidFill>
                    <a:latin charset="-127" panose="020B0503020000020004" pitchFamily="50" typeface="맑은 고딕"/>
                    <a:ea charset="-127" panose="020B0503020000020004" pitchFamily="50" typeface="맑은 고딕"/>
                  </a:defRPr>
                </a:lvl5pPr>
                <a:lvl6pPr eaLnBrk="0" fontAlgn="base" hangingPunct="0" indent="-228600" marL="2514600">
                  <a:spcBef>
                    <a:spcPct val="0"/>
                  </a:spcBef>
                  <a:spcAft>
                    <a:spcPct val="0"/>
                  </a:spcAft>
                  <a:defRPr b="1" sz="900">
                    <a:solidFill>
                      <a:schemeClr val="bg1"/>
                    </a:solidFill>
                    <a:latin charset="-127" panose="020B0503020000020004" pitchFamily="50" typeface="맑은 고딕"/>
                    <a:ea charset="-127" panose="020B0503020000020004" pitchFamily="50" typeface="맑은 고딕"/>
                  </a:defRPr>
                </a:lvl6pPr>
                <a:lvl7pPr eaLnBrk="0" fontAlgn="base" hangingPunct="0" indent="-228600" marL="2971800">
                  <a:spcBef>
                    <a:spcPct val="0"/>
                  </a:spcBef>
                  <a:spcAft>
                    <a:spcPct val="0"/>
                  </a:spcAft>
                  <a:defRPr b="1" sz="900">
                    <a:solidFill>
                      <a:schemeClr val="bg1"/>
                    </a:solidFill>
                    <a:latin charset="-127" panose="020B0503020000020004" pitchFamily="50" typeface="맑은 고딕"/>
                    <a:ea charset="-127" panose="020B0503020000020004" pitchFamily="50" typeface="맑은 고딕"/>
                  </a:defRPr>
                </a:lvl7pPr>
                <a:lvl8pPr eaLnBrk="0" fontAlgn="base" hangingPunct="0" indent="-228600" marL="3429000">
                  <a:spcBef>
                    <a:spcPct val="0"/>
                  </a:spcBef>
                  <a:spcAft>
                    <a:spcPct val="0"/>
                  </a:spcAft>
                  <a:defRPr b="1" sz="900">
                    <a:solidFill>
                      <a:schemeClr val="bg1"/>
                    </a:solidFill>
                    <a:latin charset="-127" panose="020B0503020000020004" pitchFamily="50" typeface="맑은 고딕"/>
                    <a:ea charset="-127" panose="020B0503020000020004" pitchFamily="50" typeface="맑은 고딕"/>
                  </a:defRPr>
                </a:lvl8pPr>
                <a:lvl9pPr eaLnBrk="0" fontAlgn="base" hangingPunct="0" indent="-228600" marL="3886200">
                  <a:spcBef>
                    <a:spcPct val="0"/>
                  </a:spcBef>
                  <a:spcAft>
                    <a:spcPct val="0"/>
                  </a:spcAft>
                  <a:defRPr b="1" sz="900">
                    <a:solidFill>
                      <a:schemeClr val="bg1"/>
                    </a:solidFill>
                    <a:latin charset="-127" panose="020B0503020000020004" pitchFamily="50" typeface="맑은 고딕"/>
                    <a:ea charset="-127" panose="020B0503020000020004" pitchFamily="50" typeface="맑은 고딕"/>
                  </a:defRPr>
                </a:lvl9pPr>
              </a:lstStyle>
              <a:p>
                <a:pPr algn="r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endParaRPr altLang="en-US" lang="ko-KR" sz="1566">
                  <a:latin charset="-127" panose="02030600000101010101" pitchFamily="18" typeface="새굴림"/>
                  <a:ea charset="-127" panose="02030600000101010101" pitchFamily="18" typeface="새굴림"/>
                </a:endParaRPr>
              </a:p>
            </p:txBody>
          </p:sp>
        </p:grpSp>
        <p:sp>
          <p:nvSpPr>
            <p:cNvPr id="12298" name="Text Box 122"/>
            <p:cNvSpPr txBox="1">
              <a:spLocks noChangeArrowheads="1"/>
            </p:cNvSpPr>
            <p:nvPr/>
          </p:nvSpPr>
          <p:spPr bwMode="auto">
            <a:xfrm>
              <a:off x="2295" y="1105"/>
              <a:ext cx="156" cy="185"/>
            </a:xfrm>
            <a:prstGeom prst="rect">
              <a:avLst/>
            </a:prstGeom>
            <a:noFill/>
            <a:ln>
              <a:noFill/>
            </a:ln>
            <a:effectLst>
              <a:outerShdw algn="ctr" dir="2700000" dist="35921" rotWithShape="0">
                <a:schemeClr val="bg2"/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 wrap="none">
              <a:spAutoFit/>
            </a:bodyPr>
            <a:lstStyle>
              <a:lvl1pPr defTabSz="762000" indent="-187325" marL="187325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1pPr>
              <a:lvl2pPr defTabSz="762000" indent="-285750" marL="74295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2pPr>
              <a:lvl3pPr defTabSz="762000" indent="-228600" marL="114300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3pPr>
              <a:lvl4pPr defTabSz="762000" indent="-228600" marL="160020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4pPr>
              <a:lvl5pPr defTabSz="762000" indent="-228600" marL="205740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5pPr>
              <a:lvl6pPr defTabSz="762000" eaLnBrk="0" fontAlgn="base" hangingPunct="0" indent="-228600" marL="25146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6pPr>
              <a:lvl7pPr defTabSz="762000" eaLnBrk="0" fontAlgn="base" hangingPunct="0" indent="-228600" marL="29718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7pPr>
              <a:lvl8pPr defTabSz="762000" eaLnBrk="0" fontAlgn="base" hangingPunct="0" indent="-228600" marL="34290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8pPr>
              <a:lvl9pPr defTabSz="762000" eaLnBrk="0" fontAlgn="base" hangingPunct="0" indent="-228600" marL="38862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9pPr>
            </a:lstStyle>
            <a:p>
              <a:pPr algn="ctr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altLang="ko-KR" lang="en-US" sz="1566">
                  <a:latin charset="-127" panose="02030600000101010101" pitchFamily="18" typeface="새굴림"/>
                  <a:ea charset="-127" panose="02030600000101010101" pitchFamily="18" typeface="새굴림"/>
                </a:rPr>
                <a:t>1</a:t>
              </a:r>
            </a:p>
          </p:txBody>
        </p:sp>
      </p:grpSp>
      <p:sp>
        <p:nvSpPr>
          <p:cNvPr id="12295" name="AutoShape 125"/>
          <p:cNvSpPr>
            <a:spLocks noChangeArrowheads="1"/>
          </p:cNvSpPr>
          <p:nvPr/>
        </p:nvSpPr>
        <p:spPr bwMode="auto">
          <a:xfrm>
            <a:off x="2492446" y="3130752"/>
            <a:ext cx="5711781" cy="391452"/>
          </a:xfrm>
          <a:prstGeom prst="roundRect">
            <a:avLst>
              <a:gd fmla="val 16667" name="adj"/>
            </a:avLst>
          </a:prstGeom>
          <a:solidFill>
            <a:schemeClr val="bg1"/>
          </a:solidFill>
          <a:ln>
            <a:noFill/>
          </a:ln>
          <a:effectLst>
            <a:outerShdw algn="ctr" dir="2700000" dist="35921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algn="ctr" w="635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anchor="ctr" lIns="176131" wrap="none"/>
          <a:lstStyle>
            <a:lvl1pPr defTabSz="762000" indent="-342900" marL="3429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1pPr>
            <a:lvl2pPr defTabSz="762000" indent="-385763" marL="5651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2pPr>
            <a:lvl3pPr defTabSz="762000" indent="-228600" marL="11430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3pPr>
            <a:lvl4pPr defTabSz="762000" indent="-228600" marL="16002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4pPr>
            <a:lvl5pPr defTabSz="762000" indent="-228600" marL="20574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5pPr>
            <a:lvl6pPr defTabSz="762000" eaLnBrk="0" fontAlgn="base" hangingPunct="0" indent="-228600" marL="25146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6pPr>
            <a:lvl7pPr defTabSz="762000" eaLnBrk="0" fontAlgn="base" hangingPunct="0" indent="-228600" marL="29718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7pPr>
            <a:lvl8pPr defTabSz="762000" eaLnBrk="0" fontAlgn="base" hangingPunct="0" indent="-228600" marL="34290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8pPr>
            <a:lvl9pPr defTabSz="762000" eaLnBrk="0" fontAlgn="base" hangingPunct="0" indent="-228600" marL="38862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9pPr>
          </a:lstStyle>
          <a:p>
            <a:pPr lvl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Font charset="2" panose="05000000000000000000" pitchFamily="2" typeface="Wingdings"/>
              <a:buChar char="v"/>
            </a:pPr>
            <a:r>
              <a:rPr altLang="en-US" kumimoji="1" lang="ko-KR" sz="1370">
                <a:solidFill>
                  <a:srgbClr val="000000"/>
                </a:solidFill>
              </a:rPr>
              <a:t>별첨 </a:t>
            </a:r>
            <a:r>
              <a:rPr altLang="ko-KR" kumimoji="1" lang="en-US" sz="1370">
                <a:solidFill>
                  <a:srgbClr val="000000"/>
                </a:solidFill>
              </a:rPr>
              <a:t>1] ERP </a:t>
            </a:r>
            <a:r>
              <a:rPr altLang="en-US" kumimoji="1" lang="ko-KR" sz="1370">
                <a:solidFill>
                  <a:srgbClr val="000000"/>
                </a:solidFill>
              </a:rPr>
              <a:t>사용자 계정 및 보안관리</a:t>
            </a:r>
          </a:p>
        </p:txBody>
      </p:sp>
      <p:sp>
        <p:nvSpPr>
          <p:cNvPr id="12296" name="AutoShape 125"/>
          <p:cNvSpPr>
            <a:spLocks noChangeArrowheads="1"/>
          </p:cNvSpPr>
          <p:nvPr/>
        </p:nvSpPr>
        <p:spPr bwMode="auto">
          <a:xfrm>
            <a:off x="2492446" y="3578125"/>
            <a:ext cx="5711781" cy="391452"/>
          </a:xfrm>
          <a:prstGeom prst="roundRect">
            <a:avLst>
              <a:gd fmla="val 16667" name="adj"/>
            </a:avLst>
          </a:prstGeom>
          <a:solidFill>
            <a:schemeClr val="bg1"/>
          </a:solidFill>
          <a:ln>
            <a:noFill/>
          </a:ln>
          <a:effectLst>
            <a:outerShdw algn="ctr" dir="2700000" dist="35921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algn="ctr" w="635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anchor="ctr" lIns="176131" wrap="none"/>
          <a:lstStyle>
            <a:lvl1pPr defTabSz="762000" indent="-342900" marL="3429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1pPr>
            <a:lvl2pPr defTabSz="762000" indent="-385763" marL="5651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2pPr>
            <a:lvl3pPr defTabSz="762000" indent="-228600" marL="11430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3pPr>
            <a:lvl4pPr defTabSz="762000" indent="-228600" marL="16002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4pPr>
            <a:lvl5pPr defTabSz="762000" indent="-228600" marL="20574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5pPr>
            <a:lvl6pPr defTabSz="762000" eaLnBrk="0" fontAlgn="base" hangingPunct="0" indent="-228600" marL="25146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6pPr>
            <a:lvl7pPr defTabSz="762000" eaLnBrk="0" fontAlgn="base" hangingPunct="0" indent="-228600" marL="29718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7pPr>
            <a:lvl8pPr defTabSz="762000" eaLnBrk="0" fontAlgn="base" hangingPunct="0" indent="-228600" marL="34290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8pPr>
            <a:lvl9pPr defTabSz="762000" eaLnBrk="0" fontAlgn="base" hangingPunct="0" indent="-228600" marL="38862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9pPr>
          </a:lstStyle>
          <a:p>
            <a:pPr lvl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Font charset="2" panose="05000000000000000000" pitchFamily="2" typeface="Wingdings"/>
              <a:buChar char="v"/>
            </a:pPr>
            <a:r>
              <a:rPr altLang="en-US" kumimoji="1" lang="ko-KR" sz="1370">
                <a:solidFill>
                  <a:srgbClr val="000000"/>
                </a:solidFill>
              </a:rPr>
              <a:t>별첨 </a:t>
            </a:r>
            <a:r>
              <a:rPr altLang="ko-KR" kumimoji="1" lang="en-US" sz="1370">
                <a:solidFill>
                  <a:srgbClr val="000000"/>
                </a:solidFill>
              </a:rPr>
              <a:t>2] </a:t>
            </a:r>
            <a:r>
              <a:rPr altLang="en-US" kumimoji="1" lang="ko-KR" sz="1370">
                <a:solidFill>
                  <a:srgbClr val="000000"/>
                </a:solidFill>
              </a:rPr>
              <a:t>휴가계획서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1974246" name="Text">
    </p:cNvPr>
          <p:cNvSpPr>
            <a:spLocks noGrp="1"/>
          </p:cNvSpPr>
          <p:nvPr/>
        </p:nvSpPr>
        <p:spPr>
          <a:xfrm rot="0">
            <a:off x="8674100" y="76200"/>
            <a:ext cx="762000" cy="5080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8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80">
                <a:latin typeface="맑은 고딕"/>
                <a:ea typeface="맑은 고딕"/>
                <a:cs typeface="맑은 고딕"/>
              </a:rPr>
              <a:t>: 완료</a:t>
            </a:r>
            <a:br/>
            <a:r>
              <a:rPr lang="ko" sz="980">
                <a:latin typeface="맑은 고딕"/>
                <a:ea typeface="맑은 고딕"/>
                <a:cs typeface="맑은 고딕"/>
              </a:rPr>
              <a:t>:진행중</a:t>
            </a:r>
            <a:br/>
            <a:r>
              <a:rPr lang="ko" sz="980">
                <a:latin typeface="맑은 고딕"/>
                <a:ea typeface="맑은 고딕"/>
                <a:cs typeface="맑은 고딕"/>
              </a:rPr>
              <a:t>:미완료(문제)</a:t>
            </a:r>
          </a:p>
        </p:txBody>
      </p:sp>
      <p:sp>
        <p:nvSpPr>
          <p:cNvPr id="2090902150" name="Rectangle"/>
          <p:cNvSpPr>
            <a:spLocks noGrp="1"/>
          </p:cNvSpPr>
          <p:nvPr/>
        </p:nvSpPr>
        <p:spPr>
          <a:xfrm>
            <a:off x="8420100" y="50800"/>
            <a:ext cx="254000" cy="139700"/>
          </a:xfrm>
          <a:prstGeom prst="rect">
            <a:avLst/>
          </a:prstGeom>
          <a:solidFill>
            <a:srgbClr val="00FF00"/>
          </a:solidFill>
          <a:ln w="12700">
            <a:solidFill>
              <a:srgbClr val="FFFFFF"/>
            </a:solidFill>
            <a:prstDash val="solid"/>
          </a:ln>
        </p:spPr>
        <p:txBody>
          <a:bodyPr anchor="ctr" rtlCol="0"/>
          <a:lstStyle/>
          <a:p>
            <a:pPr algn="ctr"/>
          </a:p>
        </p:txBody>
      </p:sp>
      <p:sp>
        <p:nvSpPr>
          <p:cNvPr id="817305721" name="Rectangle"/>
          <p:cNvSpPr>
            <a:spLocks noGrp="1"/>
          </p:cNvSpPr>
          <p:nvPr/>
        </p:nvSpPr>
        <p:spPr>
          <a:xfrm>
            <a:off x="8420100" y="228600"/>
            <a:ext cx="254000" cy="139700"/>
          </a:xfrm>
          <a:prstGeom prst="rect">
            <a:avLst/>
          </a:prstGeom>
          <a:solidFill>
            <a:srgbClr val="FFFF00"/>
          </a:solidFill>
          <a:ln w="12700">
            <a:solidFill>
              <a:srgbClr val="FFFFFF"/>
            </a:solidFill>
            <a:prstDash val="solid"/>
          </a:ln>
        </p:spPr>
        <p:txBody>
          <a:bodyPr anchor="ctr" rtlCol="0"/>
          <a:lstStyle/>
          <a:p>
            <a:pPr algn="ctr"/>
          </a:p>
        </p:txBody>
      </p:sp>
      <p:sp>
        <p:nvSpPr>
          <p:cNvPr id="315327884" name="Rectangle"/>
          <p:cNvSpPr>
            <a:spLocks noGrp="1"/>
          </p:cNvSpPr>
          <p:nvPr/>
        </p:nvSpPr>
        <p:spPr>
          <a:xfrm>
            <a:off x="8420100" y="406400"/>
            <a:ext cx="254000" cy="139700"/>
          </a:xfrm>
          <a:prstGeom prst="rect">
            <a:avLst/>
          </a:prstGeom>
          <a:solidFill>
            <a:srgbClr val="FF0000"/>
          </a:solidFill>
          <a:ln w="12700">
            <a:solidFill>
              <a:srgbClr val="FFFFFF"/>
            </a:solidFill>
            <a:prstDash val="solid"/>
          </a:ln>
        </p:spPr>
        <p:txBody>
          <a:bodyPr anchor="ctr" rtlCol="0"/>
          <a:lstStyle/>
          <a:p>
            <a:pPr algn="ctr"/>
          </a:p>
        </p:txBody>
      </p:sp>
      <p:sp>
        <p:nvSpPr>
          <p:cNvPr id="304988290" name="Text">
    </p:cNvPr>
          <p:cNvSpPr>
            <a:spLocks noGrp="1"/>
          </p:cNvSpPr>
          <p:nvPr/>
        </p:nvSpPr>
        <p:spPr>
          <a:xfrm rot="0">
            <a:off x="127000" y="190500"/>
            <a:ext cx="5181600" cy="381000"/>
          </a:xfrm>
          <a:prstGeom prst="rect">
            <a:avLst/>
          </a:prstGeom>
        </p:spPr>
        <p:txBody>
          <a:bodyPr anchor="b" bIns="0" lIns="0" rIns="0" rtlCol="0" tIns="0" wrap="square"/>
          <a:lstStyle/>
          <a:p>
            <a:pPr algn="l">
              <a:lnSpc>
                <a:spcPct val="100%"/>
              </a:lnSpc>
              <a:defRPr b="1" sz="15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570">
                <a:latin typeface="맑은 고딕"/>
                <a:ea typeface="맑은 고딕"/>
                <a:cs typeface="맑은 고딕"/>
              </a:rPr>
              <a:t>2. Summary - ①Baynex</a:t>
            </a:r>
          </a:p>
        </p:txBody>
      </p:sp>
      <p:sp>
        <p:nvSpPr>
          <p:cNvPr id="1801512147" name="Text">
    </p:cNvPr>
          <p:cNvSpPr>
            <a:spLocks noGrp="1"/>
          </p:cNvSpPr>
          <p:nvPr/>
        </p:nvSpPr>
        <p:spPr>
          <a:xfrm rot="0">
            <a:off x="190500" y="749300"/>
            <a:ext cx="2108200" cy="2159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l">
              <a:lnSpc>
                <a:spcPct val="100%"/>
              </a:lnSpc>
              <a:defRPr b="1"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00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671191830" name="Text">
    </p:cNvPr>
          <p:cNvSpPr>
            <a:spLocks noGrp="1"/>
          </p:cNvSpPr>
          <p:nvPr/>
        </p:nvSpPr>
        <p:spPr>
          <a:xfrm rot="0">
            <a:off x="165100" y="723900"/>
            <a:ext cx="2108200" cy="2159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l">
              <a:lnSpc>
                <a:spcPct val="100%"/>
              </a:lnSpc>
              <a:defRPr b="1"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000">
                <a:latin typeface="맑은 고딕"/>
                <a:ea typeface="맑은 고딕"/>
                <a:cs typeface="맑은 고딕"/>
              </a:rPr>
              <a:t> 금주 업무 실적</a:t>
            </a:r>
          </a:p>
        </p:txBody>
      </p:sp>
      <p:sp>
        <p:nvSpPr>
          <p:cNvPr id="766857996" name="Text">
    </p:cNvPr>
          <p:cNvSpPr>
            <a:spLocks noGrp="1"/>
          </p:cNvSpPr>
          <p:nvPr/>
        </p:nvSpPr>
        <p:spPr>
          <a:xfrm rot="0">
            <a:off x="152400" y="977900"/>
            <a:ext cx="736600" cy="3937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구분</a:t>
            </a:r>
          </a:p>
        </p:txBody>
      </p:sp>
      <p:sp>
        <p:nvSpPr>
          <p:cNvPr id="1373683688" name="Text">
    </p:cNvPr>
          <p:cNvSpPr>
            <a:spLocks noGrp="1"/>
          </p:cNvSpPr>
          <p:nvPr/>
        </p:nvSpPr>
        <p:spPr>
          <a:xfrm rot="0">
            <a:off x="889000" y="977900"/>
            <a:ext cx="4648200" cy="3937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028300667" name="Text">
    </p:cNvPr>
          <p:cNvSpPr>
            <a:spLocks noGrp="1"/>
          </p:cNvSpPr>
          <p:nvPr/>
        </p:nvSpPr>
        <p:spPr>
          <a:xfrm rot="0">
            <a:off x="6108700" y="977900"/>
            <a:ext cx="762000" cy="3937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진행율</a:t>
            </a:r>
          </a:p>
        </p:txBody>
      </p:sp>
      <p:sp>
        <p:nvSpPr>
          <p:cNvPr id="1019150633" name="Text">
    </p:cNvPr>
          <p:cNvSpPr>
            <a:spLocks noGrp="1"/>
          </p:cNvSpPr>
          <p:nvPr/>
        </p:nvSpPr>
        <p:spPr>
          <a:xfrm rot="0">
            <a:off x="6870700" y="977900"/>
            <a:ext cx="254000" cy="3937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상</a:t>
            </a:r>
            <a:br/>
            <a:r>
              <a:rPr lang="ko" sz="1000">
                <a:latin typeface="맑은 고딕"/>
                <a:ea typeface="맑은 고딕"/>
                <a:cs typeface="맑은 고딕"/>
              </a:rPr>
              <a:t>태</a:t>
            </a:r>
          </a:p>
        </p:txBody>
      </p:sp>
      <p:sp>
        <p:nvSpPr>
          <p:cNvPr id="999622785" name="Text">
    </p:cNvPr>
          <p:cNvSpPr>
            <a:spLocks noGrp="1"/>
          </p:cNvSpPr>
          <p:nvPr/>
        </p:nvSpPr>
        <p:spPr>
          <a:xfrm rot="0">
            <a:off x="7124700" y="977900"/>
            <a:ext cx="2654300" cy="3937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비고</a:t>
            </a:r>
          </a:p>
        </p:txBody>
      </p:sp>
      <p:sp>
        <p:nvSpPr>
          <p:cNvPr id="1868496868" name="Text">
    </p:cNvPr>
          <p:cNvSpPr>
            <a:spLocks noGrp="1"/>
          </p:cNvSpPr>
          <p:nvPr/>
        </p:nvSpPr>
        <p:spPr>
          <a:xfrm rot="0">
            <a:off x="5537200" y="977900"/>
            <a:ext cx="571500" cy="3937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109446195" name="Frame"/>
          <p:cNvSpPr>
            <a:spLocks noGrp="1"/>
          </p:cNvSpPr>
          <p:nvPr/>
        </p:nvSpPr>
        <p:spPr>
          <a:xfrm>
            <a:off x="25400" y="4940300"/>
            <a:ext cx="9855200" cy="1143000"/>
          </a:xfrm>
          <a:prstGeom prst="rect">
            <a:avLst/>
          </a:prstGeom>
        </p:spPr>
        <p:txBody>
          <a:bodyPr anchor="ctr" rtlCol="0"/>
          <a:lstStyle/>
          <a:p>
            <a:pPr algn="ctr"/>
          </a:p>
        </p:txBody>
      </p:sp>
      <p:sp>
        <p:nvSpPr>
          <p:cNvPr id="1114962819" name="Text">
    </p:cNvPr>
          <p:cNvSpPr>
            <a:spLocks noGrp="1"/>
          </p:cNvSpPr>
          <p:nvPr/>
        </p:nvSpPr>
        <p:spPr>
          <a:xfrm rot="0">
            <a:off x="152400" y="4965700"/>
            <a:ext cx="2476500" cy="228600"/>
          </a:xfrm>
          <a:prstGeom prst="rect">
            <a:avLst/>
          </a:prstGeom>
          <a:solidFill>
            <a:srgbClr val="CCFFCC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000">
                <a:latin typeface="맑은 고딕"/>
                <a:ea typeface="맑은 고딕"/>
                <a:cs typeface="맑은 고딕"/>
              </a:rPr>
              <a:t>ERP 디버깅 권한신청 처리현황</a:t>
            </a:r>
          </a:p>
        </p:txBody>
      </p:sp>
      <p:sp>
        <p:nvSpPr>
          <p:cNvPr id="1370890828" name="Text">
    </p:cNvPr>
          <p:cNvSpPr>
            <a:spLocks noGrp="1"/>
          </p:cNvSpPr>
          <p:nvPr/>
        </p:nvSpPr>
        <p:spPr>
          <a:xfrm rot="0">
            <a:off x="6451600" y="5499100"/>
            <a:ext cx="16510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234130497" name="Text">
    </p:cNvPr>
          <p:cNvSpPr>
            <a:spLocks noGrp="1"/>
          </p:cNvSpPr>
          <p:nvPr/>
        </p:nvSpPr>
        <p:spPr>
          <a:xfrm rot="0">
            <a:off x="2057400" y="5499100"/>
            <a:ext cx="43942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2132702431" name="Text">
    </p:cNvPr>
          <p:cNvSpPr>
            <a:spLocks noGrp="1"/>
          </p:cNvSpPr>
          <p:nvPr/>
        </p:nvSpPr>
        <p:spPr>
          <a:xfrm rot="0">
            <a:off x="101600" y="5499100"/>
            <a:ext cx="11430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441655388" name="Text">
    </p:cNvPr>
          <p:cNvSpPr>
            <a:spLocks noGrp="1"/>
          </p:cNvSpPr>
          <p:nvPr/>
        </p:nvSpPr>
        <p:spPr>
          <a:xfrm rot="0">
            <a:off x="101600" y="5257800"/>
            <a:ext cx="1143000" cy="241300"/>
          </a:xfrm>
          <a:prstGeom prst="rect">
            <a:avLst/>
          </a:prstGeom>
          <a:solidFill>
            <a:srgbClr val="FF9933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Date</a:t>
            </a:r>
          </a:p>
        </p:txBody>
      </p:sp>
      <p:sp>
        <p:nvSpPr>
          <p:cNvPr id="2048378136" name="Text">
    </p:cNvPr>
          <p:cNvSpPr>
            <a:spLocks noGrp="1"/>
          </p:cNvSpPr>
          <p:nvPr/>
        </p:nvSpPr>
        <p:spPr>
          <a:xfrm rot="0">
            <a:off x="2057400" y="5257800"/>
            <a:ext cx="4394200" cy="241300"/>
          </a:xfrm>
          <a:prstGeom prst="rect">
            <a:avLst/>
          </a:prstGeom>
          <a:solidFill>
            <a:srgbClr val="FF9933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Text (변경값)</a:t>
            </a:r>
          </a:p>
        </p:txBody>
      </p:sp>
      <p:sp>
        <p:nvSpPr>
          <p:cNvPr id="1234811205" name="Text">
    </p:cNvPr>
          <p:cNvSpPr>
            <a:spLocks noGrp="1"/>
          </p:cNvSpPr>
          <p:nvPr/>
        </p:nvSpPr>
        <p:spPr>
          <a:xfrm rot="0">
            <a:off x="6451600" y="5257800"/>
            <a:ext cx="1651000" cy="241300"/>
          </a:xfrm>
          <a:prstGeom prst="rect">
            <a:avLst/>
          </a:prstGeom>
          <a:solidFill>
            <a:srgbClr val="FF9933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ERP 권한신청서번호</a:t>
            </a:r>
          </a:p>
        </p:txBody>
      </p:sp>
      <p:sp>
        <p:nvSpPr>
          <p:cNvPr id="1160610853" name="Text">
    </p:cNvPr>
          <p:cNvSpPr>
            <a:spLocks noGrp="1"/>
          </p:cNvSpPr>
          <p:nvPr/>
        </p:nvSpPr>
        <p:spPr>
          <a:xfrm rot="0">
            <a:off x="101600" y="5791200"/>
            <a:ext cx="11430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191124252" name="Text">
    </p:cNvPr>
          <p:cNvSpPr>
            <a:spLocks noGrp="1"/>
          </p:cNvSpPr>
          <p:nvPr/>
        </p:nvSpPr>
        <p:spPr>
          <a:xfrm rot="0">
            <a:off x="6451600" y="5791200"/>
            <a:ext cx="16510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42221534" name="Text">
    </p:cNvPr>
          <p:cNvSpPr>
            <a:spLocks noGrp="1"/>
          </p:cNvSpPr>
          <p:nvPr/>
        </p:nvSpPr>
        <p:spPr>
          <a:xfrm rot="0">
            <a:off x="2057400" y="5791200"/>
            <a:ext cx="43942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06163546" name="Text">
    </p:cNvPr>
          <p:cNvSpPr>
            <a:spLocks noGrp="1"/>
          </p:cNvSpPr>
          <p:nvPr/>
        </p:nvSpPr>
        <p:spPr>
          <a:xfrm rot="0">
            <a:off x="1244600" y="5791200"/>
            <a:ext cx="8128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796282137" name="Text">
    </p:cNvPr>
          <p:cNvSpPr>
            <a:spLocks noGrp="1"/>
          </p:cNvSpPr>
          <p:nvPr/>
        </p:nvSpPr>
        <p:spPr>
          <a:xfrm rot="0">
            <a:off x="1244600" y="5499100"/>
            <a:ext cx="8128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291480086" name="Text">
    </p:cNvPr>
          <p:cNvSpPr>
            <a:spLocks noGrp="1"/>
          </p:cNvSpPr>
          <p:nvPr/>
        </p:nvSpPr>
        <p:spPr>
          <a:xfrm rot="0">
            <a:off x="1244600" y="5257800"/>
            <a:ext cx="812800" cy="241300"/>
          </a:xfrm>
          <a:prstGeom prst="rect">
            <a:avLst/>
          </a:prstGeom>
          <a:solidFill>
            <a:srgbClr val="FF9933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User</a:t>
            </a:r>
          </a:p>
        </p:txBody>
      </p:sp>
      <p:sp>
        <p:nvSpPr>
          <p:cNvPr id="847648044" name="Text">
    </p:cNvPr>
          <p:cNvSpPr>
            <a:spLocks noGrp="1"/>
          </p:cNvSpPr>
          <p:nvPr/>
        </p:nvSpPr>
        <p:spPr>
          <a:xfrm rot="0">
            <a:off x="8102600" y="5791200"/>
            <a:ext cx="17018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723912475" name="Text">
    </p:cNvPr>
          <p:cNvSpPr>
            <a:spLocks noGrp="1"/>
          </p:cNvSpPr>
          <p:nvPr/>
        </p:nvSpPr>
        <p:spPr>
          <a:xfrm rot="0">
            <a:off x="8102600" y="5257800"/>
            <a:ext cx="1701800" cy="241300"/>
          </a:xfrm>
          <a:prstGeom prst="rect">
            <a:avLst/>
          </a:prstGeom>
          <a:solidFill>
            <a:srgbClr val="FF9933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구분(일반/긴급)</a:t>
            </a:r>
          </a:p>
        </p:txBody>
      </p:sp>
      <p:sp>
        <p:nvSpPr>
          <p:cNvPr id="916822499" name="Text">
    </p:cNvPr>
          <p:cNvSpPr>
            <a:spLocks noGrp="1"/>
          </p:cNvSpPr>
          <p:nvPr/>
        </p:nvSpPr>
        <p:spPr>
          <a:xfrm rot="0">
            <a:off x="8102600" y="5499100"/>
            <a:ext cx="17018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510396467" name="Frame"/>
          <p:cNvSpPr>
            <a:spLocks noGrp="1"/>
          </p:cNvSpPr>
          <p:nvPr/>
        </p:nvSpPr>
        <p:spPr>
          <a:xfrm>
            <a:off x="101600" y="2679700"/>
            <a:ext cx="9779000" cy="2095500"/>
          </a:xfrm>
          <a:prstGeom prst="rect">
            <a:avLst/>
          </a:prstGeom>
        </p:spPr>
        <p:txBody>
          <a:bodyPr anchor="ctr" rtlCol="0"/>
          <a:lstStyle/>
          <a:p>
            <a:pPr algn="ctr"/>
          </a:p>
        </p:txBody>
      </p:sp>
      <p:sp>
        <p:nvSpPr>
          <p:cNvPr id="1487635242" name="Text">
    </p:cNvPr>
          <p:cNvSpPr>
            <a:spLocks noGrp="1"/>
          </p:cNvSpPr>
          <p:nvPr/>
        </p:nvSpPr>
        <p:spPr>
          <a:xfrm rot="0">
            <a:off x="165100" y="2743200"/>
            <a:ext cx="2108200" cy="2159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l">
              <a:lnSpc>
                <a:spcPct val="100%"/>
              </a:lnSpc>
              <a:defRPr b="1"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00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135499771" name="Text">
    </p:cNvPr>
          <p:cNvSpPr>
            <a:spLocks noGrp="1"/>
          </p:cNvSpPr>
          <p:nvPr/>
        </p:nvSpPr>
        <p:spPr>
          <a:xfrm rot="0">
            <a:off x="152400" y="2705100"/>
            <a:ext cx="2095500" cy="228600"/>
          </a:xfrm>
          <a:prstGeom prst="rect">
            <a:avLst/>
          </a:prstGeom>
          <a:solidFill>
            <a:srgbClr val="FF9900"/>
          </a:solidFill>
        </p:spPr>
        <p:txBody>
          <a:bodyPr anchor="ctr" bIns="0" lIns="0" rIns="0" rtlCol="0" tIns="0" wrap="square"/>
          <a:lstStyle/>
          <a:p>
            <a:pPr algn="l">
              <a:lnSpc>
                <a:spcPct val="100%"/>
              </a:lnSpc>
              <a:defRPr b="1"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000">
                <a:latin typeface="맑은 고딕"/>
                <a:ea typeface="맑은 고딕"/>
                <a:cs typeface="맑은 고딕"/>
              </a:rPr>
              <a:t> 차주 업무 계획</a:t>
            </a:r>
          </a:p>
        </p:txBody>
      </p:sp>
      <p:sp>
        <p:nvSpPr>
          <p:cNvPr id="1499376364" name="Text">
    </p:cNvPr>
          <p:cNvSpPr>
            <a:spLocks noGrp="1"/>
          </p:cNvSpPr>
          <p:nvPr/>
        </p:nvSpPr>
        <p:spPr>
          <a:xfrm rot="0">
            <a:off x="165100" y="2959100"/>
            <a:ext cx="736600" cy="3429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구분</a:t>
            </a:r>
          </a:p>
        </p:txBody>
      </p:sp>
      <p:sp>
        <p:nvSpPr>
          <p:cNvPr id="900037822" name="Text">
    </p:cNvPr>
          <p:cNvSpPr>
            <a:spLocks noGrp="1"/>
          </p:cNvSpPr>
          <p:nvPr/>
        </p:nvSpPr>
        <p:spPr>
          <a:xfrm rot="0">
            <a:off x="901700" y="2959100"/>
            <a:ext cx="4648200" cy="3429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831724531" name="Text">
    </p:cNvPr>
          <p:cNvSpPr>
            <a:spLocks noGrp="1"/>
          </p:cNvSpPr>
          <p:nvPr/>
        </p:nvSpPr>
        <p:spPr>
          <a:xfrm rot="0">
            <a:off x="5549900" y="2959100"/>
            <a:ext cx="571500" cy="3429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완료예정</a:t>
            </a:r>
          </a:p>
        </p:txBody>
      </p:sp>
      <p:sp>
        <p:nvSpPr>
          <p:cNvPr id="4451771" name="Text">
    </p:cNvPr>
          <p:cNvSpPr>
            <a:spLocks noGrp="1"/>
          </p:cNvSpPr>
          <p:nvPr/>
        </p:nvSpPr>
        <p:spPr>
          <a:xfrm rot="0">
            <a:off x="6121400" y="2959100"/>
            <a:ext cx="3644900" cy="3429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비고</a:t>
            </a:r>
          </a:p>
        </p:txBody>
      </p:sp>
      <p:sp>
        <p:nvSpPr>
          <p:cNvPr id="753282709" name="Frame"/>
          <p:cNvSpPr>
            <a:spLocks noGrp="1"/>
          </p:cNvSpPr>
          <p:nvPr/>
        </p:nvSpPr>
        <p:spPr>
          <a:xfrm>
            <a:off x="165100" y="4152900"/>
            <a:ext cx="9664700" cy="622300"/>
          </a:xfrm>
          <a:prstGeom prst="rect">
            <a:avLst/>
          </a:prstGeom>
        </p:spPr>
        <p:txBody>
          <a:bodyPr anchor="ctr" rtlCol="0"/>
          <a:lstStyle/>
          <a:p>
            <a:pPr algn="ctr"/>
          </a:p>
        </p:txBody>
      </p:sp>
      <p:sp>
        <p:nvSpPr>
          <p:cNvPr id="850982715" name="Text">
    </p:cNvPr>
          <p:cNvSpPr>
            <a:spLocks noGrp="1"/>
          </p:cNvSpPr>
          <p:nvPr/>
        </p:nvSpPr>
        <p:spPr>
          <a:xfrm rot="0">
            <a:off x="165100" y="4127500"/>
            <a:ext cx="736600" cy="647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WEB</a:t>
            </a:r>
          </a:p>
        </p:txBody>
      </p:sp>
      <p:sp>
        <p:nvSpPr>
          <p:cNvPr id="467480092" name="Text">
    </p:cNvPr>
          <p:cNvSpPr>
            <a:spLocks noGrp="1"/>
          </p:cNvSpPr>
          <p:nvPr/>
        </p:nvSpPr>
        <p:spPr>
          <a:xfrm rot="0">
            <a:off x="965200" y="4178300"/>
            <a:ext cx="4584700" cy="5969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[e-Biz] 자영대리점 거래처 관리업무 간소화 추진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[E-Approval] S-imoms 작업 결과 보고서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[EAI] [승강기연동] REUTERS국제가 연동 서버 변경에 따른 인터페이스 수정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[EIS] 2024.10월 결산의 EIS, Yellow Book 반영</a:t>
            </a:r>
          </a:p>
        </p:txBody>
      </p:sp>
      <p:sp>
        <p:nvSpPr>
          <p:cNvPr id="82585321" name="Text">
    </p:cNvPr>
          <p:cNvSpPr>
            <a:spLocks noGrp="1"/>
          </p:cNvSpPr>
          <p:nvPr/>
        </p:nvSpPr>
        <p:spPr>
          <a:xfrm rot="0">
            <a:off x="7239000" y="4178300"/>
            <a:ext cx="2552700" cy="5969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</a:p>
        </p:txBody>
      </p:sp>
      <p:sp>
        <p:nvSpPr>
          <p:cNvPr id="434315879" name="Text">
    </p:cNvPr>
          <p:cNvSpPr>
            <a:spLocks noGrp="1"/>
          </p:cNvSpPr>
          <p:nvPr/>
        </p:nvSpPr>
        <p:spPr>
          <a:xfrm rot="0">
            <a:off x="5549900" y="4178300"/>
            <a:ext cx="571500" cy="5969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11/30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12/27</a:t>
            </a:r>
          </a:p>
        </p:txBody>
      </p:sp>
      <p:sp>
        <p:nvSpPr>
          <p:cNvPr id="1821839183" name="Text">
    </p:cNvPr>
          <p:cNvSpPr>
            <a:spLocks noGrp="1"/>
          </p:cNvSpPr>
          <p:nvPr/>
        </p:nvSpPr>
        <p:spPr>
          <a:xfrm rot="0">
            <a:off x="901700" y="4127500"/>
            <a:ext cx="4648200" cy="647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508059919" name="Text">
    </p:cNvPr>
          <p:cNvSpPr>
            <a:spLocks noGrp="1"/>
          </p:cNvSpPr>
          <p:nvPr/>
        </p:nvSpPr>
        <p:spPr>
          <a:xfrm rot="0">
            <a:off x="6121400" y="4127500"/>
            <a:ext cx="3644900" cy="647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2071385921" name="Text">
    </p:cNvPr>
          <p:cNvSpPr>
            <a:spLocks noGrp="1"/>
          </p:cNvSpPr>
          <p:nvPr/>
        </p:nvSpPr>
        <p:spPr>
          <a:xfrm rot="0">
            <a:off x="5549900" y="4127500"/>
            <a:ext cx="571500" cy="647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2072388178" name="Frame"/>
          <p:cNvSpPr>
            <a:spLocks noGrp="1"/>
          </p:cNvSpPr>
          <p:nvPr/>
        </p:nvSpPr>
        <p:spPr>
          <a:xfrm>
            <a:off x="165100" y="3302000"/>
            <a:ext cx="9639300" cy="825500"/>
          </a:xfrm>
          <a:prstGeom prst="rect">
            <a:avLst/>
          </a:prstGeom>
        </p:spPr>
        <p:txBody>
          <a:bodyPr anchor="ctr" rtlCol="0"/>
          <a:lstStyle/>
          <a:p>
            <a:pPr algn="ctr"/>
          </a:p>
        </p:txBody>
      </p:sp>
      <p:sp>
        <p:nvSpPr>
          <p:cNvPr id="801089306" name="Text">
    </p:cNvPr>
          <p:cNvSpPr>
            <a:spLocks noGrp="1"/>
          </p:cNvSpPr>
          <p:nvPr/>
        </p:nvSpPr>
        <p:spPr>
          <a:xfrm rot="0">
            <a:off x="165100" y="3302000"/>
            <a:ext cx="736600" cy="825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ERP</a:t>
            </a:r>
          </a:p>
        </p:txBody>
      </p:sp>
      <p:sp>
        <p:nvSpPr>
          <p:cNvPr id="1923283963" name="Text">
    </p:cNvPr>
          <p:cNvSpPr>
            <a:spLocks noGrp="1"/>
          </p:cNvSpPr>
          <p:nvPr/>
        </p:nvSpPr>
        <p:spPr>
          <a:xfrm rot="0">
            <a:off x="965200" y="3378200"/>
            <a:ext cx="4584700" cy="7493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[FI] ERP 업그레이드 수출체선료 Mig 대상 자료 추출(ZFIB6020_M)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[MM] 신규 발주 생성 시 대금수수계약 체결여부 점검 및 안내기능 개발요청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[MM] 자산취득 장기 미정산 누락 방지를 위한 시스템 개선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*WBS요소 약정 관리를 위한 PR생성, 삭제 RFC Function 개발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[SD] ITSM-112075 자영대리점 거래처 관리업무 간소화 추진(2차)</a:t>
            </a:r>
          </a:p>
        </p:txBody>
      </p:sp>
      <p:sp>
        <p:nvSpPr>
          <p:cNvPr id="1059317297" name="Text">
    </p:cNvPr>
          <p:cNvSpPr>
            <a:spLocks noGrp="1"/>
          </p:cNvSpPr>
          <p:nvPr/>
        </p:nvSpPr>
        <p:spPr>
          <a:xfrm rot="0">
            <a:off x="7239000" y="3378200"/>
            <a:ext cx="2552700" cy="7493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</a:p>
        </p:txBody>
      </p:sp>
      <p:sp>
        <p:nvSpPr>
          <p:cNvPr id="1971177269" name="Text">
    </p:cNvPr>
          <p:cNvSpPr>
            <a:spLocks noGrp="1"/>
          </p:cNvSpPr>
          <p:nvPr/>
        </p:nvSpPr>
        <p:spPr>
          <a:xfrm rot="0">
            <a:off x="5549900" y="3378200"/>
            <a:ext cx="571500" cy="7493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11/29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11/29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11/29</a:t>
            </a:r>
          </a:p>
        </p:txBody>
      </p:sp>
      <p:sp>
        <p:nvSpPr>
          <p:cNvPr id="656943607" name="Text">
    </p:cNvPr>
          <p:cNvSpPr>
            <a:spLocks noGrp="1"/>
          </p:cNvSpPr>
          <p:nvPr/>
        </p:nvSpPr>
        <p:spPr>
          <a:xfrm rot="0">
            <a:off x="901700" y="3302000"/>
            <a:ext cx="4648200" cy="825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110471626" name="Text">
    </p:cNvPr>
          <p:cNvSpPr>
            <a:spLocks noGrp="1"/>
          </p:cNvSpPr>
          <p:nvPr/>
        </p:nvSpPr>
        <p:spPr>
          <a:xfrm rot="0">
            <a:off x="6121400" y="3302000"/>
            <a:ext cx="3644900" cy="825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644300243" name="Text">
    </p:cNvPr>
          <p:cNvSpPr>
            <a:spLocks noGrp="1"/>
          </p:cNvSpPr>
          <p:nvPr/>
        </p:nvSpPr>
        <p:spPr>
          <a:xfrm rot="0">
            <a:off x="5549900" y="3302000"/>
            <a:ext cx="571500" cy="825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2036146377" name="Frame"/>
          <p:cNvSpPr>
            <a:spLocks noGrp="1"/>
          </p:cNvSpPr>
          <p:nvPr/>
        </p:nvSpPr>
        <p:spPr>
          <a:xfrm>
            <a:off x="127000" y="1384300"/>
            <a:ext cx="9779000" cy="1155700"/>
          </a:xfrm>
          <a:prstGeom prst="rect">
            <a:avLst/>
          </a:prstGeom>
        </p:spPr>
        <p:txBody>
          <a:bodyPr anchor="ctr" rtlCol="0"/>
          <a:lstStyle/>
          <a:p>
            <a:pPr algn="ctr"/>
          </a:p>
        </p:txBody>
      </p:sp>
      <p:sp>
        <p:nvSpPr>
          <p:cNvPr id="526178692" name="Frame"/>
          <p:cNvSpPr>
            <a:spLocks noGrp="1"/>
          </p:cNvSpPr>
          <p:nvPr/>
        </p:nvSpPr>
        <p:spPr>
          <a:xfrm>
            <a:off x="152400" y="1917700"/>
            <a:ext cx="9664700" cy="622300"/>
          </a:xfrm>
          <a:prstGeom prst="rect">
            <a:avLst/>
          </a:prstGeom>
        </p:spPr>
        <p:txBody>
          <a:bodyPr anchor="ctr" rtlCol="0"/>
          <a:lstStyle/>
          <a:p>
            <a:pPr algn="ctr"/>
          </a:p>
        </p:txBody>
      </p:sp>
      <p:sp>
        <p:nvSpPr>
          <p:cNvPr id="1580423046" name="Text">
    </p:cNvPr>
          <p:cNvSpPr>
            <a:spLocks noGrp="1"/>
          </p:cNvSpPr>
          <p:nvPr/>
        </p:nvSpPr>
        <p:spPr>
          <a:xfrm rot="0">
            <a:off x="152400" y="1892300"/>
            <a:ext cx="736600" cy="647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WEB</a:t>
            </a:r>
          </a:p>
        </p:txBody>
      </p:sp>
      <p:sp>
        <p:nvSpPr>
          <p:cNvPr id="746450700" name="Text">
    </p:cNvPr>
          <p:cNvSpPr>
            <a:spLocks noGrp="1"/>
          </p:cNvSpPr>
          <p:nvPr/>
        </p:nvSpPr>
        <p:spPr>
          <a:xfrm rot="0">
            <a:off x="952500" y="1943100"/>
            <a:ext cx="4597400" cy="5969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[e-Biz] CI 시설지원 관련 협력사 조회 및 엑셀다운로드 조회화면 개선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[OSPM] 단가계약상세[협력] - 단가계산 프로시저 수정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[ERM] ERM IT 시스템 기능 개선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[LMS] ODA/TDA 신청시 오류, 신규 직책 필터 추가(Trading Specialist)</a:t>
            </a:r>
          </a:p>
        </p:txBody>
      </p:sp>
      <p:sp>
        <p:nvSpPr>
          <p:cNvPr id="1018612002" name="Text">
    </p:cNvPr>
          <p:cNvSpPr>
            <a:spLocks noGrp="1"/>
          </p:cNvSpPr>
          <p:nvPr/>
        </p:nvSpPr>
        <p:spPr>
          <a:xfrm rot="0">
            <a:off x="7226300" y="1943100"/>
            <a:ext cx="2552700" cy="5969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</a:p>
        </p:txBody>
      </p:sp>
      <p:sp>
        <p:nvSpPr>
          <p:cNvPr id="1172285385" name="Text">
    </p:cNvPr>
          <p:cNvSpPr>
            <a:spLocks noGrp="1"/>
          </p:cNvSpPr>
          <p:nvPr/>
        </p:nvSpPr>
        <p:spPr>
          <a:xfrm rot="0">
            <a:off x="6108700" y="1892300"/>
            <a:ext cx="762000" cy="647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완료</a:t>
            </a:r>
          </a:p>
        </p:txBody>
      </p:sp>
      <p:sp>
        <p:nvSpPr>
          <p:cNvPr id="18110355" name="Text">
    </p:cNvPr>
          <p:cNvSpPr>
            <a:spLocks noGrp="1"/>
          </p:cNvSpPr>
          <p:nvPr/>
        </p:nvSpPr>
        <p:spPr>
          <a:xfrm rot="0">
            <a:off x="5537200" y="1943100"/>
            <a:ext cx="571500" cy="5969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11/21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11/20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11/21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11/19</a:t>
            </a:r>
          </a:p>
        </p:txBody>
      </p:sp>
      <p:sp>
        <p:nvSpPr>
          <p:cNvPr id="1112722738" name="Text">
    </p:cNvPr>
          <p:cNvSpPr>
            <a:spLocks noGrp="1"/>
          </p:cNvSpPr>
          <p:nvPr/>
        </p:nvSpPr>
        <p:spPr>
          <a:xfrm rot="0">
            <a:off x="889000" y="1892300"/>
            <a:ext cx="4648200" cy="647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210577795" name="Text">
    </p:cNvPr>
          <p:cNvSpPr>
            <a:spLocks noGrp="1"/>
          </p:cNvSpPr>
          <p:nvPr/>
        </p:nvSpPr>
        <p:spPr>
          <a:xfrm rot="0">
            <a:off x="7124700" y="1892300"/>
            <a:ext cx="2654300" cy="647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895756961" name="Text">
    </p:cNvPr>
          <p:cNvSpPr>
            <a:spLocks noGrp="1"/>
          </p:cNvSpPr>
          <p:nvPr/>
        </p:nvSpPr>
        <p:spPr>
          <a:xfrm rot="0">
            <a:off x="5537200" y="1892300"/>
            <a:ext cx="571500" cy="647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400217058" name="Rectangle"/>
          <p:cNvSpPr>
            <a:spLocks noGrp="1"/>
          </p:cNvSpPr>
          <p:nvPr/>
        </p:nvSpPr>
        <p:spPr>
          <a:xfrm>
            <a:off x="6870700" y="1892300"/>
            <a:ext cx="254000" cy="647700"/>
          </a:xfrm>
          <a:prstGeom prst="rect">
            <a:avLst/>
          </a:prstGeom>
          <a:solidFill>
            <a:srgbClr val="00FF00"/>
          </a:solidFill>
          <a:ln w="12700">
            <a:solidFill>
              <a:srgbClr val="000000"/>
            </a:solidFill>
            <a:prstDash val="solid"/>
          </a:ln>
        </p:spPr>
        <p:txBody>
          <a:bodyPr anchor="ctr" rtlCol="0"/>
          <a:lstStyle/>
          <a:p>
            <a:pPr algn="ctr"/>
          </a:p>
        </p:txBody>
      </p:sp>
      <p:sp>
        <p:nvSpPr>
          <p:cNvPr id="119206371" name="Frame"/>
          <p:cNvSpPr>
            <a:spLocks noGrp="1"/>
          </p:cNvSpPr>
          <p:nvPr/>
        </p:nvSpPr>
        <p:spPr>
          <a:xfrm>
            <a:off x="152400" y="1371600"/>
            <a:ext cx="9639300" cy="520700"/>
          </a:xfrm>
          <a:prstGeom prst="rect">
            <a:avLst/>
          </a:prstGeom>
        </p:spPr>
        <p:txBody>
          <a:bodyPr anchor="ctr" rtlCol="0"/>
          <a:lstStyle/>
          <a:p>
            <a:pPr algn="ctr"/>
          </a:p>
        </p:txBody>
      </p:sp>
      <p:sp>
        <p:nvSpPr>
          <p:cNvPr id="1893114216" name="Text">
    </p:cNvPr>
          <p:cNvSpPr>
            <a:spLocks noGrp="1"/>
          </p:cNvSpPr>
          <p:nvPr/>
        </p:nvSpPr>
        <p:spPr>
          <a:xfrm rot="0">
            <a:off x="152400" y="1371600"/>
            <a:ext cx="736600" cy="520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ERP</a:t>
            </a:r>
          </a:p>
        </p:txBody>
      </p:sp>
      <p:sp>
        <p:nvSpPr>
          <p:cNvPr id="1997146159" name="Text">
    </p:cNvPr>
          <p:cNvSpPr>
            <a:spLocks noGrp="1"/>
          </p:cNvSpPr>
          <p:nvPr/>
        </p:nvSpPr>
        <p:spPr>
          <a:xfrm rot="0">
            <a:off x="939800" y="1422400"/>
            <a:ext cx="4610100" cy="4699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[CO] ERP Upgrade WBS 마이그레이션 데이터 추출 프로그램 생성(ZCOB7023)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[FI] 자산 대량처분 프로그램 실행시 접근권한 로직 수정(ZFIR9049)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[BC] ERP운영 배차 삭제업무 권한 문제로 Note 원복작업(Note 3505293)</a:t>
            </a:r>
          </a:p>
        </p:txBody>
      </p:sp>
      <p:sp>
        <p:nvSpPr>
          <p:cNvPr id="141492641" name="Text">
    </p:cNvPr>
          <p:cNvSpPr>
            <a:spLocks noGrp="1"/>
          </p:cNvSpPr>
          <p:nvPr/>
        </p:nvSpPr>
        <p:spPr>
          <a:xfrm rot="0">
            <a:off x="7226300" y="1447800"/>
            <a:ext cx="2552700" cy="4445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</a:p>
        </p:txBody>
      </p:sp>
      <p:sp>
        <p:nvSpPr>
          <p:cNvPr id="1479179430" name="Text">
    </p:cNvPr>
          <p:cNvSpPr>
            <a:spLocks noGrp="1"/>
          </p:cNvSpPr>
          <p:nvPr/>
        </p:nvSpPr>
        <p:spPr>
          <a:xfrm rot="0">
            <a:off x="6108700" y="1371600"/>
            <a:ext cx="762000" cy="520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완료</a:t>
            </a:r>
          </a:p>
        </p:txBody>
      </p:sp>
      <p:sp>
        <p:nvSpPr>
          <p:cNvPr id="489839402" name="Text">
    </p:cNvPr>
          <p:cNvSpPr>
            <a:spLocks noGrp="1"/>
          </p:cNvSpPr>
          <p:nvPr/>
        </p:nvSpPr>
        <p:spPr>
          <a:xfrm rot="0">
            <a:off x="5537200" y="1447800"/>
            <a:ext cx="571500" cy="4445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11/19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11/20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11/18</a:t>
            </a:r>
          </a:p>
        </p:txBody>
      </p:sp>
      <p:sp>
        <p:nvSpPr>
          <p:cNvPr id="987653075" name="Text">
    </p:cNvPr>
          <p:cNvSpPr>
            <a:spLocks noGrp="1"/>
          </p:cNvSpPr>
          <p:nvPr/>
        </p:nvSpPr>
        <p:spPr>
          <a:xfrm rot="0">
            <a:off x="889000" y="1371600"/>
            <a:ext cx="4648200" cy="520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254891296" name="Text">
    </p:cNvPr>
          <p:cNvSpPr>
            <a:spLocks noGrp="1"/>
          </p:cNvSpPr>
          <p:nvPr/>
        </p:nvSpPr>
        <p:spPr>
          <a:xfrm rot="0">
            <a:off x="7124700" y="1371600"/>
            <a:ext cx="2654300" cy="520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099466131" name="Text">
    </p:cNvPr>
          <p:cNvSpPr>
            <a:spLocks noGrp="1"/>
          </p:cNvSpPr>
          <p:nvPr/>
        </p:nvSpPr>
        <p:spPr>
          <a:xfrm rot="0">
            <a:off x="5537200" y="1371600"/>
            <a:ext cx="571500" cy="520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324117379" name="Rectangle"/>
          <p:cNvSpPr>
            <a:spLocks noGrp="1"/>
          </p:cNvSpPr>
          <p:nvPr/>
        </p:nvSpPr>
        <p:spPr>
          <a:xfrm>
            <a:off x="6870700" y="1371600"/>
            <a:ext cx="254000" cy="520700"/>
          </a:xfrm>
          <a:prstGeom prst="rect">
            <a:avLst/>
          </a:prstGeom>
          <a:solidFill>
            <a:srgbClr val="00FF00"/>
          </a:solidFill>
          <a:ln w="12700">
            <a:solidFill>
              <a:srgbClr val="000000"/>
            </a:solidFill>
            <a:prstDash val="solid"/>
          </a:ln>
        </p:spPr>
        <p:txBody>
          <a:bodyPr anchor="ctr" rtlCol="0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97"/>
          <p:cNvSpPr>
            <a:spLocks noChangeArrowheads="1"/>
          </p:cNvSpPr>
          <p:nvPr/>
        </p:nvSpPr>
        <p:spPr bwMode="auto">
          <a:xfrm>
            <a:off x="330140" y="744758"/>
            <a:ext cx="2288130" cy="212814"/>
          </a:xfrm>
          <a:prstGeom prst="rect">
            <a:avLst/>
          </a:prstGeom>
          <a:solidFill>
            <a:srgbClr val="C7CDFD"/>
          </a:solidFill>
          <a:ln>
            <a:noFill/>
          </a:ln>
          <a:effectLst>
            <a:outerShdw algn="ctr" dir="2700000" dist="35921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algn="ctr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defTabSz="806450" indent="-247650" marL="2476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1pPr>
            <a:lvl2pPr defTabSz="806450" indent="-285750" marL="7429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2pPr>
            <a:lvl3pPr defTabSz="806450" indent="-228600" marL="11430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3pPr>
            <a:lvl4pPr defTabSz="806450" indent="-228600" marL="16002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4pPr>
            <a:lvl5pPr defTabSz="806450" indent="-228600" marL="20574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5pPr>
            <a:lvl6pPr defTabSz="806450" eaLnBrk="0" fontAlgn="base" hangingPunct="0" indent="-228600" marL="25146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6pPr>
            <a:lvl7pPr defTabSz="806450" eaLnBrk="0" fontAlgn="base" hangingPunct="0" indent="-228600" marL="29718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7pPr>
            <a:lvl8pPr defTabSz="806450" eaLnBrk="0" fontAlgn="base" hangingPunct="0" indent="-228600" marL="34290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8pPr>
            <a:lvl9pPr defTabSz="806450" eaLnBrk="0" fontAlgn="base" hangingPunct="0" indent="-228600" marL="38862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9pPr>
          </a:lstStyle>
          <a:p>
            <a:pPr eaLnBrk="1" hangingPunct="1">
              <a:spcBef>
                <a:spcPct val="0"/>
              </a:spcBef>
              <a:spcAft>
                <a:spcPct val="0"/>
              </a:spcAft>
            </a:pPr>
            <a:r>
              <a:rPr altLang="en-US" kumimoji="1" lang="ko-KR" sz="1174">
                <a:solidFill>
                  <a:srgbClr val="000000"/>
                </a:solidFill>
              </a:rPr>
              <a:t>금주 업무 실적</a:t>
            </a:r>
            <a:endParaRPr altLang="ko-KR" kumimoji="1" lang="en-US" sz="1174">
              <a:solidFill>
                <a:srgbClr val="000000"/>
              </a:solidFill>
            </a:endParaRPr>
          </a:p>
        </p:txBody>
      </p:sp>
      <p:sp>
        <p:nvSpPr>
          <p:cNvPr id="7171" name="Rectangle 755"/>
          <p:cNvSpPr>
            <a:spLocks noChangeArrowheads="1"/>
          </p:cNvSpPr>
          <p:nvPr/>
        </p:nvSpPr>
        <p:spPr bwMode="auto">
          <a:xfrm>
            <a:off x="268005" y="296321"/>
            <a:ext cx="7667486" cy="3314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algn="ctr" dir="2700000" dist="35921" rotWithShape="0">
                    <a:schemeClr val="bg2"/>
                  </a:outerShdw>
                </a:effectLst>
              </a14:hiddenEffects>
            </a:ext>
          </a:extLst>
        </p:spPr>
        <p:txBody>
          <a:bodyPr anchor="ctr" bIns="44805" lIns="89609" rIns="89609" tIns="44805">
            <a:spAutoFit/>
          </a:bodyPr>
          <a:lstStyle>
            <a:lvl1pPr defTabSz="957263" indent="-381000" marL="381000">
              <a:buChar char="•"/>
              <a:defRPr kumimoji="1" sz="1400">
                <a:solidFill>
                  <a:schemeClr val="tx1"/>
                </a:solidFill>
                <a:latin charset="0" panose="020B0604020202020204" pitchFamily="34" typeface="Arial"/>
                <a:ea charset="-127" panose="020B0609000101010101" pitchFamily="49" typeface="굴림체"/>
                <a:cs charset="0" panose="020B0604020202020204" pitchFamily="34" typeface="Arial"/>
              </a:defRPr>
            </a:lvl1pPr>
            <a:lvl2pPr defTabSz="957263" indent="-285750" marL="742950">
              <a:spcBef>
                <a:spcPct val="20000"/>
              </a:spcBef>
              <a:buChar char="–"/>
              <a:defRPr kumimoji="1" sz="1400">
                <a:solidFill>
                  <a:schemeClr val="tx1"/>
                </a:solidFill>
                <a:latin charset="0" panose="020B0604020202020204" pitchFamily="34" typeface="Arial"/>
                <a:ea charset="-127" panose="020B0609000101010101" pitchFamily="49" typeface="굴림체"/>
                <a:cs charset="0" panose="020B0604020202020204" pitchFamily="34" typeface="Arial"/>
              </a:defRPr>
            </a:lvl2pPr>
            <a:lvl3pPr defTabSz="957263" indent="-228600" marL="1143000">
              <a:spcBef>
                <a:spcPct val="20000"/>
              </a:spcBef>
              <a:buChar char="•"/>
              <a:defRPr kumimoji="1" sz="1400">
                <a:solidFill>
                  <a:schemeClr val="tx1"/>
                </a:solidFill>
                <a:latin charset="0" panose="020B0604020202020204" pitchFamily="34" typeface="Arial"/>
                <a:ea charset="-127" panose="020B0609000101010101" pitchFamily="49" typeface="굴림체"/>
                <a:cs charset="0" panose="020B0604020202020204" pitchFamily="34" typeface="Arial"/>
              </a:defRPr>
            </a:lvl3pPr>
            <a:lvl4pPr defTabSz="957263" indent="-228600" marL="1600200">
              <a:spcBef>
                <a:spcPct val="20000"/>
              </a:spcBef>
              <a:buChar char="–"/>
              <a:defRPr kumimoji="1" sz="1400">
                <a:solidFill>
                  <a:schemeClr val="tx1"/>
                </a:solidFill>
                <a:latin charset="0" panose="020B0604020202020204" pitchFamily="34" typeface="Arial"/>
                <a:ea charset="-127" panose="020B0609000101010101" pitchFamily="49" typeface="굴림체"/>
                <a:cs charset="0" panose="020B0604020202020204" pitchFamily="34" typeface="Arial"/>
              </a:defRPr>
            </a:lvl4pPr>
            <a:lvl5pPr defTabSz="957263" indent="-228600" marL="2057400">
              <a:spcBef>
                <a:spcPct val="20000"/>
              </a:spcBef>
              <a:buChar char="»"/>
              <a:defRPr kumimoji="1" sz="1400">
                <a:solidFill>
                  <a:schemeClr val="tx1"/>
                </a:solidFill>
                <a:latin charset="0" panose="020B0604020202020204" pitchFamily="34" typeface="Arial"/>
                <a:ea charset="-127" panose="020B0609000101010101" pitchFamily="49" typeface="굴림체"/>
                <a:cs charset="0" panose="020B0604020202020204" pitchFamily="34" typeface="Arial"/>
              </a:defRPr>
            </a:lvl5pPr>
            <a:lvl6pPr defTabSz="957263" eaLnBrk="0" fontAlgn="base" hangingPunct="0" indent="-228600" marL="2514600">
              <a:spcBef>
                <a:spcPct val="20000"/>
              </a:spcBef>
              <a:spcAft>
                <a:spcPct val="0"/>
              </a:spcAft>
              <a:buChar char="»"/>
              <a:defRPr kumimoji="1" sz="1400">
                <a:solidFill>
                  <a:schemeClr val="tx1"/>
                </a:solidFill>
                <a:latin charset="0" panose="020B0604020202020204" pitchFamily="34" typeface="Arial"/>
                <a:ea charset="-127" panose="020B0609000101010101" pitchFamily="49" typeface="굴림체"/>
                <a:cs charset="0" panose="020B0604020202020204" pitchFamily="34" typeface="Arial"/>
              </a:defRPr>
            </a:lvl6pPr>
            <a:lvl7pPr defTabSz="957263" eaLnBrk="0" fontAlgn="base" hangingPunct="0" indent="-228600" marL="2971800">
              <a:spcBef>
                <a:spcPct val="20000"/>
              </a:spcBef>
              <a:spcAft>
                <a:spcPct val="0"/>
              </a:spcAft>
              <a:buChar char="»"/>
              <a:defRPr kumimoji="1" sz="1400">
                <a:solidFill>
                  <a:schemeClr val="tx1"/>
                </a:solidFill>
                <a:latin charset="0" panose="020B0604020202020204" pitchFamily="34" typeface="Arial"/>
                <a:ea charset="-127" panose="020B0609000101010101" pitchFamily="49" typeface="굴림체"/>
                <a:cs charset="0" panose="020B0604020202020204" pitchFamily="34" typeface="Arial"/>
              </a:defRPr>
            </a:lvl7pPr>
            <a:lvl8pPr defTabSz="957263" eaLnBrk="0" fontAlgn="base" hangingPunct="0" indent="-228600" marL="3429000">
              <a:spcBef>
                <a:spcPct val="20000"/>
              </a:spcBef>
              <a:spcAft>
                <a:spcPct val="0"/>
              </a:spcAft>
              <a:buChar char="»"/>
              <a:defRPr kumimoji="1" sz="1400">
                <a:solidFill>
                  <a:schemeClr val="tx1"/>
                </a:solidFill>
                <a:latin charset="0" panose="020B0604020202020204" pitchFamily="34" typeface="Arial"/>
                <a:ea charset="-127" panose="020B0609000101010101" pitchFamily="49" typeface="굴림체"/>
                <a:cs charset="0" panose="020B0604020202020204" pitchFamily="34" typeface="Arial"/>
              </a:defRPr>
            </a:lvl8pPr>
            <a:lvl9pPr defTabSz="957263" eaLnBrk="0" fontAlgn="base" hangingPunct="0" indent="-228600" marL="3886200">
              <a:spcBef>
                <a:spcPct val="20000"/>
              </a:spcBef>
              <a:spcAft>
                <a:spcPct val="0"/>
              </a:spcAft>
              <a:buChar char="»"/>
              <a:defRPr kumimoji="1" sz="1400">
                <a:solidFill>
                  <a:schemeClr val="tx1"/>
                </a:solidFill>
                <a:latin charset="0" panose="020B0604020202020204" pitchFamily="34" typeface="Arial"/>
                <a:ea charset="-127" panose="020B0609000101010101" pitchFamily="49" typeface="굴림체"/>
                <a:cs charset="0" panose="020B0604020202020204" pitchFamily="34" typeface="Arial"/>
              </a:defRPr>
            </a:lvl9pPr>
          </a:lstStyle>
          <a:p>
            <a:pPr eaLnBrk="1" hangingPunct="1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altLang="ko-KR" lang="en-US" sz="1566">
                <a:solidFill>
                  <a:srgbClr val="000000"/>
                </a:solidFill>
                <a:latin charset="-127" panose="020B0503020000020004" pitchFamily="50" typeface="맑은 고딕"/>
                <a:ea charset="-127" panose="020B0503020000020004" pitchFamily="50" typeface="맑은 고딕"/>
              </a:rPr>
              <a:t>2. Summary – </a:t>
            </a:r>
            <a:r>
              <a:rPr altLang="en-US" lang="ko-KR" sz="1566">
                <a:solidFill>
                  <a:srgbClr val="000000"/>
                </a:solidFill>
                <a:latin charset="-127" panose="020B0503020000020004" pitchFamily="50" typeface="맑은 고딕"/>
                <a:ea charset="-127" panose="020B0503020000020004" pitchFamily="50" typeface="맑은 고딕"/>
              </a:rPr>
              <a:t>②</a:t>
            </a:r>
            <a:r>
              <a:rPr altLang="ko-KR" lang="en-US" sz="1566">
                <a:latin charset="-127" panose="020B0503020000020004" pitchFamily="50" typeface="맑은 고딕"/>
                <a:ea charset="-127" panose="020B0503020000020004" pitchFamily="50" typeface="맑은 고딕"/>
              </a:rPr>
              <a:t>Quintet</a:t>
            </a:r>
            <a:endParaRPr altLang="en-US" lang="ko-KR" sz="1566">
              <a:latin charset="-127" panose="020B0503020000020004" pitchFamily="50" typeface="맑은 고딕"/>
              <a:ea charset="-127" panose="020B0503020000020004" pitchFamily="50" typeface="맑은 고딕"/>
            </a:endParaRPr>
          </a:p>
        </p:txBody>
      </p:sp>
      <p:sp>
        <p:nvSpPr>
          <p:cNvPr id="7172" name="Rectangle 1382"/>
          <p:cNvSpPr>
            <a:spLocks noChangeArrowheads="1"/>
          </p:cNvSpPr>
          <p:nvPr/>
        </p:nvSpPr>
        <p:spPr bwMode="auto">
          <a:xfrm>
            <a:off x="330140" y="5740430"/>
            <a:ext cx="2311430" cy="223687"/>
          </a:xfrm>
          <a:prstGeom prst="rect">
            <a:avLst/>
          </a:prstGeom>
          <a:solidFill>
            <a:srgbClr val="CCFFCC"/>
          </a:solidFill>
          <a:ln>
            <a:noFill/>
          </a:ln>
          <a:effectLst>
            <a:outerShdw algn="ctr" dir="2700000" dist="35921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algn="ctr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defTabSz="806450" indent="-247650" marL="2476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1pPr>
            <a:lvl2pPr defTabSz="806450" indent="-285750" marL="7429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2pPr>
            <a:lvl3pPr defTabSz="806450" indent="-228600" marL="11430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3pPr>
            <a:lvl4pPr defTabSz="806450" indent="-228600" marL="16002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4pPr>
            <a:lvl5pPr defTabSz="806450" indent="-228600" marL="20574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5pPr>
            <a:lvl6pPr defTabSz="806450" eaLnBrk="0" fontAlgn="base" hangingPunct="0" indent="-228600" marL="25146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6pPr>
            <a:lvl7pPr defTabSz="806450" eaLnBrk="0" fontAlgn="base" hangingPunct="0" indent="-228600" marL="29718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7pPr>
            <a:lvl8pPr defTabSz="806450" eaLnBrk="0" fontAlgn="base" hangingPunct="0" indent="-228600" marL="34290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8pPr>
            <a:lvl9pPr defTabSz="806450" eaLnBrk="0" fontAlgn="base" hangingPunct="0" indent="-228600" marL="38862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9pPr>
          </a:lstStyle>
          <a:p>
            <a:pPr eaLnBrk="1" hangingPunct="1">
              <a:spcBef>
                <a:spcPct val="0"/>
              </a:spcBef>
              <a:spcAft>
                <a:spcPct val="0"/>
              </a:spcAft>
            </a:pPr>
            <a:r>
              <a:rPr altLang="ko-KR" kumimoji="1" lang="en-US" sz="1174">
                <a:solidFill>
                  <a:srgbClr val="000000"/>
                </a:solidFill>
              </a:rPr>
              <a:t>ISSUE</a:t>
            </a:r>
            <a:r>
              <a:rPr altLang="en-US" kumimoji="1" lang="ko-KR" sz="1174">
                <a:solidFill>
                  <a:srgbClr val="000000"/>
                </a:solidFill>
              </a:rPr>
              <a:t> 및 공지사항</a:t>
            </a:r>
            <a:endParaRPr altLang="ko-KR" kumimoji="1" lang="en-US" sz="1174">
              <a:solidFill>
                <a:srgbClr val="000000"/>
              </a:solidFill>
            </a:endParaRPr>
          </a:p>
        </p:txBody>
      </p:sp>
      <p:graphicFrame>
        <p:nvGraphicFramePr>
          <p:cNvPr id="20" name="Group 3691"/>
          <p:cNvGraphicFramePr>
            <a:graphicFrameLocks noGrp="1"/>
          </p:cNvGraphicFramePr>
          <p:nvPr/>
        </p:nvGraphicFramePr>
        <p:xfrm>
          <a:off x="468391" y="5964118"/>
          <a:ext cx="8809220" cy="568537"/>
        </p:xfrm>
        <a:graphic>
          <a:graphicData uri="http://schemas.openxmlformats.org/drawingml/2006/table">
            <a:tbl>
              <a:tblPr/>
              <a:tblGrid>
                <a:gridCol w="88092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568537">
                <a:tc>
                  <a:txBody>
                    <a:bodyPr/>
                    <a:lstStyle/>
                    <a:p>
                      <a:pPr algn="l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charset="0" panose="020B0604020202020204" pitchFamily="34" typeface="Arial"/>
                        <a:buNone/>
                        <a:tabLst/>
                      </a:pPr>
                      <a:endParaRPr altLang="ko-KR" b="0" baseline="0" cap="none" dirty="0" i="0" kumimoji="1" lang="en-US" normalizeH="0" smtClean="0" strike="noStrike" sz="10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typeface="Arial"/>
                      </a:endParaRPr>
                    </a:p>
                  </a:txBody>
                  <a:tcPr anchor="ctr" horzOverflow="overflow" marB="45823" marL="88066" marR="88066" marT="45823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pSp>
        <p:nvGrpSpPr>
          <p:cNvPr id="7179" name="Group 240"/>
          <p:cNvGrpSpPr>
            <a:grpSpLocks/>
          </p:cNvGrpSpPr>
          <p:nvPr/>
        </p:nvGrpSpPr>
        <p:grpSpPr bwMode="auto">
          <a:xfrm>
            <a:off x="8218216" y="73699"/>
            <a:ext cx="1059407" cy="591838"/>
            <a:chOff x="5222" y="377"/>
            <a:chExt cx="682" cy="381"/>
          </a:xfrm>
        </p:grpSpPr>
        <p:sp>
          <p:nvSpPr>
            <p:cNvPr id="7236" name="Rectangle 94"/>
            <p:cNvSpPr>
              <a:spLocks noChangeArrowheads="1"/>
            </p:cNvSpPr>
            <p:nvPr/>
          </p:nvSpPr>
          <p:spPr bwMode="auto">
            <a:xfrm>
              <a:off x="5222" y="406"/>
              <a:ext cx="144" cy="96"/>
            </a:xfrm>
            <a:prstGeom prst="rect">
              <a:avLst/>
            </a:prstGeom>
            <a:solidFill>
              <a:srgbClr val="00FF00"/>
            </a:solidFill>
            <a:ln>
              <a:noFill/>
            </a:ln>
            <a:effectLst>
              <a:prstShdw dir="2700000" dist="17961" prst="shdw17">
                <a:srgbClr val="009900"/>
              </a:prstShdw>
            </a:effectLst>
            <a:extLst>
              <a:ext uri="{91240B29-F687-4F45-9708-019B960494DF}">
                <a14:hiddenLine xmlns:a14="http://schemas.microsoft.com/office/drawing/2010/main" algn="ctr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 lIns="0" rIns="0" wrap="none"/>
            <a:lstStyle>
              <a:lvl1pPr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1pPr>
              <a:lvl2pPr indent="-285750" marL="74295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2pPr>
              <a:lvl3pPr indent="-228600" marL="114300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3pPr>
              <a:lvl4pPr indent="-228600" marL="160020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4pPr>
              <a:lvl5pPr indent="-228600" marL="205740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5pPr>
              <a:lvl6pPr eaLnBrk="0" fontAlgn="base" hangingPunct="0" indent="-228600" marL="25146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6pPr>
              <a:lvl7pPr eaLnBrk="0" fontAlgn="base" hangingPunct="0" indent="-228600" marL="29718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7pPr>
              <a:lvl8pPr eaLnBrk="0" fontAlgn="base" hangingPunct="0" indent="-228600" marL="34290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8pPr>
              <a:lvl9pPr eaLnBrk="0" fontAlgn="base" hangingPunct="0" indent="-228600" marL="38862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9pPr>
            </a:lstStyle>
            <a:p>
              <a:pPr algn="r">
                <a:spcBef>
                  <a:spcPct val="0"/>
                </a:spcBef>
                <a:spcAft>
                  <a:spcPct val="0"/>
                </a:spcAft>
              </a:pPr>
              <a:endParaRPr altLang="en-US" b="0" lang="ko-KR" sz="783">
                <a:solidFill>
                  <a:srgbClr val="FF6600"/>
                </a:solidFill>
              </a:endParaRPr>
            </a:p>
          </p:txBody>
        </p:sp>
        <p:sp>
          <p:nvSpPr>
            <p:cNvPr id="7237" name="Rectangle 95"/>
            <p:cNvSpPr>
              <a:spLocks noChangeArrowheads="1"/>
            </p:cNvSpPr>
            <p:nvPr/>
          </p:nvSpPr>
          <p:spPr bwMode="auto">
            <a:xfrm>
              <a:off x="5222" y="518"/>
              <a:ext cx="144" cy="96"/>
            </a:xfrm>
            <a:prstGeom prst="rect">
              <a:avLst/>
            </a:prstGeom>
            <a:solidFill>
              <a:srgbClr val="FFFF00"/>
            </a:solidFill>
            <a:ln>
              <a:noFill/>
            </a:ln>
            <a:effectLst>
              <a:prstShdw dir="2700000" dist="17961" prst="shdw17">
                <a:srgbClr val="999900"/>
              </a:prstShdw>
            </a:effectLst>
            <a:extLst>
              <a:ext uri="{91240B29-F687-4F45-9708-019B960494DF}">
                <a14:hiddenLine xmlns:a14="http://schemas.microsoft.com/office/drawing/2010/main" algn="ctr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 lIns="0" rIns="0" wrap="none"/>
            <a:lstStyle>
              <a:lvl1pPr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1pPr>
              <a:lvl2pPr indent="-285750" marL="74295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2pPr>
              <a:lvl3pPr indent="-228600" marL="114300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3pPr>
              <a:lvl4pPr indent="-228600" marL="160020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4pPr>
              <a:lvl5pPr indent="-228600" marL="205740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5pPr>
              <a:lvl6pPr eaLnBrk="0" fontAlgn="base" hangingPunct="0" indent="-228600" marL="25146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6pPr>
              <a:lvl7pPr eaLnBrk="0" fontAlgn="base" hangingPunct="0" indent="-228600" marL="29718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7pPr>
              <a:lvl8pPr eaLnBrk="0" fontAlgn="base" hangingPunct="0" indent="-228600" marL="34290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8pPr>
              <a:lvl9pPr eaLnBrk="0" fontAlgn="base" hangingPunct="0" indent="-228600" marL="38862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9pPr>
            </a:lstStyle>
            <a:p>
              <a:pPr algn="r">
                <a:spcBef>
                  <a:spcPct val="0"/>
                </a:spcBef>
                <a:spcAft>
                  <a:spcPct val="0"/>
                </a:spcAft>
              </a:pPr>
              <a:endParaRPr altLang="en-US" b="0" lang="ko-KR" sz="783">
                <a:solidFill>
                  <a:srgbClr val="FF6600"/>
                </a:solidFill>
              </a:endParaRPr>
            </a:p>
          </p:txBody>
        </p:sp>
        <p:sp>
          <p:nvSpPr>
            <p:cNvPr id="7238" name="Rectangle 96"/>
            <p:cNvSpPr>
              <a:spLocks noChangeArrowheads="1"/>
            </p:cNvSpPr>
            <p:nvPr/>
          </p:nvSpPr>
          <p:spPr bwMode="auto">
            <a:xfrm>
              <a:off x="5222" y="622"/>
              <a:ext cx="144" cy="96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>
              <a:prstShdw dir="2700000" dist="17961" prst="shdw17">
                <a:srgbClr val="990000"/>
              </a:prstShdw>
            </a:effectLst>
            <a:extLst>
              <a:ext uri="{91240B29-F687-4F45-9708-019B960494DF}">
                <a14:hiddenLine xmlns:a14="http://schemas.microsoft.com/office/drawing/2010/main" algn="ctr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 lIns="0" rIns="0" wrap="none"/>
            <a:lstStyle>
              <a:lvl1pPr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1pPr>
              <a:lvl2pPr indent="-285750" marL="74295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2pPr>
              <a:lvl3pPr indent="-228600" marL="114300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3pPr>
              <a:lvl4pPr indent="-228600" marL="160020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4pPr>
              <a:lvl5pPr indent="-228600" marL="205740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5pPr>
              <a:lvl6pPr eaLnBrk="0" fontAlgn="base" hangingPunct="0" indent="-228600" marL="25146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6pPr>
              <a:lvl7pPr eaLnBrk="0" fontAlgn="base" hangingPunct="0" indent="-228600" marL="29718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7pPr>
              <a:lvl8pPr eaLnBrk="0" fontAlgn="base" hangingPunct="0" indent="-228600" marL="34290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8pPr>
              <a:lvl9pPr eaLnBrk="0" fontAlgn="base" hangingPunct="0" indent="-228600" marL="38862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9pPr>
            </a:lstStyle>
            <a:p>
              <a:pPr algn="r">
                <a:spcBef>
                  <a:spcPct val="0"/>
                </a:spcBef>
                <a:spcAft>
                  <a:spcPct val="0"/>
                </a:spcAft>
              </a:pPr>
              <a:endParaRPr altLang="en-US" b="0" lang="ko-KR" sz="783">
                <a:solidFill>
                  <a:srgbClr val="FF6600"/>
                </a:solidFill>
              </a:endParaRPr>
            </a:p>
          </p:txBody>
        </p:sp>
        <p:sp>
          <p:nvSpPr>
            <p:cNvPr id="29" name="Text Box 97"/>
            <p:cNvSpPr txBox="1">
              <a:spLocks noChangeArrowheads="1"/>
            </p:cNvSpPr>
            <p:nvPr/>
          </p:nvSpPr>
          <p:spPr bwMode="auto">
            <a:xfrm>
              <a:off x="5395" y="377"/>
              <a:ext cx="207" cy="156"/>
            </a:xfrm>
            <a:prstGeom prst="rect">
              <a:avLst/>
            </a:prstGeom>
            <a:noFill/>
            <a:ln algn="ctr" w="9525">
              <a:noFill/>
              <a:miter lim="800000"/>
              <a:headEnd/>
              <a:tailEnd/>
            </a:ln>
            <a:effectLst>
              <a:prstShdw dir="2700000" dist="17961" prst="shdw17">
                <a:schemeClr val="accent1">
                  <a:gamma/>
                  <a:shade val="60000"/>
                  <a:invGamma/>
                </a:schemeClr>
              </a:prstShdw>
            </a:effectLst>
          </p:spPr>
          <p:txBody>
            <a:bodyPr lIns="0" rIns="0" wrap="none">
              <a:spAutoFit/>
            </a:bodyPr>
            <a:lstStyle/>
            <a:p>
              <a:pPr algn="ctr" defTabSz="842035" eaLnBrk="1" hangingPunct="1" indent="-177107" marL="177107">
                <a:spcBef>
                  <a:spcPct val="40000"/>
                </a:spcBef>
                <a:spcAft>
                  <a:spcPct val="0"/>
                </a:spcAft>
                <a:defRPr/>
              </a:pPr>
              <a:r>
                <a:rPr altLang="ko-KR" b="0" lang="en-US" sz="979">
                  <a:solidFill>
                    <a:srgbClr val="000000"/>
                  </a:solidFill>
                </a:rPr>
                <a:t>: </a:t>
              </a:r>
              <a:r>
                <a:rPr altLang="en-US" b="0" lang="ko-KR" sz="979">
                  <a:solidFill>
                    <a:srgbClr val="000000"/>
                  </a:solidFill>
                </a:rPr>
                <a:t>완료</a:t>
              </a:r>
              <a:endParaRPr altLang="ko-KR" b="0" lang="en-US" sz="979">
                <a:solidFill>
                  <a:srgbClr val="000000"/>
                </a:solidFill>
              </a:endParaRPr>
            </a:p>
          </p:txBody>
        </p:sp>
        <p:sp>
          <p:nvSpPr>
            <p:cNvPr id="30" name="Text Box 98"/>
            <p:cNvSpPr txBox="1">
              <a:spLocks noChangeArrowheads="1"/>
            </p:cNvSpPr>
            <p:nvPr/>
          </p:nvSpPr>
          <p:spPr bwMode="auto">
            <a:xfrm>
              <a:off x="5397" y="489"/>
              <a:ext cx="288" cy="156"/>
            </a:xfrm>
            <a:prstGeom prst="rect">
              <a:avLst/>
            </a:prstGeom>
            <a:noFill/>
            <a:ln algn="ctr" w="9525">
              <a:noFill/>
              <a:miter lim="800000"/>
              <a:headEnd/>
              <a:tailEnd/>
            </a:ln>
            <a:effectLst>
              <a:prstShdw dir="2700000" dist="17961" prst="shdw17">
                <a:schemeClr val="accent1">
                  <a:gamma/>
                  <a:shade val="60000"/>
                  <a:invGamma/>
                </a:schemeClr>
              </a:prstShdw>
            </a:effectLst>
          </p:spPr>
          <p:txBody>
            <a:bodyPr lIns="0" rIns="0" wrap="none">
              <a:spAutoFit/>
            </a:bodyPr>
            <a:lstStyle/>
            <a:p>
              <a:pPr algn="ctr" defTabSz="842035" eaLnBrk="1" hangingPunct="1" indent="-177107" marL="177107">
                <a:spcBef>
                  <a:spcPct val="40000"/>
                </a:spcBef>
                <a:spcAft>
                  <a:spcPct val="0"/>
                </a:spcAft>
                <a:defRPr/>
              </a:pPr>
              <a:r>
                <a:rPr altLang="ko-KR" b="0" lang="en-US" sz="979">
                  <a:solidFill>
                    <a:srgbClr val="000000"/>
                  </a:solidFill>
                </a:rPr>
                <a:t>: </a:t>
              </a:r>
              <a:r>
                <a:rPr altLang="en-US" b="0" lang="ko-KR" sz="979">
                  <a:solidFill>
                    <a:srgbClr val="000000"/>
                  </a:solidFill>
                </a:rPr>
                <a:t>진행중</a:t>
              </a:r>
              <a:endParaRPr altLang="ko-KR" b="0" lang="en-US" sz="979">
                <a:solidFill>
                  <a:srgbClr val="000000"/>
                </a:solidFill>
              </a:endParaRPr>
            </a:p>
          </p:txBody>
        </p:sp>
        <p:sp>
          <p:nvSpPr>
            <p:cNvPr id="31" name="Text Box 99"/>
            <p:cNvSpPr txBox="1">
              <a:spLocks noChangeArrowheads="1"/>
            </p:cNvSpPr>
            <p:nvPr/>
          </p:nvSpPr>
          <p:spPr bwMode="auto">
            <a:xfrm>
              <a:off x="5406" y="602"/>
              <a:ext cx="498" cy="156"/>
            </a:xfrm>
            <a:prstGeom prst="rect">
              <a:avLst/>
            </a:prstGeom>
            <a:noFill/>
            <a:ln algn="ctr" w="9525">
              <a:noFill/>
              <a:miter lim="800000"/>
              <a:headEnd/>
              <a:tailEnd/>
            </a:ln>
            <a:effectLst>
              <a:prstShdw dir="2700000" dist="17961" prst="shdw17">
                <a:schemeClr val="accent1">
                  <a:gamma/>
                  <a:shade val="60000"/>
                  <a:invGamma/>
                </a:schemeClr>
              </a:prstShdw>
            </a:effectLst>
          </p:spPr>
          <p:txBody>
            <a:bodyPr lIns="0" rIns="0" wrap="none">
              <a:spAutoFit/>
            </a:bodyPr>
            <a:lstStyle/>
            <a:p>
              <a:pPr algn="ctr" defTabSz="842035" eaLnBrk="1" hangingPunct="1" indent="-177107" marL="177107">
                <a:spcBef>
                  <a:spcPct val="40000"/>
                </a:spcBef>
                <a:spcAft>
                  <a:spcPct val="0"/>
                </a:spcAft>
                <a:defRPr/>
              </a:pPr>
              <a:r>
                <a:rPr altLang="ko-KR" b="0" lang="en-US" sz="979">
                  <a:solidFill>
                    <a:srgbClr val="000000"/>
                  </a:solidFill>
                </a:rPr>
                <a:t>: </a:t>
              </a:r>
              <a:r>
                <a:rPr altLang="en-US" b="0" lang="ko-KR" sz="979">
                  <a:solidFill>
                    <a:srgbClr val="000000"/>
                  </a:solidFill>
                </a:rPr>
                <a:t>미완료</a:t>
              </a:r>
              <a:r>
                <a:rPr altLang="ko-KR" b="0" lang="en-US" sz="979">
                  <a:solidFill>
                    <a:srgbClr val="000000"/>
                  </a:solidFill>
                </a:rPr>
                <a:t>(</a:t>
              </a:r>
              <a:r>
                <a:rPr altLang="en-US" b="0" lang="ko-KR" sz="979">
                  <a:solidFill>
                    <a:srgbClr val="000000"/>
                  </a:solidFill>
                </a:rPr>
                <a:t>문제</a:t>
              </a:r>
              <a:r>
                <a:rPr altLang="ko-KR" b="0" lang="en-US" sz="979">
                  <a:solidFill>
                    <a:srgbClr val="000000"/>
                  </a:solidFill>
                </a:rPr>
                <a:t>)</a:t>
              </a:r>
            </a:p>
          </p:txBody>
        </p:sp>
      </p:grpSp>
      <p:graphicFrame>
        <p:nvGraphicFramePr>
          <p:cNvPr id="15" name="Group 3690"/>
          <p:cNvGraphicFramePr>
            <a:graphicFrameLocks noGrp="1"/>
          </p:cNvGraphicFramePr>
          <p:nvPr/>
        </p:nvGraphicFramePr>
        <p:xfrm>
          <a:off x="479264" y="1043008"/>
          <a:ext cx="8798347" cy="2816279"/>
        </p:xfrm>
        <a:graphic>
          <a:graphicData uri="http://schemas.openxmlformats.org/drawingml/2006/table">
            <a:tbl>
              <a:tblPr/>
              <a:tblGrid>
                <a:gridCol w="82329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4694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710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9649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193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93861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619605"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11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구분 </a:t>
                      </a:r>
                    </a:p>
                  </a:txBody>
                  <a:tcPr anchor="ctr" horzOverflow="overflow" marB="45817" marL="88066" marR="88066" marT="45817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11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업무 내용</a:t>
                      </a:r>
                    </a:p>
                  </a:txBody>
                  <a:tcPr anchor="ctr" horzOverflow="overflow" marB="45817" marL="88066" marR="88066" marT="45817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11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완료일</a:t>
                      </a:r>
                    </a:p>
                  </a:txBody>
                  <a:tcPr anchor="ctr" horzOverflow="overflow" marB="45817" marL="88066" marR="88066" marT="4581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err="1" i="0" kumimoji="1" lang="ko-KR" normalizeH="0" smtClean="0" strike="noStrike" sz="11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진행율</a:t>
                      </a:r>
                      <a:r>
                        <a:rPr altLang="en-US" b="0" baseline="0" cap="none" dirty="0" i="0" kumimoji="1" lang="ko-KR" normalizeH="0" smtClean="0" strike="noStrike" sz="11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</a:t>
                      </a:r>
                    </a:p>
                  </a:txBody>
                  <a:tcPr anchor="ctr" horzOverflow="overflow" marB="45817" marL="88066" marR="88066" marT="45817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11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상태</a:t>
                      </a:r>
                    </a:p>
                  </a:txBody>
                  <a:tcPr anchor="ctr" horzOverflow="overflow" marB="45817" marL="88066" marR="88066" marT="45817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11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비고</a:t>
                      </a:r>
                      <a:endParaRPr altLang="ko-KR" b="0" baseline="0" cap="none" dirty="0" i="0" kumimoji="1" lang="en-US" normalizeH="0" smtClean="0" strike="noStrike" sz="11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817" marL="88066" marR="88066" marT="45817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33753"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10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CRM/BI</a:t>
                      </a:r>
                    </a:p>
                  </a:txBody>
                  <a:tcPr anchor="ctr" horzOverflow="overflow" marB="45817" marL="88066" marR="88066" marT="45817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en-US" b="0" baseline="0" dirty="0" err="1" lang="ko-KR" smtClean="0" sz="10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키오스크</a:t>
                      </a:r>
                      <a:r>
                        <a:rPr altLang="en-US" b="0" baseline="0" dirty="0" lang="ko-KR" smtClean="0" sz="10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즉발카드 등록 연동</a:t>
                      </a:r>
                      <a:endParaRPr altLang="ko-KR" b="0" baseline="0" dirty="0" lang="en-US" smtClean="0" sz="10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  <a:p>
                      <a:pPr algn="l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en-US" b="0" baseline="0" dirty="0" lang="ko-KR" smtClean="0" sz="10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홈페이지 중복로그인 제한 개발</a:t>
                      </a:r>
                      <a:endParaRPr altLang="ko-KR" b="0" baseline="0" dirty="0" lang="en-US" smtClean="0" sz="10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  <a:p>
                      <a:pPr algn="l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en-US" b="0" baseline="0" dirty="0" err="1" lang="ko-KR" smtClean="0" sz="10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현대차</a:t>
                      </a:r>
                      <a:r>
                        <a:rPr altLang="en-US" b="0" baseline="0" dirty="0" lang="ko-KR" smtClean="0" sz="10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</a:t>
                      </a:r>
                      <a:r>
                        <a:rPr altLang="en-US" b="0" baseline="0" dirty="0" err="1" lang="ko-KR" smtClean="0" sz="10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인카페이</a:t>
                      </a:r>
                      <a:r>
                        <a:rPr altLang="en-US" b="0" baseline="0" dirty="0" lang="ko-KR" smtClean="0" sz="10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연동</a:t>
                      </a:r>
                      <a:r>
                        <a:rPr altLang="ko-KR" b="0" baseline="0" dirty="0" lang="en-US" smtClean="0" sz="10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_</a:t>
                      </a:r>
                      <a:r>
                        <a:rPr altLang="en-US" b="0" baseline="0" dirty="0" lang="ko-KR" smtClean="0" sz="10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테스트</a:t>
                      </a:r>
                      <a:endParaRPr altLang="ko-KR" b="0" baseline="0" dirty="0" lang="en-US" smtClean="0" sz="10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  <a:p>
                      <a:pPr algn="l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en-US" b="0" baseline="0" dirty="0" lang="ko-KR" smtClean="0" sz="10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마케팅 플랫폼 필드테스트 지원</a:t>
                      </a:r>
                      <a:endParaRPr altLang="ko-KR" b="0" baseline="0" dirty="0" lang="en-US" smtClean="0" sz="10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  <a:p>
                      <a:pPr algn="l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en-US" b="0" baseline="0" dirty="0" err="1" lang="ko-KR" smtClean="0" sz="10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모바일</a:t>
                      </a:r>
                      <a:r>
                        <a:rPr altLang="en-US" b="0" baseline="0" dirty="0" lang="ko-KR" smtClean="0" sz="10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상품권 제휴관련 성능저하 개선</a:t>
                      </a:r>
                      <a:endParaRPr altLang="ko-KR" b="0" baseline="0" dirty="0" lang="en-US" smtClean="0" sz="10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anchor="ctr" horzOverflow="overflow" marB="45786" marL="88066" marR="88066" marT="45786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ko-KR" b="0" baseline="0" cap="none" dirty="0" i="0" kumimoji="1" lang="en-US" normalizeH="0" smtClean="0" strike="noStrike" sz="10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ko-KR" b="0" baseline="0" cap="none" dirty="0" i="0" kumimoji="1" lang="en-US" normalizeH="0" smtClean="0" strike="noStrike" sz="10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ko-KR" b="0" baseline="0" cap="none" dirty="0" i="0" kumimoji="1" lang="en-US" normalizeH="0" smtClean="0" strike="noStrike" sz="10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ko-KR" b="0" baseline="0" cap="none" dirty="0" i="0" kumimoji="1" lang="en-US" normalizeH="0" smtClean="0" strike="noStrike" sz="10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anchor="ctr" horzOverflow="overflow" marB="45786" marL="88066" marR="88066" marT="45786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cap="none" dirty="0" i="0" kumimoji="1" lang="en-US" normalizeH="0" smtClean="0" strike="noStrike" sz="10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50%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cap="none" dirty="0" i="0" kumimoji="1" lang="en-US" normalizeH="0" smtClean="0" strike="noStrike" sz="10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100%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cap="none" dirty="0" i="0" kumimoji="1" lang="en-US" normalizeH="0" smtClean="0" strike="noStrike" sz="10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90%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cap="none" dirty="0" i="0" kumimoji="1" lang="en-US" normalizeH="0" smtClean="0" strike="noStrike" sz="10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100%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cap="none" dirty="0" i="0" kumimoji="1" lang="en-US" normalizeH="0" smtClean="0" strike="noStrike" sz="10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70%</a:t>
                      </a:r>
                    </a:p>
                  </a:txBody>
                  <a:tcPr anchor="ctr" horzOverflow="overflow" marB="45786" marL="88066" marR="88066" marT="45786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mtClean="0" strike="noStrike" sz="1000" u="none">
                        <a:ln>
                          <a:noFill/>
                        </a:ln>
                        <a:solidFill>
                          <a:srgbClr val="FFFF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</a:txBody>
                  <a:tcPr anchor="ctr" horzOverflow="overflow" marB="45817" marL="88066" marR="88066" marT="45817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ko-KR" b="0" baseline="0" cap="none" dirty="0" i="0" kumimoji="1" lang="en-US" normalizeH="0" smtClean="0" strike="noStrike" sz="10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  <a:p>
                      <a:pPr algn="l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ko-KR" b="0" baseline="0" cap="none" dirty="0" i="0" kumimoji="1" lang="en-US" normalizeH="0" smtClean="0" strike="noStrike" sz="10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  <a:p>
                      <a:pPr algn="l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ko-KR" b="0" baseline="0" cap="none" dirty="0" i="0" kumimoji="1" lang="en-US" normalizeH="0" smtClean="0" strike="noStrike" sz="10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  <a:p>
                      <a:pPr algn="l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ko-KR" b="0" baseline="0" cap="none" dirty="0" i="0" kumimoji="1" lang="en-US" normalizeH="0" smtClean="0" strike="noStrike" sz="10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anchor="ctr" horzOverflow="overflow" marB="45817" marL="88066" marR="88066" marT="45817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62921"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10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VOC/PRM</a:t>
                      </a:r>
                    </a:p>
                  </a:txBody>
                  <a:tcPr anchor="ctr" horzOverflow="overflow" marB="45817" marL="88066" marR="88066" marT="45817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cap="none" dirty="0" i="0" kern="1200" kumimoji="1" lang="en-US" normalizeH="0" smtClean="0" strike="noStrike" sz="10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VOC Summary </a:t>
                      </a:r>
                      <a:r>
                        <a:rPr altLang="en-US" b="0" baseline="0" cap="none" dirty="0" i="0" kern="1200" kumimoji="1" lang="ko-KR" normalizeH="0" smtClean="0" strike="noStrike" sz="10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발송 </a:t>
                      </a:r>
                      <a:r>
                        <a:rPr altLang="en-US" b="0" baseline="0" cap="none" dirty="0" err="1" i="0" kern="1200" kumimoji="1" lang="ko-KR" normalizeH="0" smtClean="0" strike="noStrike" sz="10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로직</a:t>
                      </a:r>
                      <a:r>
                        <a:rPr altLang="en-US" b="0" baseline="0" cap="none" dirty="0" i="0" kern="1200" kumimoji="1" lang="ko-KR" normalizeH="0" smtClean="0" strike="noStrike" sz="10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 변경</a:t>
                      </a:r>
                    </a:p>
                  </a:txBody>
                  <a:tcPr anchor="ctr" horzOverflow="overflow" marB="45783" marL="88066" marR="88066" marT="45783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10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1/15</a:t>
                      </a:r>
                    </a:p>
                  </a:txBody>
                  <a:tcPr anchor="ctr" horzOverflow="overflow" marB="45783" marL="88066" marR="88066" marT="45783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10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100%</a:t>
                      </a:r>
                    </a:p>
                  </a:txBody>
                  <a:tcPr anchor="ctr" horzOverflow="overflow" marB="45786" marL="88066" marR="88066" marT="45786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mtClean="0" strike="noStrike" sz="1000" u="none">
                        <a:ln>
                          <a:noFill/>
                        </a:ln>
                        <a:solidFill>
                          <a:srgbClr val="FFFF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</a:txBody>
                  <a:tcPr anchor="ctr" horzOverflow="overflow" marB="45817" marL="88066" marR="88066" marT="45817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ko-KR" b="0" baseline="0" cap="none" dirty="0" i="0" kumimoji="1" lang="en-US" normalizeH="0" smtClean="0" strike="noStrike" sz="10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anchor="ctr" horzOverflow="overflow" marB="45817" marL="88066" marR="88066" marT="45817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7211" name="Rectangle 3082"/>
          <p:cNvSpPr>
            <a:spLocks noChangeArrowheads="1"/>
          </p:cNvSpPr>
          <p:nvPr/>
        </p:nvSpPr>
        <p:spPr bwMode="auto">
          <a:xfrm>
            <a:off x="330140" y="3950936"/>
            <a:ext cx="2311430" cy="245434"/>
          </a:xfrm>
          <a:prstGeom prst="rect">
            <a:avLst/>
          </a:prstGeom>
          <a:solidFill>
            <a:srgbClr val="FF9900"/>
          </a:solidFill>
          <a:ln>
            <a:noFill/>
          </a:ln>
          <a:effectLst>
            <a:outerShdw algn="ctr" dir="2700000" dist="35921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algn="ctr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defTabSz="806450" indent="-247650" marL="2476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1pPr>
            <a:lvl2pPr defTabSz="806450" indent="-285750" marL="7429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2pPr>
            <a:lvl3pPr defTabSz="806450" indent="-228600" marL="11430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3pPr>
            <a:lvl4pPr defTabSz="806450" indent="-228600" marL="16002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4pPr>
            <a:lvl5pPr defTabSz="806450" indent="-228600" marL="20574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5pPr>
            <a:lvl6pPr defTabSz="806450" eaLnBrk="0" fontAlgn="base" hangingPunct="0" indent="-228600" marL="25146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6pPr>
            <a:lvl7pPr defTabSz="806450" eaLnBrk="0" fontAlgn="base" hangingPunct="0" indent="-228600" marL="29718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7pPr>
            <a:lvl8pPr defTabSz="806450" eaLnBrk="0" fontAlgn="base" hangingPunct="0" indent="-228600" marL="34290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8pPr>
            <a:lvl9pPr defTabSz="806450" eaLnBrk="0" fontAlgn="base" hangingPunct="0" indent="-228600" marL="38862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9pPr>
          </a:lstStyle>
          <a:p>
            <a:pPr eaLnBrk="1" hangingPunct="1">
              <a:spcBef>
                <a:spcPct val="0"/>
              </a:spcBef>
              <a:spcAft>
                <a:spcPct val="0"/>
              </a:spcAft>
            </a:pPr>
            <a:r>
              <a:rPr altLang="en-US" kumimoji="1" lang="ko-KR" sz="1174">
                <a:solidFill>
                  <a:srgbClr val="000000"/>
                </a:solidFill>
              </a:rPr>
              <a:t>차주 업무 계획</a:t>
            </a:r>
            <a:endParaRPr altLang="ko-KR" kumimoji="1" lang="en-US" sz="1174">
              <a:solidFill>
                <a:srgbClr val="000000"/>
              </a:solidFill>
            </a:endParaRPr>
          </a:p>
        </p:txBody>
      </p:sp>
      <p:graphicFrame>
        <p:nvGraphicFramePr>
          <p:cNvPr id="16" name="Group 3690"/>
          <p:cNvGraphicFramePr>
            <a:graphicFrameLocks noGrp="1"/>
          </p:cNvGraphicFramePr>
          <p:nvPr/>
        </p:nvGraphicFramePr>
        <p:xfrm>
          <a:off x="479264" y="4249185"/>
          <a:ext cx="8798347" cy="1143651"/>
        </p:xfrm>
        <a:graphic>
          <a:graphicData uri="http://schemas.openxmlformats.org/drawingml/2006/table">
            <a:tbl>
              <a:tblPr/>
              <a:tblGrid>
                <a:gridCol w="8201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263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710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2807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57202"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11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구분</a:t>
                      </a:r>
                    </a:p>
                  </a:txBody>
                  <a:tcPr anchor="ctr" horzOverflow="overflow" marB="45652" marL="88066" marR="88066" marT="45652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11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업무 내용</a:t>
                      </a:r>
                    </a:p>
                  </a:txBody>
                  <a:tcPr anchor="ctr" horzOverflow="overflow" marB="45652" marL="88066" marR="88066" marT="45652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11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완료일</a:t>
                      </a:r>
                    </a:p>
                  </a:txBody>
                  <a:tcPr anchor="ctr" horzOverflow="overflow" marB="45652" marL="88066" marR="88066" marT="4565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11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비고</a:t>
                      </a:r>
                      <a:endParaRPr altLang="ko-KR" b="0" baseline="0" cap="none" dirty="0" i="0" kumimoji="1" lang="en-US" normalizeH="0" smtClean="0" strike="noStrike" sz="11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52" marL="88066" marR="88066" marT="45652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8703"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10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CRM</a:t>
                      </a:r>
                    </a:p>
                  </a:txBody>
                  <a:tcPr anchor="ctr" horzOverflow="overflow" marB="45652" marL="88066" marR="88066" marT="45652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ko-KR" b="0" baseline="0" dirty="0" lang="en-US" smtClean="0" sz="10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anchor="ctr" horzOverflow="overflow" marB="45652" marL="88066" marR="88066" marT="4565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ko-KR" b="0" baseline="0" cap="none" dirty="0" i="0" kumimoji="1" lang="en-US" normalizeH="0" smtClean="0" strike="noStrike" sz="10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anchor="ctr" horzOverflow="overflow" marB="45652" marL="88066" marR="88066" marT="4565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ko-KR" b="0" baseline="0" cap="none" dirty="0" i="0" kumimoji="1" lang="en-US" normalizeH="0" smtClean="0" strike="noStrike" sz="10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anchor="ctr" horzOverflow="overflow" marB="45652" marL="88066" marR="88066" marT="45652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6004"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10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VOC/PRM</a:t>
                      </a:r>
                    </a:p>
                  </a:txBody>
                  <a:tcPr anchor="ctr" horzOverflow="overflow" marB="45652" marL="88066" marR="88066" marT="45652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ko-KR" b="0" baseline="0" cap="none" dirty="0" i="0" kern="1200" kumimoji="0" lang="en-US" normalizeH="0" smtClean="0" strike="noStrike" sz="10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</a:txBody>
                  <a:tcPr anchor="ctr" horzOverflow="overflow" marB="45652" marL="88066" marR="88066" marT="4565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ko-KR" b="0" baseline="0" cap="none" dirty="0" i="0" kumimoji="1" lang="en-US" normalizeH="0" smtClean="0" strike="noStrike" sz="10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anchor="ctr" horzOverflow="overflow" marB="45652" marL="88066" marR="88066" marT="4565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ko-KR" b="0" baseline="0" cap="none" dirty="0" i="0" kumimoji="1" lang="en-US" normalizeH="0" smtClean="0" strike="noStrike" sz="10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anchor="ctr" horzOverflow="overflow" marB="45652" marL="88066" marR="88066" marT="45652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137">
            <a:extLst>
              <a:ext uri="{FF2B5EF4-FFF2-40B4-BE49-F238E27FC236}">
                <a16:creationId xmlns:a16="http://schemas.microsoft.com/office/drawing/2014/main" id="{95DBC0E4-3FED-4168-A811-F22F73E27A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2179" y="296320"/>
            <a:ext cx="8761066" cy="3314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 bIns="44805" lIns="89609" rIns="89609" tIns="44805">
            <a:spAutoFit/>
          </a:bodyPr>
          <a:lstStyle>
            <a:lvl1pPr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1pPr>
            <a:lvl2pPr indent="-285750" marL="7429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2pPr>
            <a:lvl3pPr indent="-228600" marL="11430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3pPr>
            <a:lvl4pPr indent="-228600" marL="16002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4pPr>
            <a:lvl5pPr indent="-228600" marL="20574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5pPr>
            <a:lvl6pPr eaLnBrk="0" fontAlgn="base" hangingPunct="0" indent="-228600" marL="25146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6pPr>
            <a:lvl7pPr eaLnBrk="0" fontAlgn="base" hangingPunct="0" indent="-228600" marL="29718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7pPr>
            <a:lvl8pPr eaLnBrk="0" fontAlgn="base" hangingPunct="0" indent="-228600" marL="34290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8pPr>
            <a:lvl9pPr eaLnBrk="0" fontAlgn="base" hangingPunct="0" indent="-228600" marL="38862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9pPr>
          </a:lstStyle>
          <a:p>
            <a:pPr eaLnBrk="1" hangingPunct="1">
              <a:spcBef>
                <a:spcPct val="0"/>
              </a:spcBef>
              <a:spcAft>
                <a:spcPct val="0"/>
              </a:spcAft>
            </a:pPr>
            <a:r>
              <a:rPr altLang="ko-KR" kumimoji="1" lang="en-US" sz="1566">
                <a:solidFill>
                  <a:srgbClr val="000000"/>
                </a:solidFill>
              </a:rPr>
              <a:t>3. </a:t>
            </a:r>
            <a:r>
              <a:rPr altLang="en-US" kumimoji="1" lang="ko-KR" sz="1566">
                <a:solidFill>
                  <a:srgbClr val="000000"/>
                </a:solidFill>
              </a:rPr>
              <a:t>주간업무 실적 및 계획</a:t>
            </a:r>
            <a:r>
              <a:rPr altLang="ko-KR" kumimoji="1" lang="en-US" sz="1566">
                <a:solidFill>
                  <a:srgbClr val="000000"/>
                </a:solidFill>
              </a:rPr>
              <a:t>(CP(IT Winner))</a:t>
            </a:r>
          </a:p>
        </p:txBody>
      </p:sp>
      <p:graphicFrame>
        <p:nvGraphicFramePr>
          <p:cNvPr id="7" name="Group 108">
            <a:extLst>
              <a:ext uri="{FF2B5EF4-FFF2-40B4-BE49-F238E27FC236}">
                <a16:creationId xmlns:a16="http://schemas.microsoft.com/office/drawing/2014/main" id="{D1918DE1-D523-480A-B775-91AD5D4C84B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71939277"/>
              </p:ext>
            </p:extLst>
          </p:nvPr>
        </p:nvGraphicFramePr>
        <p:xfrm>
          <a:off x="255578" y="1117570"/>
          <a:ext cx="4846547" cy="2400406"/>
        </p:xfrm>
        <a:graphic>
          <a:graphicData uri="http://schemas.openxmlformats.org/drawingml/2006/table">
            <a:tbl>
              <a:tblPr/>
              <a:tblGrid>
                <a:gridCol w="59649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3511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2193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9649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9649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64684"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구분</a:t>
                      </a:r>
                      <a:r>
                        <a:rPr altLang="ko-KR" b="1" baseline="0" cap="none" dirty="0" i="0" kumimoji="1" lang="en-US" normalizeH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/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담당자</a:t>
                      </a:r>
                      <a:endParaRPr altLang="ko-KR" b="1" baseline="0" cap="none" dirty="0" i="0" kumimoji="1" lang="en-US" normalizeH="0" strike="noStrike" sz="9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anchor="ctr" horzOverflow="overflow" marB="45721" marL="88066" marR="88066" marT="45721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업무 내용</a:t>
                      </a:r>
                    </a:p>
                  </a:txBody>
                  <a:tcPr anchor="ctr" horzOverflow="overflow" marB="45721" marL="88066" marR="88066" marT="45721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i="0" kumimoji="1" lang="ko-KR" normalizeH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접수일</a:t>
                      </a:r>
                      <a:endParaRPr altLang="ko-KR" b="1" baseline="0" cap="none" i="0" kumimoji="1" lang="en-US" normalizeH="0" strike="noStrike" sz="9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1" baseline="0" cap="none" i="0" kumimoji="1" lang="ko-KR" normalizeH="0" strike="noStrike" sz="9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anchor="ctr" horzOverflow="overflow" marB="45721" marL="88066" marR="88066" marT="4572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i="0" kumimoji="1" lang="ko-KR" normalizeH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완료 목표일</a:t>
                      </a:r>
                    </a:p>
                  </a:txBody>
                  <a:tcPr anchor="ctr" horzOverflow="overflow" marB="45721" marL="88066" marR="88066" marT="45721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i="0" kumimoji="1" lang="ko-KR" normalizeH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진행율</a:t>
                      </a:r>
                      <a:endParaRPr altLang="ko-KR" b="1" baseline="0" cap="none" i="0" kumimoji="1" lang="en-US" normalizeH="0" strike="noStrike" sz="9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i="0" kumimoji="1" lang="ko-KR" normalizeH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완료일</a:t>
                      </a:r>
                      <a:endParaRPr altLang="ko-KR" b="1" baseline="0" cap="none" i="0" kumimoji="1" lang="en-US" normalizeH="0" strike="noStrike" sz="9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anchor="ctr" horzOverflow="overflow" marB="45721" marL="88066" marR="88066" marT="45721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92881"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CP/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이영주</a:t>
                      </a:r>
                      <a:endParaRPr altLang="ko-KR" b="0" baseline="0" cap="none" dirty="0" i="0" kumimoji="1" lang="en-US" normalizeH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56" marL="88066" marR="88066" marT="45756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indent="-169863" marL="169863">
                        <a:buFont charset="0" panose="020B0604020202020204" pitchFamily="34" typeface="Arial"/>
                        <a:tabLst>
                          <a:tab algn="l" pos="171450"/>
                          <a:tab algn="l" pos="1085850"/>
                          <a:tab algn="l" pos="2000250"/>
                          <a:tab algn="l" pos="2914650"/>
                          <a:tab algn="l" pos="3829050"/>
                          <a:tab algn="l" pos="4743450"/>
                          <a:tab algn="l" pos="5657850"/>
                          <a:tab algn="l" pos="6572250"/>
                          <a:tab algn="l" pos="7486650"/>
                          <a:tab algn="l" pos="8401050"/>
                          <a:tab algn="l" pos="9315450"/>
                          <a:tab algn="l" pos="1022985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1pPr>
                      <a:lvl2pPr indent="-177800" marL="536575">
                        <a:spcBef>
                          <a:spcPts val="350"/>
                        </a:spcBef>
                        <a:buFont charset="0" panose="020B0604020202020204" pitchFamily="34" typeface="Arial"/>
                        <a:tabLst>
                          <a:tab algn="l" pos="171450"/>
                          <a:tab algn="l" pos="1085850"/>
                          <a:tab algn="l" pos="2000250"/>
                          <a:tab algn="l" pos="2914650"/>
                          <a:tab algn="l" pos="3829050"/>
                          <a:tab algn="l" pos="4743450"/>
                          <a:tab algn="l" pos="5657850"/>
                          <a:tab algn="l" pos="6572250"/>
                          <a:tab algn="l" pos="7486650"/>
                          <a:tab algn="l" pos="8401050"/>
                          <a:tab algn="l" pos="9315450"/>
                          <a:tab algn="l" pos="1022985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2pPr>
                      <a:lvl3pPr indent="-177800" marL="893763">
                        <a:spcBef>
                          <a:spcPts val="350"/>
                        </a:spcBef>
                        <a:buFont charset="0" panose="020B0604020202020204" pitchFamily="34" typeface="Arial"/>
                        <a:tabLst>
                          <a:tab algn="l" pos="171450"/>
                          <a:tab algn="l" pos="1085850"/>
                          <a:tab algn="l" pos="2000250"/>
                          <a:tab algn="l" pos="2914650"/>
                          <a:tab algn="l" pos="3829050"/>
                          <a:tab algn="l" pos="4743450"/>
                          <a:tab algn="l" pos="5657850"/>
                          <a:tab algn="l" pos="6572250"/>
                          <a:tab algn="l" pos="7486650"/>
                          <a:tab algn="l" pos="8401050"/>
                          <a:tab algn="l" pos="9315450"/>
                          <a:tab algn="l" pos="1022985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3pPr>
                      <a:lvl4pPr indent="-188913" marL="1262063">
                        <a:spcBef>
                          <a:spcPts val="350"/>
                        </a:spcBef>
                        <a:buFont charset="0" panose="020B0604020202020204" pitchFamily="34" typeface="Arial"/>
                        <a:tabLst>
                          <a:tab algn="l" pos="171450"/>
                          <a:tab algn="l" pos="1085850"/>
                          <a:tab algn="l" pos="2000250"/>
                          <a:tab algn="l" pos="2914650"/>
                          <a:tab algn="l" pos="3829050"/>
                          <a:tab algn="l" pos="4743450"/>
                          <a:tab algn="l" pos="5657850"/>
                          <a:tab algn="l" pos="6572250"/>
                          <a:tab algn="l" pos="7486650"/>
                          <a:tab algn="l" pos="8401050"/>
                          <a:tab algn="l" pos="9315450"/>
                          <a:tab algn="l" pos="1022985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4pPr>
                      <a:lvl5pPr indent="-177800" marL="1620838">
                        <a:spcBef>
                          <a:spcPts val="350"/>
                        </a:spcBef>
                        <a:buFont charset="0" panose="020B0604020202020204" pitchFamily="34" typeface="Arial"/>
                        <a:tabLst>
                          <a:tab algn="l" pos="171450"/>
                          <a:tab algn="l" pos="1085850"/>
                          <a:tab algn="l" pos="2000250"/>
                          <a:tab algn="l" pos="2914650"/>
                          <a:tab algn="l" pos="3829050"/>
                          <a:tab algn="l" pos="4743450"/>
                          <a:tab algn="l" pos="5657850"/>
                          <a:tab algn="l" pos="6572250"/>
                          <a:tab algn="l" pos="7486650"/>
                          <a:tab algn="l" pos="8401050"/>
                          <a:tab algn="l" pos="9315450"/>
                          <a:tab algn="l" pos="1022985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5pPr>
                      <a:lvl6pPr defTabSz="449263" eaLnBrk="0" fontAlgn="base" hangingPunct="0" indent="-177800" marL="2078038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B0604020202020204" pitchFamily="34" typeface="Arial"/>
                        <a:tabLst>
                          <a:tab algn="l" pos="171450"/>
                          <a:tab algn="l" pos="1085850"/>
                          <a:tab algn="l" pos="2000250"/>
                          <a:tab algn="l" pos="2914650"/>
                          <a:tab algn="l" pos="3829050"/>
                          <a:tab algn="l" pos="4743450"/>
                          <a:tab algn="l" pos="5657850"/>
                          <a:tab algn="l" pos="6572250"/>
                          <a:tab algn="l" pos="7486650"/>
                          <a:tab algn="l" pos="8401050"/>
                          <a:tab algn="l" pos="9315450"/>
                          <a:tab algn="l" pos="1022985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6pPr>
                      <a:lvl7pPr defTabSz="449263" eaLnBrk="0" fontAlgn="base" hangingPunct="0" indent="-177800" marL="2535238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B0604020202020204" pitchFamily="34" typeface="Arial"/>
                        <a:tabLst>
                          <a:tab algn="l" pos="171450"/>
                          <a:tab algn="l" pos="1085850"/>
                          <a:tab algn="l" pos="2000250"/>
                          <a:tab algn="l" pos="2914650"/>
                          <a:tab algn="l" pos="3829050"/>
                          <a:tab algn="l" pos="4743450"/>
                          <a:tab algn="l" pos="5657850"/>
                          <a:tab algn="l" pos="6572250"/>
                          <a:tab algn="l" pos="7486650"/>
                          <a:tab algn="l" pos="8401050"/>
                          <a:tab algn="l" pos="9315450"/>
                          <a:tab algn="l" pos="1022985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7pPr>
                      <a:lvl8pPr defTabSz="449263" eaLnBrk="0" fontAlgn="base" hangingPunct="0" indent="-177800" marL="2992438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B0604020202020204" pitchFamily="34" typeface="Arial"/>
                        <a:tabLst>
                          <a:tab algn="l" pos="171450"/>
                          <a:tab algn="l" pos="1085850"/>
                          <a:tab algn="l" pos="2000250"/>
                          <a:tab algn="l" pos="2914650"/>
                          <a:tab algn="l" pos="3829050"/>
                          <a:tab algn="l" pos="4743450"/>
                          <a:tab algn="l" pos="5657850"/>
                          <a:tab algn="l" pos="6572250"/>
                          <a:tab algn="l" pos="7486650"/>
                          <a:tab algn="l" pos="8401050"/>
                          <a:tab algn="l" pos="9315450"/>
                          <a:tab algn="l" pos="1022985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8pPr>
                      <a:lvl9pPr defTabSz="449263" eaLnBrk="0" fontAlgn="base" hangingPunct="0" indent="-177800" marL="3449638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B0604020202020204" pitchFamily="34" typeface="Arial"/>
                        <a:tabLst>
                          <a:tab algn="l" pos="171450"/>
                          <a:tab algn="l" pos="1085850"/>
                          <a:tab algn="l" pos="2000250"/>
                          <a:tab algn="l" pos="2914650"/>
                          <a:tab algn="l" pos="3829050"/>
                          <a:tab algn="l" pos="4743450"/>
                          <a:tab algn="l" pos="5657850"/>
                          <a:tab algn="l" pos="6572250"/>
                          <a:tab algn="l" pos="7486650"/>
                          <a:tab algn="l" pos="8401050"/>
                          <a:tab algn="l" pos="9315450"/>
                          <a:tab algn="l" pos="1022985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9pPr>
                    </a:lstStyle>
                    <a:p>
                      <a:pPr algn="l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- </a:t>
                      </a:r>
                      <a:r>
                        <a:rPr altLang="en-US" b="0" baseline="0" dirty="0" err="1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더보기</a:t>
                      </a:r>
                      <a:r>
                        <a:rPr altLang="en-US" b="0" baseline="0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 메뉴 권한 중복 조회 이슈 수정</a:t>
                      </a:r>
                      <a:endParaRPr altLang="ko-KR" b="0" baseline="0" dirty="0" kern="1200" kumimoji="1" lang="en-US" smtClean="0" sz="9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  <a:p>
                      <a:pPr algn="l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- ERS </a:t>
                      </a:r>
                      <a:r>
                        <a:rPr altLang="en-US" b="0" baseline="0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규정관리지안지 누락 배치 재 실행 </a:t>
                      </a:r>
                      <a:endParaRPr altLang="ko-KR" b="0" baseline="0" dirty="0" kern="1200" kumimoji="1" lang="en-US" smtClean="0" sz="9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  <a:p>
                      <a:pPr algn="l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- </a:t>
                      </a: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ADOBE FLASH </a:t>
                      </a:r>
                      <a:r>
                        <a:rPr altLang="en-US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종료에</a:t>
                      </a: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 </a:t>
                      </a:r>
                      <a:r>
                        <a:rPr altLang="en-US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따른 운영 반영 작업</a:t>
                      </a:r>
                      <a:endParaRPr altLang="ko-KR" dirty="0" kern="1200" kumimoji="1" lang="en-US" smtClean="0" sz="9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  <a:p>
                      <a:pPr algn="l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- </a:t>
                      </a:r>
                      <a:r>
                        <a:rPr altLang="en-US" b="0" baseline="0" dirty="0" err="1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자원예약</a:t>
                      </a:r>
                      <a:r>
                        <a:rPr altLang="en-US" b="0" baseline="0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 본사 </a:t>
                      </a: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20</a:t>
                      </a:r>
                      <a:r>
                        <a:rPr altLang="en-US" b="0" baseline="0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년도 화상 전체 자료 작성</a:t>
                      </a:r>
                      <a:endParaRPr altLang="ko-KR" b="0" baseline="0" dirty="0" kern="1200" kumimoji="1" lang="en-US" smtClean="0" sz="9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  <a:p>
                      <a:pPr algn="l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- </a:t>
                      </a:r>
                      <a:r>
                        <a:rPr altLang="en-US" b="0" baseline="0" dirty="0" err="1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전직원</a:t>
                      </a:r>
                      <a:r>
                        <a:rPr altLang="en-US" b="0" baseline="0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 품질 만족도 조사 설문 생성 </a:t>
                      </a:r>
                      <a:endParaRPr altLang="ko-KR" b="0" baseline="0" dirty="0" kern="1200" kumimoji="1" lang="en-US" smtClean="0" sz="9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  <a:p>
                      <a:pPr algn="l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- </a:t>
                      </a:r>
                      <a:r>
                        <a:rPr altLang="en-US" b="0" baseline="0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유가 조회 권한 기능 변경 및 권한 추가</a:t>
                      </a:r>
                      <a:endParaRPr altLang="ko-KR" b="0" baseline="0" dirty="0" kern="1200" kumimoji="1" lang="en-US" smtClean="0" sz="9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  <a:p>
                      <a:pPr algn="l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- </a:t>
                      </a:r>
                      <a:r>
                        <a:rPr altLang="en-US" b="0" baseline="0" dirty="0" err="1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정유제품</a:t>
                      </a: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Spread HSK </a:t>
                      </a:r>
                      <a:r>
                        <a:rPr altLang="en-US" b="0" baseline="0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누락 데이터 등록</a:t>
                      </a:r>
                      <a:endParaRPr altLang="ko-KR" b="0" baseline="0" dirty="0" kern="1200" kumimoji="1" lang="en-US" smtClean="0" sz="9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  <a:p>
                      <a:pPr algn="l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- </a:t>
                      </a:r>
                      <a:r>
                        <a:rPr altLang="en-US" b="0" baseline="0" dirty="0" err="1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안전수업</a:t>
                      </a: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/</a:t>
                      </a:r>
                      <a:r>
                        <a:rPr altLang="en-US" b="0" baseline="0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안전지킴이가이드북 메뉴 전환</a:t>
                      </a:r>
                      <a:endParaRPr altLang="ko-KR" b="0" baseline="0" dirty="0" kern="1200" kumimoji="1" lang="en-US" smtClean="0" sz="9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  <a:p>
                      <a:pPr algn="l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- </a:t>
                      </a:r>
                      <a:r>
                        <a:rPr altLang="en-US" b="0" baseline="0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유가 연동 배치 변경</a:t>
                      </a: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(</a:t>
                      </a:r>
                      <a:r>
                        <a:rPr altLang="en-US" b="0" baseline="0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범위</a:t>
                      </a: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:3</a:t>
                      </a:r>
                      <a:r>
                        <a:rPr altLang="en-US" b="0" baseline="0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일</a:t>
                      </a: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-&gt;15</a:t>
                      </a:r>
                      <a:r>
                        <a:rPr altLang="en-US" b="0" baseline="0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일로 변경</a:t>
                      </a: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)</a:t>
                      </a:r>
                    </a:p>
                  </a:txBody>
                  <a:tcPr horzOverflow="overflow" marB="45772" marL="88066" marR="88066" marT="45772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1pPr>
                      <a:lvl2pPr indent="-177800" marL="536575">
                        <a:spcBef>
                          <a:spcPts val="350"/>
                        </a:spcBef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2pPr>
                      <a:lvl3pPr indent="-177800" marL="893763">
                        <a:spcBef>
                          <a:spcPts val="350"/>
                        </a:spcBef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3pPr>
                      <a:lvl4pPr indent="-188913" marL="1262063">
                        <a:spcBef>
                          <a:spcPts val="350"/>
                        </a:spcBef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4pPr>
                      <a:lvl5pPr indent="-177800" marL="1620838">
                        <a:spcBef>
                          <a:spcPts val="350"/>
                        </a:spcBef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5pPr>
                      <a:lvl6pPr defTabSz="449263" eaLnBrk="0" fontAlgn="base" hangingPunct="0" indent="-177800" marL="2078038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6pPr>
                      <a:lvl7pPr defTabSz="449263" eaLnBrk="0" fontAlgn="base" hangingPunct="0" indent="-177800" marL="2535238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7pPr>
                      <a:lvl8pPr defTabSz="449263" eaLnBrk="0" fontAlgn="base" hangingPunct="0" indent="-177800" marL="2992438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8pPr>
                      <a:lvl9pPr defTabSz="449263" eaLnBrk="0" fontAlgn="base" hangingPunct="0" indent="-177800" marL="3449638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9pPr>
                    </a:lstStyle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01/12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01/12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01/12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01/12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01/13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01/14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01/14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01/14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01/15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endParaRPr altLang="ko-KR" dirty="0" kern="1200" kumimoji="1" lang="en-US" smtClean="0" sz="9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</a:txBody>
                  <a:tcPr horzOverflow="overflow" marB="45772" marL="88066" marR="88066" marT="4577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1pPr>
                      <a:lvl2pPr indent="-177800" marL="536575">
                        <a:spcBef>
                          <a:spcPts val="350"/>
                        </a:spcBef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2pPr>
                      <a:lvl3pPr indent="-177800" marL="893763">
                        <a:spcBef>
                          <a:spcPts val="350"/>
                        </a:spcBef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3pPr>
                      <a:lvl4pPr indent="-188913" marL="1262063">
                        <a:spcBef>
                          <a:spcPts val="350"/>
                        </a:spcBef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4pPr>
                      <a:lvl5pPr indent="-177800" marL="1620838">
                        <a:spcBef>
                          <a:spcPts val="350"/>
                        </a:spcBef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5pPr>
                      <a:lvl6pPr defTabSz="449263" eaLnBrk="0" fontAlgn="base" hangingPunct="0" indent="-177800" marL="2078038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6pPr>
                      <a:lvl7pPr defTabSz="449263" eaLnBrk="0" fontAlgn="base" hangingPunct="0" indent="-177800" marL="2535238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7pPr>
                      <a:lvl8pPr defTabSz="449263" eaLnBrk="0" fontAlgn="base" hangingPunct="0" indent="-177800" marL="2992438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8pPr>
                      <a:lvl9pPr defTabSz="449263" eaLnBrk="0" fontAlgn="base" hangingPunct="0" indent="-177800" marL="3449638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9pPr>
                    </a:lstStyle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01/12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01/12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01/12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01/12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01/13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01/14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01/14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01/14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01/15</a:t>
                      </a:r>
                    </a:p>
                  </a:txBody>
                  <a:tcPr horzOverflow="overflow" marB="45772" marL="88066" marR="88066" marT="45772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1pPr>
                      <a:lvl2pPr indent="-177800" marL="536575">
                        <a:spcBef>
                          <a:spcPts val="350"/>
                        </a:spcBef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2pPr>
                      <a:lvl3pPr indent="-177800" marL="893763">
                        <a:spcBef>
                          <a:spcPts val="350"/>
                        </a:spcBef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3pPr>
                      <a:lvl4pPr indent="-188913" marL="1262063">
                        <a:spcBef>
                          <a:spcPts val="350"/>
                        </a:spcBef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4pPr>
                      <a:lvl5pPr indent="-177800" marL="1620838">
                        <a:spcBef>
                          <a:spcPts val="350"/>
                        </a:spcBef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5pPr>
                      <a:lvl6pPr defTabSz="449263" eaLnBrk="0" fontAlgn="base" hangingPunct="0" indent="-177800" marL="2078038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6pPr>
                      <a:lvl7pPr defTabSz="449263" eaLnBrk="0" fontAlgn="base" hangingPunct="0" indent="-177800" marL="2535238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7pPr>
                      <a:lvl8pPr defTabSz="449263" eaLnBrk="0" fontAlgn="base" hangingPunct="0" indent="-177800" marL="2992438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8pPr>
                      <a:lvl9pPr defTabSz="449263" eaLnBrk="0" fontAlgn="base" hangingPunct="0" indent="-177800" marL="3449638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9pPr>
                    </a:lstStyle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100%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100%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100%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100%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100%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100%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100%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100%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100%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endParaRPr altLang="ko-KR" dirty="0" kern="1200" kumimoji="1" lang="en-US" smtClean="0" sz="9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</a:txBody>
                  <a:tcPr horzOverflow="overflow" marB="45772" marL="88066" marR="88066" marT="45772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8" name="Group 109">
            <a:extLst>
              <a:ext uri="{FF2B5EF4-FFF2-40B4-BE49-F238E27FC236}">
                <a16:creationId xmlns:a16="http://schemas.microsoft.com/office/drawing/2014/main" id="{7721BB07-7B10-4642-8619-4B25D434FCB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96118837"/>
              </p:ext>
            </p:extLst>
          </p:nvPr>
        </p:nvGraphicFramePr>
        <p:xfrm>
          <a:off x="5176687" y="1117570"/>
          <a:ext cx="4399173" cy="1944545"/>
        </p:xfrm>
        <a:graphic>
          <a:graphicData uri="http://schemas.openxmlformats.org/drawingml/2006/table">
            <a:tbl>
              <a:tblPr/>
              <a:tblGrid>
                <a:gridCol w="66018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4599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581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8717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93976"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trike="noStrike" sz="10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구분</a:t>
                      </a:r>
                      <a:r>
                        <a:rPr altLang="ko-KR" b="1" baseline="0" cap="none" dirty="0" i="0" kumimoji="1" lang="en-US" normalizeH="0" strike="noStrike" sz="10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/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trike="noStrike" sz="10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담당자</a:t>
                      </a:r>
                    </a:p>
                  </a:txBody>
                  <a:tcPr anchor="ctr" horzOverflow="overflow" marB="45729" marL="88066" marR="88066" marT="45729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i="0" kumimoji="1" lang="ko-KR" normalizeH="0" strike="noStrike" sz="10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업무 내용</a:t>
                      </a:r>
                    </a:p>
                  </a:txBody>
                  <a:tcPr anchor="ctr" horzOverflow="overflow" marB="45729" marL="88066" marR="88066" marT="45729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trike="noStrike" sz="10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접수일</a:t>
                      </a:r>
                    </a:p>
                  </a:txBody>
                  <a:tcPr anchor="ctr" horzOverflow="overflow" marB="45729" marL="88066" marR="88066" marT="45729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i="0" kumimoji="1" lang="ko-KR" normalizeH="0" strike="noStrike" sz="10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완료 목표일</a:t>
                      </a:r>
                    </a:p>
                  </a:txBody>
                  <a:tcPr anchor="ctr" horzOverflow="overflow" marB="45729" marL="88066" marR="88066" marT="45729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48287"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i="0" kumimoji="1" lang="en-US" normalizeH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CP/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i="0" kumimoji="1" lang="ko-KR" normalizeH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이영주</a:t>
                      </a:r>
                      <a:endParaRPr altLang="ko-KR" b="0" baseline="0" cap="none" i="0" kumimoji="1" lang="en-US" normalizeH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L="88066" marR="88066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1pPr>
                      <a:lvl2pPr>
                        <a:spcBef>
                          <a:spcPts val="350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2pPr>
                      <a:lvl3pPr>
                        <a:spcBef>
                          <a:spcPts val="350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3pPr>
                      <a:lvl4pPr>
                        <a:spcBef>
                          <a:spcPts val="350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4pPr>
                      <a:lvl5pPr>
                        <a:spcBef>
                          <a:spcPts val="350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5pPr>
                      <a:lvl6pPr defTabSz="449263" eaLnBrk="0" fontAlgn="base" hangingPunct="0" indent="-228600" marL="251460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20603050405020304" pitchFamily="18" typeface="Times New Roman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6pPr>
                      <a:lvl7pPr defTabSz="449263" eaLnBrk="0" fontAlgn="base" hangingPunct="0" indent="-228600" marL="297180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20603050405020304" pitchFamily="18" typeface="Times New Roman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7pPr>
                      <a:lvl8pPr defTabSz="449263" eaLnBrk="0" fontAlgn="base" hangingPunct="0" indent="-228600" marL="342900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20603050405020304" pitchFamily="18" typeface="Times New Roman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8pPr>
                      <a:lvl9pPr defTabSz="449263" eaLnBrk="0" fontAlgn="base" hangingPunct="0" indent="-228600" marL="388620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20603050405020304" pitchFamily="18" typeface="Times New Roman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9pPr>
                    </a:lstStyle>
                    <a:p>
                      <a:pPr algn="l" defTabSz="914400" eaLnBrk="1" fontAlgn="auto" hangingPunct="1" indent="0" latinLnBrk="1" lvl="0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- </a:t>
                      </a: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CP 1</a:t>
                      </a:r>
                      <a:r>
                        <a:rPr altLang="en-US" b="0" baseline="0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월 </a:t>
                      </a: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2</a:t>
                      </a:r>
                      <a:r>
                        <a:rPr altLang="en-US" b="0" baseline="0" dirty="0" err="1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회차</a:t>
                      </a:r>
                      <a:r>
                        <a:rPr altLang="en-US" b="0" baseline="0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 정기점검</a:t>
                      </a: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(WAS/</a:t>
                      </a:r>
                      <a:r>
                        <a:rPr altLang="en-US" b="0" baseline="0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배치 </a:t>
                      </a:r>
                      <a:r>
                        <a:rPr altLang="en-US" b="0" baseline="0" dirty="0" err="1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재기동</a:t>
                      </a: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)</a:t>
                      </a:r>
                      <a:endParaRPr altLang="ko-KR" dirty="0" kern="1200" kumimoji="1" lang="en-US" smtClean="0" sz="9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  <a:p>
                      <a:pPr rtl="0"/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- ADOBE FLASH </a:t>
                      </a:r>
                      <a:r>
                        <a:rPr altLang="en-US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종료에 따른 </a:t>
                      </a: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HTML5 </a:t>
                      </a:r>
                      <a:r>
                        <a:rPr altLang="en-US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전환 </a:t>
                      </a:r>
                      <a:endParaRPr altLang="ko-KR" dirty="0" kern="1200" kumimoji="1" lang="en-US" smtClean="0" sz="9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  <a:p>
                      <a:pPr rtl="0"/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   ( * 1</a:t>
                      </a:r>
                      <a:r>
                        <a:rPr altLang="en-US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차 개발 완료</a:t>
                      </a: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, </a:t>
                      </a:r>
                      <a:r>
                        <a:rPr altLang="en-US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테스트 및 보완 예정</a:t>
                      </a: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)</a:t>
                      </a:r>
                      <a:endParaRPr altLang="en-US" dirty="0" kern="1200" kumimoji="1" lang="ko-KR" smtClean="0" sz="9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</a:txBody>
                  <a:tcPr horzOverflow="overflow" marB="45817" marL="88066" marR="88066" marT="53585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endParaRPr altLang="ko-KR" b="0" baseline="0" cap="none" dirty="0" i="0" kern="1200" kumimoji="1" lang="en-US" noProof="0" normalizeH="0" smtClean="0" spc="0" strike="noStrike" sz="9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</a:txBody>
                  <a:tcPr horzOverflow="overflow" marB="45817" marL="88066" marR="88066" marT="53585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01/20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01/29</a:t>
                      </a:r>
                    </a:p>
                  </a:txBody>
                  <a:tcPr horzOverflow="overflow" marB="45817" marL="88066" marR="88066" marT="53585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6184" name="Rectangle 136">
            <a:extLst>
              <a:ext uri="{FF2B5EF4-FFF2-40B4-BE49-F238E27FC236}">
                <a16:creationId xmlns:a16="http://schemas.microsoft.com/office/drawing/2014/main" id="{546AF6F6-150A-4F5D-B79C-9EC68A793C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76687" y="760293"/>
            <a:ext cx="4399174" cy="310676"/>
          </a:xfrm>
          <a:prstGeom prst="rect">
            <a:avLst/>
          </a:prstGeom>
          <a:solidFill>
            <a:srgbClr val="C7CDFD"/>
          </a:solidFill>
          <a:ln algn="ctr" w="9525">
            <a:noFill/>
            <a:miter lim="800000"/>
            <a:headEnd/>
            <a:tailEnd/>
          </a:ln>
          <a:effectLst>
            <a:outerShdw algn="ctr" dir="2700000" dist="35921" rotWithShape="0">
              <a:schemeClr val="bg2"/>
            </a:outerShdw>
          </a:effectLst>
        </p:spPr>
        <p:txBody>
          <a:bodyPr anchor="ctr"/>
          <a:lstStyle/>
          <a:p>
            <a:pPr algn="ctr" defTabSz="789214" eaLnBrk="1" hangingPunct="1" indent="-242357" marL="242357">
              <a:spcBef>
                <a:spcPct val="0"/>
              </a:spcBef>
              <a:spcAft>
                <a:spcPct val="0"/>
              </a:spcAft>
              <a:defRPr/>
            </a:pPr>
            <a:r>
              <a:rPr altLang="en-US" kumimoji="1" lang="ko-KR" sz="1370">
                <a:solidFill>
                  <a:srgbClr val="000000"/>
                </a:solidFill>
              </a:rPr>
              <a:t>차주 업무 계획</a:t>
            </a:r>
            <a:endParaRPr altLang="ko-KR" kumimoji="1" lang="en-US" sz="1370">
              <a:solidFill>
                <a:srgbClr val="000000"/>
              </a:solidFill>
            </a:endParaRPr>
          </a:p>
        </p:txBody>
      </p:sp>
      <p:sp>
        <p:nvSpPr>
          <p:cNvPr id="6185" name="Rectangle 136">
            <a:extLst>
              <a:ext uri="{FF2B5EF4-FFF2-40B4-BE49-F238E27FC236}">
                <a16:creationId xmlns:a16="http://schemas.microsoft.com/office/drawing/2014/main" id="{227A3DDD-F02B-4FC8-A75A-DDE02A45CE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5577" y="744759"/>
            <a:ext cx="4846547" cy="310676"/>
          </a:xfrm>
          <a:prstGeom prst="rect">
            <a:avLst/>
          </a:prstGeom>
          <a:solidFill>
            <a:srgbClr val="C7CDFD"/>
          </a:solidFill>
          <a:ln algn="ctr" w="9525">
            <a:noFill/>
            <a:miter lim="800000"/>
            <a:headEnd/>
            <a:tailEnd/>
          </a:ln>
          <a:effectLst>
            <a:outerShdw algn="ctr" dir="2700000" dist="35921" rotWithShape="0">
              <a:schemeClr val="bg2"/>
            </a:outerShdw>
          </a:effectLst>
        </p:spPr>
        <p:txBody>
          <a:bodyPr anchor="ctr"/>
          <a:lstStyle/>
          <a:p>
            <a:pPr algn="ctr" defTabSz="789214" eaLnBrk="1" hangingPunct="1" indent="-242357" marL="242357">
              <a:spcBef>
                <a:spcPct val="0"/>
              </a:spcBef>
              <a:spcAft>
                <a:spcPct val="0"/>
              </a:spcAft>
              <a:defRPr/>
            </a:pPr>
            <a:r>
              <a:rPr altLang="en-US" kumimoji="1" lang="ko-KR" sz="1370">
                <a:solidFill>
                  <a:srgbClr val="000000"/>
                </a:solidFill>
              </a:rPr>
              <a:t>금주 업무 실적</a:t>
            </a:r>
            <a:endParaRPr altLang="ko-KR" kumimoji="1" lang="en-US" sz="137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1492857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661088499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821598841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1670922322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837715460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b="1" sz="15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570">
                <a:latin typeface="맑은 고딕"/>
                <a:ea typeface="맑은 고딕"/>
                <a:cs typeface="맑은 고딕"/>
              </a:rPr>
              <a:t>3. 주간업무 실적 및 계획(①Baynex - ERP)</a:t>
            </a:r>
          </a:p>
        </p:txBody>
      </p:sp>
      <p:sp>
        <p:nvSpPr>
          <p:cNvPr id="768757818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511344469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2075003029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31042366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903560113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2056733098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875766997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587278409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1654385173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583101949" name="Text">
    </p:cNvPr>
          <p:cNvSpPr>
            <a:spLocks noGrp="1"/>
          </p:cNvSpPr>
          <p:nvPr/>
        </p:nvSpPr>
        <p:spPr>
          <a:xfrm rot="0">
            <a:off x="9702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11/30</a:t>
            </a:r>
            <a:br/>
            <a:br/>
          </a:p>
        </p:txBody>
      </p:sp>
      <p:sp>
        <p:nvSpPr>
          <p:cNvPr id="586843190" name="Text">
    </p:cNvPr>
          <p:cNvSpPr>
            <a:spLocks noGrp="1"/>
          </p:cNvSpPr>
          <p:nvPr/>
        </p:nvSpPr>
        <p:spPr>
          <a:xfrm rot="0">
            <a:off x="93345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10/31</a:t>
            </a:r>
            <a:br/>
            <a:br/>
          </a:p>
        </p:txBody>
      </p:sp>
      <p:sp>
        <p:nvSpPr>
          <p:cNvPr id="135504704" name="Text">
    </p:cNvPr>
          <p:cNvSpPr>
            <a:spLocks noGrp="1"/>
          </p:cNvSpPr>
          <p:nvPr/>
        </p:nvSpPr>
        <p:spPr>
          <a:xfrm rot="0">
            <a:off x="5930900" y="15113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[FI] [FI]ERP 업그레이드 수출체선료 Mig 대상 자료 추출(ZFIB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6020_M)</a:t>
            </a:r>
          </a:p>
        </p:txBody>
      </p:sp>
      <p:sp>
        <p:nvSpPr>
          <p:cNvPr id="895826709" name="Text">
    </p:cNvPr>
          <p:cNvSpPr>
            <a:spLocks noGrp="1"/>
          </p:cNvSpPr>
          <p:nvPr/>
        </p:nvSpPr>
        <p:spPr>
          <a:xfrm rot="0">
            <a:off x="53086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FI/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CO/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TR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강민경</a:t>
            </a:r>
          </a:p>
        </p:txBody>
      </p:sp>
      <p:sp>
        <p:nvSpPr>
          <p:cNvPr id="476190401" name="Text">
    </p:cNvPr>
          <p:cNvSpPr>
            <a:spLocks noGrp="1"/>
          </p:cNvSpPr>
          <p:nvPr/>
        </p:nvSpPr>
        <p:spPr>
          <a:xfrm rot="0">
            <a:off x="889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FI/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CO/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TR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강민경</a:t>
            </a:r>
          </a:p>
        </p:txBody>
      </p:sp>
      <p:sp>
        <p:nvSpPr>
          <p:cNvPr id="1783622223" name="Text">
    </p:cNvPr>
          <p:cNvSpPr>
            <a:spLocks noGrp="1"/>
          </p:cNvSpPr>
          <p:nvPr/>
        </p:nvSpPr>
        <p:spPr>
          <a:xfrm rot="0">
            <a:off x="711200" y="15113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[CO] ERP Upgrade WBS 마이그레이션 데이터 추출 프로그램 생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성(ZCOB7023)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[FI] 자산 대량처분 프로그램 실행시 접근권한 로직 수정(ZFIR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9049)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[FI] ZFIR5200, ZFIR5200_1 로직 분석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[TR] 삼성카드 및 국민카드 전표 누락 로직 분석(ZFIR1018)</a:t>
            </a:r>
          </a:p>
        </p:txBody>
      </p:sp>
      <p:sp>
        <p:nvSpPr>
          <p:cNvPr id="2136165861" name="Text">
    </p:cNvPr>
          <p:cNvSpPr>
            <a:spLocks noGrp="1"/>
          </p:cNvSpPr>
          <p:nvPr/>
        </p:nvSpPr>
        <p:spPr>
          <a:xfrm rot="0">
            <a:off x="44831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11/19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11/20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11/21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11/22</a:t>
            </a:r>
            <a:br/>
          </a:p>
        </p:txBody>
      </p:sp>
      <p:sp>
        <p:nvSpPr>
          <p:cNvPr id="1676831881" name="Text">
    </p:cNvPr>
          <p:cNvSpPr>
            <a:spLocks noGrp="1"/>
          </p:cNvSpPr>
          <p:nvPr/>
        </p:nvSpPr>
        <p:spPr>
          <a:xfrm rot="0">
            <a:off x="48514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11/19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11/20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11/21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11/22</a:t>
            </a:r>
            <a:br/>
          </a:p>
        </p:txBody>
      </p:sp>
      <p:sp>
        <p:nvSpPr>
          <p:cNvPr id="1873455656" name="Text">
    </p:cNvPr>
          <p:cNvSpPr>
            <a:spLocks noGrp="1"/>
          </p:cNvSpPr>
          <p:nvPr/>
        </p:nvSpPr>
        <p:spPr>
          <a:xfrm rot="0">
            <a:off x="4114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11/18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11/20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11/21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11/22</a:t>
            </a:r>
            <a:br/>
          </a:p>
        </p:txBody>
      </p:sp>
      <p:sp>
        <p:nvSpPr>
          <p:cNvPr id="2057451520" name="Text">
    </p:cNvPr>
          <p:cNvSpPr>
            <a:spLocks noGrp="1"/>
          </p:cNvSpPr>
          <p:nvPr/>
        </p:nvSpPr>
        <p:spPr>
          <a:xfrm rot="0">
            <a:off x="6604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528187092" name="Text">
    </p:cNvPr>
          <p:cNvSpPr>
            <a:spLocks noGrp="1"/>
          </p:cNvSpPr>
          <p:nvPr/>
        </p:nvSpPr>
        <p:spPr>
          <a:xfrm rot="0">
            <a:off x="58801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864224662" name="Text">
    </p:cNvPr>
          <p:cNvSpPr>
            <a:spLocks noGrp="1"/>
          </p:cNvSpPr>
          <p:nvPr/>
        </p:nvSpPr>
        <p:spPr>
          <a:xfrm rot="0">
            <a:off x="9702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11/29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12/27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11/22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12/27</a:t>
            </a:r>
            <a:br/>
          </a:p>
        </p:txBody>
      </p:sp>
      <p:sp>
        <p:nvSpPr>
          <p:cNvPr id="1432142775" name="Text">
    </p:cNvPr>
          <p:cNvSpPr>
            <a:spLocks noGrp="1"/>
          </p:cNvSpPr>
          <p:nvPr/>
        </p:nvSpPr>
        <p:spPr>
          <a:xfrm rot="0">
            <a:off x="93345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09/30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10/21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11/06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11/22</a:t>
            </a:r>
            <a:br/>
          </a:p>
        </p:txBody>
      </p:sp>
      <p:sp>
        <p:nvSpPr>
          <p:cNvPr id="1054184228" name="Text">
    </p:cNvPr>
          <p:cNvSpPr>
            <a:spLocks noGrp="1"/>
          </p:cNvSpPr>
          <p:nvPr/>
        </p:nvSpPr>
        <p:spPr>
          <a:xfrm rot="0">
            <a:off x="5930900" y="37719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신규 발주 생성 시 대금수수계약 체결여부 점검 및 안내기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능 개발요청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open po 리스트업 프로그램 개발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HANA 구매 3차 통합테스트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선박 오더 입력시 선박 평가 요청 자동화 관련 요청</a:t>
            </a:r>
          </a:p>
        </p:txBody>
      </p:sp>
      <p:sp>
        <p:nvSpPr>
          <p:cNvPr id="2057099252" name="Text">
    </p:cNvPr>
          <p:cNvSpPr>
            <a:spLocks noGrp="1"/>
          </p:cNvSpPr>
          <p:nvPr/>
        </p:nvSpPr>
        <p:spPr>
          <a:xfrm rot="0">
            <a:off x="53086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MM/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TD/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FI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김원기</a:t>
            </a:r>
          </a:p>
        </p:txBody>
      </p:sp>
      <p:sp>
        <p:nvSpPr>
          <p:cNvPr id="2080163406" name="Text">
    </p:cNvPr>
          <p:cNvSpPr>
            <a:spLocks noGrp="1"/>
          </p:cNvSpPr>
          <p:nvPr/>
        </p:nvSpPr>
        <p:spPr>
          <a:xfrm rot="0">
            <a:off x="889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MM/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TD/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FI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김원기</a:t>
            </a:r>
          </a:p>
        </p:txBody>
      </p:sp>
      <p:sp>
        <p:nvSpPr>
          <p:cNvPr id="1208939517" name="Text">
    </p:cNvPr>
          <p:cNvSpPr>
            <a:spLocks noGrp="1"/>
          </p:cNvSpPr>
          <p:nvPr/>
        </p:nvSpPr>
        <p:spPr>
          <a:xfrm rot="0">
            <a:off x="711200" y="37719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신규 발주 생성 시 대금수수계약 체결여부 점검 및 안내기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능 개발요청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open po 리스트업 프로그램 개발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HANA 구매 3차 통합테스트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선박 오더 입력시 선박 평가 요청 자동화 관련 요청</a:t>
            </a:r>
          </a:p>
        </p:txBody>
      </p:sp>
      <p:sp>
        <p:nvSpPr>
          <p:cNvPr id="1515197803" name="Text">
    </p:cNvPr>
          <p:cNvSpPr>
            <a:spLocks noGrp="1"/>
          </p:cNvSpPr>
          <p:nvPr/>
        </p:nvSpPr>
        <p:spPr>
          <a:xfrm rot="0">
            <a:off x="44831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11/29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12/27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11/22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12/27</a:t>
            </a:r>
            <a:br/>
          </a:p>
        </p:txBody>
      </p:sp>
      <p:sp>
        <p:nvSpPr>
          <p:cNvPr id="1190091426" name="Text">
    </p:cNvPr>
          <p:cNvSpPr>
            <a:spLocks noGrp="1"/>
          </p:cNvSpPr>
          <p:nvPr/>
        </p:nvSpPr>
        <p:spPr>
          <a:xfrm rot="0">
            <a:off x="48514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80%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70%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60%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80%</a:t>
            </a:r>
            <a:br/>
          </a:p>
        </p:txBody>
      </p:sp>
      <p:sp>
        <p:nvSpPr>
          <p:cNvPr id="1539058311" name="Text">
    </p:cNvPr>
          <p:cNvSpPr>
            <a:spLocks noGrp="1"/>
          </p:cNvSpPr>
          <p:nvPr/>
        </p:nvSpPr>
        <p:spPr>
          <a:xfrm rot="0">
            <a:off x="4114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09/30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10/21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11/06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11/22</a:t>
            </a:r>
            <a:br/>
          </a:p>
        </p:txBody>
      </p:sp>
      <p:sp>
        <p:nvSpPr>
          <p:cNvPr id="1687337750" name="Text">
    </p:cNvPr>
          <p:cNvSpPr>
            <a:spLocks noGrp="1"/>
          </p:cNvSpPr>
          <p:nvPr/>
        </p:nvSpPr>
        <p:spPr>
          <a:xfrm rot="0">
            <a:off x="6604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043530146" name="Text">
    </p:cNvPr>
          <p:cNvSpPr>
            <a:spLocks noGrp="1"/>
          </p:cNvSpPr>
          <p:nvPr/>
        </p:nvSpPr>
        <p:spPr>
          <a:xfrm rot="0">
            <a:off x="58801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58188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954698847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230817886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1875180742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1189897892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b="1" sz="15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570">
                <a:latin typeface="맑은 고딕"/>
                <a:ea typeface="맑은 고딕"/>
                <a:cs typeface="맑은 고딕"/>
              </a:rPr>
              <a:t>3. 주간업무 실적 및 계획(①Baynex - ERP)</a:t>
            </a:r>
          </a:p>
        </p:txBody>
      </p:sp>
      <p:sp>
        <p:nvSpPr>
          <p:cNvPr id="1114476370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833739131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623268056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5954462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786682840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641526276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822861451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734042911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1469450047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373013251" name="Text">
    </p:cNvPr>
          <p:cNvSpPr>
            <a:spLocks noGrp="1"/>
          </p:cNvSpPr>
          <p:nvPr/>
        </p:nvSpPr>
        <p:spPr>
          <a:xfrm rot="0">
            <a:off x="9702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12/02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12/02</a:t>
            </a:r>
            <a:br/>
          </a:p>
        </p:txBody>
      </p:sp>
      <p:sp>
        <p:nvSpPr>
          <p:cNvPr id="2032910537" name="Text">
    </p:cNvPr>
          <p:cNvSpPr>
            <a:spLocks noGrp="1"/>
          </p:cNvSpPr>
          <p:nvPr/>
        </p:nvSpPr>
        <p:spPr>
          <a:xfrm rot="0">
            <a:off x="93345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11/26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11/26</a:t>
            </a:r>
            <a:br/>
          </a:p>
        </p:txBody>
      </p:sp>
      <p:sp>
        <p:nvSpPr>
          <p:cNvPr id="1172582766" name="Text">
    </p:cNvPr>
          <p:cNvSpPr>
            <a:spLocks noGrp="1"/>
          </p:cNvSpPr>
          <p:nvPr/>
        </p:nvSpPr>
        <p:spPr>
          <a:xfrm rot="0">
            <a:off x="5930900" y="15113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[BC] SAP 시스템 정기 모니터링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[BC] SAP 시스템 이관 / 변경</a:t>
            </a:r>
          </a:p>
        </p:txBody>
      </p:sp>
      <p:sp>
        <p:nvSpPr>
          <p:cNvPr id="573335826" name="Text">
    </p:cNvPr>
          <p:cNvSpPr>
            <a:spLocks noGrp="1"/>
          </p:cNvSpPr>
          <p:nvPr/>
        </p:nvSpPr>
        <p:spPr>
          <a:xfrm rot="0">
            <a:off x="53086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BC/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HCM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박남신</a:t>
            </a:r>
          </a:p>
        </p:txBody>
      </p:sp>
      <p:sp>
        <p:nvSpPr>
          <p:cNvPr id="1761881591" name="Text">
    </p:cNvPr>
          <p:cNvSpPr>
            <a:spLocks noGrp="1"/>
          </p:cNvSpPr>
          <p:nvPr/>
        </p:nvSpPr>
        <p:spPr>
          <a:xfrm rot="0">
            <a:off x="889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BC/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HCM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박남신</a:t>
            </a:r>
          </a:p>
        </p:txBody>
      </p:sp>
      <p:sp>
        <p:nvSpPr>
          <p:cNvPr id="1317967254" name="Text">
    </p:cNvPr>
          <p:cNvSpPr>
            <a:spLocks noGrp="1"/>
          </p:cNvSpPr>
          <p:nvPr/>
        </p:nvSpPr>
        <p:spPr>
          <a:xfrm rot="0">
            <a:off x="711200" y="15113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[BC] SAP 시스템 정기 모니터링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[BC] SAP 시스템 이관 / 변경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[BC] ERP운영 특정 T-Code 접속 로그 확인 취합 및 전달(2023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년11월~2024년11월)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[BC] ERP운영 배차 삭제업무 권한 문제로 Note 원복작업(Note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3505293)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[BC] ERP운영 배치잡 전체 리스트 취합 및 전달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[BC] '24년 10월 SAP시스템 인프라 취약점 조치 작업 업무지원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[BC] SAP 고도화 프로젝트 BC관련  업무지원(삼성SDS)</a:t>
            </a:r>
          </a:p>
        </p:txBody>
      </p:sp>
      <p:sp>
        <p:nvSpPr>
          <p:cNvPr id="713405032" name="Text">
    </p:cNvPr>
          <p:cNvSpPr>
            <a:spLocks noGrp="1"/>
          </p:cNvSpPr>
          <p:nvPr/>
        </p:nvSpPr>
        <p:spPr>
          <a:xfrm rot="0">
            <a:off x="44831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11/25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11/25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11/18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11/18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11/21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11/22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11/22</a:t>
            </a:r>
            <a:br/>
          </a:p>
        </p:txBody>
      </p:sp>
      <p:sp>
        <p:nvSpPr>
          <p:cNvPr id="1805658835" name="Text">
    </p:cNvPr>
          <p:cNvSpPr>
            <a:spLocks noGrp="1"/>
          </p:cNvSpPr>
          <p:nvPr/>
        </p:nvSpPr>
        <p:spPr>
          <a:xfrm rot="0">
            <a:off x="48514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11/25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11/25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11/18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11/18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11/21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11/21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11/22</a:t>
            </a:r>
            <a:br/>
          </a:p>
        </p:txBody>
      </p:sp>
      <p:sp>
        <p:nvSpPr>
          <p:cNvPr id="587454917" name="Text">
    </p:cNvPr>
          <p:cNvSpPr>
            <a:spLocks noGrp="1"/>
          </p:cNvSpPr>
          <p:nvPr/>
        </p:nvSpPr>
        <p:spPr>
          <a:xfrm rot="0">
            <a:off x="4114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11/19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11/19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11/18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11/18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11/21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11/12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11/18</a:t>
            </a:r>
            <a:br/>
          </a:p>
        </p:txBody>
      </p:sp>
      <p:sp>
        <p:nvSpPr>
          <p:cNvPr id="421251606" name="Text">
    </p:cNvPr>
          <p:cNvSpPr>
            <a:spLocks noGrp="1"/>
          </p:cNvSpPr>
          <p:nvPr/>
        </p:nvSpPr>
        <p:spPr>
          <a:xfrm rot="0">
            <a:off x="6604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503987631" name="Text">
    </p:cNvPr>
          <p:cNvSpPr>
            <a:spLocks noGrp="1"/>
          </p:cNvSpPr>
          <p:nvPr/>
        </p:nvSpPr>
        <p:spPr>
          <a:xfrm rot="0">
            <a:off x="58801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956014607" name="Text">
    </p:cNvPr>
          <p:cNvSpPr>
            <a:spLocks noGrp="1"/>
          </p:cNvSpPr>
          <p:nvPr/>
        </p:nvSpPr>
        <p:spPr>
          <a:xfrm rot="0">
            <a:off x="9702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11/29</a:t>
            </a:r>
            <a:br/>
          </a:p>
        </p:txBody>
      </p:sp>
      <p:sp>
        <p:nvSpPr>
          <p:cNvPr id="1239828649" name="Text">
    </p:cNvPr>
          <p:cNvSpPr>
            <a:spLocks noGrp="1"/>
          </p:cNvSpPr>
          <p:nvPr/>
        </p:nvSpPr>
        <p:spPr>
          <a:xfrm rot="0">
            <a:off x="93345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11/25</a:t>
            </a:r>
            <a:br/>
          </a:p>
        </p:txBody>
      </p:sp>
      <p:sp>
        <p:nvSpPr>
          <p:cNvPr id="250245369" name="Text">
    </p:cNvPr>
          <p:cNvSpPr>
            <a:spLocks noGrp="1"/>
          </p:cNvSpPr>
          <p:nvPr/>
        </p:nvSpPr>
        <p:spPr>
          <a:xfrm rot="0">
            <a:off x="5930900" y="37719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[계정관리] ERP 계정관리</a:t>
            </a:r>
          </a:p>
        </p:txBody>
      </p:sp>
      <p:sp>
        <p:nvSpPr>
          <p:cNvPr id="1103287246" name="Text">
    </p:cNvPr>
          <p:cNvSpPr>
            <a:spLocks noGrp="1"/>
          </p:cNvSpPr>
          <p:nvPr/>
        </p:nvSpPr>
        <p:spPr>
          <a:xfrm rot="0">
            <a:off x="53086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계정관리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서상희</a:t>
            </a:r>
          </a:p>
        </p:txBody>
      </p:sp>
      <p:sp>
        <p:nvSpPr>
          <p:cNvPr id="105062379" name="Text">
    </p:cNvPr>
          <p:cNvSpPr>
            <a:spLocks noGrp="1"/>
          </p:cNvSpPr>
          <p:nvPr/>
        </p:nvSpPr>
        <p:spPr>
          <a:xfrm rot="0">
            <a:off x="889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계정관리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서상희</a:t>
            </a:r>
          </a:p>
        </p:txBody>
      </p:sp>
      <p:sp>
        <p:nvSpPr>
          <p:cNvPr id="2107354250" name="Text">
    </p:cNvPr>
          <p:cNvSpPr>
            <a:spLocks noGrp="1"/>
          </p:cNvSpPr>
          <p:nvPr/>
        </p:nvSpPr>
        <p:spPr>
          <a:xfrm rot="0">
            <a:off x="711200" y="37719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[계정관리] ERP 계정관리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IT 강의 복습하기: 6주차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JAVA 복습하기 (스터디 기준): 11장</a:t>
            </a:r>
          </a:p>
        </p:txBody>
      </p:sp>
      <p:sp>
        <p:nvSpPr>
          <p:cNvPr id="548103800" name="Text">
    </p:cNvPr>
          <p:cNvSpPr>
            <a:spLocks noGrp="1"/>
          </p:cNvSpPr>
          <p:nvPr/>
        </p:nvSpPr>
        <p:spPr>
          <a:xfrm rot="0">
            <a:off x="44831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11/22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11/24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11/20</a:t>
            </a:r>
            <a:br/>
          </a:p>
        </p:txBody>
      </p:sp>
      <p:sp>
        <p:nvSpPr>
          <p:cNvPr id="1998621952" name="Text">
    </p:cNvPr>
          <p:cNvSpPr>
            <a:spLocks noGrp="1"/>
          </p:cNvSpPr>
          <p:nvPr/>
        </p:nvSpPr>
        <p:spPr>
          <a:xfrm rot="0">
            <a:off x="48514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11/15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60%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11/21</a:t>
            </a:r>
            <a:br/>
          </a:p>
        </p:txBody>
      </p:sp>
      <p:sp>
        <p:nvSpPr>
          <p:cNvPr id="1761769544" name="Text">
    </p:cNvPr>
          <p:cNvSpPr>
            <a:spLocks noGrp="1"/>
          </p:cNvSpPr>
          <p:nvPr/>
        </p:nvSpPr>
        <p:spPr>
          <a:xfrm rot="0">
            <a:off x="4114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11/18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11/21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11/18</a:t>
            </a:r>
            <a:br/>
          </a:p>
        </p:txBody>
      </p:sp>
      <p:sp>
        <p:nvSpPr>
          <p:cNvPr id="1239246366" name="Text">
    </p:cNvPr>
          <p:cNvSpPr>
            <a:spLocks noGrp="1"/>
          </p:cNvSpPr>
          <p:nvPr/>
        </p:nvSpPr>
        <p:spPr>
          <a:xfrm rot="0">
            <a:off x="6604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851329531" name="Text">
    </p:cNvPr>
          <p:cNvSpPr>
            <a:spLocks noGrp="1"/>
          </p:cNvSpPr>
          <p:nvPr/>
        </p:nvSpPr>
        <p:spPr>
          <a:xfrm rot="0">
            <a:off x="58801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9268641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002402401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426778270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1493247442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888680537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b="1" sz="15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570">
                <a:latin typeface="맑은 고딕"/>
                <a:ea typeface="맑은 고딕"/>
                <a:cs typeface="맑은 고딕"/>
              </a:rPr>
              <a:t>3. 주간업무 실적 및 계획(①Baynex - ERP)</a:t>
            </a:r>
          </a:p>
        </p:txBody>
      </p:sp>
      <p:sp>
        <p:nvSpPr>
          <p:cNvPr id="1955881181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829307455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031181305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224283894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532420028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984728200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869365628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866093398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1282505580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2019579368" name="Text">
    </p:cNvPr>
          <p:cNvSpPr>
            <a:spLocks noGrp="1"/>
          </p:cNvSpPr>
          <p:nvPr/>
        </p:nvSpPr>
        <p:spPr>
          <a:xfrm rot="0">
            <a:off x="9702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10/31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03/31</a:t>
            </a:r>
            <a:br/>
            <a:br/>
            <a:br/>
          </a:p>
        </p:txBody>
      </p:sp>
      <p:sp>
        <p:nvSpPr>
          <p:cNvPr id="1077065487" name="Text">
    </p:cNvPr>
          <p:cNvSpPr>
            <a:spLocks noGrp="1"/>
          </p:cNvSpPr>
          <p:nvPr/>
        </p:nvSpPr>
        <p:spPr>
          <a:xfrm rot="0">
            <a:off x="93345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12/14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11/19</a:t>
            </a:r>
            <a:br/>
            <a:br/>
            <a:br/>
          </a:p>
        </p:txBody>
      </p:sp>
      <p:sp>
        <p:nvSpPr>
          <p:cNvPr id="262685542" name="Text">
    </p:cNvPr>
          <p:cNvSpPr>
            <a:spLocks noGrp="1"/>
          </p:cNvSpPr>
          <p:nvPr/>
        </p:nvSpPr>
        <p:spPr>
          <a:xfrm rot="0">
            <a:off x="5930900" y="15113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자산취득 장기 미정산 누락 방지를 위한 시스템 개선* WBS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요소 약정 관리를 위한 PR생성, 삭제 RFC Function 개발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안전보호구 ERP 자재청구시 SHE 실적관리 연계 요청* 자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재청구서 일괄 출력 기능 추가 및 출고실적 SHE 인터페이스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RFC 평션 개발 </a:t>
            </a:r>
          </a:p>
        </p:txBody>
      </p:sp>
      <p:sp>
        <p:nvSpPr>
          <p:cNvPr id="1220928484" name="Text">
    </p:cNvPr>
          <p:cNvSpPr>
            <a:spLocks noGrp="1"/>
          </p:cNvSpPr>
          <p:nvPr/>
        </p:nvSpPr>
        <p:spPr>
          <a:xfrm rot="0">
            <a:off x="53086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MM/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공장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오승룡</a:t>
            </a:r>
          </a:p>
        </p:txBody>
      </p:sp>
      <p:sp>
        <p:nvSpPr>
          <p:cNvPr id="854601729" name="Text">
    </p:cNvPr>
          <p:cNvSpPr>
            <a:spLocks noGrp="1"/>
          </p:cNvSpPr>
          <p:nvPr/>
        </p:nvSpPr>
        <p:spPr>
          <a:xfrm rot="0">
            <a:off x="889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MM/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공장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오승룡</a:t>
            </a:r>
          </a:p>
        </p:txBody>
      </p:sp>
      <p:sp>
        <p:nvSpPr>
          <p:cNvPr id="1731158943" name="Text">
    </p:cNvPr>
          <p:cNvSpPr>
            <a:spLocks noGrp="1"/>
          </p:cNvSpPr>
          <p:nvPr/>
        </p:nvSpPr>
        <p:spPr>
          <a:xfrm rot="0">
            <a:off x="711200" y="15113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자산취득 장기 미정산 누락 방지를 위한 시스템 개선* WBS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요소 약정 관리를 위한 PR생성, 삭제 RFC Function 개발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안전보호구 ERP 자재청구시 SHE 실적관리 연계 요청* 자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재청구서 일괄 출력 기능 추가 및 출고실적 SHE 인터페이스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RFC 평션 개발 </a:t>
            </a:r>
          </a:p>
        </p:txBody>
      </p:sp>
      <p:sp>
        <p:nvSpPr>
          <p:cNvPr id="710000495" name="Text">
    </p:cNvPr>
          <p:cNvSpPr>
            <a:spLocks noGrp="1"/>
          </p:cNvSpPr>
          <p:nvPr/>
        </p:nvSpPr>
        <p:spPr>
          <a:xfrm rot="0">
            <a:off x="44831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10/31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03/31</a:t>
            </a:r>
            <a:br/>
            <a:br/>
            <a:br/>
          </a:p>
        </p:txBody>
      </p:sp>
      <p:sp>
        <p:nvSpPr>
          <p:cNvPr id="1307353858" name="Text">
    </p:cNvPr>
          <p:cNvSpPr>
            <a:spLocks noGrp="1"/>
          </p:cNvSpPr>
          <p:nvPr/>
        </p:nvSpPr>
        <p:spPr>
          <a:xfrm rot="0">
            <a:off x="48514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30%</a:t>
            </a:r>
            <a:br/>
            <a:br/>
            <a:br/>
          </a:p>
        </p:txBody>
      </p:sp>
      <p:sp>
        <p:nvSpPr>
          <p:cNvPr id="2125456006" name="Text">
    </p:cNvPr>
          <p:cNvSpPr>
            <a:spLocks noGrp="1"/>
          </p:cNvSpPr>
          <p:nvPr/>
        </p:nvSpPr>
        <p:spPr>
          <a:xfrm rot="0">
            <a:off x="4114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12/14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11/19</a:t>
            </a:r>
            <a:br/>
            <a:br/>
            <a:br/>
          </a:p>
        </p:txBody>
      </p:sp>
      <p:sp>
        <p:nvSpPr>
          <p:cNvPr id="1644184919" name="Text">
    </p:cNvPr>
          <p:cNvSpPr>
            <a:spLocks noGrp="1"/>
          </p:cNvSpPr>
          <p:nvPr/>
        </p:nvSpPr>
        <p:spPr>
          <a:xfrm rot="0">
            <a:off x="6604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158493375" name="Text">
    </p:cNvPr>
          <p:cNvSpPr>
            <a:spLocks noGrp="1"/>
          </p:cNvSpPr>
          <p:nvPr/>
        </p:nvSpPr>
        <p:spPr>
          <a:xfrm rot="0">
            <a:off x="58801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842445231" name="Text">
    </p:cNvPr>
          <p:cNvSpPr>
            <a:spLocks noGrp="1"/>
          </p:cNvSpPr>
          <p:nvPr/>
        </p:nvSpPr>
        <p:spPr>
          <a:xfrm rot="0">
            <a:off x="9702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11/29</a:t>
            </a:r>
            <a:br/>
          </a:p>
        </p:txBody>
      </p:sp>
      <p:sp>
        <p:nvSpPr>
          <p:cNvPr id="1818959681" name="Text">
    </p:cNvPr>
          <p:cNvSpPr>
            <a:spLocks noGrp="1"/>
          </p:cNvSpPr>
          <p:nvPr/>
        </p:nvSpPr>
        <p:spPr>
          <a:xfrm rot="0">
            <a:off x="93345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11/25</a:t>
            </a:r>
            <a:br/>
          </a:p>
        </p:txBody>
      </p:sp>
      <p:sp>
        <p:nvSpPr>
          <p:cNvPr id="211928422" name="Text">
    </p:cNvPr>
          <p:cNvSpPr>
            <a:spLocks noGrp="1"/>
          </p:cNvSpPr>
          <p:nvPr/>
        </p:nvSpPr>
        <p:spPr>
          <a:xfrm rot="0">
            <a:off x="5930900" y="37719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 업무인계 </a:t>
            </a:r>
          </a:p>
        </p:txBody>
      </p:sp>
      <p:sp>
        <p:nvSpPr>
          <p:cNvPr id="539340929" name="Text">
    </p:cNvPr>
          <p:cNvSpPr>
            <a:spLocks noGrp="1"/>
          </p:cNvSpPr>
          <p:nvPr/>
        </p:nvSpPr>
        <p:spPr>
          <a:xfrm rot="0">
            <a:off x="53086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HR/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HCM/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Fiori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이상엽</a:t>
            </a:r>
          </a:p>
        </p:txBody>
      </p:sp>
      <p:sp>
        <p:nvSpPr>
          <p:cNvPr id="1188014889" name="Text">
    </p:cNvPr>
          <p:cNvSpPr>
            <a:spLocks noGrp="1"/>
          </p:cNvSpPr>
          <p:nvPr/>
        </p:nvSpPr>
        <p:spPr>
          <a:xfrm rot="0">
            <a:off x="889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HR/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HCM/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Fiori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이상엽</a:t>
            </a:r>
          </a:p>
        </p:txBody>
      </p:sp>
      <p:sp>
        <p:nvSpPr>
          <p:cNvPr id="1919559078" name="Text">
    </p:cNvPr>
          <p:cNvSpPr>
            <a:spLocks noGrp="1"/>
          </p:cNvSpPr>
          <p:nvPr/>
        </p:nvSpPr>
        <p:spPr>
          <a:xfrm rot="0">
            <a:off x="711200" y="37719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 11월급여작업 지원:임원직책수당 소급 문의(3번인포 M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D 변경일 수정 안내) 외- 문의대응: 실근무지 코드 오류(근무지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관리 세팅 안내) 외- [ITSM-118380] S/F 전용 SVR 생성 및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이관- UI5 업무 인계(이지은) 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 UI5 업무 인계(이지은) - 프로젝트지원: oData 서비스 오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류 문의 대응- 업무지원: 연차휴가 쿼터 계산오류 문의대응 외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 [ITSM-119495] 생활안정자금 중도상환 신청서 등록- U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I5 업무 인계(이지은)- 프로젝트지원: 생산직평가 문의 대응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 업무지원: 육아휴직 일자초과 문의 외 - UI5 업무 인계(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이지은)- 프로젝트지원: 생산직평가 통합테스트 지원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 UI5 업무 인계(이지은)- 프로젝트지원: 생산직평가 통합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테스트 지원- 업무지원: 휴무쿼터 갯수 오류 외</a:t>
            </a:r>
          </a:p>
        </p:txBody>
      </p:sp>
      <p:sp>
        <p:nvSpPr>
          <p:cNvPr id="1885492344" name="Text">
    </p:cNvPr>
          <p:cNvSpPr>
            <a:spLocks noGrp="1"/>
          </p:cNvSpPr>
          <p:nvPr/>
        </p:nvSpPr>
        <p:spPr>
          <a:xfrm rot="0">
            <a:off x="44831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11/18</a:t>
            </a:r>
            <a:br/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11/19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11/20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11/21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11/22</a:t>
            </a:r>
            <a:br/>
            <a:br/>
          </a:p>
        </p:txBody>
      </p:sp>
      <p:sp>
        <p:nvSpPr>
          <p:cNvPr id="2102285133" name="Text">
    </p:cNvPr>
          <p:cNvSpPr>
            <a:spLocks noGrp="1"/>
          </p:cNvSpPr>
          <p:nvPr/>
        </p:nvSpPr>
        <p:spPr>
          <a:xfrm rot="0">
            <a:off x="48514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11/18</a:t>
            </a:r>
            <a:br/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11/19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11/20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11/21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11/22</a:t>
            </a:r>
            <a:br/>
            <a:br/>
          </a:p>
        </p:txBody>
      </p:sp>
      <p:sp>
        <p:nvSpPr>
          <p:cNvPr id="1189292334" name="Text">
    </p:cNvPr>
          <p:cNvSpPr>
            <a:spLocks noGrp="1"/>
          </p:cNvSpPr>
          <p:nvPr/>
        </p:nvSpPr>
        <p:spPr>
          <a:xfrm rot="0">
            <a:off x="4114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11/18</a:t>
            </a:r>
            <a:br/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11/19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11/20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11/21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11/22</a:t>
            </a:r>
            <a:br/>
            <a:br/>
          </a:p>
        </p:txBody>
      </p:sp>
      <p:sp>
        <p:nvSpPr>
          <p:cNvPr id="1703375681" name="Text">
    </p:cNvPr>
          <p:cNvSpPr>
            <a:spLocks noGrp="1"/>
          </p:cNvSpPr>
          <p:nvPr/>
        </p:nvSpPr>
        <p:spPr>
          <a:xfrm rot="0">
            <a:off x="6604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28199197" name="Text">
    </p:cNvPr>
          <p:cNvSpPr>
            <a:spLocks noGrp="1"/>
          </p:cNvSpPr>
          <p:nvPr/>
        </p:nvSpPr>
        <p:spPr>
          <a:xfrm rot="0">
            <a:off x="58801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595487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468676071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64186924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798715082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1497274251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b="1" sz="15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570">
                <a:latin typeface="맑은 고딕"/>
                <a:ea typeface="맑은 고딕"/>
                <a:cs typeface="맑은 고딕"/>
              </a:rPr>
              <a:t>3. 주간업무 실적 및 계획(①Baynex - ERP)</a:t>
            </a:r>
          </a:p>
        </p:txBody>
      </p:sp>
      <p:sp>
        <p:nvSpPr>
          <p:cNvPr id="1603118660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484312754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758971103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173918849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2012587516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468895270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297418427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284030732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369641252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457596981" name="Text">
    </p:cNvPr>
          <p:cNvSpPr>
            <a:spLocks noGrp="1"/>
          </p:cNvSpPr>
          <p:nvPr/>
        </p:nvSpPr>
        <p:spPr>
          <a:xfrm rot="0">
            <a:off x="9702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11/30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11/30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11/30</a:t>
            </a:r>
            <a:br/>
          </a:p>
        </p:txBody>
      </p:sp>
      <p:sp>
        <p:nvSpPr>
          <p:cNvPr id="2125701942" name="Text">
    </p:cNvPr>
          <p:cNvSpPr>
            <a:spLocks noGrp="1"/>
          </p:cNvSpPr>
          <p:nvPr/>
        </p:nvSpPr>
        <p:spPr>
          <a:xfrm rot="0">
            <a:off x="93345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11/04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11/04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11/04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11/04</a:t>
            </a:r>
            <a:br/>
          </a:p>
        </p:txBody>
      </p:sp>
      <p:sp>
        <p:nvSpPr>
          <p:cNvPr id="1958321485" name="Text">
    </p:cNvPr>
          <p:cNvSpPr>
            <a:spLocks noGrp="1"/>
          </p:cNvSpPr>
          <p:nvPr/>
        </p:nvSpPr>
        <p:spPr>
          <a:xfrm rot="0">
            <a:off x="5930900" y="15113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[PM] SAP PM 개발 ,분석 ,사용자지원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[PP] SAP PP 개발 ,분석 ,사용자지원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[QM] SAP QM 개발 ,분석 ,사용자지원-&gt; ZQMR1062  육상출하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성적서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[TS] SAP TS 개발 ,분석 ,사용자지원</a:t>
            </a:r>
          </a:p>
        </p:txBody>
      </p:sp>
      <p:sp>
        <p:nvSpPr>
          <p:cNvPr id="542950809" name="Text">
    </p:cNvPr>
          <p:cNvSpPr>
            <a:spLocks noGrp="1"/>
          </p:cNvSpPr>
          <p:nvPr/>
        </p:nvSpPr>
        <p:spPr>
          <a:xfrm rot="0">
            <a:off x="53086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PP/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PM/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QM/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TS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이원주</a:t>
            </a:r>
          </a:p>
        </p:txBody>
      </p:sp>
      <p:sp>
        <p:nvSpPr>
          <p:cNvPr id="137584239" name="Text">
    </p:cNvPr>
          <p:cNvSpPr>
            <a:spLocks noGrp="1"/>
          </p:cNvSpPr>
          <p:nvPr/>
        </p:nvSpPr>
        <p:spPr>
          <a:xfrm rot="0">
            <a:off x="889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PP/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PM/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QM/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TS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이원주</a:t>
            </a:r>
          </a:p>
        </p:txBody>
      </p:sp>
      <p:sp>
        <p:nvSpPr>
          <p:cNvPr id="1811609164" name="Text">
    </p:cNvPr>
          <p:cNvSpPr>
            <a:spLocks noGrp="1"/>
          </p:cNvSpPr>
          <p:nvPr/>
        </p:nvSpPr>
        <p:spPr>
          <a:xfrm rot="0">
            <a:off x="711200" y="15113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[TS] SAP TS 사용자 지원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SAP 개발 소스, 프로세스 분석-&gt; PP, PM , TS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[PM] SAP QM 개발 -&gt; ZQMR1062  육상출하 성적서 </a:t>
            </a:r>
          </a:p>
        </p:txBody>
      </p:sp>
      <p:sp>
        <p:nvSpPr>
          <p:cNvPr id="1393642891" name="Text">
    </p:cNvPr>
          <p:cNvSpPr>
            <a:spLocks noGrp="1"/>
          </p:cNvSpPr>
          <p:nvPr/>
        </p:nvSpPr>
        <p:spPr>
          <a:xfrm rot="0">
            <a:off x="44831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11/22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11/22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12/06</a:t>
            </a:r>
            <a:br/>
          </a:p>
        </p:txBody>
      </p:sp>
      <p:sp>
        <p:nvSpPr>
          <p:cNvPr id="354892413" name="Text">
    </p:cNvPr>
          <p:cNvSpPr>
            <a:spLocks noGrp="1"/>
          </p:cNvSpPr>
          <p:nvPr/>
        </p:nvSpPr>
        <p:spPr>
          <a:xfrm rot="0">
            <a:off x="48514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11/22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15%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15%</a:t>
            </a:r>
            <a:br/>
          </a:p>
        </p:txBody>
      </p:sp>
      <p:sp>
        <p:nvSpPr>
          <p:cNvPr id="133553808" name="Text">
    </p:cNvPr>
          <p:cNvSpPr>
            <a:spLocks noGrp="1"/>
          </p:cNvSpPr>
          <p:nvPr/>
        </p:nvSpPr>
        <p:spPr>
          <a:xfrm rot="0">
            <a:off x="4114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11/18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11/18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11/18</a:t>
            </a:r>
            <a:br/>
          </a:p>
        </p:txBody>
      </p:sp>
      <p:sp>
        <p:nvSpPr>
          <p:cNvPr id="998310068" name="Text">
    </p:cNvPr>
          <p:cNvSpPr>
            <a:spLocks noGrp="1"/>
          </p:cNvSpPr>
          <p:nvPr/>
        </p:nvSpPr>
        <p:spPr>
          <a:xfrm rot="0">
            <a:off x="6604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646620506" name="Text">
    </p:cNvPr>
          <p:cNvSpPr>
            <a:spLocks noGrp="1"/>
          </p:cNvSpPr>
          <p:nvPr/>
        </p:nvSpPr>
        <p:spPr>
          <a:xfrm rot="0">
            <a:off x="58801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325225393" name="Text">
    </p:cNvPr>
          <p:cNvSpPr>
            <a:spLocks noGrp="1"/>
          </p:cNvSpPr>
          <p:nvPr/>
        </p:nvSpPr>
        <p:spPr>
          <a:xfrm rot="0">
            <a:off x="9702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07/31</a:t>
            </a:r>
            <a:br/>
            <a:br/>
          </a:p>
        </p:txBody>
      </p:sp>
      <p:sp>
        <p:nvSpPr>
          <p:cNvPr id="1733628832" name="Text">
    </p:cNvPr>
          <p:cNvSpPr>
            <a:spLocks noGrp="1"/>
          </p:cNvSpPr>
          <p:nvPr/>
        </p:nvSpPr>
        <p:spPr>
          <a:xfrm rot="0">
            <a:off x="93345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06/24</a:t>
            </a:r>
            <a:br/>
            <a:br/>
          </a:p>
        </p:txBody>
      </p:sp>
      <p:sp>
        <p:nvSpPr>
          <p:cNvPr id="1424112478" name="Text">
    </p:cNvPr>
          <p:cNvSpPr>
            <a:spLocks noGrp="1"/>
          </p:cNvSpPr>
          <p:nvPr/>
        </p:nvSpPr>
        <p:spPr>
          <a:xfrm rot="0">
            <a:off x="5930900" y="37719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[SD] ITSM-112075자영대리점 거래처 관리업무 간소화 추진(2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차)</a:t>
            </a:r>
          </a:p>
        </p:txBody>
      </p:sp>
      <p:sp>
        <p:nvSpPr>
          <p:cNvPr id="494194983" name="Text">
    </p:cNvPr>
          <p:cNvSpPr>
            <a:spLocks noGrp="1"/>
          </p:cNvSpPr>
          <p:nvPr/>
        </p:nvSpPr>
        <p:spPr>
          <a:xfrm rot="0">
            <a:off x="53086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TD/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SD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최진우</a:t>
            </a:r>
          </a:p>
        </p:txBody>
      </p:sp>
      <p:sp>
        <p:nvSpPr>
          <p:cNvPr id="956321765" name="Text">
    </p:cNvPr>
          <p:cNvSpPr>
            <a:spLocks noGrp="1"/>
          </p:cNvSpPr>
          <p:nvPr/>
        </p:nvSpPr>
        <p:spPr>
          <a:xfrm rot="0">
            <a:off x="889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TD/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SD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최진우</a:t>
            </a:r>
          </a:p>
        </p:txBody>
      </p:sp>
      <p:sp>
        <p:nvSpPr>
          <p:cNvPr id="1980203894" name="Text">
    </p:cNvPr>
          <p:cNvSpPr>
            <a:spLocks noGrp="1"/>
          </p:cNvSpPr>
          <p:nvPr/>
        </p:nvSpPr>
        <p:spPr>
          <a:xfrm rot="0">
            <a:off x="711200" y="37719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[SD] ITSM-111438 포뮬라 계산식 보완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[SD] ITSM-112075자영대리점 거래처 관리업무 간소화 추진(2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차)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[SD] ITSM-115143ERP Upgrade 프로젝트 소스 수정사항 반영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[SD] ITSM-115036PP 인보이스 출력 관련 기능 추가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[SD] ITSM-117162할인할증 신규 ERP CODE(zpsdr9050, zp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sdr9055) 관련, 할인할증 입력 기준 확대 및 코드 권한 부여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ITSM-116317[ERP Upgrade] 수송비 분석 리포트 개발을 위한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ERP 데이터 적재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[TD] ITSM-113242자가수송 최적출하지 우선순위 프로그램 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발</a:t>
            </a:r>
          </a:p>
        </p:txBody>
      </p:sp>
      <p:sp>
        <p:nvSpPr>
          <p:cNvPr id="863665699" name="Text">
    </p:cNvPr>
          <p:cNvSpPr>
            <a:spLocks noGrp="1"/>
          </p:cNvSpPr>
          <p:nvPr/>
        </p:nvSpPr>
        <p:spPr>
          <a:xfrm rot="0">
            <a:off x="44831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06/30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09/30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08/30</a:t>
            </a:r>
            <a:br/>
            <a:br/>
          </a:p>
        </p:txBody>
      </p:sp>
      <p:sp>
        <p:nvSpPr>
          <p:cNvPr id="146566274" name="Text">
    </p:cNvPr>
          <p:cNvSpPr>
            <a:spLocks noGrp="1"/>
          </p:cNvSpPr>
          <p:nvPr/>
        </p:nvSpPr>
        <p:spPr>
          <a:xfrm rot="0">
            <a:off x="48514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70%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80%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  <a:br/>
          </a:p>
        </p:txBody>
      </p:sp>
      <p:sp>
        <p:nvSpPr>
          <p:cNvPr id="863532311" name="Text">
    </p:cNvPr>
          <p:cNvSpPr>
            <a:spLocks noGrp="1"/>
          </p:cNvSpPr>
          <p:nvPr/>
        </p:nvSpPr>
        <p:spPr>
          <a:xfrm rot="0">
            <a:off x="4114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05/17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06/24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08/06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08/06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09/26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09/04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07/15</a:t>
            </a:r>
            <a:br/>
            <a:br/>
          </a:p>
        </p:txBody>
      </p:sp>
      <p:sp>
        <p:nvSpPr>
          <p:cNvPr id="2033077309" name="Text">
    </p:cNvPr>
          <p:cNvSpPr>
            <a:spLocks noGrp="1"/>
          </p:cNvSpPr>
          <p:nvPr/>
        </p:nvSpPr>
        <p:spPr>
          <a:xfrm rot="0">
            <a:off x="6604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424001117" name="Text">
    </p:cNvPr>
          <p:cNvSpPr>
            <a:spLocks noGrp="1"/>
          </p:cNvSpPr>
          <p:nvPr/>
        </p:nvSpPr>
        <p:spPr>
          <a:xfrm rot="0">
            <a:off x="58801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1293929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709942889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739336685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1339600137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1216459331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b="1" sz="15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570">
                <a:latin typeface="맑은 고딕"/>
                <a:ea typeface="맑은 고딕"/>
                <a:cs typeface="맑은 고딕"/>
              </a:rPr>
              <a:t>3. 주간업무 실적 및 계획(①Baynex - WEB)</a:t>
            </a:r>
          </a:p>
        </p:txBody>
      </p:sp>
      <p:sp>
        <p:nvSpPr>
          <p:cNvPr id="1888613338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470691884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561507125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407115646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731471503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2011027423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060011788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24346480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1096765506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487209625" name="Text">
    </p:cNvPr>
          <p:cNvSpPr>
            <a:spLocks noGrp="1"/>
          </p:cNvSpPr>
          <p:nvPr/>
        </p:nvSpPr>
        <p:spPr>
          <a:xfrm rot="0">
            <a:off x="9702800" y="1511300"/>
            <a:ext cx="368300" cy="2425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11/30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12/20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12/13</a:t>
            </a:r>
            <a:br/>
          </a:p>
        </p:txBody>
      </p:sp>
      <p:sp>
        <p:nvSpPr>
          <p:cNvPr id="339723934" name="Text">
    </p:cNvPr>
          <p:cNvSpPr>
            <a:spLocks noGrp="1"/>
          </p:cNvSpPr>
          <p:nvPr/>
        </p:nvSpPr>
        <p:spPr>
          <a:xfrm rot="0">
            <a:off x="9334500" y="1511300"/>
            <a:ext cx="368300" cy="2425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02/20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10/15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11/08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11/21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11/20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11/22</a:t>
            </a:r>
            <a:br/>
          </a:p>
        </p:txBody>
      </p:sp>
      <p:sp>
        <p:nvSpPr>
          <p:cNvPr id="1486442121" name="Text">
    </p:cNvPr>
          <p:cNvSpPr>
            <a:spLocks noGrp="1"/>
          </p:cNvSpPr>
          <p:nvPr/>
        </p:nvSpPr>
        <p:spPr>
          <a:xfrm rot="0">
            <a:off x="5930900" y="1511300"/>
            <a:ext cx="3403600" cy="24257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[e-Biz] ITSM-107407 자영대리점 거래처 관리업무 간소화 추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진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[CCS] ITSM-117555 첨부파일 정정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[e-Biz] ITSM-119115 거래처 경조화환 시스템 일부 보완요청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[e-Biz] ITSM-119517 주유원복 배송장 엑셀 업로드시 입금일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자 포맷 지정요청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[e-Biz] ITSM-119543세차쿠폰 프로모션 가맹 신청 및 해지기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능 추가요청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[e-Biz] ITSM-119668유니폼 신청 거래처 삭제 요청</a:t>
            </a:r>
          </a:p>
        </p:txBody>
      </p:sp>
      <p:sp>
        <p:nvSpPr>
          <p:cNvPr id="1669318808" name="Text">
    </p:cNvPr>
          <p:cNvSpPr>
            <a:spLocks noGrp="1"/>
          </p:cNvSpPr>
          <p:nvPr/>
        </p:nvSpPr>
        <p:spPr>
          <a:xfrm rot="0">
            <a:off x="5308600" y="1511300"/>
            <a:ext cx="571500" cy="2425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e-Biz/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CCS/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FLBIZ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공현호</a:t>
            </a:r>
          </a:p>
        </p:txBody>
      </p:sp>
      <p:sp>
        <p:nvSpPr>
          <p:cNvPr id="328112546" name="Text">
    </p:cNvPr>
          <p:cNvSpPr>
            <a:spLocks noGrp="1"/>
          </p:cNvSpPr>
          <p:nvPr/>
        </p:nvSpPr>
        <p:spPr>
          <a:xfrm rot="0">
            <a:off x="88900" y="1511300"/>
            <a:ext cx="571500" cy="2425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e-Biz/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CCS/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FLBIZ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공현호</a:t>
            </a:r>
          </a:p>
        </p:txBody>
      </p:sp>
      <p:sp>
        <p:nvSpPr>
          <p:cNvPr id="2037364347" name="Text">
    </p:cNvPr>
          <p:cNvSpPr>
            <a:spLocks noGrp="1"/>
          </p:cNvSpPr>
          <p:nvPr/>
        </p:nvSpPr>
        <p:spPr>
          <a:xfrm rot="0">
            <a:off x="711200" y="1511300"/>
            <a:ext cx="3403600" cy="24257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[e-Biz] ITSM-107407 자영대리점 거래처 관리업무 간소화 추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진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[CCS] ITSM-117555 첨부파일 정정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[e-Biz] ITSM-119037 CI 시설지원 관련 협력사 조회 및 엑셀다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운로드 조회화면 개선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[e-Biz] ITSM-119133 리얼그리드 갱신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[e-Biz] ITSM-119115 거래처 경조화환 시스템 일부 보완요청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[e-Biz] ITSM-119503유니폼 신청 거래처 주문 취소로 인한 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제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[e-Biz] ITSM-119517 주유원복 배송장 엑셀 업로드시 입금일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자 포맷 지정요청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[e-Biz] ITSM-119543세차쿠폰 프로모션 가맹 신청 및 해지기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능 추가요청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[e-Biz] ITSM-119668유니폼 신청 거래처 삭제 요청</a:t>
            </a:r>
          </a:p>
        </p:txBody>
      </p:sp>
      <p:sp>
        <p:nvSpPr>
          <p:cNvPr id="1804620505" name="Text">
    </p:cNvPr>
          <p:cNvSpPr>
            <a:spLocks noGrp="1"/>
          </p:cNvSpPr>
          <p:nvPr/>
        </p:nvSpPr>
        <p:spPr>
          <a:xfrm rot="0">
            <a:off x="4483100" y="1511300"/>
            <a:ext cx="368300" cy="2425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11/30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12/20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11/22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11/29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12/13</a:t>
            </a:r>
            <a:br/>
          </a:p>
        </p:txBody>
      </p:sp>
      <p:sp>
        <p:nvSpPr>
          <p:cNvPr id="1991666747" name="Text">
    </p:cNvPr>
          <p:cNvSpPr>
            <a:spLocks noGrp="1"/>
          </p:cNvSpPr>
          <p:nvPr/>
        </p:nvSpPr>
        <p:spPr>
          <a:xfrm rot="0">
            <a:off x="4851400" y="1511300"/>
            <a:ext cx="368300" cy="2425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11/21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11/19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11/20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30%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70%</a:t>
            </a:r>
            <a:br/>
          </a:p>
        </p:txBody>
      </p:sp>
      <p:sp>
        <p:nvSpPr>
          <p:cNvPr id="286435526" name="Text">
    </p:cNvPr>
          <p:cNvSpPr>
            <a:spLocks noGrp="1"/>
          </p:cNvSpPr>
          <p:nvPr/>
        </p:nvSpPr>
        <p:spPr>
          <a:xfrm rot="0">
            <a:off x="4114800" y="1511300"/>
            <a:ext cx="368300" cy="2425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02/20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10/15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11/06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11/08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11/08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11/19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11/21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11/20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11/22</a:t>
            </a:r>
            <a:br/>
          </a:p>
        </p:txBody>
      </p:sp>
      <p:sp>
        <p:nvSpPr>
          <p:cNvPr id="365562097" name="Text">
    </p:cNvPr>
          <p:cNvSpPr>
            <a:spLocks noGrp="1"/>
          </p:cNvSpPr>
          <p:nvPr/>
        </p:nvSpPr>
        <p:spPr>
          <a:xfrm rot="0">
            <a:off x="660400" y="1511300"/>
            <a:ext cx="3454400" cy="2425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2082833931" name="Text">
    </p:cNvPr>
          <p:cNvSpPr>
            <a:spLocks noGrp="1"/>
          </p:cNvSpPr>
          <p:nvPr/>
        </p:nvSpPr>
        <p:spPr>
          <a:xfrm rot="0">
            <a:off x="5880100" y="1511300"/>
            <a:ext cx="3454400" cy="2425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959965696" name="Text">
    </p:cNvPr>
          <p:cNvSpPr>
            <a:spLocks noGrp="1"/>
          </p:cNvSpPr>
          <p:nvPr/>
        </p:nvSpPr>
        <p:spPr>
          <a:xfrm rot="0">
            <a:off x="9702800" y="39370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12/31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12/20</a:t>
            </a:r>
            <a:br/>
          </a:p>
        </p:txBody>
      </p:sp>
      <p:sp>
        <p:nvSpPr>
          <p:cNvPr id="1030173048" name="Text">
    </p:cNvPr>
          <p:cNvSpPr>
            <a:spLocks noGrp="1"/>
          </p:cNvSpPr>
          <p:nvPr/>
        </p:nvSpPr>
        <p:spPr>
          <a:xfrm rot="0">
            <a:off x="9334500" y="39370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01/02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01/02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01/02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06/13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10/21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11/20</a:t>
            </a:r>
            <a:br/>
          </a:p>
        </p:txBody>
      </p:sp>
      <p:sp>
        <p:nvSpPr>
          <p:cNvPr id="2016357285" name="Text">
    </p:cNvPr>
          <p:cNvSpPr>
            <a:spLocks noGrp="1"/>
          </p:cNvSpPr>
          <p:nvPr/>
        </p:nvSpPr>
        <p:spPr>
          <a:xfrm rot="0">
            <a:off x="5930900" y="39370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[OAS] OAS 문의응대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[ePSMS] ePSMS 문의응대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[RTS] RTS Dashboard 문의응대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[OAS] [ITSM-112959]ERP Upgrade 관련 OAS Interface 수정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[RTS] LLI Status Monitoring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[OAS] [ITSM-119545]L/G 물량 비율 배분 개선</a:t>
            </a:r>
          </a:p>
        </p:txBody>
      </p:sp>
      <p:sp>
        <p:nvSpPr>
          <p:cNvPr id="678096757" name="Text">
    </p:cNvPr>
          <p:cNvSpPr>
            <a:spLocks noGrp="1"/>
          </p:cNvSpPr>
          <p:nvPr/>
        </p:nvSpPr>
        <p:spPr>
          <a:xfrm rot="0">
            <a:off x="5308600" y="39370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OAS/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ePSMS/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RTS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김상훈</a:t>
            </a:r>
          </a:p>
        </p:txBody>
      </p:sp>
      <p:sp>
        <p:nvSpPr>
          <p:cNvPr id="772499346" name="Text">
    </p:cNvPr>
          <p:cNvSpPr>
            <a:spLocks noGrp="1"/>
          </p:cNvSpPr>
          <p:nvPr/>
        </p:nvSpPr>
        <p:spPr>
          <a:xfrm rot="0">
            <a:off x="88900" y="39370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OAS/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ePSMS/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RTS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김상훈</a:t>
            </a:r>
          </a:p>
        </p:txBody>
      </p:sp>
      <p:sp>
        <p:nvSpPr>
          <p:cNvPr id="711163866" name="Text">
    </p:cNvPr>
          <p:cNvSpPr>
            <a:spLocks noGrp="1"/>
          </p:cNvSpPr>
          <p:nvPr/>
        </p:nvSpPr>
        <p:spPr>
          <a:xfrm rot="0">
            <a:off x="711200" y="39370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[OAS] OAS 문의응대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[ePSMS] ePSMS 문의응대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[RTS] RTS Dashboard 문의응대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[OAS] [ITSM-112959]ERP Upgrade 관련 OAS Interface 수정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[RTS] LLI Status Monitoring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[OAS] [ITSM-119545]L/G 물량 비율 배분 개선</a:t>
            </a:r>
          </a:p>
        </p:txBody>
      </p:sp>
      <p:sp>
        <p:nvSpPr>
          <p:cNvPr id="722475824" name="Text">
    </p:cNvPr>
          <p:cNvSpPr>
            <a:spLocks noGrp="1"/>
          </p:cNvSpPr>
          <p:nvPr/>
        </p:nvSpPr>
        <p:spPr>
          <a:xfrm rot="0">
            <a:off x="4483100" y="39370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11/22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11/22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11/22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12/20</a:t>
            </a:r>
            <a:br/>
          </a:p>
        </p:txBody>
      </p:sp>
      <p:sp>
        <p:nvSpPr>
          <p:cNvPr id="1417566304" name="Text">
    </p:cNvPr>
          <p:cNvSpPr>
            <a:spLocks noGrp="1"/>
          </p:cNvSpPr>
          <p:nvPr/>
        </p:nvSpPr>
        <p:spPr>
          <a:xfrm rot="0">
            <a:off x="4851400" y="39370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11/22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11/22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11/22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50%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5%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50%</a:t>
            </a:r>
            <a:br/>
          </a:p>
        </p:txBody>
      </p:sp>
      <p:sp>
        <p:nvSpPr>
          <p:cNvPr id="557613706" name="Text">
    </p:cNvPr>
          <p:cNvSpPr>
            <a:spLocks noGrp="1"/>
          </p:cNvSpPr>
          <p:nvPr/>
        </p:nvSpPr>
        <p:spPr>
          <a:xfrm rot="0">
            <a:off x="4114800" y="39370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11/18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11/18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11/18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06/13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10/21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11/20</a:t>
            </a:r>
            <a:br/>
          </a:p>
        </p:txBody>
      </p:sp>
      <p:sp>
        <p:nvSpPr>
          <p:cNvPr id="269526232" name="Text">
    </p:cNvPr>
          <p:cNvSpPr>
            <a:spLocks noGrp="1"/>
          </p:cNvSpPr>
          <p:nvPr/>
        </p:nvSpPr>
        <p:spPr>
          <a:xfrm rot="0">
            <a:off x="660400" y="39370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005778033" name="Text">
    </p:cNvPr>
          <p:cNvSpPr>
            <a:spLocks noGrp="1"/>
          </p:cNvSpPr>
          <p:nvPr/>
        </p:nvSpPr>
        <p:spPr>
          <a:xfrm rot="0">
            <a:off x="5880100" y="39370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6718530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302836862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633321671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886569077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1272085458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b="1" sz="15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570">
                <a:latin typeface="맑은 고딕"/>
                <a:ea typeface="맑은 고딕"/>
                <a:cs typeface="맑은 고딕"/>
              </a:rPr>
              <a:t>3. 주간업무 실적 및 계획(①Baynex - WEB)</a:t>
            </a:r>
          </a:p>
        </p:txBody>
      </p:sp>
      <p:sp>
        <p:nvSpPr>
          <p:cNvPr id="993403024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248496523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89162871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568961508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471998564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655342209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645787947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478016339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1749521406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851896261" name="Text">
    </p:cNvPr>
          <p:cNvSpPr>
            <a:spLocks noGrp="1"/>
          </p:cNvSpPr>
          <p:nvPr/>
        </p:nvSpPr>
        <p:spPr>
          <a:xfrm rot="0">
            <a:off x="9702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11/29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11/29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12/31</a:t>
            </a:r>
            <a:br/>
            <a:br/>
          </a:p>
        </p:txBody>
      </p:sp>
      <p:sp>
        <p:nvSpPr>
          <p:cNvPr id="2080091167" name="Text">
    </p:cNvPr>
          <p:cNvSpPr>
            <a:spLocks noGrp="1"/>
          </p:cNvSpPr>
          <p:nvPr/>
        </p:nvSpPr>
        <p:spPr>
          <a:xfrm rot="0">
            <a:off x="93345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09/05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02/21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10/28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11/05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11/05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11/20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11/19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11/22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11/19</a:t>
            </a:r>
            <a:br/>
            <a:br/>
          </a:p>
        </p:txBody>
      </p:sp>
      <p:sp>
        <p:nvSpPr>
          <p:cNvPr id="1721005078" name="Text">
    </p:cNvPr>
          <p:cNvSpPr>
            <a:spLocks noGrp="1"/>
          </p:cNvSpPr>
          <p:nvPr/>
        </p:nvSpPr>
        <p:spPr>
          <a:xfrm rot="0">
            <a:off x="5930900" y="15113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[PRM] PRM 실수송 거리 측정데이타 erp 연동요청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[PRM] 자영대리점 거래처 관리업무 간소화 추진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[PRM] PRM CI 시설지원 관련 개선 및 보완요청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[PRM] PRM CI 시설물 지원 이력 분석을 위한 데이터베이스 뷰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생성 요청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[PRM] ERP 및 PRM 거래처 마스터 연동관련 주석 추가요청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[PRM] 직영네트워크관리팀 약정관리 시스템 버튼권한 부여요청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[PRM] 세차쿠폰 프로모션 가맹 신청 및 해지기능 추가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[PRM] 기본정보 PRM 조회 및 데이터 셋 구성요청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[PRM] 거래종료 후 재거래시 대표자 정보를 재 연동 기능보완 요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청</a:t>
            </a:r>
          </a:p>
        </p:txBody>
      </p:sp>
      <p:sp>
        <p:nvSpPr>
          <p:cNvPr id="848876377" name="Text">
    </p:cNvPr>
          <p:cNvSpPr>
            <a:spLocks noGrp="1"/>
          </p:cNvSpPr>
          <p:nvPr/>
        </p:nvSpPr>
        <p:spPr>
          <a:xfrm rot="0">
            <a:off x="53086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PRM/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S-ERP/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BI-EDW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남대현</a:t>
            </a:r>
          </a:p>
        </p:txBody>
      </p:sp>
      <p:sp>
        <p:nvSpPr>
          <p:cNvPr id="937812480" name="Text">
    </p:cNvPr>
          <p:cNvSpPr>
            <a:spLocks noGrp="1"/>
          </p:cNvSpPr>
          <p:nvPr/>
        </p:nvSpPr>
        <p:spPr>
          <a:xfrm rot="0">
            <a:off x="889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PRM/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S-ERP/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BI-EDW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남대현</a:t>
            </a:r>
          </a:p>
        </p:txBody>
      </p:sp>
      <p:sp>
        <p:nvSpPr>
          <p:cNvPr id="299383735" name="Text">
    </p:cNvPr>
          <p:cNvSpPr>
            <a:spLocks noGrp="1"/>
          </p:cNvSpPr>
          <p:nvPr/>
        </p:nvSpPr>
        <p:spPr>
          <a:xfrm rot="0">
            <a:off x="711200" y="15113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[PRM] PRM 실수송 거리 측정데이타 erp 연동요청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[PRM] 자영대리점 거래처 관리업무 간소화 추진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[PRM] PRM CI 시설지원 관련 개선 및 보완요청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[PRM] PRM CI 시설물 지원 이력 분석을 위한 데이터베이스 뷰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생성 요청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[PRM] ERP 및 PRM 거래처 마스터 연동관련 주석 추가요청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[PRM] 직영네트워크관리팀 약정관리 시스템 버튼권한 부여요청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[PRM] 세차쿠폰 프로모션 가맹 신청 및 해지기능 추가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[PRM] 기본정보 PRM 조회 및 데이터 셋 구성요청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[PRM] 거래종료 후 재거래시 대표자 정보를 재 연동 기능보완 요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청</a:t>
            </a:r>
          </a:p>
        </p:txBody>
      </p:sp>
      <p:sp>
        <p:nvSpPr>
          <p:cNvPr id="1420413278" name="Text">
    </p:cNvPr>
          <p:cNvSpPr>
            <a:spLocks noGrp="1"/>
          </p:cNvSpPr>
          <p:nvPr/>
        </p:nvSpPr>
        <p:spPr>
          <a:xfrm rot="0">
            <a:off x="44831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11/29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11/29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12/31</a:t>
            </a:r>
            <a:br/>
            <a:br/>
          </a:p>
        </p:txBody>
      </p:sp>
      <p:sp>
        <p:nvSpPr>
          <p:cNvPr id="543152777" name="Text">
    </p:cNvPr>
          <p:cNvSpPr>
            <a:spLocks noGrp="1"/>
          </p:cNvSpPr>
          <p:nvPr/>
        </p:nvSpPr>
        <p:spPr>
          <a:xfrm rot="0">
            <a:off x="48514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85%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50%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65%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95%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80%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70%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80%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35%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0%</a:t>
            </a:r>
            <a:br/>
            <a:br/>
          </a:p>
        </p:txBody>
      </p:sp>
      <p:sp>
        <p:nvSpPr>
          <p:cNvPr id="942856544" name="Text">
    </p:cNvPr>
          <p:cNvSpPr>
            <a:spLocks noGrp="1"/>
          </p:cNvSpPr>
          <p:nvPr/>
        </p:nvSpPr>
        <p:spPr>
          <a:xfrm rot="0">
            <a:off x="4114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09/05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02/21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10/28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11/05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11/04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11/20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11/19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11/22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11/19</a:t>
            </a:r>
            <a:br/>
            <a:br/>
          </a:p>
        </p:txBody>
      </p:sp>
      <p:sp>
        <p:nvSpPr>
          <p:cNvPr id="1759991890" name="Text">
    </p:cNvPr>
          <p:cNvSpPr>
            <a:spLocks noGrp="1"/>
          </p:cNvSpPr>
          <p:nvPr/>
        </p:nvSpPr>
        <p:spPr>
          <a:xfrm rot="0">
            <a:off x="6604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914609449" name="Text">
    </p:cNvPr>
          <p:cNvSpPr>
            <a:spLocks noGrp="1"/>
          </p:cNvSpPr>
          <p:nvPr/>
        </p:nvSpPr>
        <p:spPr>
          <a:xfrm rot="0">
            <a:off x="58801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751540337" name="Text">
    </p:cNvPr>
          <p:cNvSpPr>
            <a:spLocks noGrp="1"/>
          </p:cNvSpPr>
          <p:nvPr/>
        </p:nvSpPr>
        <p:spPr>
          <a:xfrm rot="0">
            <a:off x="9702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11/15</a:t>
            </a:r>
            <a:br/>
          </a:p>
        </p:txBody>
      </p:sp>
      <p:sp>
        <p:nvSpPr>
          <p:cNvPr id="43822417" name="Text">
    </p:cNvPr>
          <p:cNvSpPr>
            <a:spLocks noGrp="1"/>
          </p:cNvSpPr>
          <p:nvPr/>
        </p:nvSpPr>
        <p:spPr>
          <a:xfrm rot="0">
            <a:off x="93345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11/11</a:t>
            </a:r>
            <a:br/>
          </a:p>
        </p:txBody>
      </p:sp>
      <p:sp>
        <p:nvSpPr>
          <p:cNvPr id="1349206168" name="Text">
    </p:cNvPr>
          <p:cNvSpPr>
            <a:spLocks noGrp="1"/>
          </p:cNvSpPr>
          <p:nvPr/>
        </p:nvSpPr>
        <p:spPr>
          <a:xfrm rot="0">
            <a:off x="5930900" y="37719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[ASM] ASM 변경 관리 요청 업무</a:t>
            </a:r>
          </a:p>
        </p:txBody>
      </p:sp>
      <p:sp>
        <p:nvSpPr>
          <p:cNvPr id="1451911787" name="Text">
    </p:cNvPr>
          <p:cNvSpPr>
            <a:spLocks noGrp="1"/>
          </p:cNvSpPr>
          <p:nvPr/>
        </p:nvSpPr>
        <p:spPr>
          <a:xfrm rot="0">
            <a:off x="53086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ATSS/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ASM/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Mobile/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Admin관리/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GCMS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박민우</a:t>
            </a:r>
          </a:p>
        </p:txBody>
      </p:sp>
      <p:sp>
        <p:nvSpPr>
          <p:cNvPr id="645032155" name="Text">
    </p:cNvPr>
          <p:cNvSpPr>
            <a:spLocks noGrp="1"/>
          </p:cNvSpPr>
          <p:nvPr/>
        </p:nvSpPr>
        <p:spPr>
          <a:xfrm rot="0">
            <a:off x="889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ATSS/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ASM/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Mobile/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Admin관리/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GCMS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박민우</a:t>
            </a:r>
          </a:p>
        </p:txBody>
      </p:sp>
      <p:sp>
        <p:nvSpPr>
          <p:cNvPr id="1097056097" name="Text">
    </p:cNvPr>
          <p:cNvSpPr>
            <a:spLocks noGrp="1"/>
          </p:cNvSpPr>
          <p:nvPr/>
        </p:nvSpPr>
        <p:spPr>
          <a:xfrm rot="0">
            <a:off x="711200" y="37719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휴가 11/11 - 11/15</a:t>
            </a:r>
          </a:p>
        </p:txBody>
      </p:sp>
      <p:sp>
        <p:nvSpPr>
          <p:cNvPr id="1267091541" name="Text">
    </p:cNvPr>
          <p:cNvSpPr>
            <a:spLocks noGrp="1"/>
          </p:cNvSpPr>
          <p:nvPr/>
        </p:nvSpPr>
        <p:spPr>
          <a:xfrm rot="0">
            <a:off x="44831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11/15</a:t>
            </a:r>
            <a:br/>
          </a:p>
        </p:txBody>
      </p:sp>
      <p:sp>
        <p:nvSpPr>
          <p:cNvPr id="1322953340" name="Text">
    </p:cNvPr>
          <p:cNvSpPr>
            <a:spLocks noGrp="1"/>
          </p:cNvSpPr>
          <p:nvPr/>
        </p:nvSpPr>
        <p:spPr>
          <a:xfrm rot="0">
            <a:off x="48514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11/15</a:t>
            </a:r>
            <a:br/>
          </a:p>
        </p:txBody>
      </p:sp>
      <p:sp>
        <p:nvSpPr>
          <p:cNvPr id="2069575628" name="Text">
    </p:cNvPr>
          <p:cNvSpPr>
            <a:spLocks noGrp="1"/>
          </p:cNvSpPr>
          <p:nvPr/>
        </p:nvSpPr>
        <p:spPr>
          <a:xfrm rot="0">
            <a:off x="4114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11/11</a:t>
            </a:r>
            <a:br/>
          </a:p>
        </p:txBody>
      </p:sp>
      <p:sp>
        <p:nvSpPr>
          <p:cNvPr id="656349041" name="Text">
    </p:cNvPr>
          <p:cNvSpPr>
            <a:spLocks noGrp="1"/>
          </p:cNvSpPr>
          <p:nvPr/>
        </p:nvSpPr>
        <p:spPr>
          <a:xfrm rot="0">
            <a:off x="6604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587685159" name="Text">
    </p:cNvPr>
          <p:cNvSpPr>
            <a:spLocks noGrp="1"/>
          </p:cNvSpPr>
          <p:nvPr/>
        </p:nvSpPr>
        <p:spPr>
          <a:xfrm rot="0">
            <a:off x="58801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0839109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735874040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948724472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2010702289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894756408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b="1" sz="15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570">
                <a:latin typeface="맑은 고딕"/>
                <a:ea typeface="맑은 고딕"/>
                <a:cs typeface="맑은 고딕"/>
              </a:rPr>
              <a:t>3. 주간업무 실적 및 계획(①Baynex - WEB)</a:t>
            </a:r>
          </a:p>
        </p:txBody>
      </p:sp>
      <p:sp>
        <p:nvSpPr>
          <p:cNvPr id="1750187519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865175983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58142821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285242133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952156303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262008666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903582272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677459872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1272701090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168597738" name="Text">
    </p:cNvPr>
          <p:cNvSpPr>
            <a:spLocks noGrp="1"/>
          </p:cNvSpPr>
          <p:nvPr/>
        </p:nvSpPr>
        <p:spPr>
          <a:xfrm rot="0">
            <a:off x="9702800" y="1511300"/>
            <a:ext cx="368300" cy="2273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11/29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11/29</a:t>
            </a:r>
            <a:br/>
          </a:p>
        </p:txBody>
      </p:sp>
      <p:sp>
        <p:nvSpPr>
          <p:cNvPr id="108044866" name="Text">
    </p:cNvPr>
          <p:cNvSpPr>
            <a:spLocks noGrp="1"/>
          </p:cNvSpPr>
          <p:nvPr/>
        </p:nvSpPr>
        <p:spPr>
          <a:xfrm rot="0">
            <a:off x="9334500" y="1511300"/>
            <a:ext cx="368300" cy="2273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11/25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11/25</a:t>
            </a:r>
            <a:br/>
          </a:p>
        </p:txBody>
      </p:sp>
      <p:sp>
        <p:nvSpPr>
          <p:cNvPr id="92426797" name="Text">
    </p:cNvPr>
          <p:cNvSpPr>
            <a:spLocks noGrp="1"/>
          </p:cNvSpPr>
          <p:nvPr/>
        </p:nvSpPr>
        <p:spPr>
          <a:xfrm rot="0">
            <a:off x="5930900" y="1511300"/>
            <a:ext cx="3403600" cy="22733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[RPA] 이상관리 및 재수행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[RPA] '윤활유 오더 처리 업무' 작업 개발</a:t>
            </a:r>
          </a:p>
        </p:txBody>
      </p:sp>
      <p:sp>
        <p:nvSpPr>
          <p:cNvPr id="289963215" name="Text">
    </p:cNvPr>
          <p:cNvSpPr>
            <a:spLocks noGrp="1"/>
          </p:cNvSpPr>
          <p:nvPr/>
        </p:nvSpPr>
        <p:spPr>
          <a:xfrm rot="0">
            <a:off x="5308600" y="1511300"/>
            <a:ext cx="571500" cy="2273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RPA/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전자계약/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PPS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박선미</a:t>
            </a:r>
          </a:p>
        </p:txBody>
      </p:sp>
      <p:sp>
        <p:nvSpPr>
          <p:cNvPr id="1871117374" name="Text">
    </p:cNvPr>
          <p:cNvSpPr>
            <a:spLocks noGrp="1"/>
          </p:cNvSpPr>
          <p:nvPr/>
        </p:nvSpPr>
        <p:spPr>
          <a:xfrm rot="0">
            <a:off x="88900" y="1511300"/>
            <a:ext cx="571500" cy="2273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RPA/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전자계약/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PPS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박선미</a:t>
            </a:r>
          </a:p>
        </p:txBody>
      </p:sp>
      <p:sp>
        <p:nvSpPr>
          <p:cNvPr id="1818698046" name="Text">
    </p:cNvPr>
          <p:cNvSpPr>
            <a:spLocks noGrp="1"/>
          </p:cNvSpPr>
          <p:nvPr/>
        </p:nvSpPr>
        <p:spPr>
          <a:xfrm rot="0">
            <a:off x="711200" y="1511300"/>
            <a:ext cx="3403600" cy="22733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[RPA]  '항공급유 매출입력' 작업 오류 확인 및 재수행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[RPA] '금융정보 취합 및 보고' 작업 금리 행 추가로 인한 데이터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오입력 현상 수정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[RPA] ERP Ugrade RPA개발을 위한 자료 확인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[RPA] RPA ControlRoom 오류. 해결 방안 탐색 (통신 오류로 파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악됨)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[RPA] ERP Upgrade RPA 개발 작업들 녹화 및 공유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[RPA] '외화입금 내역' 작업 Test서버 수행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[RPA] '분기별 나프타 수입부과금' 작업 수행 및 오류확인. 수정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[RPA] '구매품의서' 작업 문의 확인. 담당자 착오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로이터 유가 서버 보안패치 정상 확인 및 전달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[RPA] OCR 오류 확인. Naver사 보안 작업으로 인한 접근 불가.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해결방안 탐색</a:t>
            </a:r>
          </a:p>
        </p:txBody>
      </p:sp>
      <p:sp>
        <p:nvSpPr>
          <p:cNvPr id="2070091173" name="Text">
    </p:cNvPr>
          <p:cNvSpPr>
            <a:spLocks noGrp="1"/>
          </p:cNvSpPr>
          <p:nvPr/>
        </p:nvSpPr>
        <p:spPr>
          <a:xfrm rot="0">
            <a:off x="4483100" y="1511300"/>
            <a:ext cx="368300" cy="2273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11/19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11/18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11/20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11/18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11/19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11/20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11/20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11/20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11/21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11/22</a:t>
            </a:r>
            <a:br/>
            <a:br/>
          </a:p>
        </p:txBody>
      </p:sp>
      <p:sp>
        <p:nvSpPr>
          <p:cNvPr id="698327042" name="Text">
    </p:cNvPr>
          <p:cNvSpPr>
            <a:spLocks noGrp="1"/>
          </p:cNvSpPr>
          <p:nvPr/>
        </p:nvSpPr>
        <p:spPr>
          <a:xfrm rot="0">
            <a:off x="4851400" y="1511300"/>
            <a:ext cx="368300" cy="2273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11/19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11/18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11/20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11/18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11/19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11/20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11/20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11/20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11/21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11/22</a:t>
            </a:r>
            <a:br/>
            <a:br/>
          </a:p>
        </p:txBody>
      </p:sp>
      <p:sp>
        <p:nvSpPr>
          <p:cNvPr id="1906368003" name="Text">
    </p:cNvPr>
          <p:cNvSpPr>
            <a:spLocks noGrp="1"/>
          </p:cNvSpPr>
          <p:nvPr/>
        </p:nvSpPr>
        <p:spPr>
          <a:xfrm rot="0">
            <a:off x="4114800" y="1511300"/>
            <a:ext cx="368300" cy="2273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11/18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11/18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11/18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11/18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11/19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11/20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11/20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11/20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11/21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11/22</a:t>
            </a:r>
            <a:br/>
            <a:br/>
          </a:p>
        </p:txBody>
      </p:sp>
      <p:sp>
        <p:nvSpPr>
          <p:cNvPr id="605781976" name="Text">
    </p:cNvPr>
          <p:cNvSpPr>
            <a:spLocks noGrp="1"/>
          </p:cNvSpPr>
          <p:nvPr/>
        </p:nvSpPr>
        <p:spPr>
          <a:xfrm rot="0">
            <a:off x="660400" y="1511300"/>
            <a:ext cx="3454400" cy="2273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194756291" name="Text">
    </p:cNvPr>
          <p:cNvSpPr>
            <a:spLocks noGrp="1"/>
          </p:cNvSpPr>
          <p:nvPr/>
        </p:nvSpPr>
        <p:spPr>
          <a:xfrm rot="0">
            <a:off x="5880100" y="1511300"/>
            <a:ext cx="3454400" cy="2273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335396759" name="Text">
    </p:cNvPr>
          <p:cNvSpPr>
            <a:spLocks noGrp="1"/>
          </p:cNvSpPr>
          <p:nvPr/>
        </p:nvSpPr>
        <p:spPr>
          <a:xfrm rot="0">
            <a:off x="9702800" y="37846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12/31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12/31</a:t>
            </a:r>
            <a:br/>
          </a:p>
        </p:txBody>
      </p:sp>
      <p:sp>
        <p:nvSpPr>
          <p:cNvPr id="1683634989" name="Text">
    </p:cNvPr>
          <p:cNvSpPr>
            <a:spLocks noGrp="1"/>
          </p:cNvSpPr>
          <p:nvPr/>
        </p:nvSpPr>
        <p:spPr>
          <a:xfrm rot="0">
            <a:off x="9334500" y="37846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11/08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07/15</a:t>
            </a:r>
            <a:br/>
          </a:p>
        </p:txBody>
      </p:sp>
      <p:sp>
        <p:nvSpPr>
          <p:cNvPr id="457207233" name="Text">
    </p:cNvPr>
          <p:cNvSpPr>
            <a:spLocks noGrp="1"/>
          </p:cNvSpPr>
          <p:nvPr/>
        </p:nvSpPr>
        <p:spPr>
          <a:xfrm rot="0">
            <a:off x="5930900" y="37846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구매요구서 미진행 시 자동삭제 및 협조부서 기각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기능 추가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전자결재 양식 신설(PC사용제한 해제 신청)</a:t>
            </a:r>
          </a:p>
        </p:txBody>
      </p:sp>
      <p:sp>
        <p:nvSpPr>
          <p:cNvPr id="1749262074" name="Text">
    </p:cNvPr>
          <p:cNvSpPr>
            <a:spLocks noGrp="1"/>
          </p:cNvSpPr>
          <p:nvPr/>
        </p:nvSpPr>
        <p:spPr>
          <a:xfrm rot="0">
            <a:off x="5308600" y="37846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E-Approval/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TPMS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배영식</a:t>
            </a:r>
          </a:p>
        </p:txBody>
      </p:sp>
      <p:sp>
        <p:nvSpPr>
          <p:cNvPr id="373065058" name="Text">
    </p:cNvPr>
          <p:cNvSpPr>
            <a:spLocks noGrp="1"/>
          </p:cNvSpPr>
          <p:nvPr/>
        </p:nvSpPr>
        <p:spPr>
          <a:xfrm rot="0">
            <a:off x="88900" y="37846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E-Approval/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TPMS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배영식</a:t>
            </a:r>
          </a:p>
        </p:txBody>
      </p:sp>
      <p:sp>
        <p:nvSpPr>
          <p:cNvPr id="587876315" name="Text">
    </p:cNvPr>
          <p:cNvSpPr>
            <a:spLocks noGrp="1"/>
          </p:cNvSpPr>
          <p:nvPr/>
        </p:nvSpPr>
        <p:spPr>
          <a:xfrm rot="0">
            <a:off x="711200" y="37846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구매요구서 미진행 시 자동삭제 및 협조부서 기각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기능 추가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전자결재 양식 신설(PC사용제한 해제 신청)</a:t>
            </a:r>
          </a:p>
        </p:txBody>
      </p:sp>
      <p:sp>
        <p:nvSpPr>
          <p:cNvPr id="1002178590" name="Text">
    </p:cNvPr>
          <p:cNvSpPr>
            <a:spLocks noGrp="1"/>
          </p:cNvSpPr>
          <p:nvPr/>
        </p:nvSpPr>
        <p:spPr>
          <a:xfrm rot="0">
            <a:off x="4483100" y="37846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12/31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12/31</a:t>
            </a:r>
            <a:br/>
          </a:p>
        </p:txBody>
      </p:sp>
      <p:sp>
        <p:nvSpPr>
          <p:cNvPr id="1341973981" name="Text">
    </p:cNvPr>
          <p:cNvSpPr>
            <a:spLocks noGrp="1"/>
          </p:cNvSpPr>
          <p:nvPr/>
        </p:nvSpPr>
        <p:spPr>
          <a:xfrm rot="0">
            <a:off x="4851400" y="37846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20%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[보류]</a:t>
            </a:r>
            <a:br/>
          </a:p>
        </p:txBody>
      </p:sp>
      <p:sp>
        <p:nvSpPr>
          <p:cNvPr id="1033465557" name="Text">
    </p:cNvPr>
          <p:cNvSpPr>
            <a:spLocks noGrp="1"/>
          </p:cNvSpPr>
          <p:nvPr/>
        </p:nvSpPr>
        <p:spPr>
          <a:xfrm rot="0">
            <a:off x="4114800" y="37846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11/08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07/15</a:t>
            </a:r>
            <a:br/>
          </a:p>
        </p:txBody>
      </p:sp>
      <p:sp>
        <p:nvSpPr>
          <p:cNvPr id="1289536034" name="Text">
    </p:cNvPr>
          <p:cNvSpPr>
            <a:spLocks noGrp="1"/>
          </p:cNvSpPr>
          <p:nvPr/>
        </p:nvSpPr>
        <p:spPr>
          <a:xfrm rot="0">
            <a:off x="660400" y="37846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393989983" name="Text">
    </p:cNvPr>
          <p:cNvSpPr>
            <a:spLocks noGrp="1"/>
          </p:cNvSpPr>
          <p:nvPr/>
        </p:nvSpPr>
        <p:spPr>
          <a:xfrm rot="0">
            <a:off x="5880100" y="37846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7034848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226321043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669282368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716640327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496145763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b="1" sz="15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570">
                <a:latin typeface="맑은 고딕"/>
                <a:ea typeface="맑은 고딕"/>
                <a:cs typeface="맑은 고딕"/>
              </a:rPr>
              <a:t>3. 주간업무 실적 및 계획(①Baynex - WEB)</a:t>
            </a:r>
          </a:p>
        </p:txBody>
      </p:sp>
      <p:sp>
        <p:nvSpPr>
          <p:cNvPr id="359026422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265411360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494323637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340156661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863018357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855202016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429488741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048572011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164841956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897217638" name="Text">
    </p:cNvPr>
          <p:cNvSpPr>
            <a:spLocks noGrp="1"/>
          </p:cNvSpPr>
          <p:nvPr/>
        </p:nvSpPr>
        <p:spPr>
          <a:xfrm rot="0">
            <a:off x="9702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11/30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12/31</a:t>
            </a:r>
            <a:br/>
          </a:p>
        </p:txBody>
      </p:sp>
      <p:sp>
        <p:nvSpPr>
          <p:cNvPr id="596453491" name="Text">
    </p:cNvPr>
          <p:cNvSpPr>
            <a:spLocks noGrp="1"/>
          </p:cNvSpPr>
          <p:nvPr/>
        </p:nvSpPr>
        <p:spPr>
          <a:xfrm rot="0">
            <a:off x="93345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06/10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11/15</a:t>
            </a:r>
            <a:br/>
          </a:p>
        </p:txBody>
      </p:sp>
      <p:sp>
        <p:nvSpPr>
          <p:cNvPr id="1647339713" name="Text">
    </p:cNvPr>
          <p:cNvSpPr>
            <a:spLocks noGrp="1"/>
          </p:cNvSpPr>
          <p:nvPr/>
        </p:nvSpPr>
        <p:spPr>
          <a:xfrm rot="0">
            <a:off x="5930900" y="15113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[OSPM] 편의성 수정 -&gt; 프로시저 수정, 페이징처리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ITSM-113794 OT 사이버보안 시스템 신청서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ITSM-118057 S-imoms 작업 결과 보고서</a:t>
            </a:r>
          </a:p>
        </p:txBody>
      </p:sp>
      <p:sp>
        <p:nvSpPr>
          <p:cNvPr id="1908375818" name="Text">
    </p:cNvPr>
          <p:cNvSpPr>
            <a:spLocks noGrp="1"/>
          </p:cNvSpPr>
          <p:nvPr/>
        </p:nvSpPr>
        <p:spPr>
          <a:xfrm rot="0">
            <a:off x="53086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OSPM/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E-Approval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변석범</a:t>
            </a:r>
          </a:p>
        </p:txBody>
      </p:sp>
      <p:sp>
        <p:nvSpPr>
          <p:cNvPr id="696350549" name="Text">
    </p:cNvPr>
          <p:cNvSpPr>
            <a:spLocks noGrp="1"/>
          </p:cNvSpPr>
          <p:nvPr/>
        </p:nvSpPr>
        <p:spPr>
          <a:xfrm rot="0">
            <a:off x="889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OSPM/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E-Approval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변석범</a:t>
            </a:r>
          </a:p>
        </p:txBody>
      </p:sp>
      <p:sp>
        <p:nvSpPr>
          <p:cNvPr id="1669663910" name="Text">
    </p:cNvPr>
          <p:cNvSpPr>
            <a:spLocks noGrp="1"/>
          </p:cNvSpPr>
          <p:nvPr/>
        </p:nvSpPr>
        <p:spPr>
          <a:xfrm rot="0">
            <a:off x="711200" y="15113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[OSPM] 편의성 수정 -&gt; 프로시저 수정, 페이징처리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ITSM-113794 OT 사이버보안 시스템 신청서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ITSM-118739 프로필사진 촬영 신청서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ITSM-119447,ITSM-119451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ITSM-119489,ITSM-119494,ITSM-119464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[OSPM] 단가계약상세[협력] - 단가계산 프로시저 수정계획서+정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산서 - 엑셀다운로드 구조 수정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ITSM-119540,ITSM-119563,ITSM-119564,I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TSM-119562,ITSM-119558,ITSM-119586,ITSM-119609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,ITSM-119612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ITSM-119614,ITSM-119638,ITSM-119640,I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TSM-119681</a:t>
            </a:r>
          </a:p>
        </p:txBody>
      </p:sp>
      <p:sp>
        <p:nvSpPr>
          <p:cNvPr id="43124343" name="Text">
    </p:cNvPr>
          <p:cNvSpPr>
            <a:spLocks noGrp="1"/>
          </p:cNvSpPr>
          <p:nvPr/>
        </p:nvSpPr>
        <p:spPr>
          <a:xfrm rot="0">
            <a:off x="44831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11/30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11/18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11/18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11/19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11/20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11/21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11/22</a:t>
            </a:r>
            <a:br/>
            <a:br/>
          </a:p>
        </p:txBody>
      </p:sp>
      <p:sp>
        <p:nvSpPr>
          <p:cNvPr id="254308606" name="Text">
    </p:cNvPr>
          <p:cNvSpPr>
            <a:spLocks noGrp="1"/>
          </p:cNvSpPr>
          <p:nvPr/>
        </p:nvSpPr>
        <p:spPr>
          <a:xfrm rot="0">
            <a:off x="48514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20%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11/18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11/18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11/19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11/20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11/21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11/22</a:t>
            </a:r>
            <a:br/>
            <a:br/>
          </a:p>
        </p:txBody>
      </p:sp>
      <p:sp>
        <p:nvSpPr>
          <p:cNvPr id="758220177" name="Text">
    </p:cNvPr>
          <p:cNvSpPr>
            <a:spLocks noGrp="1"/>
          </p:cNvSpPr>
          <p:nvPr/>
        </p:nvSpPr>
        <p:spPr>
          <a:xfrm rot="0">
            <a:off x="4114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06/10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11/11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11/18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11/19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11/20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11/21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11/22</a:t>
            </a:r>
            <a:br/>
            <a:br/>
          </a:p>
        </p:txBody>
      </p:sp>
      <p:sp>
        <p:nvSpPr>
          <p:cNvPr id="1712999597" name="Text">
    </p:cNvPr>
          <p:cNvSpPr>
            <a:spLocks noGrp="1"/>
          </p:cNvSpPr>
          <p:nvPr/>
        </p:nvSpPr>
        <p:spPr>
          <a:xfrm rot="0">
            <a:off x="6604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957257127" name="Text">
    </p:cNvPr>
          <p:cNvSpPr>
            <a:spLocks noGrp="1"/>
          </p:cNvSpPr>
          <p:nvPr/>
        </p:nvSpPr>
        <p:spPr>
          <a:xfrm rot="0">
            <a:off x="58801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952794700" name="Text">
    </p:cNvPr>
          <p:cNvSpPr>
            <a:spLocks noGrp="1"/>
          </p:cNvSpPr>
          <p:nvPr/>
        </p:nvSpPr>
        <p:spPr>
          <a:xfrm rot="0">
            <a:off x="9702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11/29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12/31</a:t>
            </a:r>
            <a:br/>
            <a:br/>
          </a:p>
        </p:txBody>
      </p:sp>
      <p:sp>
        <p:nvSpPr>
          <p:cNvPr id="435583433" name="Text">
    </p:cNvPr>
          <p:cNvSpPr>
            <a:spLocks noGrp="1"/>
          </p:cNvSpPr>
          <p:nvPr/>
        </p:nvSpPr>
        <p:spPr>
          <a:xfrm rot="0">
            <a:off x="93345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11/25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10/25</a:t>
            </a:r>
            <a:br/>
            <a:br/>
          </a:p>
        </p:txBody>
      </p:sp>
      <p:sp>
        <p:nvSpPr>
          <p:cNvPr id="758985086" name="Text">
    </p:cNvPr>
          <p:cNvSpPr>
            <a:spLocks noGrp="1"/>
          </p:cNvSpPr>
          <p:nvPr/>
        </p:nvSpPr>
        <p:spPr>
          <a:xfrm rot="0">
            <a:off x="5930900" y="37719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[LMS] 사용자 응대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[ERM] Emergency Accident 및 Drill 관련 실시간 정보 공유 기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능 개선</a:t>
            </a:r>
          </a:p>
        </p:txBody>
      </p:sp>
      <p:sp>
        <p:nvSpPr>
          <p:cNvPr id="324470553" name="Text">
    </p:cNvPr>
          <p:cNvSpPr>
            <a:spLocks noGrp="1"/>
          </p:cNvSpPr>
          <p:nvPr/>
        </p:nvSpPr>
        <p:spPr>
          <a:xfrm rot="0">
            <a:off x="53086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LMS/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ERS/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ERM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순현국</a:t>
            </a:r>
          </a:p>
        </p:txBody>
      </p:sp>
      <p:sp>
        <p:nvSpPr>
          <p:cNvPr id="2021925665" name="Text">
    </p:cNvPr>
          <p:cNvSpPr>
            <a:spLocks noGrp="1"/>
          </p:cNvSpPr>
          <p:nvPr/>
        </p:nvSpPr>
        <p:spPr>
          <a:xfrm rot="0">
            <a:off x="889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LMS/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ERS/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ERM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순현국</a:t>
            </a:r>
          </a:p>
        </p:txBody>
      </p:sp>
      <p:sp>
        <p:nvSpPr>
          <p:cNvPr id="1385575881" name="Text">
    </p:cNvPr>
          <p:cNvSpPr>
            <a:spLocks noGrp="1"/>
          </p:cNvSpPr>
          <p:nvPr/>
        </p:nvSpPr>
        <p:spPr>
          <a:xfrm rot="0">
            <a:off x="711200" y="37719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[ERM] Emergency Accident 및 Drill 관련 실시간 정보 공유 기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능 개선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[ERM] ITSM-119311 ERM IT 시스템 기능 개선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[LMS] ITSM-119435 LMS 소프트스킬 Assessment실행시 발송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되는 메일 문구 수정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[LMS] ODA/TDA 신청시 오류, 신규 직책 필터 추가(Trading Sp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ecialist)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[ERS] ITSM-119417 ERS 관리자 모드 권한 신청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[LMS] 안전-elearning 교육과정에 등록된 수강인원 및 수료인원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통계(2024.11.22 오전기준)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[LMS] ITSM-119641 교육이수시간 변경 요청</a:t>
            </a:r>
          </a:p>
        </p:txBody>
      </p:sp>
      <p:sp>
        <p:nvSpPr>
          <p:cNvPr id="384063524" name="Text">
    </p:cNvPr>
          <p:cNvSpPr>
            <a:spLocks noGrp="1"/>
          </p:cNvSpPr>
          <p:nvPr/>
        </p:nvSpPr>
        <p:spPr>
          <a:xfrm rot="0">
            <a:off x="44831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12/31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11/21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11/18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11/19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11/18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11/22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11/22</a:t>
            </a:r>
            <a:br/>
          </a:p>
        </p:txBody>
      </p:sp>
      <p:sp>
        <p:nvSpPr>
          <p:cNvPr id="1025571374" name="Text">
    </p:cNvPr>
          <p:cNvSpPr>
            <a:spLocks noGrp="1"/>
          </p:cNvSpPr>
          <p:nvPr/>
        </p:nvSpPr>
        <p:spPr>
          <a:xfrm rot="0">
            <a:off x="48514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85%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11/21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11/18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11/19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11/18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11/22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11/22</a:t>
            </a:r>
            <a:br/>
          </a:p>
        </p:txBody>
      </p:sp>
      <p:sp>
        <p:nvSpPr>
          <p:cNvPr id="1684298624" name="Text">
    </p:cNvPr>
          <p:cNvSpPr>
            <a:spLocks noGrp="1"/>
          </p:cNvSpPr>
          <p:nvPr/>
        </p:nvSpPr>
        <p:spPr>
          <a:xfrm rot="0">
            <a:off x="4114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10/22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11/13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11/18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11/19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11/18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11/22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11/22</a:t>
            </a:r>
            <a:br/>
          </a:p>
        </p:txBody>
      </p:sp>
      <p:sp>
        <p:nvSpPr>
          <p:cNvPr id="121574072" name="Text">
    </p:cNvPr>
          <p:cNvSpPr>
            <a:spLocks noGrp="1"/>
          </p:cNvSpPr>
          <p:nvPr/>
        </p:nvSpPr>
        <p:spPr>
          <a:xfrm rot="0">
            <a:off x="6604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858672899" name="Text">
    </p:cNvPr>
          <p:cNvSpPr>
            <a:spLocks noGrp="1"/>
          </p:cNvSpPr>
          <p:nvPr/>
        </p:nvSpPr>
        <p:spPr>
          <a:xfrm rot="0">
            <a:off x="58801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5607349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818848172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910089441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1368029498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1073844566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b="1" sz="15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570">
                <a:latin typeface="맑은 고딕"/>
                <a:ea typeface="맑은 고딕"/>
                <a:cs typeface="맑은 고딕"/>
              </a:rPr>
              <a:t>3. 주간업무 실적 및 계획(①Baynex - WEB)</a:t>
            </a:r>
          </a:p>
        </p:txBody>
      </p:sp>
      <p:sp>
        <p:nvSpPr>
          <p:cNvPr id="92769083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970316740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991180397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2001963896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312033018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504239875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125454597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687233108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1189865064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482008399" name="Text">
    </p:cNvPr>
          <p:cNvSpPr>
            <a:spLocks noGrp="1"/>
          </p:cNvSpPr>
          <p:nvPr/>
        </p:nvSpPr>
        <p:spPr>
          <a:xfrm rot="0">
            <a:off x="9702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11/28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11/28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11/28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11/29</a:t>
            </a:r>
            <a:br/>
          </a:p>
        </p:txBody>
      </p:sp>
      <p:sp>
        <p:nvSpPr>
          <p:cNvPr id="858983035" name="Text">
    </p:cNvPr>
          <p:cNvSpPr>
            <a:spLocks noGrp="1"/>
          </p:cNvSpPr>
          <p:nvPr/>
        </p:nvSpPr>
        <p:spPr>
          <a:xfrm rot="0">
            <a:off x="93345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11/11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11/14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11/14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11/18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11/18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11/18</a:t>
            </a:r>
            <a:br/>
          </a:p>
        </p:txBody>
      </p:sp>
      <p:sp>
        <p:nvSpPr>
          <p:cNvPr id="689815729" name="Text">
    </p:cNvPr>
          <p:cNvSpPr>
            <a:spLocks noGrp="1"/>
          </p:cNvSpPr>
          <p:nvPr/>
        </p:nvSpPr>
        <p:spPr>
          <a:xfrm rot="0">
            <a:off x="5930900" y="15113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[EWS] [리스크관리팀] EWS 시나리오 삭제 및 담당부서 제외 처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리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[EWS] [SAP DS Upgrade] EWS 모든 테이블 포맷이 다른 데이터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확인 요청 (운영-개발)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[WMS] [ERP Upgrade] 데이터 마이그레이션 지원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EWS 인수인계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GCMS 인수인계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WMS 인수인계</a:t>
            </a:r>
          </a:p>
        </p:txBody>
      </p:sp>
      <p:sp>
        <p:nvSpPr>
          <p:cNvPr id="811383644" name="Text">
    </p:cNvPr>
          <p:cNvSpPr>
            <a:spLocks noGrp="1"/>
          </p:cNvSpPr>
          <p:nvPr/>
        </p:nvSpPr>
        <p:spPr>
          <a:xfrm rot="0">
            <a:off x="53086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WMS/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EWS/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RPA/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GCMS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이병준</a:t>
            </a:r>
          </a:p>
        </p:txBody>
      </p:sp>
      <p:sp>
        <p:nvSpPr>
          <p:cNvPr id="1162223047" name="Text">
    </p:cNvPr>
          <p:cNvSpPr>
            <a:spLocks noGrp="1"/>
          </p:cNvSpPr>
          <p:nvPr/>
        </p:nvSpPr>
        <p:spPr>
          <a:xfrm rot="0">
            <a:off x="889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WMS/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EWS/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RPA/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GCMS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이병준</a:t>
            </a:r>
          </a:p>
        </p:txBody>
      </p:sp>
      <p:sp>
        <p:nvSpPr>
          <p:cNvPr id="1854781382" name="Text">
    </p:cNvPr>
          <p:cNvSpPr>
            <a:spLocks noGrp="1"/>
          </p:cNvSpPr>
          <p:nvPr/>
        </p:nvSpPr>
        <p:spPr>
          <a:xfrm rot="0">
            <a:off x="711200" y="15113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[EWS] [리스크관리팀] EWS 시나리오 삭제 및 담당부서 제외 처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리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[EWS] [SAP DS Upgrade] EWS 모든 테이블 포맷이 다른 데이터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확인 요청 (운영-개발)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[GCMS] 모바일상품권 데이터 오류 확인 요청 SAP DS 오류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[WMS] [ERP Upgrade] 데이터 마이그레이션 지원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[WMS] EIOM DB 서버 IP 변경에 따른 설정 작업 배치시 연동된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설정 변경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[WMS] 입고 확정시 오류 확인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EWS 인수인계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GCMS 인수인계</a:t>
            </a:r>
          </a:p>
        </p:txBody>
      </p:sp>
      <p:sp>
        <p:nvSpPr>
          <p:cNvPr id="693299950" name="Text">
    </p:cNvPr>
          <p:cNvSpPr>
            <a:spLocks noGrp="1"/>
          </p:cNvSpPr>
          <p:nvPr/>
        </p:nvSpPr>
        <p:spPr>
          <a:xfrm rot="0">
            <a:off x="44831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11/28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11/28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11/19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11/28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11/24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11/22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11/29</a:t>
            </a:r>
            <a:br/>
          </a:p>
        </p:txBody>
      </p:sp>
      <p:sp>
        <p:nvSpPr>
          <p:cNvPr id="2088837827" name="Text">
    </p:cNvPr>
          <p:cNvSpPr>
            <a:spLocks noGrp="1"/>
          </p:cNvSpPr>
          <p:nvPr/>
        </p:nvSpPr>
        <p:spPr>
          <a:xfrm rot="0">
            <a:off x="48514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60%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80%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11/19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40%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11/24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11/22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40%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50%</a:t>
            </a:r>
            <a:br/>
          </a:p>
        </p:txBody>
      </p:sp>
      <p:sp>
        <p:nvSpPr>
          <p:cNvPr id="165458097" name="Text">
    </p:cNvPr>
          <p:cNvSpPr>
            <a:spLocks noGrp="1"/>
          </p:cNvSpPr>
          <p:nvPr/>
        </p:nvSpPr>
        <p:spPr>
          <a:xfrm rot="0">
            <a:off x="4114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11/11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11/14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11/18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11/14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11/22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11/21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11/18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11/18</a:t>
            </a:r>
            <a:br/>
          </a:p>
        </p:txBody>
      </p:sp>
      <p:sp>
        <p:nvSpPr>
          <p:cNvPr id="183240139" name="Text">
    </p:cNvPr>
          <p:cNvSpPr>
            <a:spLocks noGrp="1"/>
          </p:cNvSpPr>
          <p:nvPr/>
        </p:nvSpPr>
        <p:spPr>
          <a:xfrm rot="0">
            <a:off x="6604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886545378" name="Text">
    </p:cNvPr>
          <p:cNvSpPr>
            <a:spLocks noGrp="1"/>
          </p:cNvSpPr>
          <p:nvPr/>
        </p:nvSpPr>
        <p:spPr>
          <a:xfrm rot="0">
            <a:off x="58801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102393473" name="Text">
    </p:cNvPr>
          <p:cNvSpPr>
            <a:spLocks noGrp="1"/>
          </p:cNvSpPr>
          <p:nvPr/>
        </p:nvSpPr>
        <p:spPr>
          <a:xfrm rot="0">
            <a:off x="9702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11/29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01/01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11/29</a:t>
            </a:r>
            <a:br/>
            <a:br/>
          </a:p>
        </p:txBody>
      </p:sp>
      <p:sp>
        <p:nvSpPr>
          <p:cNvPr id="754993470" name="Text">
    </p:cNvPr>
          <p:cNvSpPr>
            <a:spLocks noGrp="1"/>
          </p:cNvSpPr>
          <p:nvPr/>
        </p:nvSpPr>
        <p:spPr>
          <a:xfrm rot="0">
            <a:off x="93345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11/25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11/25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10/15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11/06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10/15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11/25</a:t>
            </a:r>
            <a:br/>
            <a:br/>
          </a:p>
        </p:txBody>
      </p:sp>
      <p:sp>
        <p:nvSpPr>
          <p:cNvPr id="1202246408" name="Text">
    </p:cNvPr>
          <p:cNvSpPr>
            <a:spLocks noGrp="1"/>
          </p:cNvSpPr>
          <p:nvPr/>
        </p:nvSpPr>
        <p:spPr>
          <a:xfrm rot="0">
            <a:off x="5930900" y="37719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[RMS] 기능 문의 및 피드백 처리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[LOPAS] DB 캐시 및 버퍼 점검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[LOPAS] [ERP Upgrdae] 재고 및 출하현황 정보 제공을 위한 V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iew 생성 요청 (ITSM-117962)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[LOPAS] EAI 3차 테스트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[LOPAS] SAP DS 배치 중단 현상 관련 조치 및 점검 요청 ( * 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영 여부 모니터링 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[VOC] 일일점검보고 (태운광 차장님, 김지혜 대리님, 박경근 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리님)</a:t>
            </a:r>
          </a:p>
        </p:txBody>
      </p:sp>
      <p:sp>
        <p:nvSpPr>
          <p:cNvPr id="1328044180" name="Text">
    </p:cNvPr>
          <p:cNvSpPr>
            <a:spLocks noGrp="1"/>
          </p:cNvSpPr>
          <p:nvPr/>
        </p:nvSpPr>
        <p:spPr>
          <a:xfrm rot="0">
            <a:off x="53086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LOPAS/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VOC/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PRM 품질관리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이지은</a:t>
            </a:r>
          </a:p>
        </p:txBody>
      </p:sp>
      <p:sp>
        <p:nvSpPr>
          <p:cNvPr id="661735624" name="Text">
    </p:cNvPr>
          <p:cNvSpPr>
            <a:spLocks noGrp="1"/>
          </p:cNvSpPr>
          <p:nvPr/>
        </p:nvSpPr>
        <p:spPr>
          <a:xfrm rot="0">
            <a:off x="889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LOPAS/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VOC/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PRM 품질관리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이지은</a:t>
            </a:r>
          </a:p>
        </p:txBody>
      </p:sp>
      <p:sp>
        <p:nvSpPr>
          <p:cNvPr id="135769249" name="Text">
    </p:cNvPr>
          <p:cNvSpPr>
            <a:spLocks noGrp="1"/>
          </p:cNvSpPr>
          <p:nvPr/>
        </p:nvSpPr>
        <p:spPr>
          <a:xfrm rot="0">
            <a:off x="711200" y="37719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[RMS] 기능 문의 및 피드백 처리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[LOPAS] DB 캐시 및 버퍼 점검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[LOPAS] LOPAS 송유계획서 PDF 파일 업로드 작업 관련 개선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요청 (ITSM-118773)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[LOPAS] [ERP Upgrdae] 재고 및 출하현황 정보 제공을 위한 V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iew 생성 요청 (ITSM-117962)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[LOPAS] EAI 3차 테스트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[LOPAS] SAP DS 배치 중단 현상 관련 조치 및 점검 요청 ( * 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영 여부 모니터링 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 품질관리] CRM -to PRM SAP DS View List 정리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[VOC] 일일점검보고 (태운광 차장님, 김지혜 대리님, 박경근 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리님)</a:t>
            </a:r>
          </a:p>
        </p:txBody>
      </p:sp>
      <p:sp>
        <p:nvSpPr>
          <p:cNvPr id="153493048" name="Text">
    </p:cNvPr>
          <p:cNvSpPr>
            <a:spLocks noGrp="1"/>
          </p:cNvSpPr>
          <p:nvPr/>
        </p:nvSpPr>
        <p:spPr>
          <a:xfrm rot="0">
            <a:off x="44831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11/22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11/22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11/29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01/01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11/22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11/22</a:t>
            </a:r>
            <a:br/>
            <a:br/>
          </a:p>
        </p:txBody>
      </p:sp>
      <p:sp>
        <p:nvSpPr>
          <p:cNvPr id="71768944" name="Text">
    </p:cNvPr>
          <p:cNvSpPr>
            <a:spLocks noGrp="1"/>
          </p:cNvSpPr>
          <p:nvPr/>
        </p:nvSpPr>
        <p:spPr>
          <a:xfrm rot="0">
            <a:off x="48514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11/22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11/22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11/22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95%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20%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60%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11/22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11/22</a:t>
            </a:r>
            <a:br/>
            <a:br/>
          </a:p>
        </p:txBody>
      </p:sp>
      <p:sp>
        <p:nvSpPr>
          <p:cNvPr id="693969976" name="Text">
    </p:cNvPr>
          <p:cNvSpPr>
            <a:spLocks noGrp="1"/>
          </p:cNvSpPr>
          <p:nvPr/>
        </p:nvSpPr>
        <p:spPr>
          <a:xfrm rot="0">
            <a:off x="4114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11/18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11/18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11/01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10/15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11/06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10/15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11/21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11/18</a:t>
            </a:r>
            <a:br/>
            <a:br/>
          </a:p>
        </p:txBody>
      </p:sp>
      <p:sp>
        <p:nvSpPr>
          <p:cNvPr id="471529238" name="Text">
    </p:cNvPr>
          <p:cNvSpPr>
            <a:spLocks noGrp="1"/>
          </p:cNvSpPr>
          <p:nvPr/>
        </p:nvSpPr>
        <p:spPr>
          <a:xfrm rot="0">
            <a:off x="6604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628424051" name="Text">
    </p:cNvPr>
          <p:cNvSpPr>
            <a:spLocks noGrp="1"/>
          </p:cNvSpPr>
          <p:nvPr/>
        </p:nvSpPr>
        <p:spPr>
          <a:xfrm rot="0">
            <a:off x="58801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385014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500014032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302091180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278684666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772246145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b="1" sz="15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570">
                <a:latin typeface="맑은 고딕"/>
                <a:ea typeface="맑은 고딕"/>
                <a:cs typeface="맑은 고딕"/>
              </a:rPr>
              <a:t>3. 주간업무 실적 및 계획(①Baynex - WEB)</a:t>
            </a:r>
          </a:p>
        </p:txBody>
      </p:sp>
      <p:sp>
        <p:nvSpPr>
          <p:cNvPr id="878394484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714710456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500096674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269330572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645746449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089434171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423437372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550043704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271192930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728749558" name="Text">
    </p:cNvPr>
          <p:cNvSpPr>
            <a:spLocks noGrp="1"/>
          </p:cNvSpPr>
          <p:nvPr/>
        </p:nvSpPr>
        <p:spPr>
          <a:xfrm rot="0">
            <a:off x="9702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12/27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11/29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11/29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12/27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11/24</a:t>
            </a:r>
            <a:br/>
          </a:p>
        </p:txBody>
      </p:sp>
      <p:sp>
        <p:nvSpPr>
          <p:cNvPr id="1075996841" name="Text">
    </p:cNvPr>
          <p:cNvSpPr>
            <a:spLocks noGrp="1"/>
          </p:cNvSpPr>
          <p:nvPr/>
        </p:nvSpPr>
        <p:spPr>
          <a:xfrm rot="0">
            <a:off x="93345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11/08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07/12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10/11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10/25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11/24</a:t>
            </a:r>
            <a:br/>
          </a:p>
        </p:txBody>
      </p:sp>
      <p:sp>
        <p:nvSpPr>
          <p:cNvPr id="47339679" name="Text">
    </p:cNvPr>
          <p:cNvSpPr>
            <a:spLocks noGrp="1"/>
          </p:cNvSpPr>
          <p:nvPr/>
        </p:nvSpPr>
        <p:spPr>
          <a:xfrm rot="0">
            <a:off x="5930900" y="15113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[EIS] 2024.10월 결산의 EIS, Yellow Book 반영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SGI서울보증 차세대시스템 구축에 따른 전자보증 시스템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테스트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[승강기연동] REUTERS국제가 연동 서버 변경에 따른 인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터페이스 수정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ERP 및 PRM 거래처 마스터 연동관련 주석 추가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[출입관리시스템] PS -&gt; OA망 이관에 따른 EAI 서버작업</a:t>
            </a:r>
          </a:p>
        </p:txBody>
      </p:sp>
      <p:sp>
        <p:nvSpPr>
          <p:cNvPr id="1118042788" name="Text">
    </p:cNvPr>
          <p:cNvSpPr>
            <a:spLocks noGrp="1"/>
          </p:cNvSpPr>
          <p:nvPr/>
        </p:nvSpPr>
        <p:spPr>
          <a:xfrm rot="0">
            <a:off x="53086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EIS/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EAI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황보람</a:t>
            </a:r>
          </a:p>
        </p:txBody>
      </p:sp>
      <p:sp>
        <p:nvSpPr>
          <p:cNvPr id="397825891" name="Text">
    </p:cNvPr>
          <p:cNvSpPr>
            <a:spLocks noGrp="1"/>
          </p:cNvSpPr>
          <p:nvPr/>
        </p:nvSpPr>
        <p:spPr>
          <a:xfrm rot="0">
            <a:off x="889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EIS/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EAI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황보람</a:t>
            </a:r>
          </a:p>
        </p:txBody>
      </p:sp>
      <p:sp>
        <p:nvSpPr>
          <p:cNvPr id="1149370908" name="Text">
    </p:cNvPr>
          <p:cNvSpPr>
            <a:spLocks noGrp="1"/>
          </p:cNvSpPr>
          <p:nvPr/>
        </p:nvSpPr>
        <p:spPr>
          <a:xfrm rot="0">
            <a:off x="711200" y="15113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[EIS] 2024.10월 결산의 EIS, Yellow Book 반영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[EIS] SAP BW DATA변경에 따른 Yellow Book 노캐쉬 Report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수정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[승강기연동] REUTERS국제가 연동 서버 변경에 따른 인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터페이스 수정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ERP 및 PRM 거래처 마스터 연동관련 주석 추가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ERP프로젝트 3단계 대외기간 로이터 유가정보 테스트 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원</a:t>
            </a:r>
          </a:p>
        </p:txBody>
      </p:sp>
      <p:sp>
        <p:nvSpPr>
          <p:cNvPr id="1417981107" name="Text">
    </p:cNvPr>
          <p:cNvSpPr>
            <a:spLocks noGrp="1"/>
          </p:cNvSpPr>
          <p:nvPr/>
        </p:nvSpPr>
        <p:spPr>
          <a:xfrm rot="0">
            <a:off x="44831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12/27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11/22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11/29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12/27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11/22</a:t>
            </a:r>
            <a:br/>
            <a:br/>
          </a:p>
        </p:txBody>
      </p:sp>
      <p:sp>
        <p:nvSpPr>
          <p:cNvPr id="162470493" name="Text">
    </p:cNvPr>
          <p:cNvSpPr>
            <a:spLocks noGrp="1"/>
          </p:cNvSpPr>
          <p:nvPr/>
        </p:nvSpPr>
        <p:spPr>
          <a:xfrm rot="0">
            <a:off x="48514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11/22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11/22</a:t>
            </a:r>
            <a:br/>
            <a:br/>
          </a:p>
        </p:txBody>
      </p:sp>
      <p:sp>
        <p:nvSpPr>
          <p:cNvPr id="747063620" name="Text">
    </p:cNvPr>
          <p:cNvSpPr>
            <a:spLocks noGrp="1"/>
          </p:cNvSpPr>
          <p:nvPr/>
        </p:nvSpPr>
        <p:spPr>
          <a:xfrm rot="0">
            <a:off x="4114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11/08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11/18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10/11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10/25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11/18</a:t>
            </a:r>
            <a:br/>
            <a:br/>
          </a:p>
        </p:txBody>
      </p:sp>
      <p:sp>
        <p:nvSpPr>
          <p:cNvPr id="2025925674" name="Text">
    </p:cNvPr>
          <p:cNvSpPr>
            <a:spLocks noGrp="1"/>
          </p:cNvSpPr>
          <p:nvPr/>
        </p:nvSpPr>
        <p:spPr>
          <a:xfrm rot="0">
            <a:off x="6604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64755125" name="Text">
    </p:cNvPr>
          <p:cNvSpPr>
            <a:spLocks noGrp="1"/>
          </p:cNvSpPr>
          <p:nvPr/>
        </p:nvSpPr>
        <p:spPr>
          <a:xfrm rot="0">
            <a:off x="58801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7505" name="Group 97"/>
          <p:cNvGraphicFramePr>
            <a:graphicFrameLocks noGrp="1"/>
          </p:cNvGraphicFramePr>
          <p:nvPr/>
        </p:nvGraphicFramePr>
        <p:xfrm>
          <a:off x="255577" y="1105143"/>
          <a:ext cx="4771985" cy="3535492"/>
        </p:xfrm>
        <a:graphic>
          <a:graphicData uri="http://schemas.openxmlformats.org/drawingml/2006/table">
            <a:tbl>
              <a:tblPr/>
              <a:tblGrid>
                <a:gridCol w="52193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5880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2193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193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4737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85077"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구분</a:t>
                      </a:r>
                      <a:r>
                        <a:rPr altLang="ko-KR" b="1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/</a:t>
                      </a:r>
                    </a:p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담당자</a:t>
                      </a:r>
                      <a:endParaRPr altLang="ko-KR" b="1" baseline="0" cap="none" dirty="0" i="0" kumimoji="1" lang="en-US" normalizeH="0" smtClean="0" strike="noStrike" sz="9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494" marL="88055" marR="88055" marT="45494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업무 내용</a:t>
                      </a:r>
                    </a:p>
                  </a:txBody>
                  <a:tcPr anchor="ctr" horzOverflow="overflow" marB="45494" marL="88055" marR="88055" marT="45494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접수일</a:t>
                      </a:r>
                    </a:p>
                  </a:txBody>
                  <a:tcPr anchor="ctr" horzOverflow="overflow" marB="45494" marL="88055" marR="88055" marT="45494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완료 목표일</a:t>
                      </a:r>
                    </a:p>
                  </a:txBody>
                  <a:tcPr horzOverflow="overflow" marB="45494" marL="88055" marR="88055" marT="45494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err="1" i="0" kumimoji="1" lang="ko-KR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진행율</a:t>
                      </a:r>
                      <a:endParaRPr altLang="ko-KR" b="1" baseline="0" cap="none" dirty="0" i="0" kumimoji="1" lang="en-US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494" marL="88055" marR="88055" marT="45494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4922">
                <a:tc rowSpan="7">
                  <a:txBody>
                    <a:bodyPr/>
                    <a:lstStyle>
                      <a:lvl1pPr algn="l"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1pPr>
                      <a:lvl2pPr algn="l"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2pPr>
                      <a:lvl3pPr algn="l"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3pPr>
                      <a:lvl4pPr algn="l"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4pPr>
                      <a:lvl5pPr algn="l"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9pPr>
                    </a:lstStyle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CRM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Market.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/ 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박치영</a:t>
                      </a:r>
                    </a:p>
                  </a:txBody>
                  <a:tcPr horzOverflow="overflow" marB="45527" marL="81282" marR="81282" marT="4552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lvl="0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전화번호로 포인트 적립 적용 조회</a:t>
                      </a:r>
                      <a:endParaRPr altLang="ko-KR" b="0" baseline="0" dirty="0" lang="en-US" smtClean="0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b="0" baseline="0" dirty="0" kern="1200" lang="ko-KR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80%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05" marL="81282" marR="81282" marT="4560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2731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lvl="0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="0" baseline="0" dirty="0" err="1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현대차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</a:t>
                      </a: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G </a:t>
                      </a:r>
                      <a:r>
                        <a:rPr altLang="en-US" b="0" baseline="0" dirty="0" err="1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카페이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연동  </a:t>
                      </a: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(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주유소연동추가</a:t>
                      </a: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_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현대서버</a:t>
                      </a: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)</a:t>
                      </a: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b="0" baseline="0" dirty="0" kern="1200" lang="ko-KR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90%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05" marL="81282" marR="81282" marT="4560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4892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lvl="0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주유소 </a:t>
                      </a:r>
                      <a:r>
                        <a:rPr altLang="en-US" b="0" baseline="0" dirty="0" err="1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금결원전송관련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수정</a:t>
                      </a:r>
                      <a:endParaRPr altLang="ko-KR" b="0" baseline="0" dirty="0" lang="en-US" smtClean="0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b="0" baseline="0" dirty="0" kern="1200" lang="ko-KR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30%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05" marL="81282" marR="81282" marT="4560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1583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lvl="0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플랫폼</a:t>
                      </a: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테스트 대응</a:t>
                      </a: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, 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수정</a:t>
                      </a:r>
                      <a:endParaRPr altLang="ko-KR" b="0" baseline="0" dirty="0" lang="en-US" smtClean="0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b="0" baseline="0" dirty="0" kern="1200" lang="ko-KR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05" marL="81282" marR="81282" marT="4560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29932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lvl="0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부정적립관련 대응 조치 </a:t>
                      </a:r>
                      <a:endParaRPr altLang="ko-KR" b="0" baseline="0" dirty="0" lang="en-US" smtClean="0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b="0" baseline="0" dirty="0" kern="1200" lang="ko-KR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100%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05" marL="81282" marR="81282" marT="4560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29932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lvl="0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="0" baseline="0" dirty="0" err="1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키오스크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즉발카드 등록 개발</a:t>
                      </a:r>
                      <a:endParaRPr altLang="ko-KR" b="0" baseline="0" dirty="0" lang="en-US" smtClean="0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b="0" baseline="0" dirty="0" kern="1200" lang="ko-KR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40%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05" marL="81282" marR="81282" marT="4560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29932">
                <a:tc vMerge="1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6526" marL="83067" marR="83067" marT="46526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lvl="0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="0" baseline="0" dirty="0" err="1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모바일상품권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제휴 성능 저하문제 수정</a:t>
                      </a:r>
                      <a:endParaRPr altLang="ko-KR" b="0" baseline="0" dirty="0" lang="en-US" smtClean="0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b="0" baseline="0" dirty="0" kern="1200" lang="ko-KR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70%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05" marL="81282" marR="81282" marT="4560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0568">
                <a:tc rowSpan="7"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CRM</a:t>
                      </a:r>
                    </a:p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IF.</a:t>
                      </a:r>
                    </a:p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/</a:t>
                      </a:r>
                    </a:p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이승범</a:t>
                      </a:r>
                    </a:p>
                  </a:txBody>
                  <a:tcPr horzOverflow="overflow" marB="45527" marL="81282" marR="81282" marT="4552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marL="0">
                        <a:buFontTx/>
                        <a:buNone/>
                      </a:pPr>
                      <a:r>
                        <a:rPr altLang="ko-KR" baseline="0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aseline="0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금결원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거래 전문 수정</a:t>
                      </a:r>
                      <a:endParaRPr altLang="ko-KR" baseline="0" dirty="0" lang="en-US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7" marL="81282" marR="81282" marT="4561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02/03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미정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90%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2" marL="81282" marR="81282" marT="4561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28773">
                <a:tc vMerge="1"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6680" marL="83077" marR="83077" marT="4668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marL="0">
                        <a:buFontTx/>
                        <a:buNone/>
                      </a:pPr>
                      <a:r>
                        <a:rPr altLang="ko-KR" baseline="0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aseline="0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모바일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쿠폰 전문 수정 </a:t>
                      </a:r>
                      <a:r>
                        <a:rPr altLang="ko-KR" baseline="0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(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사용가능상품</a:t>
                      </a:r>
                      <a:r>
                        <a:rPr altLang="ko-KR" baseline="0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)</a:t>
                      </a:r>
                    </a:p>
                  </a:txBody>
                  <a:tcPr horzOverflow="overflow" marB="45617" marL="81282" marR="81282" marT="4561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02/16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미정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8</a:t>
                      </a:r>
                      <a:r>
                        <a:rPr altLang="ko-KR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0</a:t>
                      </a: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%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2" marL="81282" marR="81282" marT="4561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25238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lvl="0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현대차 </a:t>
                      </a: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G 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카페이 연동 </a:t>
                      </a: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+ </a:t>
                      </a:r>
                      <a:r>
                        <a:rPr altLang="en-US" b="0" baseline="0" dirty="0" err="1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제네시스앱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연동</a:t>
                      </a:r>
                      <a:endParaRPr altLang="ko-KR" b="0" baseline="0" dirty="0" lang="en-US" smtClean="0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7" marL="81282" marR="81282" marT="4561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09/21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1" fontAlgn="auto" hangingPunct="1" indent="0" latinLnBrk="1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01/29</a:t>
                      </a:r>
                      <a:endParaRPr altLang="en-US" dirty="0" lang="ko-KR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80%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2" marL="81282" marR="81282" marT="4561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25247">
                <a:tc vMerge="1"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6680" marL="83077" marR="83077" marT="4668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marL="0">
                        <a:buFontTx/>
                        <a:buNone/>
                      </a:pPr>
                      <a:r>
                        <a:rPr altLang="ko-KR" baseline="0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국민카드 배치 서버 변경으로 인한 연계 테스트</a:t>
                      </a:r>
                      <a:endParaRPr altLang="ko-KR" baseline="0" dirty="0" lang="en-US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7" marL="81282" marR="81282" marT="4561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12/21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1" fontAlgn="auto" hangingPunct="1" indent="0" latinLnBrk="1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01/22</a:t>
                      </a:r>
                      <a:endParaRPr altLang="en-US" dirty="0" lang="ko-KR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90%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2" marL="81282" marR="81282" marT="4561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35529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indent="0" marL="0">
                        <a:buFontTx/>
                        <a:buNone/>
                      </a:pPr>
                      <a:r>
                        <a:rPr altLang="ko-KR" baseline="0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모바일 쿠폰 발행 점검</a:t>
                      </a:r>
                      <a:endParaRPr altLang="ko-KR" baseline="0" dirty="0" lang="en-US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7" marL="81282" marR="81282" marT="4561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01/11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1" fontAlgn="auto" hangingPunct="1" indent="0" latinLnBrk="1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02/28</a:t>
                      </a:r>
                      <a:endParaRPr altLang="en-US" dirty="0" lang="ko-KR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10%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2" marL="81282" marR="81282" marT="4561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10568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indent="0" marL="0">
                        <a:buFontTx/>
                        <a:buNone/>
                      </a:pPr>
                      <a:r>
                        <a:rPr altLang="ko-KR" baseline="0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롯데 </a:t>
                      </a:r>
                      <a:r>
                        <a:rPr altLang="en-US" baseline="0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멤버스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데이터 정합성</a:t>
                      </a:r>
                      <a:r>
                        <a:rPr altLang="ko-KR" baseline="0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,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후속 조치</a:t>
                      </a:r>
                      <a:endParaRPr altLang="ko-KR" baseline="0" dirty="0" lang="en-US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7" marL="81282" marR="81282" marT="4561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01/18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1" fontAlgn="auto" hangingPunct="1" indent="0" latinLnBrk="1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01/22</a:t>
                      </a:r>
                      <a:endParaRPr altLang="en-US" dirty="0" lang="ko-KR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10%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2" marL="81282" marR="81282" marT="4561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10569">
                <a:tc vMerge="1"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6525" marL="83067" marR="83067" marT="4652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marL="0">
                        <a:buFontTx/>
                        <a:buNone/>
                      </a:pPr>
                      <a:endParaRPr altLang="ko-KR" baseline="0" dirty="0" lang="en-US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7" marL="81282" marR="81282" marT="4561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1" fontAlgn="auto" hangingPunct="1" indent="0" latinLnBrk="1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en-US" dirty="0" lang="ko-KR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2" marL="81282" marR="81282" marT="4561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</a:tbl>
          </a:graphicData>
        </a:graphic>
      </p:graphicFrame>
      <p:sp>
        <p:nvSpPr>
          <p:cNvPr id="8274" name="Rectangle 137"/>
          <p:cNvSpPr>
            <a:spLocks noChangeArrowheads="1"/>
          </p:cNvSpPr>
          <p:nvPr/>
        </p:nvSpPr>
        <p:spPr bwMode="auto">
          <a:xfrm>
            <a:off x="302179" y="302534"/>
            <a:ext cx="8761066" cy="3314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algn="ctr" dir="2700000" dist="35921" rotWithShape="0">
                    <a:schemeClr val="bg2"/>
                  </a:outerShdw>
                </a:effectLst>
              </a14:hiddenEffects>
            </a:ext>
          </a:extLst>
        </p:spPr>
        <p:txBody>
          <a:bodyPr anchor="ctr" bIns="44805" lIns="89609" rIns="89609" tIns="44805">
            <a:spAutoFit/>
          </a:bodyPr>
          <a:lstStyle>
            <a:lvl1pPr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1pPr>
            <a:lvl2pPr indent="-285750" marL="7429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2pPr>
            <a:lvl3pPr indent="-228600" marL="11430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3pPr>
            <a:lvl4pPr indent="-228600" marL="16002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4pPr>
            <a:lvl5pPr indent="-228600" marL="20574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5pPr>
            <a:lvl6pPr eaLnBrk="0" fontAlgn="base" hangingPunct="0" indent="-228600" marL="25146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6pPr>
            <a:lvl7pPr eaLnBrk="0" fontAlgn="base" hangingPunct="0" indent="-228600" marL="29718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7pPr>
            <a:lvl8pPr eaLnBrk="0" fontAlgn="base" hangingPunct="0" indent="-228600" marL="34290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8pPr>
            <a:lvl9pPr eaLnBrk="0" fontAlgn="base" hangingPunct="0" indent="-228600" marL="38862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9pPr>
          </a:lstStyle>
          <a:p>
            <a:pPr eaLnBrk="1" hangingPunct="1">
              <a:spcBef>
                <a:spcPct val="0"/>
              </a:spcBef>
              <a:spcAft>
                <a:spcPct val="0"/>
              </a:spcAft>
            </a:pPr>
            <a:r>
              <a:rPr altLang="ko-KR" kumimoji="1" lang="en-US" sz="1566">
                <a:solidFill>
                  <a:srgbClr val="000000"/>
                </a:solidFill>
              </a:rPr>
              <a:t>3. </a:t>
            </a:r>
            <a:r>
              <a:rPr altLang="en-US" kumimoji="1" lang="ko-KR" sz="1566">
                <a:solidFill>
                  <a:srgbClr val="000000"/>
                </a:solidFill>
              </a:rPr>
              <a:t>주간업무 실적 및 계획</a:t>
            </a:r>
            <a:r>
              <a:rPr altLang="ko-KR" kumimoji="1" lang="en-US" sz="1566">
                <a:solidFill>
                  <a:srgbClr val="000000"/>
                </a:solidFill>
              </a:rPr>
              <a:t>(</a:t>
            </a:r>
            <a:r>
              <a:rPr altLang="en-US" lang="ko-KR" sz="1566">
                <a:solidFill>
                  <a:srgbClr val="000000"/>
                </a:solidFill>
              </a:rPr>
              <a:t>②</a:t>
            </a:r>
            <a:r>
              <a:rPr altLang="ko-KR" kumimoji="1" lang="en-US" sz="1566">
                <a:solidFill>
                  <a:srgbClr val="000000"/>
                </a:solidFill>
              </a:rPr>
              <a:t>Quintet - CRM)</a:t>
            </a:r>
          </a:p>
        </p:txBody>
      </p:sp>
      <p:sp>
        <p:nvSpPr>
          <p:cNvPr id="8275" name="Rectangle 135"/>
          <p:cNvSpPr>
            <a:spLocks noChangeArrowheads="1"/>
          </p:cNvSpPr>
          <p:nvPr/>
        </p:nvSpPr>
        <p:spPr bwMode="auto">
          <a:xfrm>
            <a:off x="255577" y="752526"/>
            <a:ext cx="4771985" cy="298249"/>
          </a:xfrm>
          <a:prstGeom prst="rect">
            <a:avLst/>
          </a:prstGeom>
          <a:solidFill>
            <a:srgbClr val="C7CDFD"/>
          </a:solidFill>
          <a:ln>
            <a:noFill/>
          </a:ln>
          <a:effectLst>
            <a:outerShdw algn="ctr" dir="2700000" dist="35921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algn="ctr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defTabSz="806450" indent="-247650" marL="2476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1pPr>
            <a:lvl2pPr defTabSz="806450" indent="-285750" marL="7429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2pPr>
            <a:lvl3pPr defTabSz="806450" indent="-228600" marL="11430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3pPr>
            <a:lvl4pPr defTabSz="806450" indent="-228600" marL="16002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4pPr>
            <a:lvl5pPr defTabSz="806450" indent="-228600" marL="20574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5pPr>
            <a:lvl6pPr defTabSz="806450" eaLnBrk="0" fontAlgn="base" hangingPunct="0" indent="-228600" marL="25146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6pPr>
            <a:lvl7pPr defTabSz="806450" eaLnBrk="0" fontAlgn="base" hangingPunct="0" indent="-228600" marL="29718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7pPr>
            <a:lvl8pPr defTabSz="806450" eaLnBrk="0" fontAlgn="base" hangingPunct="0" indent="-228600" marL="34290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8pPr>
            <a:lvl9pPr defTabSz="806450" eaLnBrk="0" fontAlgn="base" hangingPunct="0" indent="-228600" marL="38862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9pPr>
          </a:lstStyle>
          <a:p>
            <a:pPr algn="ctr" eaLnBrk="1" hangingPunct="1">
              <a:spcBef>
                <a:spcPct val="0"/>
              </a:spcBef>
              <a:spcAft>
                <a:spcPct val="0"/>
              </a:spcAft>
            </a:pPr>
            <a:r>
              <a:rPr altLang="en-US" kumimoji="1" lang="ko-KR" sz="1370">
                <a:solidFill>
                  <a:srgbClr val="000000"/>
                </a:solidFill>
              </a:rPr>
              <a:t>금주 업무 실적</a:t>
            </a:r>
            <a:endParaRPr altLang="ko-KR" kumimoji="1" lang="en-US" sz="1370">
              <a:solidFill>
                <a:srgbClr val="000000"/>
              </a:solidFill>
            </a:endParaRPr>
          </a:p>
        </p:txBody>
      </p:sp>
      <p:graphicFrame>
        <p:nvGraphicFramePr>
          <p:cNvPr id="7" name="Group 9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6426789"/>
              </p:ext>
            </p:extLst>
          </p:nvPr>
        </p:nvGraphicFramePr>
        <p:xfrm>
          <a:off x="5102125" y="1048417"/>
          <a:ext cx="4473736" cy="3871829"/>
        </p:xfrm>
        <a:graphic>
          <a:graphicData uri="http://schemas.openxmlformats.org/drawingml/2006/table">
            <a:tbl>
              <a:tblPr/>
              <a:tblGrid>
                <a:gridCol w="6685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613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2193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193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90165"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구분</a:t>
                      </a:r>
                      <a:r>
                        <a:rPr altLang="ko-KR" b="1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/</a:t>
                      </a:r>
                    </a:p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담당자</a:t>
                      </a:r>
                      <a:endParaRPr altLang="ko-KR" b="1" baseline="0" cap="none" dirty="0" i="0" kumimoji="1" lang="en-US" normalizeH="0" smtClean="0" strike="noStrike" sz="9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49" marL="88066" marR="88066" marT="45749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업무 내용</a:t>
                      </a:r>
                    </a:p>
                  </a:txBody>
                  <a:tcPr anchor="ctr" horzOverflow="overflow" marB="45749" marL="88066" marR="88066" marT="45749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접수일</a:t>
                      </a:r>
                    </a:p>
                  </a:txBody>
                  <a:tcPr anchor="ctr" horzOverflow="overflow" marB="45749" marL="88066" marR="88066" marT="4574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완료 목표일</a:t>
                      </a:r>
                    </a:p>
                  </a:txBody>
                  <a:tcPr horzOverflow="overflow" marB="45749" marL="88066" marR="88066" marT="45749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1896">
                <a:tc rowSpan="5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CRM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Market.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/ 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박치영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43" marL="81291" marR="81291" marT="45743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lvl="0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법인 </a:t>
                      </a:r>
                      <a:endParaRPr altLang="ko-KR" b="0" baseline="0" dirty="0" lang="en-US" smtClean="0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79" marL="81282" marR="81282" marT="4567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ko-KR" b="0" baseline="0" cap="none" dirty="0" i="0" kumimoji="1" lang="en-US" normalizeH="0" smtClean="0" strike="noStrike" sz="8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41" marL="81291" marR="81291" marT="4574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ko-KR" b="0" baseline="0" cap="none" dirty="0" i="0" kumimoji="1" lang="en-US" normalizeH="0" smtClean="0" strike="noStrike" sz="8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41" marL="81291" marR="81291" marT="4574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1896">
                <a:tc vMerge="1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6770" marL="83077" marR="83077" marT="4677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lvl="0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거래내역 </a:t>
                      </a: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(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신규 결제 수단 정의</a:t>
                      </a: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)</a:t>
                      </a:r>
                    </a:p>
                  </a:txBody>
                  <a:tcPr horzOverflow="overflow" marB="45679" marL="81282" marR="81282" marT="4567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ko-KR" b="0" baseline="0" cap="none" dirty="0" i="0" kumimoji="1" lang="en-US" normalizeH="0" smtClean="0" strike="noStrike" sz="8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41" marL="81291" marR="81291" marT="4574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ko-KR" b="0" baseline="0" cap="none" dirty="0" i="0" kumimoji="1" lang="en-US" normalizeH="0" smtClean="0" strike="noStrike" sz="8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41" marL="81291" marR="81291" marT="4574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1896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lvl="0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dirty="0" lang="en-US" smtClean="0" sz="800">
                          <a:solidFill>
                            <a:schemeClr val="bg1">
                              <a:lumMod val="85000"/>
                            </a:schemeClr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ko-KR" b="0" baseline="0" dirty="0" err="1" lang="en-US" smtClean="0" sz="800">
                          <a:solidFill>
                            <a:schemeClr val="bg1">
                              <a:lumMod val="85000"/>
                            </a:schemeClr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Pb</a:t>
                      </a:r>
                      <a:r>
                        <a:rPr altLang="en-US" b="0" baseline="0" dirty="0" lang="ko-KR" smtClean="0" sz="800">
                          <a:solidFill>
                            <a:schemeClr val="bg1">
                              <a:lumMod val="85000"/>
                            </a:schemeClr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상품적립</a:t>
                      </a:r>
                      <a:endParaRPr altLang="ko-KR" b="0" baseline="0" dirty="0" lang="en-US" smtClean="0" sz="800">
                        <a:solidFill>
                          <a:schemeClr val="bg1">
                            <a:lumMod val="85000"/>
                          </a:schemeClr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79" marL="81282" marR="81282" marT="4567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ko-KR" b="0" baseline="0" dirty="0" kern="1200" lang="en-US" smtClean="0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</a:txBody>
                  <a:tcPr horzOverflow="overflow" marB="45737" marL="81291" marR="81291" marT="4573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ko-KR" b="0" baseline="0" dirty="0" kern="1200" lang="en-US" smtClean="0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</a:txBody>
                  <a:tcPr horzOverflow="overflow" marB="45737" marL="81291" marR="81291" marT="4573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1896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1" fontAlgn="auto" hangingPunct="1" indent="-171450" latinLnBrk="1" lvl="0" marL="17145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사후적립 </a:t>
                      </a: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PRM,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전자결재 연동개발</a:t>
                      </a:r>
                      <a:endParaRPr altLang="ko-KR" b="0" baseline="0" dirty="0" lang="en-US" smtClean="0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79" marL="81282" marR="81282" marT="4567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ko-KR" b="0" baseline="0" cap="none" dirty="0" i="0" kumimoji="1" lang="en-US" normalizeH="0" smtClean="0" strike="noStrike" sz="8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41" marL="81291" marR="81291" marT="4574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ko-KR" b="0" baseline="0" cap="none" dirty="0" i="0" kumimoji="1" lang="en-US" normalizeH="0" smtClean="0" strike="noStrike" sz="8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41" marL="81291" marR="81291" marT="4574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95434">
                <a:tc vMerge="1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6770" marL="83077" marR="83077" marT="4677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lvl="0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App push</a:t>
                      </a:r>
                    </a:p>
                  </a:txBody>
                  <a:tcPr horzOverflow="overflow" marB="45679" marL="81282" marR="81282" marT="4567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ko-KR" b="0" baseline="0" dirty="0" kern="1200" lang="en-US" smtClean="0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</a:txBody>
                  <a:tcPr horzOverflow="overflow" marB="45737" marL="81291" marR="81291" marT="4573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ko-KR" b="0" baseline="0" dirty="0" kern="1200" lang="en-US" smtClean="0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</a:txBody>
                  <a:tcPr horzOverflow="overflow" marB="45737" marL="81291" marR="81291" marT="4573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40934">
                <a:tc rowSpan="8"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CRM</a:t>
                      </a:r>
                    </a:p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IF.</a:t>
                      </a:r>
                    </a:p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/</a:t>
                      </a:r>
                    </a:p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이승범</a:t>
                      </a:r>
                    </a:p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43" marL="81291" marR="81291" marT="45743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marL="0">
                        <a:buFontTx/>
                        <a:buNone/>
                      </a:pPr>
                      <a:r>
                        <a:rPr altLang="ko-KR" baseline="0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aseline="0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금결원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전문 수정</a:t>
                      </a:r>
                      <a:endParaRPr altLang="ko-KR" baseline="0" dirty="0" lang="en-US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41" marL="81282" marR="81282" marT="4564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02/03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29" marL="81282" marR="81282" marT="4562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미정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29" marL="81282" marR="81282" marT="4562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40848">
                <a:tc vMerge="1"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6766" marL="83077" marR="83077" marT="46766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marL="0">
                        <a:buFontTx/>
                        <a:buNone/>
                      </a:pPr>
                      <a:r>
                        <a:rPr altLang="ko-KR" baseline="0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aseline="0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모바일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쿠폰 전문 수정</a:t>
                      </a:r>
                      <a:endParaRPr altLang="ko-KR" baseline="0" dirty="0" lang="en-US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5" marL="81282" marR="81282" marT="4561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02/16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28" marL="81282" marR="81282" marT="45628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미정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28" marL="81282" marR="81282" marT="45628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40784">
                <a:tc vMerge="1"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6766" marL="83077" marR="83077" marT="46766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lvl="0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현대차 </a:t>
                      </a: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G 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카페이 연동 </a:t>
                      </a: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+ </a:t>
                      </a:r>
                      <a:r>
                        <a:rPr altLang="en-US" b="0" baseline="0" dirty="0" err="1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제네시스앱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연동</a:t>
                      </a:r>
                      <a:endParaRPr altLang="ko-KR" b="0" baseline="0" dirty="0" lang="en-US" smtClean="0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7" marL="81282" marR="81282" marT="4561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09/21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1" fontAlgn="auto" hangingPunct="1" indent="0" latinLnBrk="1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01/29</a:t>
                      </a:r>
                      <a:endParaRPr altLang="en-US" dirty="0" lang="ko-KR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40784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indent="0" marL="0">
                        <a:buFontTx/>
                        <a:buNone/>
                      </a:pPr>
                      <a:r>
                        <a:rPr altLang="ko-KR" baseline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aseline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국민카드 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배치 서버 변경으로 인한 연계 테스트</a:t>
                      </a:r>
                      <a:endParaRPr altLang="ko-KR" baseline="0" dirty="0" lang="en-US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7" marL="81282" marR="81282" marT="4561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12/21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1" fontAlgn="auto" hangingPunct="1" indent="0" latinLnBrk="1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01/22</a:t>
                      </a:r>
                      <a:endParaRPr altLang="en-US" dirty="0" lang="ko-KR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28248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indent="0" marL="0">
                        <a:buFontTx/>
                        <a:buNone/>
                      </a:pPr>
                      <a:r>
                        <a:rPr altLang="ko-KR" baseline="0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모바일 쿠폰 발행 점검</a:t>
                      </a:r>
                      <a:endParaRPr altLang="ko-KR" baseline="0" dirty="0" lang="en-US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7" marL="81282" marR="81282" marT="4561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01/11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1" fontAlgn="auto" hangingPunct="1" indent="0" latinLnBrk="1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02/28</a:t>
                      </a:r>
                      <a:endParaRPr altLang="en-US" dirty="0" lang="ko-KR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28248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indent="0" marL="0">
                        <a:buFontTx/>
                        <a:buNone/>
                      </a:pPr>
                      <a:r>
                        <a:rPr altLang="ko-KR" baseline="0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롯데 </a:t>
                      </a:r>
                      <a:r>
                        <a:rPr altLang="en-US" baseline="0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멤버스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데이터 정합성</a:t>
                      </a:r>
                      <a:r>
                        <a:rPr altLang="ko-KR" baseline="0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,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후속 조치</a:t>
                      </a:r>
                      <a:endParaRPr altLang="ko-KR" baseline="0" dirty="0" lang="en-US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7" marL="81282" marR="81282" marT="4561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01/18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1" fontAlgn="auto" hangingPunct="1" indent="0" latinLnBrk="1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01/22</a:t>
                      </a:r>
                      <a:endParaRPr altLang="en-US" dirty="0" lang="ko-KR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28248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indent="0" marL="0">
                        <a:buFontTx/>
                        <a:buNone/>
                      </a:pPr>
                      <a:endParaRPr altLang="ko-KR" baseline="0" dirty="0" lang="en-US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5" marL="81282" marR="81282" marT="4561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28" marL="81282" marR="81282" marT="45628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1" fontAlgn="auto" hangingPunct="1" indent="0" latinLnBrk="1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en-US" dirty="0" lang="ko-KR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28" marL="81282" marR="81282" marT="45628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10555">
                <a:tc vMerge="1"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6766" marL="83077" marR="83077" marT="46766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marL="0">
                        <a:buFontTx/>
                        <a:buNone/>
                      </a:pPr>
                      <a:endParaRPr altLang="ko-KR" baseline="0" dirty="0" lang="en-US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5" marL="81282" marR="81282" marT="4561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28" marL="81282" marR="81282" marT="45628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1" fontAlgn="auto" hangingPunct="1" indent="0" latinLnBrk="1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en-US" dirty="0" lang="ko-KR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28" marL="81282" marR="81282" marT="45628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</a:tbl>
          </a:graphicData>
        </a:graphic>
      </p:graphicFrame>
      <p:sp>
        <p:nvSpPr>
          <p:cNvPr id="8336" name="Rectangle 136"/>
          <p:cNvSpPr>
            <a:spLocks noChangeArrowheads="1"/>
          </p:cNvSpPr>
          <p:nvPr/>
        </p:nvSpPr>
        <p:spPr bwMode="auto">
          <a:xfrm>
            <a:off x="5092804" y="744759"/>
            <a:ext cx="4473736" cy="310676"/>
          </a:xfrm>
          <a:prstGeom prst="rect">
            <a:avLst/>
          </a:prstGeom>
          <a:solidFill>
            <a:srgbClr val="C7CDFD"/>
          </a:solidFill>
          <a:ln>
            <a:noFill/>
          </a:ln>
          <a:effectLst>
            <a:outerShdw algn="ctr" dir="2700000" dist="35921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algn="ctr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defTabSz="806450" indent="-247650" marL="2476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1pPr>
            <a:lvl2pPr defTabSz="806450" indent="-285750" marL="7429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2pPr>
            <a:lvl3pPr defTabSz="806450" indent="-228600" marL="11430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3pPr>
            <a:lvl4pPr defTabSz="806450" indent="-228600" marL="16002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4pPr>
            <a:lvl5pPr defTabSz="806450" indent="-228600" marL="20574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5pPr>
            <a:lvl6pPr defTabSz="806450" eaLnBrk="0" fontAlgn="base" hangingPunct="0" indent="-228600" marL="25146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6pPr>
            <a:lvl7pPr defTabSz="806450" eaLnBrk="0" fontAlgn="base" hangingPunct="0" indent="-228600" marL="29718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7pPr>
            <a:lvl8pPr defTabSz="806450" eaLnBrk="0" fontAlgn="base" hangingPunct="0" indent="-228600" marL="34290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8pPr>
            <a:lvl9pPr defTabSz="806450" eaLnBrk="0" fontAlgn="base" hangingPunct="0" indent="-228600" marL="38862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9pPr>
          </a:lstStyle>
          <a:p>
            <a:pPr algn="ctr" eaLnBrk="1" hangingPunct="1">
              <a:spcBef>
                <a:spcPct val="0"/>
              </a:spcBef>
              <a:spcAft>
                <a:spcPct val="0"/>
              </a:spcAft>
            </a:pPr>
            <a:r>
              <a:rPr altLang="en-US" kumimoji="1" lang="ko-KR" sz="1370">
                <a:solidFill>
                  <a:srgbClr val="000000"/>
                </a:solidFill>
              </a:rPr>
              <a:t>차주 업무 계획</a:t>
            </a:r>
            <a:endParaRPr altLang="ko-KR" kumimoji="1" lang="en-US" sz="137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7505" name="Group 97"/>
          <p:cNvGraphicFramePr>
            <a:graphicFrameLocks noGrp="1"/>
          </p:cNvGraphicFramePr>
          <p:nvPr/>
        </p:nvGraphicFramePr>
        <p:xfrm>
          <a:off x="264898" y="1097377"/>
          <a:ext cx="4771985" cy="5727215"/>
        </p:xfrm>
        <a:graphic>
          <a:graphicData uri="http://schemas.openxmlformats.org/drawingml/2006/table">
            <a:tbl>
              <a:tblPr/>
              <a:tblGrid>
                <a:gridCol w="65560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661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2029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6452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6538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01374"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구분</a:t>
                      </a:r>
                      <a:r>
                        <a:rPr altLang="ko-KR" b="1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/</a:t>
                      </a:r>
                    </a:p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담당자</a:t>
                      </a:r>
                      <a:endParaRPr altLang="ko-KR" b="1" baseline="0" cap="none" dirty="0" i="0" kumimoji="1" lang="en-US" normalizeH="0" smtClean="0" strike="noStrike" sz="9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55" marL="88075" marR="88075" marT="45755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업무 내용</a:t>
                      </a:r>
                    </a:p>
                  </a:txBody>
                  <a:tcPr anchor="ctr" horzOverflow="overflow" marB="45755" marL="88075" marR="88075" marT="45755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접수일</a:t>
                      </a:r>
                    </a:p>
                  </a:txBody>
                  <a:tcPr anchor="ctr" horzOverflow="overflow" marB="45755" marL="88075" marR="88075" marT="4575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완료 목표일</a:t>
                      </a:r>
                    </a:p>
                  </a:txBody>
                  <a:tcPr horzOverflow="overflow" marB="45755" marL="88075" marR="88075" marT="45755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err="1" i="0" kumimoji="1" lang="ko-KR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진행율</a:t>
                      </a:r>
                      <a:r>
                        <a:rPr altLang="ko-KR" b="1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/</a:t>
                      </a:r>
                    </a:p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완료일</a:t>
                      </a:r>
                      <a:endParaRPr altLang="ko-KR" b="1" baseline="0" cap="none" dirty="0" i="0" kumimoji="1" lang="en-US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55" marL="88075" marR="88075" marT="45755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0977">
                <a:tc rowSpan="5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CRM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홈페이지</a:t>
                      </a:r>
                      <a:endParaRPr altLang="ko-KR" b="0" baseline="0" cap="none" dirty="0" i="0" kumimoji="1" lang="en-US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/ 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김재희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ko-KR" b="0" baseline="0" cap="none" dirty="0" i="0" kumimoji="1" lang="en-US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53" marL="88075" marR="88075" marT="45753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법인 하위 카드 등록 </a:t>
                      </a:r>
                    </a:p>
                  </a:txBody>
                  <a:tcPr horzOverflow="overflow" marB="45727" marL="81298" marR="81298" marT="4572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12/24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33" marL="81298" marR="81298" marT="45733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12/31</a:t>
                      </a: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806" marL="81298" marR="81298" marT="45806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100%</a:t>
                      </a:r>
                    </a:p>
                  </a:txBody>
                  <a:tcPr horzOverflow="overflow" marB="45747" marL="81301" marR="81301" marT="4574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0977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</a:t>
                      </a:r>
                      <a:r>
                        <a:rPr altLang="ko-KR" baseline="0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프로모션 기간내 가입자 정보 제공 </a:t>
                      </a:r>
                      <a:endParaRPr altLang="en-US" dirty="0" lang="ko-KR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35" marL="81298" marR="81298" marT="4573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1/13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42" marL="81298" marR="81298" marT="4574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1/13</a:t>
                      </a: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815" marL="81298" marR="81298" marT="4581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100%</a:t>
                      </a:r>
                    </a:p>
                  </a:txBody>
                  <a:tcPr horzOverflow="overflow" marB="45747" marL="81301" marR="81301" marT="4574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0977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모바일주유권 문자 발송 </a:t>
                      </a:r>
                    </a:p>
                  </a:txBody>
                  <a:tcPr horzOverflow="overflow" marB="45736" marL="81298" marR="81298" marT="45736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1/13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43" marL="81298" marR="81298" marT="45743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1/15</a:t>
                      </a: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815" marL="81298" marR="81298" marT="4581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100%</a:t>
                      </a:r>
                    </a:p>
                  </a:txBody>
                  <a:tcPr horzOverflow="overflow" marB="45747" marL="81301" marR="81301" marT="4574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0950">
                <a:tc vMerge="1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ko-KR" b="0" baseline="0" cap="none" dirty="0" i="0" kumimoji="1" lang="en-US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6757" marL="90003" marR="90003" marT="4675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모의해킹 중복로그인 제한 개발 및 운영 이관 </a:t>
                      </a:r>
                    </a:p>
                  </a:txBody>
                  <a:tcPr horzOverflow="overflow" marB="45751" marL="81298" marR="81298" marT="4575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11/02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42" marL="81298" marR="81298" marT="4574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1/12</a:t>
                      </a:r>
                    </a:p>
                  </a:txBody>
                  <a:tcPr horzOverflow="overflow" marB="45773" marL="81301" marR="81301" marT="45773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100%</a:t>
                      </a:r>
                    </a:p>
                  </a:txBody>
                  <a:tcPr horzOverflow="overflow" marB="45752" marL="81301" marR="81301" marT="4575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0179">
                <a:tc vMerge="1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ko-KR" b="0" baseline="0" cap="none" dirty="0" i="0" kumimoji="1" lang="en-US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6761" marL="90003" marR="90003" marT="4676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marL="0">
                        <a:buFontTx/>
                        <a:buNone/>
                      </a:pP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믿음가득주유소 화면 오류 확인 및 수정 요청</a:t>
                      </a:r>
                      <a:endParaRPr altLang="ko-KR" dirty="0" lang="en-US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51" marL="81298" marR="81298" marT="4575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1/13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42" marL="81298" marR="81298" marT="4574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ko-KR" b="0" baseline="0" cap="none" dirty="0" i="0" kern="1200" kumimoji="1" lang="en-US" normalizeH="0" smtClean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73" marL="81301" marR="81301" marT="45773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50%</a:t>
                      </a:r>
                    </a:p>
                  </a:txBody>
                  <a:tcPr horzOverflow="overflow" marB="45752" marL="81301" marR="81301" marT="4575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10913">
                <a:tc rowSpan="7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VOC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/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강길제</a:t>
                      </a:r>
                      <a:endParaRPr altLang="ko-KR" b="0" baseline="0" cap="none" dirty="0" i="0" kumimoji="1" lang="en-US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53" marL="88075" marR="88075" marT="45753">
                    <a:lnL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-  </a:t>
                      </a:r>
                      <a:r>
                        <a:rPr altLang="en-US" b="0" baseline="0" cap="none" dirty="0" err="1" i="0" kern="1200" kumimoji="1" lang="ko-KR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감사인원</a:t>
                      </a:r>
                      <a:r>
                        <a:rPr altLang="en-US" b="0" baseline="0" cap="none" dirty="0" i="0" kern="1200" kumimoji="1" lang="ko-KR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 </a:t>
                      </a: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VOC</a:t>
                      </a:r>
                      <a:r>
                        <a:rPr altLang="en-US" b="0" baseline="0" cap="none" dirty="0" i="0" kern="1200" kumimoji="1" lang="ko-KR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관리자 권한 부여</a:t>
                      </a: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68" marL="81301" marR="81301" marT="45768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1/8</a:t>
                      </a: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69" marL="81301" marR="81301" marT="4576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1/11</a:t>
                      </a: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69" marL="81301" marR="81301" marT="4576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100%</a:t>
                      </a:r>
                    </a:p>
                  </a:txBody>
                  <a:tcPr horzOverflow="overflow" marB="45750" marL="81301" marR="81301" marT="4575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0913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-  VOC Summary </a:t>
                      </a:r>
                      <a:r>
                        <a:rPr altLang="en-US" b="0" baseline="0" cap="none" dirty="0" i="0" kern="1200" kumimoji="1" lang="ko-KR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발송 </a:t>
                      </a:r>
                      <a:r>
                        <a:rPr altLang="en-US" b="0" baseline="0" cap="none" dirty="0" err="1" i="0" kern="1200" kumimoji="1" lang="ko-KR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로직</a:t>
                      </a:r>
                      <a:r>
                        <a:rPr altLang="en-US" b="0" baseline="0" cap="none" dirty="0" i="0" kern="1200" kumimoji="1" lang="ko-KR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 변경</a:t>
                      </a: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68" marL="81301" marR="81301" marT="45768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1/14</a:t>
                      </a: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69" marL="81301" marR="81301" marT="4576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1/15</a:t>
                      </a: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69" marL="81301" marR="81301" marT="4576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100%</a:t>
                      </a:r>
                    </a:p>
                  </a:txBody>
                  <a:tcPr horzOverflow="overflow" marB="45750" marL="81301" marR="81301" marT="4575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0913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-  VOC </a:t>
                      </a:r>
                      <a:r>
                        <a:rPr altLang="en-US" b="0" baseline="0" cap="none" dirty="0" i="0" kern="1200" kumimoji="1" lang="ko-KR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배치 스케줄러 개선</a:t>
                      </a: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58" marL="81301" marR="81301" marT="45758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1/13</a:t>
                      </a: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59" marL="81301" marR="81301" marT="4575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1/13</a:t>
                      </a: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59" marL="81301" marR="81301" marT="4575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100%</a:t>
                      </a:r>
                    </a:p>
                  </a:txBody>
                  <a:tcPr horzOverflow="overflow" marB="45750" marL="81301" marR="81301" marT="4575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10918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-  VOC </a:t>
                      </a:r>
                      <a:r>
                        <a:rPr altLang="en-US" b="0" baseline="0" cap="none" dirty="0" i="0" kern="1200" kumimoji="1" lang="ko-KR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검색 </a:t>
                      </a:r>
                      <a:r>
                        <a:rPr altLang="en-US" b="0" baseline="0" cap="none" dirty="0" err="1" i="0" kern="1200" kumimoji="1" lang="ko-KR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로직</a:t>
                      </a:r>
                      <a:r>
                        <a:rPr altLang="en-US" b="0" baseline="0" cap="none" dirty="0" i="0" kern="1200" kumimoji="1" lang="ko-KR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 개선</a:t>
                      </a: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89" marL="81294" marR="81294" marT="4578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90" marL="81294" marR="81294" marT="4579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90" marL="81294" marR="81294" marT="4579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ko-KR" b="0" baseline="0" cap="none" dirty="0" i="0" kern="1200" kumimoji="1" lang="en-US" normalizeH="0" smtClean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50" marL="81301" marR="81301" marT="4575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10913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68" marL="81301" marR="81301" marT="45768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69" marL="81301" marR="81301" marT="4576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69" marL="81301" marR="81301" marT="4576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ko-KR" b="0" baseline="0" cap="none" dirty="0" i="0" kern="1200" kumimoji="1" lang="en-US" normalizeH="0" smtClean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50" marL="81301" marR="81301" marT="4575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10875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68" marL="81301" marR="81301" marT="45768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69" marL="81301" marR="81301" marT="4576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69" marL="81301" marR="81301" marT="4576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ko-KR" b="0" baseline="0" cap="none" dirty="0" i="0" kern="1200" kumimoji="1" lang="en-US" normalizeH="0" smtClean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50" marL="81301" marR="81301" marT="4575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34382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68" marL="81301" marR="81301" marT="45768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69" marL="81301" marR="81301" marT="4576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69" marL="81301" marR="81301" marT="4576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ko-KR" b="0" baseline="0" cap="none" dirty="0" i="0" kern="1200" kumimoji="1" lang="en-US" normalizeH="0" smtClean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50" marL="81301" marR="81301" marT="4575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10829">
                <a:tc rowSpan="11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CRM BI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/ 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석주연</a:t>
                      </a:r>
                    </a:p>
                  </a:txBody>
                  <a:tcPr horzOverflow="overflow" marB="45753" marL="88075" marR="88075" marT="45753">
                    <a:lnL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</a:t>
                      </a:r>
                      <a:r>
                        <a:rPr altLang="ko-KR" baseline="0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보너스카드 </a:t>
                      </a:r>
                      <a:r>
                        <a:rPr altLang="en-US" baseline="0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매출비율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</a:t>
                      </a:r>
                      <a:r>
                        <a:rPr altLang="en-US" baseline="0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사입량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반영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1/11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1/12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itchFamily="50" typeface="맑은 고딕"/>
                          <a:ea charset="-127" pitchFamily="50" typeface="맑은 고딕"/>
                        </a:rPr>
                        <a:t>100%</a:t>
                      </a:r>
                      <a:endParaRPr altLang="en-US" dirty="0" lang="ko-KR" sz="800">
                        <a:latin charset="-127" pitchFamily="50" typeface="맑은 고딕"/>
                        <a:ea charset="-127" pitchFamily="50" typeface="맑은 고딕"/>
                      </a:endParaRPr>
                    </a:p>
                  </a:txBody>
                  <a:tcPr horzOverflow="overflow" marB="45750" marL="81301" marR="81301" marT="4575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10829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‘20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년 </a:t>
                      </a: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12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월 </a:t>
                      </a:r>
                      <a:r>
                        <a:rPr altLang="en-US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남선석유</a:t>
                      </a: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/</a:t>
                      </a:r>
                      <a:r>
                        <a:rPr altLang="en-US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리드코프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</a:t>
                      </a:r>
                      <a:r>
                        <a:rPr altLang="en-US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매출비율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반영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1/12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1/12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itchFamily="50" typeface="맑은 고딕"/>
                          <a:ea charset="-127" pitchFamily="50" typeface="맑은 고딕"/>
                        </a:rPr>
                        <a:t>100%</a:t>
                      </a:r>
                      <a:endParaRPr altLang="en-US" dirty="0" lang="ko-KR" sz="800">
                        <a:latin charset="-127" pitchFamily="50" typeface="맑은 고딕"/>
                        <a:ea charset="-127" pitchFamily="50" typeface="맑은 고딕"/>
                      </a:endParaRPr>
                    </a:p>
                  </a:txBody>
                  <a:tcPr horzOverflow="overflow" marB="45750" marL="81301" marR="81301" marT="4575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17351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’20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년 </a:t>
                      </a: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12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월 </a:t>
                      </a: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UNDEFINED</a:t>
                      </a:r>
                      <a:r>
                        <a:rPr altLang="ko-KR" baseline="0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</a:t>
                      </a:r>
                      <a:r>
                        <a:rPr altLang="en-US" baseline="0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유치실적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데이터 제공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1/13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1/13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itchFamily="50" typeface="맑은 고딕"/>
                          <a:ea charset="-127" pitchFamily="50" typeface="맑은 고딕"/>
                        </a:rPr>
                        <a:t>100%</a:t>
                      </a:r>
                      <a:endParaRPr altLang="en-US" dirty="0" lang="ko-KR" sz="800">
                        <a:latin charset="-127" pitchFamily="50" typeface="맑은 고딕"/>
                        <a:ea charset="-127" pitchFamily="50" typeface="맑은 고딕"/>
                      </a:endParaRPr>
                    </a:p>
                  </a:txBody>
                  <a:tcPr horzOverflow="overflow" marB="45750" marL="81301" marR="81301" marT="4575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17744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신규회원 분석 </a:t>
                      </a: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BI</a:t>
                      </a:r>
                      <a:r>
                        <a:rPr altLang="ko-KR" baseline="0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엑셀 파일 제공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1/13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1/13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100%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50" marL="81301" marR="81301" marT="4575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210857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과다적립금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관련 문의 응대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1/11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1/11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100%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210857">
                <a:tc vMerge="1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6755" marL="90010" marR="90010" marT="46755">
                    <a:lnL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중단대상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거래처 및 </a:t>
                      </a:r>
                      <a:r>
                        <a:rPr altLang="en-US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과다적립금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</a:t>
                      </a:r>
                      <a:r>
                        <a:rPr altLang="en-US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재산정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개발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1/14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1/19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90%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210829">
                <a:tc vMerge="1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6753" marL="90010" marR="90010" marT="46753">
                    <a:lnL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  <a:tr h="210829">
                <a:tc vMerge="1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6746" marL="90010" marR="90010" marT="46746">
                    <a:lnL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20"/>
                  </a:ext>
                </a:extLst>
              </a:tr>
              <a:tr h="210857">
                <a:tc vMerge="1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6746" marL="90010" marR="90010" marT="46746">
                    <a:lnL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21"/>
                  </a:ext>
                </a:extLst>
              </a:tr>
              <a:tr h="210829">
                <a:tc vMerge="1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6749" marL="90010" marR="90010" marT="46749">
                    <a:lnL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22"/>
                  </a:ext>
                </a:extLst>
              </a:tr>
              <a:tr h="330140">
                <a:tc vMerge="1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6754" marL="90010" marR="90010" marT="46754">
                    <a:lnL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23"/>
                  </a:ext>
                </a:extLst>
              </a:tr>
            </a:tbl>
          </a:graphicData>
        </a:graphic>
      </p:graphicFrame>
      <p:sp>
        <p:nvSpPr>
          <p:cNvPr id="9339" name="Rectangle 137"/>
          <p:cNvSpPr>
            <a:spLocks noChangeArrowheads="1"/>
          </p:cNvSpPr>
          <p:nvPr/>
        </p:nvSpPr>
        <p:spPr bwMode="auto">
          <a:xfrm>
            <a:off x="302179" y="302534"/>
            <a:ext cx="8761066" cy="3314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algn="ctr" dir="2700000" dist="35921" rotWithShape="0">
                    <a:schemeClr val="bg2"/>
                  </a:outerShdw>
                </a:effectLst>
              </a14:hiddenEffects>
            </a:ext>
          </a:extLst>
        </p:spPr>
        <p:txBody>
          <a:bodyPr anchor="ctr" bIns="44805" lIns="89609" rIns="89609" tIns="44805">
            <a:spAutoFit/>
          </a:bodyPr>
          <a:lstStyle>
            <a:lvl1pPr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1pPr>
            <a:lvl2pPr indent="-285750" marL="7429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2pPr>
            <a:lvl3pPr indent="-228600" marL="11430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3pPr>
            <a:lvl4pPr indent="-228600" marL="16002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4pPr>
            <a:lvl5pPr indent="-228600" marL="20574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5pPr>
            <a:lvl6pPr eaLnBrk="0" fontAlgn="base" hangingPunct="0" indent="-228600" marL="25146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6pPr>
            <a:lvl7pPr eaLnBrk="0" fontAlgn="base" hangingPunct="0" indent="-228600" marL="29718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7pPr>
            <a:lvl8pPr eaLnBrk="0" fontAlgn="base" hangingPunct="0" indent="-228600" marL="34290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8pPr>
            <a:lvl9pPr eaLnBrk="0" fontAlgn="base" hangingPunct="0" indent="-228600" marL="38862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9pPr>
          </a:lstStyle>
          <a:p>
            <a:pPr eaLnBrk="1" hangingPunct="1">
              <a:spcBef>
                <a:spcPct val="0"/>
              </a:spcBef>
              <a:spcAft>
                <a:spcPct val="0"/>
              </a:spcAft>
            </a:pPr>
            <a:r>
              <a:rPr altLang="ko-KR" kumimoji="1" lang="en-US" sz="1566">
                <a:solidFill>
                  <a:srgbClr val="000000"/>
                </a:solidFill>
              </a:rPr>
              <a:t>3. </a:t>
            </a:r>
            <a:r>
              <a:rPr altLang="en-US" kumimoji="1" lang="ko-KR" sz="1566">
                <a:solidFill>
                  <a:srgbClr val="000000"/>
                </a:solidFill>
              </a:rPr>
              <a:t>주간업무 실적 및 계획</a:t>
            </a:r>
            <a:r>
              <a:rPr altLang="ko-KR" kumimoji="1" lang="en-US" sz="1566">
                <a:solidFill>
                  <a:srgbClr val="000000"/>
                </a:solidFill>
              </a:rPr>
              <a:t>(</a:t>
            </a:r>
            <a:r>
              <a:rPr altLang="en-US" lang="ko-KR" sz="1566">
                <a:solidFill>
                  <a:srgbClr val="000000"/>
                </a:solidFill>
              </a:rPr>
              <a:t>②</a:t>
            </a:r>
            <a:r>
              <a:rPr altLang="ko-KR" kumimoji="1" lang="en-US" sz="1566">
                <a:solidFill>
                  <a:srgbClr val="000000"/>
                </a:solidFill>
              </a:rPr>
              <a:t>Quintet - CRM)</a:t>
            </a:r>
          </a:p>
        </p:txBody>
      </p:sp>
      <p:sp>
        <p:nvSpPr>
          <p:cNvPr id="9340" name="Rectangle 135"/>
          <p:cNvSpPr>
            <a:spLocks noChangeArrowheads="1"/>
          </p:cNvSpPr>
          <p:nvPr/>
        </p:nvSpPr>
        <p:spPr bwMode="auto">
          <a:xfrm>
            <a:off x="246257" y="750972"/>
            <a:ext cx="4771985" cy="298249"/>
          </a:xfrm>
          <a:prstGeom prst="rect">
            <a:avLst/>
          </a:prstGeom>
          <a:solidFill>
            <a:srgbClr val="C7CDFD"/>
          </a:solidFill>
          <a:ln>
            <a:noFill/>
          </a:ln>
          <a:effectLst>
            <a:outerShdw algn="ctr" dir="2700000" dist="35921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algn="ctr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defTabSz="806450" indent="-247650" marL="2476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1pPr>
            <a:lvl2pPr defTabSz="806450" indent="-285750" marL="7429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2pPr>
            <a:lvl3pPr defTabSz="806450" indent="-228600" marL="11430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3pPr>
            <a:lvl4pPr defTabSz="806450" indent="-228600" marL="16002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4pPr>
            <a:lvl5pPr defTabSz="806450" indent="-228600" marL="20574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5pPr>
            <a:lvl6pPr defTabSz="806450" eaLnBrk="0" fontAlgn="base" hangingPunct="0" indent="-228600" marL="25146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6pPr>
            <a:lvl7pPr defTabSz="806450" eaLnBrk="0" fontAlgn="base" hangingPunct="0" indent="-228600" marL="29718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7pPr>
            <a:lvl8pPr defTabSz="806450" eaLnBrk="0" fontAlgn="base" hangingPunct="0" indent="-228600" marL="34290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8pPr>
            <a:lvl9pPr defTabSz="806450" eaLnBrk="0" fontAlgn="base" hangingPunct="0" indent="-228600" marL="38862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9pPr>
          </a:lstStyle>
          <a:p>
            <a:pPr algn="ctr" eaLnBrk="1" hangingPunct="1">
              <a:spcBef>
                <a:spcPct val="0"/>
              </a:spcBef>
              <a:spcAft>
                <a:spcPct val="0"/>
              </a:spcAft>
            </a:pPr>
            <a:r>
              <a:rPr altLang="en-US" kumimoji="1" lang="ko-KR" sz="1370">
                <a:solidFill>
                  <a:srgbClr val="000000"/>
                </a:solidFill>
              </a:rPr>
              <a:t>금주 업무 실적</a:t>
            </a:r>
            <a:endParaRPr altLang="ko-KR" kumimoji="1" lang="en-US" sz="1370">
              <a:solidFill>
                <a:srgbClr val="000000"/>
              </a:solidFill>
            </a:endParaRPr>
          </a:p>
        </p:txBody>
      </p:sp>
      <p:graphicFrame>
        <p:nvGraphicFramePr>
          <p:cNvPr id="7" name="Group 97"/>
          <p:cNvGraphicFramePr>
            <a:graphicFrameLocks noGrp="1"/>
          </p:cNvGraphicFramePr>
          <p:nvPr/>
        </p:nvGraphicFramePr>
        <p:xfrm>
          <a:off x="5111445" y="1108250"/>
          <a:ext cx="4473736" cy="4374258"/>
        </p:xfrm>
        <a:graphic>
          <a:graphicData uri="http://schemas.openxmlformats.org/drawingml/2006/table">
            <a:tbl>
              <a:tblPr/>
              <a:tblGrid>
                <a:gridCol w="6685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613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2193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193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4752"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구분</a:t>
                      </a:r>
                      <a:r>
                        <a:rPr altLang="ko-KR" b="1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/</a:t>
                      </a:r>
                    </a:p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담당자</a:t>
                      </a:r>
                      <a:endParaRPr altLang="ko-KR" b="1" baseline="0" cap="none" dirty="0" i="0" kumimoji="1" lang="en-US" normalizeH="0" smtClean="0" strike="noStrike" sz="9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55" marL="88066" marR="88066" marT="45755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업무 내용</a:t>
                      </a:r>
                    </a:p>
                  </a:txBody>
                  <a:tcPr anchor="ctr" horzOverflow="overflow" marB="45755" marL="88066" marR="88066" marT="45755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접수일</a:t>
                      </a:r>
                    </a:p>
                  </a:txBody>
                  <a:tcPr anchor="ctr" horzOverflow="overflow" marB="45755" marL="88066" marR="88066" marT="4575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완료 목표일</a:t>
                      </a:r>
                    </a:p>
                  </a:txBody>
                  <a:tcPr horzOverflow="overflow" marB="45755" marL="88066" marR="88066" marT="45755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1029">
                <a:tc rowSpan="5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CRM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홈페이지</a:t>
                      </a:r>
                      <a:endParaRPr altLang="ko-KR" b="0" baseline="0" cap="none" dirty="0" i="0" kumimoji="1" lang="en-US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/ 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김재희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  <a:p>
                      <a:pPr latinLnBrk="1"/>
                      <a:endParaRPr altLang="en-US" dirty="0" lang="ko-KR" sz="900"/>
                    </a:p>
                  </a:txBody>
                  <a:tcPr horzOverflow="overflow" marB="45753" marL="88066" marR="88066" marT="45753">
                    <a:lnL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보너스카드홈페이지 카드 안내 페이지 수정</a:t>
                      </a:r>
                    </a:p>
                  </a:txBody>
                  <a:tcPr horzOverflow="overflow" marB="45735" marL="81298" marR="81298" marT="4573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9/17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42" marL="81298" marR="81298" marT="4574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ern="1200" kumimoji="1" lang="ko-KR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미정</a:t>
                      </a: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815" marL="81298" marR="81298" marT="4581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1019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indent="0" marL="0">
                        <a:buFontTx/>
                        <a:buNone/>
                      </a:pP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믿음가득주유소 화면 테스트 및 운영 이관</a:t>
                      </a:r>
                      <a:endParaRPr altLang="ko-KR" dirty="0" lang="en-US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51" marL="81298" marR="81298" marT="4575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3175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1/13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42" marL="81298" marR="81298" marT="4574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3175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ko-KR" b="0" baseline="0" cap="none" dirty="0" i="0" kern="1200" kumimoji="1" lang="en-US" normalizeH="0" smtClean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73" marL="81301" marR="81301" marT="45773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3175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0955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endParaRPr altLang="en-US" dirty="0" lang="ko-KR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35" marL="81298" marR="81298" marT="4573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3175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42" marL="81298" marR="81298" marT="4574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3175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815" marL="81298" marR="81298" marT="4581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3175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0955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en-US" dirty="0" lang="ko-KR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36" marL="81298" marR="81298" marT="45736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3175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43" marL="81298" marR="81298" marT="45743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3175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815" marL="81298" marR="81298" marT="4581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3175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0942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en-US" dirty="0" lang="ko-KR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35" marL="81298" marR="81298" marT="4573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42" marL="81298" marR="81298" marT="4574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815" marL="81298" marR="81298" marT="4581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10987">
                <a:tc rowSpan="6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VOC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/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강길제</a:t>
                      </a:r>
                      <a:endParaRPr altLang="ko-KR" b="0" baseline="0" cap="none" dirty="0" i="0" kumimoji="1" lang="en-US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53" marL="88066" marR="88066" marT="45753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-  VOC </a:t>
                      </a:r>
                      <a:r>
                        <a:rPr altLang="en-US" b="0" baseline="0" cap="none" dirty="0" i="0" kern="1200" kumimoji="1" lang="ko-KR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분류 개선</a:t>
                      </a: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63" marL="81301" marR="81301" marT="45763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64" marL="81301" marR="81301" marT="45764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64" marL="81301" marR="81301" marT="45764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0983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-  VOC </a:t>
                      </a:r>
                      <a:r>
                        <a:rPr altLang="en-US" b="0" baseline="0" cap="none" dirty="0" i="0" kern="1200" kumimoji="1" lang="ko-KR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검색 </a:t>
                      </a:r>
                      <a:r>
                        <a:rPr altLang="en-US" b="0" baseline="0" cap="none" dirty="0" err="1" i="0" kern="1200" kumimoji="1" lang="ko-KR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로직</a:t>
                      </a:r>
                      <a:r>
                        <a:rPr altLang="en-US" b="0" baseline="0" cap="none" dirty="0" i="0" kern="1200" kumimoji="1" lang="ko-KR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 개선</a:t>
                      </a: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89" marL="81294" marR="81294" marT="4578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90" marL="81294" marR="81294" marT="4579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90" marL="81294" marR="81294" marT="4579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0995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73" marL="81301" marR="81301" marT="45773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74" marL="81301" marR="81301" marT="45774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74" marL="81301" marR="81301" marT="45774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10987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75" marL="81301" marR="81301" marT="4577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76" marL="81301" marR="81301" marT="45776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76" marL="81301" marR="81301" marT="45776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10987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75" marL="81301" marR="81301" marT="4577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76" marL="81301" marR="81301" marT="45776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76" marL="81301" marR="81301" marT="45776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10885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82" marL="81294" marR="81294" marT="4578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83" marL="81294" marR="81294" marT="45783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83" marL="81294" marR="81294" marT="45783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10879">
                <a:tc rowSpan="8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CRM BI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/ 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석주연</a:t>
                      </a:r>
                    </a:p>
                  </a:txBody>
                  <a:tcPr horzOverflow="overflow" marB="45753" marL="88066" marR="88066" marT="45753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과다적립금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</a:t>
                      </a:r>
                      <a:r>
                        <a:rPr altLang="en-US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산정식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수정 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12/28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10881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포인트 적립 사용 </a:t>
                      </a: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ERP </a:t>
                      </a:r>
                      <a:r>
                        <a:rPr altLang="en-US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보고용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</a:t>
                      </a: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‘20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년도 데이터 제공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1/18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1/18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10881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’20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년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</a:t>
                      </a:r>
                      <a:r>
                        <a:rPr altLang="en-US" baseline="0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중단대상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거래처 대상 리스트 제공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1/18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1/18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12582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이벤트 기간 중 </a:t>
                      </a:r>
                      <a:r>
                        <a:rPr altLang="en-US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신규회원의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</a:t>
                      </a:r>
                      <a:r>
                        <a:rPr altLang="en-US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주유데이터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제공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1/18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1/18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10881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중단대상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거래처 및 </a:t>
                      </a:r>
                      <a:r>
                        <a:rPr altLang="en-US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과다적립금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</a:t>
                      </a:r>
                      <a:r>
                        <a:rPr altLang="en-US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재산정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개발 및 검증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1/14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1/19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210893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210893">
                <a:tc vMerge="1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6750" marL="90000" marR="90000" marT="4675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210893">
                <a:tc vMerge="1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6754" marL="90000" marR="90000" marT="46754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</a:tbl>
          </a:graphicData>
        </a:graphic>
      </p:graphicFrame>
      <p:sp>
        <p:nvSpPr>
          <p:cNvPr id="9423" name="Rectangle 136"/>
          <p:cNvSpPr>
            <a:spLocks noChangeArrowheads="1"/>
          </p:cNvSpPr>
          <p:nvPr/>
        </p:nvSpPr>
        <p:spPr bwMode="auto">
          <a:xfrm>
            <a:off x="5092804" y="750972"/>
            <a:ext cx="4473736" cy="310676"/>
          </a:xfrm>
          <a:prstGeom prst="rect">
            <a:avLst/>
          </a:prstGeom>
          <a:solidFill>
            <a:srgbClr val="C7CDFD"/>
          </a:solidFill>
          <a:ln>
            <a:noFill/>
          </a:ln>
          <a:effectLst>
            <a:outerShdw algn="ctr" dir="2700000" dist="35921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algn="ctr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defTabSz="806450" indent="-247650" marL="2476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1pPr>
            <a:lvl2pPr defTabSz="806450" indent="-285750" marL="7429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2pPr>
            <a:lvl3pPr defTabSz="806450" indent="-228600" marL="11430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3pPr>
            <a:lvl4pPr defTabSz="806450" indent="-228600" marL="16002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4pPr>
            <a:lvl5pPr defTabSz="806450" indent="-228600" marL="20574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5pPr>
            <a:lvl6pPr defTabSz="806450" eaLnBrk="0" fontAlgn="base" hangingPunct="0" indent="-228600" marL="25146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6pPr>
            <a:lvl7pPr defTabSz="806450" eaLnBrk="0" fontAlgn="base" hangingPunct="0" indent="-228600" marL="29718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7pPr>
            <a:lvl8pPr defTabSz="806450" eaLnBrk="0" fontAlgn="base" hangingPunct="0" indent="-228600" marL="34290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8pPr>
            <a:lvl9pPr defTabSz="806450" eaLnBrk="0" fontAlgn="base" hangingPunct="0" indent="-228600" marL="38862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9pPr>
          </a:lstStyle>
          <a:p>
            <a:pPr algn="ctr" eaLnBrk="1" hangingPunct="1">
              <a:spcBef>
                <a:spcPct val="0"/>
              </a:spcBef>
              <a:spcAft>
                <a:spcPct val="0"/>
              </a:spcAft>
            </a:pPr>
            <a:r>
              <a:rPr altLang="en-US" kumimoji="1" lang="ko-KR" sz="1370">
                <a:solidFill>
                  <a:srgbClr val="000000"/>
                </a:solidFill>
              </a:rPr>
              <a:t>차주 업무 계획</a:t>
            </a:r>
            <a:endParaRPr altLang="ko-KR" kumimoji="1" lang="en-US" sz="137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076" name="표 3075"/>
          <p:cNvGraphicFramePr/>
          <p:nvPr>
            <p:extLst>
              <p:ext uri="{D42A27DB-BD31-4B8C-83A1-F6EECF244321}">
                <p14:modId xmlns:p14="http://schemas.microsoft.com/office/powerpoint/2010/main" val="1625678617"/>
              </p:ext>
            </p:extLst>
          </p:nvPr>
        </p:nvGraphicFramePr>
        <p:xfrm>
          <a:off x="271440" y="1141189"/>
          <a:ext cx="9318451" cy="5164874"/>
        </p:xfrm>
        <a:graphic>
          <a:graphicData uri="http://schemas.openxmlformats.org/drawingml/2006/table">
            <a:tbl>
              <a:tblPr bandRow="1" firstRow="1"/>
              <a:tblGrid>
                <a:gridCol w="13205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205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2053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2533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6501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7132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29518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28572">
                <a:tc>
                  <a:txBody>
                    <a:bodyPr/>
                    <a:lstStyle/>
                    <a:p>
                      <a:pPr algn="ctr" defTabSz="58846888" eaLnBrk="0" hangingPunct="0" indent="0" latinLnBrk="0" lvl="0" marL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altLang="en-US" b="0" baseline="0" dirty="0" i="0" kumimoji="1" lang="ko-KR" sz="900">
                          <a:solidFill>
                            <a:srgbClr val="FF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</a:rPr>
                        <a:t>일</a:t>
                      </a:r>
                      <a:endParaRPr altLang="en-US" b="0" dirty="0" i="0" kumimoji="1" lang="ko-KR" sz="900">
                        <a:solidFill>
                          <a:srgbClr val="FF0000">
                            <a:alpha val="100000"/>
                          </a:srgbClr>
                        </a:solidFill>
                        <a:latin typeface="맑은 고딕"/>
                        <a:ea typeface="맑은 고딕"/>
                      </a:endParaRPr>
                    </a:p>
                  </a:txBody>
                  <a:tcPr anchor="ctr" marB="45719" marT="45719">
                    <a:lnL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solidFill>
                      <a:srgbClr val="EAEA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58846888" eaLnBrk="0" hangingPunct="0" indent="0" latinLnBrk="0" lvl="0" marL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altLang="en-US" b="0" baseline="0" i="0" kumimoji="1" lang="ko-KR" sz="90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</a:rPr>
                        <a:t>월</a:t>
                      </a:r>
                      <a:endParaRPr altLang="en-US" b="0" i="0" kumimoji="1" lang="ko-KR" sz="90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</a:endParaRPr>
                    </a:p>
                  </a:txBody>
                  <a:tcPr anchor="ctr"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solidFill>
                      <a:srgbClr val="EAEA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58846888" eaLnBrk="0" hangingPunct="0" indent="0" latinLnBrk="0" lvl="0" marL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altLang="en-US" b="0" baseline="0" dirty="0" i="0" kumimoji="1" lang="ko-KR" sz="90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</a:rPr>
                        <a:t>화</a:t>
                      </a:r>
                      <a:endParaRPr altLang="en-US" b="0" dirty="0" i="0" kumimoji="1" lang="ko-KR" sz="90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</a:endParaRPr>
                    </a:p>
                  </a:txBody>
                  <a:tcPr anchor="ctr"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solidFill>
                      <a:srgbClr val="EAEA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58846888" eaLnBrk="0" hangingPunct="0" indent="0" latinLnBrk="0" lvl="0" marL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altLang="en-US" b="0" baseline="0" i="0" kumimoji="1" lang="ko-KR" sz="90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</a:rPr>
                        <a:t>수</a:t>
                      </a:r>
                      <a:endParaRPr altLang="en-US" b="0" i="0" kumimoji="1" lang="ko-KR" sz="90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</a:endParaRPr>
                    </a:p>
                  </a:txBody>
                  <a:tcPr anchor="ctr"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solidFill>
                      <a:srgbClr val="EAEA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58846888" eaLnBrk="0" hangingPunct="0" indent="0" latinLnBrk="0" lvl="0" marL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altLang="en-US" b="0" baseline="0" i="0" kumimoji="1" lang="ko-KR" sz="90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</a:rPr>
                        <a:t>목</a:t>
                      </a:r>
                      <a:endParaRPr altLang="en-US" b="0" i="0" kumimoji="1" lang="ko-KR" sz="90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</a:endParaRPr>
                    </a:p>
                  </a:txBody>
                  <a:tcPr anchor="ctr"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solidFill>
                      <a:srgbClr val="EAEA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58846888" eaLnBrk="0" hangingPunct="0" indent="0" latinLnBrk="0" lvl="0" marL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altLang="en-US" b="0" baseline="0" i="0" kumimoji="1" lang="ko-KR" sz="90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</a:rPr>
                        <a:t>금</a:t>
                      </a:r>
                      <a:endParaRPr altLang="en-US" b="0" i="0" kumimoji="1" lang="ko-KR" sz="90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</a:endParaRPr>
                    </a:p>
                  </a:txBody>
                  <a:tcPr anchor="ctr"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solidFill>
                      <a:srgbClr val="EAEA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58846888" eaLnBrk="0" hangingPunct="0" indent="0" latinLnBrk="0" lvl="0" marL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altLang="en-US" b="0" baseline="0" dirty="0" i="0" kumimoji="1" lang="ko-KR" sz="900">
                          <a:solidFill>
                            <a:srgbClr val="0000FF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</a:rPr>
                        <a:t>토</a:t>
                      </a:r>
                      <a:endParaRPr altLang="en-US" b="0" dirty="0" i="0" kumimoji="1" lang="ko-KR" sz="900">
                        <a:solidFill>
                          <a:srgbClr val="0000FF">
                            <a:alpha val="100000"/>
                          </a:srgbClr>
                        </a:solidFill>
                        <a:latin typeface="맑은 고딕"/>
                        <a:ea typeface="맑은 고딕"/>
                      </a:endParaRPr>
                    </a:p>
                  </a:txBody>
                  <a:tcPr anchor="ctr"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solidFill>
                      <a:srgbClr val="EAEAEA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71392">
                <a:tc>
                  <a:txBody>
                    <a:bodyPr/>
                    <a:lstStyle/>
                    <a:p>
                      <a:endParaRPr altLang="en-US" dirty="0" lang="ko-KR" sz="900">
                        <a:solidFill>
                          <a:srgbClr val="FF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>
                    <a:lnL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dirty="0" lang="ko-KR" sz="900">
                        <a:solidFill>
                          <a:schemeClr val="tx1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dirty="0" lang="ko-KR" sz="900">
                        <a:solidFill>
                          <a:srgbClr val="FF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dirty="0" lang="ko-KR" sz="900">
                        <a:solidFill>
                          <a:schemeClr val="tx1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dirty="0" lang="ko-KR" sz="900">
                        <a:solidFill>
                          <a:srgbClr val="FF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</a:t>
                      </a:r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◑ 배영식</a:t>
                      </a:r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남대현</a:t>
                      </a:r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김원기</a:t>
                      </a:r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◑ 강민경</a:t>
                      </a:r>
                    </a:p>
                  </a:txBody>
                  <a:tcPr marB="45716" marT="45716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0070C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</a:t>
                      </a:r>
                      <a:endParaRPr altLang="en-US" dirty="0" lang="ko-KR" sz="900">
                        <a:solidFill>
                          <a:srgbClr val="0070C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49176"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FF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3</a:t>
                      </a:r>
                      <a:endParaRPr altLang="en-US" dirty="0" lang="ko-KR" sz="900">
                        <a:solidFill>
                          <a:srgbClr val="FF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4</a:t>
                      </a:r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변석범</a:t>
                      </a: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5</a:t>
                      </a:r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변석범</a:t>
                      </a:r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서상희</a:t>
                      </a: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6</a:t>
                      </a:r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서상희</a:t>
                      </a: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7</a:t>
                      </a:r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서상희</a:t>
                      </a: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8</a:t>
                      </a:r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박선미</a:t>
                      </a:r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최진우</a:t>
                      </a:r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서상희</a:t>
                      </a: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0070C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9</a:t>
                      </a:r>
                      <a:endParaRPr altLang="en-US" dirty="0" lang="ko-KR" sz="900">
                        <a:solidFill>
                          <a:srgbClr val="0070C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52327"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FF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10</a:t>
                      </a:r>
                      <a:endParaRPr altLang="en-US" dirty="0" lang="ko-KR" sz="900">
                        <a:solidFill>
                          <a:srgbClr val="FF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03" marT="45703">
                    <a:lnL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2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11</a:t>
                      </a:r>
                      <a:r>
                        <a:rPr altLang="ko-KR" dirty="0" lang="en-US" sz="900">
                          <a:solidFill>
                            <a:schemeClr val="tx2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solidFill>
                            <a:schemeClr val="tx2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박민우</a:t>
                      </a:r>
                      <a:r>
                        <a:rPr altLang="ko-KR" dirty="0" lang="en-US" sz="900">
                          <a:solidFill>
                            <a:schemeClr val="tx2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solidFill>
                            <a:schemeClr val="tx2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공현호</a:t>
                      </a:r>
                    </a:p>
                  </a:txBody>
                  <a:tcPr marB="45703" marT="45703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2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12</a:t>
                      </a:r>
                      <a:r>
                        <a:rPr altLang="ko-KR" dirty="0" lang="en-US" sz="900">
                          <a:solidFill>
                            <a:schemeClr val="tx2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solidFill>
                            <a:schemeClr val="tx2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박민우</a:t>
                      </a:r>
                    </a:p>
                  </a:txBody>
                  <a:tcPr marB="45703" marT="45703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2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13</a:t>
                      </a:r>
                      <a:r>
                        <a:rPr altLang="ko-KR" dirty="0" lang="en-US" sz="900">
                          <a:solidFill>
                            <a:schemeClr val="tx2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solidFill>
                            <a:schemeClr val="tx2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박민우</a:t>
                      </a: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2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14</a:t>
                      </a:r>
                      <a:r>
                        <a:rPr altLang="ko-KR" dirty="0" lang="en-US" sz="900">
                          <a:solidFill>
                            <a:schemeClr val="tx2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solidFill>
                            <a:schemeClr val="tx2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박민우</a:t>
                      </a: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15</a:t>
                      </a:r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박민우</a:t>
                      </a:r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이병준</a:t>
                      </a:r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이상엽</a:t>
                      </a: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0070C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16</a:t>
                      </a:r>
                      <a:endParaRPr altLang="en-US" dirty="0" lang="ko-KR" sz="900">
                        <a:solidFill>
                          <a:srgbClr val="0070C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049146"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FF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17</a:t>
                      </a:r>
                      <a:endParaRPr altLang="en-US" dirty="0" lang="ko-KR" sz="900">
                        <a:solidFill>
                          <a:srgbClr val="FF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03" marT="45703">
                    <a:lnL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18</a:t>
                      </a:r>
                      <a:endParaRPr altLang="en-US" dirty="0" lang="ko-KR" sz="900">
                        <a:solidFill>
                          <a:schemeClr val="tx1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03" marT="45703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19</a:t>
                      </a:r>
                      <a:endParaRPr altLang="en-US" dirty="0" lang="ko-KR" sz="900">
                        <a:solidFill>
                          <a:schemeClr val="tx1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03" marT="45703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20</a:t>
                      </a:r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박남신</a:t>
                      </a: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21</a:t>
                      </a:r>
                      <a:endParaRPr altLang="en-US" dirty="0" lang="ko-KR" sz="900">
                        <a:solidFill>
                          <a:schemeClr val="tx1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22</a:t>
                      </a:r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박선미</a:t>
                      </a: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0070C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23</a:t>
                      </a:r>
                      <a:endParaRPr altLang="en-US" dirty="0" lang="ko-KR" sz="900">
                        <a:solidFill>
                          <a:srgbClr val="0070C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914235"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FF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24</a:t>
                      </a:r>
                      <a:endParaRPr altLang="en-US" dirty="0" lang="ko-KR" sz="900">
                        <a:solidFill>
                          <a:srgbClr val="FF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03" marT="45703">
                    <a:lnL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25</a:t>
                      </a:r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이지은</a:t>
                      </a:r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최진우</a:t>
                      </a:r>
                    </a:p>
                  </a:txBody>
                  <a:tcPr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26</a:t>
                      </a:r>
                      <a:endParaRPr altLang="en-US" dirty="0" lang="ko-KR" sz="9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27</a:t>
                      </a:r>
                      <a:endParaRPr altLang="en-US" dirty="0" lang="ko-KR" sz="900">
                        <a:solidFill>
                          <a:schemeClr val="tx1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28</a:t>
                      </a:r>
                      <a:endParaRPr altLang="en-US" dirty="0" lang="ko-KR" sz="900">
                        <a:solidFill>
                          <a:schemeClr val="tx1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29</a:t>
                      </a:r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◐ 남대현</a:t>
                      </a:r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박선미</a:t>
                      </a:r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순현국</a:t>
                      </a:r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이상엽</a:t>
                      </a:r>
                    </a:p>
                  </a:txBody>
                  <a:tcPr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0070C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30</a:t>
                      </a:r>
                      <a:endParaRPr altLang="en-US" dirty="0" lang="ko-KR" sz="900">
                        <a:solidFill>
                          <a:srgbClr val="0070C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3246" name="TextBox 3245"/>
          <p:cNvSpPr txBox="1"/>
          <p:nvPr/>
        </p:nvSpPr>
        <p:spPr>
          <a:xfrm>
            <a:off x="5639356" y="661884"/>
            <a:ext cx="661884" cy="363427"/>
          </a:xfrm>
          <a:prstGeom prst="rect">
            <a:avLst/>
          </a:prstGeom>
          <a:noFill/>
          <a:ln algn="ctr" cap="flat" cmpd="sng" w="9525">
            <a:noFill/>
            <a:prstDash val="solid"/>
            <a:round/>
          </a:ln>
        </p:spPr>
        <p:txBody>
          <a:bodyPr anchor="t" bIns="45720" lIns="91440" rIns="91440" tIns="45720" vert="horz" wrap="none">
            <a:noAutofit/>
          </a:bodyPr>
          <a:lstStyle/>
          <a:p>
            <a:pPr algn="r" defTabSz="75524200" eaLnBrk="0" hangingPunct="0" indent="-188937" latinLnBrk="0" lvl="0" marL="188937" rtl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3333CC">
                  <a:alpha val="100000"/>
                </a:srgbClr>
              </a:buClr>
              <a:buSzPct val="100000"/>
              <a:buFont typeface="Arial"/>
              <a:buChar char="◑"/>
              <a:defRPr/>
            </a:pPr>
            <a:r>
              <a:rPr altLang="en-US" b="0" baseline="0" dirty="0" i="0" kumimoji="1" lang="ko-KR" sz="900">
                <a:solidFill>
                  <a:srgbClr val="3333CC">
                    <a:alpha val="100000"/>
                  </a:srgbClr>
                </a:solidFill>
                <a:latin typeface="맑은 고딕"/>
                <a:ea typeface="맑은 고딕"/>
              </a:rPr>
              <a:t>반 차</a:t>
            </a:r>
          </a:p>
          <a:p>
            <a:pPr algn="r" defTabSz="75524200" eaLnBrk="0" hangingPunct="0" indent="-188937" latinLnBrk="0" lvl="0" marL="188937" rtl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3333CC">
                  <a:alpha val="100000"/>
                </a:srgbClr>
              </a:buClr>
              <a:buSzPct val="150000"/>
              <a:buFont typeface="Wingdings"/>
              <a:buChar char="l"/>
              <a:defRPr/>
            </a:pPr>
            <a:r>
              <a:rPr altLang="en-US" b="0" baseline="0" dirty="0" i="0" kumimoji="1" lang="ko-KR" sz="900">
                <a:solidFill>
                  <a:srgbClr val="3333CC">
                    <a:alpha val="100000"/>
                  </a:srgbClr>
                </a:solidFill>
                <a:latin typeface="맑은 고딕"/>
                <a:ea typeface="맑은 고딕"/>
              </a:rPr>
              <a:t> 1day</a:t>
            </a:r>
            <a:endParaRPr altLang="en-US" b="0" dirty="0" i="0" kumimoji="1" lang="ko-KR" sz="900">
              <a:solidFill>
                <a:srgbClr val="3333CC">
                  <a:alpha val="100000"/>
                </a:srgbClr>
              </a:solidFill>
              <a:latin typeface="맑은 고딕"/>
              <a:ea typeface="맑은 고딕"/>
            </a:endParaRPr>
          </a:p>
        </p:txBody>
      </p:sp>
      <p:sp>
        <p:nvSpPr>
          <p:cNvPr id="3247" name="TextBox 3246"/>
          <p:cNvSpPr txBox="1"/>
          <p:nvPr/>
        </p:nvSpPr>
        <p:spPr>
          <a:xfrm>
            <a:off x="226954" y="199994"/>
            <a:ext cx="9056616" cy="336468"/>
          </a:xfrm>
          <a:prstGeom prst="rect">
            <a:avLst/>
          </a:prstGeom>
          <a:noFill/>
          <a:ln algn="ctr" cap="flat" cmpd="sng" w="9525">
            <a:noFill/>
            <a:prstDash val="solid"/>
            <a:round/>
          </a:ln>
        </p:spPr>
        <p:txBody>
          <a:bodyPr anchor="ctr" bIns="45789" lIns="91577" rIns="91577" tIns="45789" vert="horz" wrap="square">
            <a:noAutofit/>
          </a:bodyPr>
          <a:lstStyle/>
          <a:p>
            <a:pPr algn="l" defTabSz="58846888" eaLnBrk="0" hangingPunct="0" indent="-385813" latinLnBrk="0" lvl="0" marL="385813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/>
            </a:pPr>
            <a:r>
              <a:rPr altLang="en-US" b="1" baseline="0" dirty="0" i="0" kumimoji="1" lang="ko-KR" sz="16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별첨</a:t>
            </a:r>
            <a:r>
              <a:rPr altLang="en-US" b="1" baseline="0" dirty="0" i="0" kumimoji="1" lang="ko-KR" sz="16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-</a:t>
            </a:r>
            <a:r>
              <a:rPr altLang="en-US" b="1" baseline="0" dirty="0" i="0" kumimoji="1" lang="ko-KR" sz="16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2</a:t>
            </a:r>
            <a:r>
              <a:rPr altLang="en-US" b="1" baseline="0" dirty="0" i="0" kumimoji="1" lang="ko-KR" sz="16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.</a:t>
            </a:r>
            <a:r>
              <a:rPr altLang="en-US" b="1" baseline="0" dirty="0" i="0" kumimoji="1" lang="ko-KR" sz="16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 202</a:t>
            </a:r>
            <a:r>
              <a:rPr altLang="ko-KR" b="1" baseline="0" dirty="0" i="0" kumimoji="1" lang="en-US" sz="16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4</a:t>
            </a:r>
            <a:r>
              <a:rPr altLang="en-US" b="1" baseline="0" dirty="0" i="0" kumimoji="1" lang="ko-KR" sz="16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. </a:t>
            </a:r>
            <a:r>
              <a:rPr altLang="ko-KR" b="1" dirty="0" kumimoji="1" lang="en-US" sz="16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11</a:t>
            </a:r>
            <a:r>
              <a:rPr altLang="en-US" b="1" baseline="0" dirty="0" i="0" kumimoji="1" lang="ko-KR" sz="16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월 휴가계획서</a:t>
            </a:r>
            <a:endParaRPr altLang="en-US" b="1" dirty="0" i="0" kumimoji="1" lang="ko-KR" sz="1600">
              <a:solidFill>
                <a:srgbClr val="000000">
                  <a:alpha val="100000"/>
                </a:srgbClr>
              </a:solidFill>
              <a:latin typeface="맑은 고딕"/>
              <a:ea typeface="맑은 고딕"/>
            </a:endParaRPr>
          </a:p>
        </p:txBody>
      </p:sp>
      <p:sp>
        <p:nvSpPr>
          <p:cNvPr id="3248" name="TextBox 3247"/>
          <p:cNvSpPr txBox="1"/>
          <p:nvPr/>
        </p:nvSpPr>
        <p:spPr>
          <a:xfrm>
            <a:off x="6777363" y="666628"/>
            <a:ext cx="1447571" cy="355557"/>
          </a:xfrm>
          <a:prstGeom prst="rect">
            <a:avLst/>
          </a:prstGeom>
          <a:noFill/>
          <a:ln algn="ctr" cap="flat" cmpd="sng" w="9525">
            <a:noFill/>
            <a:prstDash val="solid"/>
            <a:round/>
          </a:ln>
        </p:spPr>
        <p:txBody>
          <a:bodyPr anchor="t" bIns="45720" lIns="91440" rIns="91440" tIns="45720" vert="horz" wrap="square">
            <a:noAutofit/>
          </a:bodyPr>
          <a:lstStyle/>
          <a:p>
            <a:pPr algn="r" defTabSz="75524200" eaLnBrk="1" hangingPunct="1" indent="-188937" latinLnBrk="0" lvl="0" marL="188937" rtl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333399">
                  <a:alpha val="100000"/>
                </a:srgbClr>
              </a:buClr>
              <a:buSzPct val="100000"/>
              <a:buFont typeface="Wingdings"/>
              <a:buChar char="Ø"/>
              <a:defRPr/>
            </a:pPr>
            <a:r>
              <a:rPr altLang="en-US" b="0" baseline="0" dirty="0" i="0" kumimoji="1" lang="ko-KR" sz="900">
                <a:solidFill>
                  <a:srgbClr val="333399">
                    <a:alpha val="100000"/>
                  </a:srgbClr>
                </a:solidFill>
                <a:latin typeface="맑은 고딕"/>
                <a:ea typeface="맑은 고딕"/>
              </a:rPr>
              <a:t>예비군</a:t>
            </a:r>
            <a:r>
              <a:rPr altLang="en-US" b="0" baseline="0" dirty="0" i="0" kumimoji="1" lang="ko-KR" sz="900">
                <a:solidFill>
                  <a:srgbClr val="333399">
                    <a:alpha val="100000"/>
                  </a:srgbClr>
                </a:solidFill>
                <a:latin typeface="바탕"/>
                <a:ea typeface="맑은 고딕"/>
              </a:rPr>
              <a:t>/</a:t>
            </a:r>
            <a:r>
              <a:rPr altLang="en-US" b="0" baseline="0" dirty="0" i="0" kumimoji="1" lang="ko-KR" sz="900">
                <a:solidFill>
                  <a:srgbClr val="333399">
                    <a:alpha val="100000"/>
                  </a:srgbClr>
                </a:solidFill>
                <a:latin typeface="맑은 고딕"/>
                <a:ea typeface="맑은 고딕"/>
              </a:rPr>
              <a:t>민방위 훈련 </a:t>
            </a:r>
          </a:p>
          <a:p>
            <a:pPr algn="r" defTabSz="75524200" eaLnBrk="1" hangingPunct="1" indent="-188937" latinLnBrk="0" lvl="0" marL="188937" rtl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333399">
                  <a:alpha val="100000"/>
                </a:srgbClr>
              </a:buClr>
              <a:buSzPct val="100000"/>
              <a:buFont typeface="Wingdings"/>
              <a:buChar char="ü"/>
              <a:defRPr/>
            </a:pPr>
            <a:r>
              <a:rPr altLang="en-US" b="0" baseline="0" dirty="0" i="0" kumimoji="1" lang="ko-KR" sz="900">
                <a:solidFill>
                  <a:srgbClr val="333399">
                    <a:alpha val="100000"/>
                  </a:srgbClr>
                </a:solidFill>
                <a:latin typeface="맑은 고딕"/>
                <a:ea typeface="맑은 고딕"/>
              </a:rPr>
              <a:t>교육</a:t>
            </a:r>
            <a:r>
              <a:rPr altLang="en-US" b="0" baseline="0" dirty="0" i="0" kumimoji="1" lang="ko-KR" sz="900">
                <a:solidFill>
                  <a:srgbClr val="333399">
                    <a:alpha val="100000"/>
                  </a:srgbClr>
                </a:solidFill>
                <a:latin typeface="바탕"/>
                <a:ea typeface="맑은 고딕"/>
              </a:rPr>
              <a:t>,</a:t>
            </a:r>
            <a:r>
              <a:rPr altLang="en-US" b="0" baseline="0" dirty="0" i="0" kumimoji="1" lang="ko-KR" sz="900">
                <a:solidFill>
                  <a:srgbClr val="333399">
                    <a:alpha val="100000"/>
                  </a:srgbClr>
                </a:solidFill>
                <a:latin typeface="맑은 고딕"/>
                <a:ea typeface="맑은 고딕"/>
              </a:rPr>
              <a:t> 내부회의 </a:t>
            </a:r>
            <a:endParaRPr altLang="en-US" b="0" dirty="0" i="0" kumimoji="1" lang="ko-KR" sz="900">
              <a:solidFill>
                <a:srgbClr val="333399">
                  <a:alpha val="100000"/>
                </a:srgbClr>
              </a:solidFill>
              <a:latin typeface="맑은 고딕"/>
              <a:ea typeface="맑은 고딕"/>
            </a:endParaRPr>
          </a:p>
        </p:txBody>
      </p:sp>
      <p:sp>
        <p:nvSpPr>
          <p:cNvPr id="3252" name="TextBox 3251"/>
          <p:cNvSpPr txBox="1"/>
          <p:nvPr/>
        </p:nvSpPr>
        <p:spPr>
          <a:xfrm>
            <a:off x="7853525" y="661884"/>
            <a:ext cx="1676088" cy="355501"/>
          </a:xfrm>
          <a:prstGeom prst="rect">
            <a:avLst/>
          </a:prstGeom>
          <a:noFill/>
          <a:ln algn="ctr" cap="flat" cmpd="sng" w="9525">
            <a:noFill/>
            <a:prstDash val="solid"/>
            <a:round/>
          </a:ln>
        </p:spPr>
        <p:txBody>
          <a:bodyPr anchor="t" bIns="45720" lIns="91440" rIns="91440" tIns="45720" vert="horz" wrap="square">
            <a:noAutofit/>
          </a:bodyPr>
          <a:lstStyle/>
          <a:p>
            <a:pPr algn="r" defTabSz="75524200" eaLnBrk="1" hangingPunct="1" indent="-188937" latinLnBrk="0" lvl="0" marL="188937" rtl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333399">
                  <a:alpha val="100000"/>
                </a:srgbClr>
              </a:buClr>
              <a:buSzPct val="100000"/>
              <a:buFont typeface="Wingdings"/>
              <a:buChar char="v"/>
              <a:defRPr/>
            </a:pPr>
            <a:r>
              <a:rPr altLang="en-US" b="0" baseline="0" i="0" kumimoji="1" lang="ko-KR" sz="900">
                <a:solidFill>
                  <a:srgbClr val="333399">
                    <a:alpha val="100000"/>
                  </a:srgbClr>
                </a:solidFill>
                <a:latin typeface="맑은 고딕"/>
                <a:ea typeface="맑은 고딕"/>
              </a:rPr>
              <a:t>경조휴가</a:t>
            </a:r>
          </a:p>
          <a:p>
            <a:pPr algn="r" defTabSz="75524200" eaLnBrk="1" hangingPunct="1" indent="-188937" latinLnBrk="0" lvl="0" marL="188937" rtl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333399">
                  <a:alpha val="100000"/>
                </a:srgbClr>
              </a:buClr>
              <a:buSzPct val="100000"/>
              <a:buFont typeface="Arial"/>
              <a:buChar char="◇"/>
              <a:defRPr/>
            </a:pPr>
            <a:r>
              <a:rPr altLang="en-US" b="0" baseline="0" i="0" kumimoji="1" lang="ko-KR" sz="900">
                <a:solidFill>
                  <a:srgbClr val="333399">
                    <a:alpha val="100000"/>
                  </a:srgbClr>
                </a:solidFill>
                <a:latin typeface="맑은 고딕"/>
                <a:ea typeface="맑은 고딕"/>
              </a:rPr>
              <a:t>건강검진</a:t>
            </a:r>
            <a:endParaRPr altLang="en-US" b="0" i="0" kumimoji="1" lang="ko-KR" sz="900">
              <a:solidFill>
                <a:srgbClr val="333399">
                  <a:alpha val="100000"/>
                </a:srgbClr>
              </a:solidFill>
              <a:latin typeface="맑은 고딕"/>
              <a:ea typeface="맑은 고딕"/>
            </a:endParaRPr>
          </a:p>
        </p:txBody>
      </p:sp>
      <p:sp>
        <p:nvSpPr>
          <p:cNvPr id="3253" name="TextBox 3252"/>
          <p:cNvSpPr txBox="1"/>
          <p:nvPr/>
        </p:nvSpPr>
        <p:spPr>
          <a:xfrm>
            <a:off x="722167" y="6401209"/>
            <a:ext cx="3085536" cy="223828"/>
          </a:xfrm>
          <a:prstGeom prst="rect">
            <a:avLst/>
          </a:prstGeom>
          <a:noFill/>
          <a:ln algn="ctr" cap="flat" cmpd="sng" w="9525">
            <a:noFill/>
            <a:prstDash val="solid"/>
            <a:round/>
          </a:ln>
        </p:spPr>
        <p:txBody>
          <a:bodyPr anchor="ctr" bIns="45720" lIns="91440" rIns="91440" tIns="45720" vert="horz" wrap="none">
            <a:noAutofit/>
          </a:bodyPr>
          <a:lstStyle/>
          <a:p>
            <a:pPr algn="r" defTabSz="75524200" eaLnBrk="0" hangingPunct="0" indent="0" latinLnBrk="0" lvl="0" marL="0" rtl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None/>
              <a:defRPr/>
            </a:pP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(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H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)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 IT운영팀  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(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R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)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 생산IT지원팀  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(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B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)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 Baynex   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(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Q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)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 Quintet</a:t>
            </a:r>
            <a:endParaRPr altLang="en-US" b="0" i="0" kumimoji="1" lang="ko-KR" sz="900">
              <a:solidFill>
                <a:srgbClr val="000000">
                  <a:alpha val="100000"/>
                </a:srgbClr>
              </a:solidFill>
              <a:latin typeface="맑은 고딕"/>
              <a:ea typeface="맑은 고딕"/>
            </a:endParaRPr>
          </a:p>
        </p:txBody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showMasterSp="false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terms:modified xsi:type="dcterms:W3CDTF">2011-08-01T06:04:30Z</dcterms:modified>
  <cp:revision>1</cp:revision>
</cp:coreProperties>
</file>