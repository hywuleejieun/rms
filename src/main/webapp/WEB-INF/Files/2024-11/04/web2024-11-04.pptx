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  <p:sldId id="2567" r:id="rId7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39710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4603032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0261687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0456156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9203085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2319918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5778408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3798367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098017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3195485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2021243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896738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8352406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7359395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34663987" name="Text">
    </p:cNvPr>
          <p:cNvSpPr>
            <a:spLocks noGrp="1"/>
          </p:cNvSpPr>
          <p:nvPr/>
        </p:nvSpPr>
        <p:spPr>
          <a:xfrm rot="0">
            <a:off x="9702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</a:p>
        </p:txBody>
      </p:sp>
      <p:sp>
        <p:nvSpPr>
          <p:cNvPr id="182796481" name="Text">
    </p:cNvPr>
          <p:cNvSpPr>
            <a:spLocks noGrp="1"/>
          </p:cNvSpPr>
          <p:nvPr/>
        </p:nvSpPr>
        <p:spPr>
          <a:xfrm rot="0">
            <a:off x="93345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873000343" name="Text">
    </p:cNvPr>
          <p:cNvSpPr>
            <a:spLocks noGrp="1"/>
          </p:cNvSpPr>
          <p:nvPr/>
        </p:nvSpPr>
        <p:spPr>
          <a:xfrm rot="0">
            <a:off x="59309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ITSM-117555 첨부파일 정정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ITSM-118175ci 시설지원 PO번호 연동오류 보완</a:t>
            </a:r>
          </a:p>
        </p:txBody>
      </p:sp>
      <p:sp>
        <p:nvSpPr>
          <p:cNvPr id="1725276687" name="Text">
    </p:cNvPr>
          <p:cNvSpPr>
            <a:spLocks noGrp="1"/>
          </p:cNvSpPr>
          <p:nvPr/>
        </p:nvSpPr>
        <p:spPr>
          <a:xfrm rot="0">
            <a:off x="53086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726660092" name="Text">
    </p:cNvPr>
          <p:cNvSpPr>
            <a:spLocks noGrp="1"/>
          </p:cNvSpPr>
          <p:nvPr/>
        </p:nvSpPr>
        <p:spPr>
          <a:xfrm rot="0">
            <a:off x="889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85359644" name="Text">
    </p:cNvPr>
          <p:cNvSpPr>
            <a:spLocks noGrp="1"/>
          </p:cNvSpPr>
          <p:nvPr/>
        </p:nvSpPr>
        <p:spPr>
          <a:xfrm rot="0">
            <a:off x="7112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ITSM-117555 첨부파일 정정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ITSM-118175ci 시설지원 PO번호 연동오류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ITSM-117997 e-Biz 사후보너스포인트 적립관련 제3자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전자(세금)계산서 발급사실 조회 화면 통신사 선택 옵션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ITSM-118631유니폼 신청 거래처 GP20241000004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52 루비주유소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ITSM-118786업무용 경조화환 신청서 오타문구 수정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</a:p>
        </p:txBody>
      </p:sp>
      <p:sp>
        <p:nvSpPr>
          <p:cNvPr id="2015067583" name="Text">
    </p:cNvPr>
          <p:cNvSpPr>
            <a:spLocks noGrp="1"/>
          </p:cNvSpPr>
          <p:nvPr/>
        </p:nvSpPr>
        <p:spPr>
          <a:xfrm rot="0">
            <a:off x="44831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</a:p>
        </p:txBody>
      </p:sp>
      <p:sp>
        <p:nvSpPr>
          <p:cNvPr id="865434985" name="Text">
    </p:cNvPr>
          <p:cNvSpPr>
            <a:spLocks noGrp="1"/>
          </p:cNvSpPr>
          <p:nvPr/>
        </p:nvSpPr>
        <p:spPr>
          <a:xfrm rot="0">
            <a:off x="48514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</a:t>
            </a:r>
            <a:br/>
            <a:br/>
          </a:p>
        </p:txBody>
      </p:sp>
      <p:sp>
        <p:nvSpPr>
          <p:cNvPr id="1729210612" name="Text">
    </p:cNvPr>
          <p:cNvSpPr>
            <a:spLocks noGrp="1"/>
          </p:cNvSpPr>
          <p:nvPr/>
        </p:nvSpPr>
        <p:spPr>
          <a:xfrm rot="0">
            <a:off x="4114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</a:p>
        </p:txBody>
      </p:sp>
      <p:sp>
        <p:nvSpPr>
          <p:cNvPr id="236776887" name="Text">
    </p:cNvPr>
          <p:cNvSpPr>
            <a:spLocks noGrp="1"/>
          </p:cNvSpPr>
          <p:nvPr/>
        </p:nvSpPr>
        <p:spPr>
          <a:xfrm rot="0">
            <a:off x="6604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68188238" name="Text">
    </p:cNvPr>
          <p:cNvSpPr>
            <a:spLocks noGrp="1"/>
          </p:cNvSpPr>
          <p:nvPr/>
        </p:nvSpPr>
        <p:spPr>
          <a:xfrm rot="0">
            <a:off x="58801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00714923" name="Text">
    </p:cNvPr>
          <p:cNvSpPr>
            <a:spLocks noGrp="1"/>
          </p:cNvSpPr>
          <p:nvPr/>
        </p:nvSpPr>
        <p:spPr>
          <a:xfrm rot="0">
            <a:off x="9702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603504610" name="Text">
    </p:cNvPr>
          <p:cNvSpPr>
            <a:spLocks noGrp="1"/>
          </p:cNvSpPr>
          <p:nvPr/>
        </p:nvSpPr>
        <p:spPr>
          <a:xfrm rot="0">
            <a:off x="93345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</a:p>
        </p:txBody>
      </p:sp>
      <p:sp>
        <p:nvSpPr>
          <p:cNvPr id="906733298" name="Text">
    </p:cNvPr>
          <p:cNvSpPr>
            <a:spLocks noGrp="1"/>
          </p:cNvSpPr>
          <p:nvPr/>
        </p:nvSpPr>
        <p:spPr>
          <a:xfrm rot="0">
            <a:off x="5930900" y="39370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LLI Status Monitoring</a:t>
            </a:r>
          </a:p>
        </p:txBody>
      </p:sp>
      <p:sp>
        <p:nvSpPr>
          <p:cNvPr id="1465478290" name="Text">
    </p:cNvPr>
          <p:cNvSpPr>
            <a:spLocks noGrp="1"/>
          </p:cNvSpPr>
          <p:nvPr/>
        </p:nvSpPr>
        <p:spPr>
          <a:xfrm rot="0">
            <a:off x="53086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472964443" name="Text">
    </p:cNvPr>
          <p:cNvSpPr>
            <a:spLocks noGrp="1"/>
          </p:cNvSpPr>
          <p:nvPr/>
        </p:nvSpPr>
        <p:spPr>
          <a:xfrm rot="0">
            <a:off x="889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596951462" name="Text">
    </p:cNvPr>
          <p:cNvSpPr>
            <a:spLocks noGrp="1"/>
          </p:cNvSpPr>
          <p:nvPr/>
        </p:nvSpPr>
        <p:spPr>
          <a:xfrm rot="0">
            <a:off x="711200" y="39370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LLI Status Monitoring</a:t>
            </a:r>
          </a:p>
        </p:txBody>
      </p:sp>
      <p:sp>
        <p:nvSpPr>
          <p:cNvPr id="888703623" name="Text">
    </p:cNvPr>
          <p:cNvSpPr>
            <a:spLocks noGrp="1"/>
          </p:cNvSpPr>
          <p:nvPr/>
        </p:nvSpPr>
        <p:spPr>
          <a:xfrm rot="0">
            <a:off x="44831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685333878" name="Text">
    </p:cNvPr>
          <p:cNvSpPr>
            <a:spLocks noGrp="1"/>
          </p:cNvSpPr>
          <p:nvPr/>
        </p:nvSpPr>
        <p:spPr>
          <a:xfrm rot="0">
            <a:off x="48514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</a:p>
        </p:txBody>
      </p:sp>
      <p:sp>
        <p:nvSpPr>
          <p:cNvPr id="840537907" name="Text">
    </p:cNvPr>
          <p:cNvSpPr>
            <a:spLocks noGrp="1"/>
          </p:cNvSpPr>
          <p:nvPr/>
        </p:nvSpPr>
        <p:spPr>
          <a:xfrm rot="0">
            <a:off x="4114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</a:p>
        </p:txBody>
      </p:sp>
      <p:sp>
        <p:nvSpPr>
          <p:cNvPr id="289949805" name="Text">
    </p:cNvPr>
          <p:cNvSpPr>
            <a:spLocks noGrp="1"/>
          </p:cNvSpPr>
          <p:nvPr/>
        </p:nvSpPr>
        <p:spPr>
          <a:xfrm rot="0">
            <a:off x="6604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37106801" name="Text">
    </p:cNvPr>
          <p:cNvSpPr>
            <a:spLocks noGrp="1"/>
          </p:cNvSpPr>
          <p:nvPr/>
        </p:nvSpPr>
        <p:spPr>
          <a:xfrm rot="0">
            <a:off x="58801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1148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9887042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8446910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3228469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4857604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72135965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7685276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895661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1144437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8623590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3871831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5558954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3218283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6850691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8250994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</a:p>
        </p:txBody>
      </p:sp>
      <p:sp>
        <p:nvSpPr>
          <p:cNvPr id="76972434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</a:p>
        </p:txBody>
      </p:sp>
      <p:sp>
        <p:nvSpPr>
          <p:cNvPr id="170283605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CI 시설지원 관련 개선 및 보완요청</a:t>
            </a:r>
          </a:p>
        </p:txBody>
      </p:sp>
      <p:sp>
        <p:nvSpPr>
          <p:cNvPr id="190377169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4809780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66090419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프로젝트 RFC 테스트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고객 마스터 등록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CI 시설지원 관련 개선 및 보완요청</a:t>
            </a:r>
          </a:p>
        </p:txBody>
      </p:sp>
      <p:sp>
        <p:nvSpPr>
          <p:cNvPr id="100228487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</a:p>
        </p:txBody>
      </p:sp>
      <p:sp>
        <p:nvSpPr>
          <p:cNvPr id="832107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</a:p>
        </p:txBody>
      </p:sp>
      <p:sp>
        <p:nvSpPr>
          <p:cNvPr id="183073985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</a:p>
        </p:txBody>
      </p:sp>
      <p:sp>
        <p:nvSpPr>
          <p:cNvPr id="185715702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424380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2804264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141460026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</a:p>
        </p:txBody>
      </p:sp>
      <p:sp>
        <p:nvSpPr>
          <p:cNvPr id="90156434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15457219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6762773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48007708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ITSM-117949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상품권 현보유부서 코드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자동배차엔진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ITSM-118697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미사용 계정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Fortify 변경 점 발생으로 취약점 점검 프로세스 재연결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ITSM-117844 예상작업완료일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정기점검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ITSM-113287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자동배차엔진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상품권 판매 이력 카드할인률 수정 및 ERP 데이터 삭제</a:t>
            </a:r>
          </a:p>
        </p:txBody>
      </p:sp>
      <p:sp>
        <p:nvSpPr>
          <p:cNvPr id="19992030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</a:p>
        </p:txBody>
      </p:sp>
      <p:sp>
        <p:nvSpPr>
          <p:cNvPr id="91938350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</a:p>
        </p:txBody>
      </p:sp>
      <p:sp>
        <p:nvSpPr>
          <p:cNvPr id="22063325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</a:p>
        </p:txBody>
      </p:sp>
      <p:sp>
        <p:nvSpPr>
          <p:cNvPr id="35225575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6028801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8671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6556516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2095729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5039540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8724988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31085568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9342508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9686003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4932741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1479320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2263168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8675472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7342908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5764350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8253996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</a:p>
        </p:txBody>
      </p:sp>
      <p:sp>
        <p:nvSpPr>
          <p:cNvPr id="30829665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09/16</a:t>
            </a:r>
            <a:br/>
            <a:br/>
          </a:p>
        </p:txBody>
      </p:sp>
      <p:sp>
        <p:nvSpPr>
          <p:cNvPr id="171431118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'#3 외화입금내역 반제자동화' 작업 운영전환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및 SAP입력 작업 추가</a:t>
            </a:r>
            <a:br/>
          </a:p>
        </p:txBody>
      </p:sp>
      <p:sp>
        <p:nvSpPr>
          <p:cNvPr id="176813035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85886286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54714545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주간 마지막영업일, 월간 마지막영업일 RPA작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업 사용 엑셀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'가상계좌 List 송부' 작업 추가작업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신규 개발건 프로세스 논의 및 일정 지연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(SAP Update)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'항공급유 매출입력' 작업 개선필요. 매크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로 수정</a:t>
            </a:r>
            <a:br/>
          </a:p>
        </p:txBody>
      </p:sp>
      <p:sp>
        <p:nvSpPr>
          <p:cNvPr id="88331181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</a:p>
        </p:txBody>
      </p:sp>
      <p:sp>
        <p:nvSpPr>
          <p:cNvPr id="109951368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</a:p>
        </p:txBody>
      </p:sp>
      <p:sp>
        <p:nvSpPr>
          <p:cNvPr id="207474377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</a:p>
        </p:txBody>
      </p:sp>
      <p:sp>
        <p:nvSpPr>
          <p:cNvPr id="103651356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0250470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5948866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40507820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45142982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Simoms 작업 결과 보고서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신청)</a:t>
            </a:r>
          </a:p>
        </p:txBody>
      </p:sp>
      <p:sp>
        <p:nvSpPr>
          <p:cNvPr id="68856977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28093979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209365947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Simoms 작업 결과 보고서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신청)</a:t>
            </a:r>
          </a:p>
        </p:txBody>
      </p:sp>
      <p:sp>
        <p:nvSpPr>
          <p:cNvPr id="60949331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49002428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</a:p>
        </p:txBody>
      </p:sp>
      <p:sp>
        <p:nvSpPr>
          <p:cNvPr id="148780499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190259715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5009262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12535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7579076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1734260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2005592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171845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77248341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0332214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6163093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3887038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6123373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7517081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4799126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2172651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4681512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96673218" name="Text">
    </p:cNvPr>
          <p:cNvSpPr>
            <a:spLocks noGrp="1"/>
          </p:cNvSpPr>
          <p:nvPr/>
        </p:nvSpPr>
        <p:spPr>
          <a:xfrm rot="0">
            <a:off x="9702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</a:p>
        </p:txBody>
      </p:sp>
      <p:sp>
        <p:nvSpPr>
          <p:cNvPr id="990305172" name="Text">
    </p:cNvPr>
          <p:cNvSpPr>
            <a:spLocks noGrp="1"/>
          </p:cNvSpPr>
          <p:nvPr/>
        </p:nvSpPr>
        <p:spPr>
          <a:xfrm rot="0">
            <a:off x="93345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</a:p>
        </p:txBody>
      </p:sp>
      <p:sp>
        <p:nvSpPr>
          <p:cNvPr id="2112630554" name="Text">
    </p:cNvPr>
          <p:cNvSpPr>
            <a:spLocks noGrp="1"/>
          </p:cNvSpPr>
          <p:nvPr/>
        </p:nvSpPr>
        <p:spPr>
          <a:xfrm rot="0">
            <a:off x="59309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</a:p>
        </p:txBody>
      </p:sp>
      <p:sp>
        <p:nvSpPr>
          <p:cNvPr id="1252829659" name="Text">
    </p:cNvPr>
          <p:cNvSpPr>
            <a:spLocks noGrp="1"/>
          </p:cNvSpPr>
          <p:nvPr/>
        </p:nvSpPr>
        <p:spPr>
          <a:xfrm rot="0">
            <a:off x="53086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638567025" name="Text">
    </p:cNvPr>
          <p:cNvSpPr>
            <a:spLocks noGrp="1"/>
          </p:cNvSpPr>
          <p:nvPr/>
        </p:nvSpPr>
        <p:spPr>
          <a:xfrm rot="0">
            <a:off x="889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735602527" name="Text">
    </p:cNvPr>
          <p:cNvSpPr>
            <a:spLocks noGrp="1"/>
          </p:cNvSpPr>
          <p:nvPr/>
        </p:nvSpPr>
        <p:spPr>
          <a:xfrm rot="0">
            <a:off x="7112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ITSM-115639OSPM(외주용역관리) 결재 대행자 지정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ITSM-118588, ITSM-118609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ITSM-118623, ITSM-118625, ITSM-118645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ITSM-118646, ITSM-118680, ITSM-118681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ITSM-118679, ITSM-118711, ITSM-118712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ITSM-116512 - 홍보팀 광고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ITSM-118739, ITSM-118770, ITSM-118778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ITSM-118780, ITSM-118772, ITSM-118806, ITSM-11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8824</a:t>
            </a:r>
          </a:p>
        </p:txBody>
      </p:sp>
      <p:sp>
        <p:nvSpPr>
          <p:cNvPr id="936380865" name="Text">
    </p:cNvPr>
          <p:cNvSpPr>
            <a:spLocks noGrp="1"/>
          </p:cNvSpPr>
          <p:nvPr/>
        </p:nvSpPr>
        <p:spPr>
          <a:xfrm rot="0">
            <a:off x="44831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br/>
          </a:p>
        </p:txBody>
      </p:sp>
      <p:sp>
        <p:nvSpPr>
          <p:cNvPr id="412978321" name="Text">
    </p:cNvPr>
          <p:cNvSpPr>
            <a:spLocks noGrp="1"/>
          </p:cNvSpPr>
          <p:nvPr/>
        </p:nvSpPr>
        <p:spPr>
          <a:xfrm rot="0">
            <a:off x="48514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br/>
          </a:p>
        </p:txBody>
      </p:sp>
      <p:sp>
        <p:nvSpPr>
          <p:cNvPr id="1088018873" name="Text">
    </p:cNvPr>
          <p:cNvSpPr>
            <a:spLocks noGrp="1"/>
          </p:cNvSpPr>
          <p:nvPr/>
        </p:nvSpPr>
        <p:spPr>
          <a:xfrm rot="0">
            <a:off x="4114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br/>
          </a:p>
        </p:txBody>
      </p:sp>
      <p:sp>
        <p:nvSpPr>
          <p:cNvPr id="684960866" name="Text">
    </p:cNvPr>
          <p:cNvSpPr>
            <a:spLocks noGrp="1"/>
          </p:cNvSpPr>
          <p:nvPr/>
        </p:nvSpPr>
        <p:spPr>
          <a:xfrm rot="0">
            <a:off x="6604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28099000" name="Text">
    </p:cNvPr>
          <p:cNvSpPr>
            <a:spLocks noGrp="1"/>
          </p:cNvSpPr>
          <p:nvPr/>
        </p:nvSpPr>
        <p:spPr>
          <a:xfrm rot="0">
            <a:off x="58801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03012290" name="Text">
    </p:cNvPr>
          <p:cNvSpPr>
            <a:spLocks noGrp="1"/>
          </p:cNvSpPr>
          <p:nvPr/>
        </p:nvSpPr>
        <p:spPr>
          <a:xfrm rot="0">
            <a:off x="9702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</a:p>
        </p:txBody>
      </p:sp>
      <p:sp>
        <p:nvSpPr>
          <p:cNvPr id="1710080004" name="Text">
    </p:cNvPr>
          <p:cNvSpPr>
            <a:spLocks noGrp="1"/>
          </p:cNvSpPr>
          <p:nvPr/>
        </p:nvSpPr>
        <p:spPr>
          <a:xfrm rot="0">
            <a:off x="93345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</a:p>
        </p:txBody>
      </p:sp>
      <p:sp>
        <p:nvSpPr>
          <p:cNvPr id="1349046375" name="Text">
    </p:cNvPr>
          <p:cNvSpPr>
            <a:spLocks noGrp="1"/>
          </p:cNvSpPr>
          <p:nvPr/>
        </p:nvSpPr>
        <p:spPr>
          <a:xfrm rot="0">
            <a:off x="5930900" y="39370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사용자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Emergency Accident 및 Drill 관련 실시간 정보 공유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개선</a:t>
            </a:r>
          </a:p>
        </p:txBody>
      </p:sp>
      <p:sp>
        <p:nvSpPr>
          <p:cNvPr id="510223156" name="Text">
    </p:cNvPr>
          <p:cNvSpPr>
            <a:spLocks noGrp="1"/>
          </p:cNvSpPr>
          <p:nvPr/>
        </p:nvSpPr>
        <p:spPr>
          <a:xfrm rot="0">
            <a:off x="53086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267571171" name="Text">
    </p:cNvPr>
          <p:cNvSpPr>
            <a:spLocks noGrp="1"/>
          </p:cNvSpPr>
          <p:nvPr/>
        </p:nvSpPr>
        <p:spPr>
          <a:xfrm rot="0">
            <a:off x="889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089183094" name="Text">
    </p:cNvPr>
          <p:cNvSpPr>
            <a:spLocks noGrp="1"/>
          </p:cNvSpPr>
          <p:nvPr/>
        </p:nvSpPr>
        <p:spPr>
          <a:xfrm rot="0">
            <a:off x="711200" y="39370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Emergency Accident 및 Drill 관련 실시간 정보 공유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2024년 일반부서_사이버보안_컴플라이언스관련 후속조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ERS_CP_INTERFACE  제/개정 오류 확인 및 재처리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[휴넷/에쓰오일] 법정교육관련의 연계 교육이력 삭제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ERS 퇴작자 계정 상태값 변경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대주주 감사 관련 퇴직자 계정 조회 안되도록 수정 반영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문서수정 화면에서 권한 설정 오류 수정 반영</a:t>
            </a:r>
          </a:p>
        </p:txBody>
      </p:sp>
      <p:sp>
        <p:nvSpPr>
          <p:cNvPr id="1452705508" name="Text">
    </p:cNvPr>
          <p:cNvSpPr>
            <a:spLocks noGrp="1"/>
          </p:cNvSpPr>
          <p:nvPr/>
        </p:nvSpPr>
        <p:spPr>
          <a:xfrm rot="0">
            <a:off x="44831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</a:p>
        </p:txBody>
      </p:sp>
      <p:sp>
        <p:nvSpPr>
          <p:cNvPr id="53690305" name="Text">
    </p:cNvPr>
          <p:cNvSpPr>
            <a:spLocks noGrp="1"/>
          </p:cNvSpPr>
          <p:nvPr/>
        </p:nvSpPr>
        <p:spPr>
          <a:xfrm rot="0">
            <a:off x="48514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</a:p>
        </p:txBody>
      </p:sp>
      <p:sp>
        <p:nvSpPr>
          <p:cNvPr id="609676485" name="Text">
    </p:cNvPr>
          <p:cNvSpPr>
            <a:spLocks noGrp="1"/>
          </p:cNvSpPr>
          <p:nvPr/>
        </p:nvSpPr>
        <p:spPr>
          <a:xfrm rot="0">
            <a:off x="4114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</a:p>
        </p:txBody>
      </p:sp>
      <p:sp>
        <p:nvSpPr>
          <p:cNvPr id="952816916" name="Text">
    </p:cNvPr>
          <p:cNvSpPr>
            <a:spLocks noGrp="1"/>
          </p:cNvSpPr>
          <p:nvPr/>
        </p:nvSpPr>
        <p:spPr>
          <a:xfrm rot="0">
            <a:off x="6604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18982479" name="Text">
    </p:cNvPr>
          <p:cNvSpPr>
            <a:spLocks noGrp="1"/>
          </p:cNvSpPr>
          <p:nvPr/>
        </p:nvSpPr>
        <p:spPr>
          <a:xfrm rot="0">
            <a:off x="58801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91575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0075645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3087050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0086160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0362086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2978180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7570835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3253603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7123270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845047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9551141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7384932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9489092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2493813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9680337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</a:p>
        </p:txBody>
      </p:sp>
      <p:sp>
        <p:nvSpPr>
          <p:cNvPr id="187843464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</a:p>
        </p:txBody>
      </p:sp>
      <p:sp>
        <p:nvSpPr>
          <p:cNvPr id="51002138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[회계팀] 재무관리 시나리오 대상 삭제 및 기능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비경상적 비용인식, 비경상적 채무반제 시나리오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[IT운영팀] 대주주 감사 대비 지원 (GCMS, EWS)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GCMS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EWS 인수인계</a:t>
            </a:r>
          </a:p>
        </p:txBody>
      </p:sp>
      <p:sp>
        <p:nvSpPr>
          <p:cNvPr id="198656229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87914585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70831019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[회계팀] 재무관리 시나리오 대상 삭제 및 기능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[회계팅] 비경상적 비용인식, 비경상적 채무반제 시나리오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개선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[SAP DS Upgrade] 데이터 포맷 이상 유무 검증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[자재관리팀]주기범 계장 사번 변경으로 인한 계정 신규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등록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[생산IT지원팀] DB SAFER DDL, DML 쿼리내역 추출 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[멤버십마케팅팀]24년 사이버보안 컴플라이언스 체크리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스트 관련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[IT운영팀] 대주주 감사 대비 지원 (GCMS, EWS)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GCMS 인수인계</a:t>
            </a:r>
          </a:p>
        </p:txBody>
      </p:sp>
      <p:sp>
        <p:nvSpPr>
          <p:cNvPr id="10104443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</a:p>
        </p:txBody>
      </p:sp>
      <p:sp>
        <p:nvSpPr>
          <p:cNvPr id="87404128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133472707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</a:p>
        </p:txBody>
      </p:sp>
      <p:sp>
        <p:nvSpPr>
          <p:cNvPr id="151058191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1485094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660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3236094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0692854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4277074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0731068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7484056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4941212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9931186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1825843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0308339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8805113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6690171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6859640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0777022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84375856" name="Text">
    </p:cNvPr>
          <p:cNvSpPr>
            <a:spLocks noGrp="1"/>
          </p:cNvSpPr>
          <p:nvPr/>
        </p:nvSpPr>
        <p:spPr>
          <a:xfrm rot="0">
            <a:off x="97028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</a:p>
        </p:txBody>
      </p:sp>
      <p:sp>
        <p:nvSpPr>
          <p:cNvPr id="1187777508" name="Text">
    </p:cNvPr>
          <p:cNvSpPr>
            <a:spLocks noGrp="1"/>
          </p:cNvSpPr>
          <p:nvPr/>
        </p:nvSpPr>
        <p:spPr>
          <a:xfrm rot="0">
            <a:off x="93345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</a:p>
        </p:txBody>
      </p:sp>
      <p:sp>
        <p:nvSpPr>
          <p:cNvPr id="354250987" name="Text">
    </p:cNvPr>
          <p:cNvSpPr>
            <a:spLocks noGrp="1"/>
          </p:cNvSpPr>
          <p:nvPr/>
        </p:nvSpPr>
        <p:spPr>
          <a:xfrm rot="0">
            <a:off x="5930900" y="1511300"/>
            <a:ext cx="3403600" cy="3644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[ERP Upgrdae] 재고 및 출하현황 정보 제공을 위한 V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iew 생성 요청 (ITSM-117962)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ITSM-118773 LOPAS 송유계획서 PDF 파일 업로드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작업 관련 개선요청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박경근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리님)</a:t>
            </a:r>
          </a:p>
        </p:txBody>
      </p:sp>
      <p:sp>
        <p:nvSpPr>
          <p:cNvPr id="1873847612" name="Text">
    </p:cNvPr>
          <p:cNvSpPr>
            <a:spLocks noGrp="1"/>
          </p:cNvSpPr>
          <p:nvPr/>
        </p:nvSpPr>
        <p:spPr>
          <a:xfrm rot="0">
            <a:off x="5308600" y="1511300"/>
            <a:ext cx="5715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155156442" name="Text">
    </p:cNvPr>
          <p:cNvSpPr>
            <a:spLocks noGrp="1"/>
          </p:cNvSpPr>
          <p:nvPr/>
        </p:nvSpPr>
        <p:spPr>
          <a:xfrm rot="0">
            <a:off x="88900" y="1511300"/>
            <a:ext cx="5715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659890062" name="Text">
    </p:cNvPr>
          <p:cNvSpPr>
            <a:spLocks noGrp="1"/>
          </p:cNvSpPr>
          <p:nvPr/>
        </p:nvSpPr>
        <p:spPr>
          <a:xfrm rot="0">
            <a:off x="711200" y="1511300"/>
            <a:ext cx="3403600" cy="3644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[BW] 백업 업무 처리 (세션 관리 및 권한설정)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E24-148_00 PDF 에러 점검 요청 (필수 요소, '2.입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하' 항목 누락)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24.3Q IT  시스템 애플리케이션 계정 유효성 검증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 (퇴직/보직변경/고용전환)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대송저유소 건 관련 '저유소기초재고(TT_PLT_BORW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_REPY)' 내 차입량/대여량 계산 로직 추가 요청 (ITSM-1178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43)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[ERP Upgrdae] 재고 및 출하현황 정보 제공을 위한 V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iew 생성 요청 (ITSM-117962)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ITSM-118773 LOPAS 송유계획서 PDF 파일 업로드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작업 관련 개선요청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VOC 1선처리 상담이력 처리담당자 오표기 점검요청 (PK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G_CRM_ETL 내 '처리담당자' 설정 변경)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VOC I/F 테스트 (VOC_Trans, 미사용 처리로 변경 -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된 함수 없음)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박경근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리님)</a:t>
            </a:r>
          </a:p>
        </p:txBody>
      </p:sp>
      <p:sp>
        <p:nvSpPr>
          <p:cNvPr id="478893840" name="Text">
    </p:cNvPr>
          <p:cNvSpPr>
            <a:spLocks noGrp="1"/>
          </p:cNvSpPr>
          <p:nvPr/>
        </p:nvSpPr>
        <p:spPr>
          <a:xfrm rot="0">
            <a:off x="44831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</a:p>
        </p:txBody>
      </p:sp>
      <p:sp>
        <p:nvSpPr>
          <p:cNvPr id="1996003576" name="Text">
    </p:cNvPr>
          <p:cNvSpPr>
            <a:spLocks noGrp="1"/>
          </p:cNvSpPr>
          <p:nvPr/>
        </p:nvSpPr>
        <p:spPr>
          <a:xfrm rot="0">
            <a:off x="48514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</a:p>
        </p:txBody>
      </p:sp>
      <p:sp>
        <p:nvSpPr>
          <p:cNvPr id="1618647908" name="Text">
    </p:cNvPr>
          <p:cNvSpPr>
            <a:spLocks noGrp="1"/>
          </p:cNvSpPr>
          <p:nvPr/>
        </p:nvSpPr>
        <p:spPr>
          <a:xfrm rot="0">
            <a:off x="41148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br/>
          </a:p>
        </p:txBody>
      </p:sp>
      <p:sp>
        <p:nvSpPr>
          <p:cNvPr id="2110041468" name="Text">
    </p:cNvPr>
          <p:cNvSpPr>
            <a:spLocks noGrp="1"/>
          </p:cNvSpPr>
          <p:nvPr/>
        </p:nvSpPr>
        <p:spPr>
          <a:xfrm rot="0">
            <a:off x="660400" y="1511300"/>
            <a:ext cx="34544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93084931" name="Text">
    </p:cNvPr>
          <p:cNvSpPr>
            <a:spLocks noGrp="1"/>
          </p:cNvSpPr>
          <p:nvPr/>
        </p:nvSpPr>
        <p:spPr>
          <a:xfrm rot="0">
            <a:off x="5880100" y="1511300"/>
            <a:ext cx="34544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71466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1653487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1584615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2002430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2987388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06600845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9298590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2716575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8024562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5758235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3201538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0972355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9242455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7548989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7845434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</a:p>
        </p:txBody>
      </p:sp>
      <p:sp>
        <p:nvSpPr>
          <p:cNvPr id="210421667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</a:p>
        </p:txBody>
      </p:sp>
      <p:sp>
        <p:nvSpPr>
          <p:cNvPr id="213681709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SGI서울보증 차세대시스템 구축에 따른 전자보증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[승강기연동] REUTERS국제가 연동 서버 변경에 따른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터페이스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및 PRM 거래처 마스터 연동관련 주석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ECOS 재배치에 따른 EAI 연동 작업 요청</a:t>
            </a:r>
          </a:p>
        </p:txBody>
      </p:sp>
      <p:sp>
        <p:nvSpPr>
          <p:cNvPr id="132410221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83195861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30595815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9월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[승강기연동] REUTERS국제가 연동 서버 변경에 따른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터페이스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및 PRM 거래처 마스터 연동관련 주석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ECOS 재배치에 따른 EAI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[NICE DB]휴,폐업정보_실시간조회 연동 에러수정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당사 교환출하 사전 연계테스트 지원</a:t>
            </a:r>
          </a:p>
        </p:txBody>
      </p:sp>
      <p:sp>
        <p:nvSpPr>
          <p:cNvPr id="6875586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73453907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79119625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</a:p>
        </p:txBody>
      </p:sp>
      <p:sp>
        <p:nvSpPr>
          <p:cNvPr id="150223214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4935230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