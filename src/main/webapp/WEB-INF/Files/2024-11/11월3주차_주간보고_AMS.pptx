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1"/>
    <p:sldId id="275" r:id="rId33"/>
    <p:sldId id="276" r:id="rId35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slides/slide18.xml" Type="http://schemas.openxmlformats.org/officeDocument/2006/relationships/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slides/slide19.xml" Type="http://schemas.openxmlformats.org/officeDocument/2006/relationships/slide"/><Relationship Id="rId32" Target="notesSlides/notesSlide6.xml" Type="http://schemas.openxmlformats.org/officeDocument/2006/relationships/notesSlide"/><Relationship Id="rId33" Target="slides/slide20.xml" Type="http://schemas.openxmlformats.org/officeDocument/2006/relationships/slide"/><Relationship Id="rId34" Target="notesSlides/notesSlide7.xml" Type="http://schemas.openxmlformats.org/officeDocument/2006/relationships/notesSlide"/><Relationship Id="rId35" Target="slides/slide21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2024-10-31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[2024.10.29 ~ 2024.11.04]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11월 3주차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1625678617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dirty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11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250352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172328301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08976441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755619883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797760213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750102894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12600396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433375887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486319749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02546039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370431096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2026713902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33319484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58582433" name="Frame"/>
          <p:cNvSpPr>
            <a:spLocks noGrp="1"/>
          </p:cNvSpPr>
          <p:nvPr/>
        </p:nvSpPr>
        <p:spPr>
          <a:xfrm>
            <a:off x="25400" y="52451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009391788" name="Text">
    </p:cNvPr>
          <p:cNvSpPr>
            <a:spLocks noGrp="1"/>
          </p:cNvSpPr>
          <p:nvPr/>
        </p:nvSpPr>
        <p:spPr>
          <a:xfrm rot="0">
            <a:off x="152400" y="52705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770644036" name="Text">
    </p:cNvPr>
          <p:cNvSpPr>
            <a:spLocks noGrp="1"/>
          </p:cNvSpPr>
          <p:nvPr/>
        </p:nvSpPr>
        <p:spPr>
          <a:xfrm rot="0">
            <a:off x="6451600" y="58039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35900751" name="Text">
    </p:cNvPr>
          <p:cNvSpPr>
            <a:spLocks noGrp="1"/>
          </p:cNvSpPr>
          <p:nvPr/>
        </p:nvSpPr>
        <p:spPr>
          <a:xfrm rot="0">
            <a:off x="2057400" y="58039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51409818" name="Text">
    </p:cNvPr>
          <p:cNvSpPr>
            <a:spLocks noGrp="1"/>
          </p:cNvSpPr>
          <p:nvPr/>
        </p:nvSpPr>
        <p:spPr>
          <a:xfrm rot="0">
            <a:off x="101600" y="58039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55160468" name="Text">
    </p:cNvPr>
          <p:cNvSpPr>
            <a:spLocks noGrp="1"/>
          </p:cNvSpPr>
          <p:nvPr/>
        </p:nvSpPr>
        <p:spPr>
          <a:xfrm rot="0">
            <a:off x="101600" y="55626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531113650" name="Text">
    </p:cNvPr>
          <p:cNvSpPr>
            <a:spLocks noGrp="1"/>
          </p:cNvSpPr>
          <p:nvPr/>
        </p:nvSpPr>
        <p:spPr>
          <a:xfrm rot="0">
            <a:off x="2057400" y="55626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360270666" name="Text">
    </p:cNvPr>
          <p:cNvSpPr>
            <a:spLocks noGrp="1"/>
          </p:cNvSpPr>
          <p:nvPr/>
        </p:nvSpPr>
        <p:spPr>
          <a:xfrm rot="0">
            <a:off x="6451600" y="55626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781561755" name="Text">
    </p:cNvPr>
          <p:cNvSpPr>
            <a:spLocks noGrp="1"/>
          </p:cNvSpPr>
          <p:nvPr/>
        </p:nvSpPr>
        <p:spPr>
          <a:xfrm rot="0">
            <a:off x="101600" y="60960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70424019" name="Text">
    </p:cNvPr>
          <p:cNvSpPr>
            <a:spLocks noGrp="1"/>
          </p:cNvSpPr>
          <p:nvPr/>
        </p:nvSpPr>
        <p:spPr>
          <a:xfrm rot="0">
            <a:off x="6451600" y="60960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34693352" name="Text">
    </p:cNvPr>
          <p:cNvSpPr>
            <a:spLocks noGrp="1"/>
          </p:cNvSpPr>
          <p:nvPr/>
        </p:nvSpPr>
        <p:spPr>
          <a:xfrm rot="0">
            <a:off x="2057400" y="60960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50814720" name="Text">
    </p:cNvPr>
          <p:cNvSpPr>
            <a:spLocks noGrp="1"/>
          </p:cNvSpPr>
          <p:nvPr/>
        </p:nvSpPr>
        <p:spPr>
          <a:xfrm rot="0">
            <a:off x="1244600" y="60960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34770148" name="Text">
    </p:cNvPr>
          <p:cNvSpPr>
            <a:spLocks noGrp="1"/>
          </p:cNvSpPr>
          <p:nvPr/>
        </p:nvSpPr>
        <p:spPr>
          <a:xfrm rot="0">
            <a:off x="1244600" y="58039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65819065" name="Text">
    </p:cNvPr>
          <p:cNvSpPr>
            <a:spLocks noGrp="1"/>
          </p:cNvSpPr>
          <p:nvPr/>
        </p:nvSpPr>
        <p:spPr>
          <a:xfrm rot="0">
            <a:off x="1244600" y="55626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547040246" name="Text">
    </p:cNvPr>
          <p:cNvSpPr>
            <a:spLocks noGrp="1"/>
          </p:cNvSpPr>
          <p:nvPr/>
        </p:nvSpPr>
        <p:spPr>
          <a:xfrm rot="0">
            <a:off x="8102600" y="60960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38997188" name="Text">
    </p:cNvPr>
          <p:cNvSpPr>
            <a:spLocks noGrp="1"/>
          </p:cNvSpPr>
          <p:nvPr/>
        </p:nvSpPr>
        <p:spPr>
          <a:xfrm rot="0">
            <a:off x="8102600" y="55626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663711107" name="Text">
    </p:cNvPr>
          <p:cNvSpPr>
            <a:spLocks noGrp="1"/>
          </p:cNvSpPr>
          <p:nvPr/>
        </p:nvSpPr>
        <p:spPr>
          <a:xfrm rot="0">
            <a:off x="8102600" y="58039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98709677" name="Frame"/>
          <p:cNvSpPr>
            <a:spLocks noGrp="1"/>
          </p:cNvSpPr>
          <p:nvPr/>
        </p:nvSpPr>
        <p:spPr>
          <a:xfrm>
            <a:off x="101600" y="2984500"/>
            <a:ext cx="9779000" cy="209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711186603" name="Text">
    </p:cNvPr>
          <p:cNvSpPr>
            <a:spLocks noGrp="1"/>
          </p:cNvSpPr>
          <p:nvPr/>
        </p:nvSpPr>
        <p:spPr>
          <a:xfrm rot="0">
            <a:off x="165100" y="30480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73723126" name="Text">
    </p:cNvPr>
          <p:cNvSpPr>
            <a:spLocks noGrp="1"/>
          </p:cNvSpPr>
          <p:nvPr/>
        </p:nvSpPr>
        <p:spPr>
          <a:xfrm rot="0">
            <a:off x="152400" y="30099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269937692" name="Text">
    </p:cNvPr>
          <p:cNvSpPr>
            <a:spLocks noGrp="1"/>
          </p:cNvSpPr>
          <p:nvPr/>
        </p:nvSpPr>
        <p:spPr>
          <a:xfrm rot="0">
            <a:off x="165100" y="32639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931313734" name="Text">
    </p:cNvPr>
          <p:cNvSpPr>
            <a:spLocks noGrp="1"/>
          </p:cNvSpPr>
          <p:nvPr/>
        </p:nvSpPr>
        <p:spPr>
          <a:xfrm rot="0">
            <a:off x="901700" y="32639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1415197" name="Text">
    </p:cNvPr>
          <p:cNvSpPr>
            <a:spLocks noGrp="1"/>
          </p:cNvSpPr>
          <p:nvPr/>
        </p:nvSpPr>
        <p:spPr>
          <a:xfrm rot="0">
            <a:off x="5549900" y="32639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857588968" name="Text">
    </p:cNvPr>
          <p:cNvSpPr>
            <a:spLocks noGrp="1"/>
          </p:cNvSpPr>
          <p:nvPr/>
        </p:nvSpPr>
        <p:spPr>
          <a:xfrm rot="0">
            <a:off x="6121400" y="32639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340572315" name="Frame"/>
          <p:cNvSpPr>
            <a:spLocks noGrp="1"/>
          </p:cNvSpPr>
          <p:nvPr/>
        </p:nvSpPr>
        <p:spPr>
          <a:xfrm>
            <a:off x="165100" y="44577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917402332" name="Text">
    </p:cNvPr>
          <p:cNvSpPr>
            <a:spLocks noGrp="1"/>
          </p:cNvSpPr>
          <p:nvPr/>
        </p:nvSpPr>
        <p:spPr>
          <a:xfrm rot="0">
            <a:off x="165100" y="44323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838684916" name="Text">
    </p:cNvPr>
          <p:cNvSpPr>
            <a:spLocks noGrp="1"/>
          </p:cNvSpPr>
          <p:nvPr/>
        </p:nvSpPr>
        <p:spPr>
          <a:xfrm rot="0">
            <a:off x="965200" y="44831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S-imoms 작업 결과 보고서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[LOPAS] [ERP Upgrdae] 재고 및 출하현황 정보 제공을 위한 View 생성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[승강기연동] REUTERS국제가 연동 서버 변경에 따른 인터페이스 수정</a:t>
            </a:r>
          </a:p>
        </p:txBody>
      </p:sp>
      <p:sp>
        <p:nvSpPr>
          <p:cNvPr id="1813706919" name="Text">
    </p:cNvPr>
          <p:cNvSpPr>
            <a:spLocks noGrp="1"/>
          </p:cNvSpPr>
          <p:nvPr/>
        </p:nvSpPr>
        <p:spPr>
          <a:xfrm rot="0">
            <a:off x="7239000" y="44831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01423583" name="Text">
    </p:cNvPr>
          <p:cNvSpPr>
            <a:spLocks noGrp="1"/>
          </p:cNvSpPr>
          <p:nvPr/>
        </p:nvSpPr>
        <p:spPr>
          <a:xfrm rot="0">
            <a:off x="5549900" y="44831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</a:p>
        </p:txBody>
      </p:sp>
      <p:sp>
        <p:nvSpPr>
          <p:cNvPr id="1478407213" name="Text">
    </p:cNvPr>
          <p:cNvSpPr>
            <a:spLocks noGrp="1"/>
          </p:cNvSpPr>
          <p:nvPr/>
        </p:nvSpPr>
        <p:spPr>
          <a:xfrm rot="0">
            <a:off x="901700" y="44323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469930" name="Text">
    </p:cNvPr>
          <p:cNvSpPr>
            <a:spLocks noGrp="1"/>
          </p:cNvSpPr>
          <p:nvPr/>
        </p:nvSpPr>
        <p:spPr>
          <a:xfrm rot="0">
            <a:off x="6121400" y="44323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45498666" name="Text">
    </p:cNvPr>
          <p:cNvSpPr>
            <a:spLocks noGrp="1"/>
          </p:cNvSpPr>
          <p:nvPr/>
        </p:nvSpPr>
        <p:spPr>
          <a:xfrm rot="0">
            <a:off x="5549900" y="44323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28900123" name="Frame"/>
          <p:cNvSpPr>
            <a:spLocks noGrp="1"/>
          </p:cNvSpPr>
          <p:nvPr/>
        </p:nvSpPr>
        <p:spPr>
          <a:xfrm>
            <a:off x="165100" y="3606800"/>
            <a:ext cx="9639300" cy="82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81125184" name="Text">
    </p:cNvPr>
          <p:cNvSpPr>
            <a:spLocks noGrp="1"/>
          </p:cNvSpPr>
          <p:nvPr/>
        </p:nvSpPr>
        <p:spPr>
          <a:xfrm rot="0">
            <a:off x="165100" y="36068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789771783" name="Text">
    </p:cNvPr>
          <p:cNvSpPr>
            <a:spLocks noGrp="1"/>
          </p:cNvSpPr>
          <p:nvPr/>
        </p:nvSpPr>
        <p:spPr>
          <a:xfrm rot="0">
            <a:off x="965200" y="3683000"/>
            <a:ext cx="4584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ERP 업그레이드 수출체선료 Mig 대상 자료 추출(ZFIB6020_M)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신규 발주 생성 시 대금수수계약 체결여부 점검 및 안내기능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*WBS요소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189185282" name="Text">
    </p:cNvPr>
          <p:cNvSpPr>
            <a:spLocks noGrp="1"/>
          </p:cNvSpPr>
          <p:nvPr/>
        </p:nvSpPr>
        <p:spPr>
          <a:xfrm rot="0">
            <a:off x="7239000" y="36830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681495148" name="Text">
    </p:cNvPr>
          <p:cNvSpPr>
            <a:spLocks noGrp="1"/>
          </p:cNvSpPr>
          <p:nvPr/>
        </p:nvSpPr>
        <p:spPr>
          <a:xfrm rot="0">
            <a:off x="5549900" y="36830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</a:p>
        </p:txBody>
      </p:sp>
      <p:sp>
        <p:nvSpPr>
          <p:cNvPr id="893953438" name="Text">
    </p:cNvPr>
          <p:cNvSpPr>
            <a:spLocks noGrp="1"/>
          </p:cNvSpPr>
          <p:nvPr/>
        </p:nvSpPr>
        <p:spPr>
          <a:xfrm rot="0">
            <a:off x="901700" y="36068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6892360" name="Text">
    </p:cNvPr>
          <p:cNvSpPr>
            <a:spLocks noGrp="1"/>
          </p:cNvSpPr>
          <p:nvPr/>
        </p:nvSpPr>
        <p:spPr>
          <a:xfrm rot="0">
            <a:off x="6121400" y="36068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67514715" name="Text">
    </p:cNvPr>
          <p:cNvSpPr>
            <a:spLocks noGrp="1"/>
          </p:cNvSpPr>
          <p:nvPr/>
        </p:nvSpPr>
        <p:spPr>
          <a:xfrm rot="0">
            <a:off x="5549900" y="36068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73799779" name="Frame"/>
          <p:cNvSpPr>
            <a:spLocks noGrp="1"/>
          </p:cNvSpPr>
          <p:nvPr/>
        </p:nvSpPr>
        <p:spPr>
          <a:xfrm>
            <a:off x="127000" y="1384300"/>
            <a:ext cx="9779000" cy="1460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569818772" name="Frame"/>
          <p:cNvSpPr>
            <a:spLocks noGrp="1"/>
          </p:cNvSpPr>
          <p:nvPr/>
        </p:nvSpPr>
        <p:spPr>
          <a:xfrm>
            <a:off x="152400" y="22225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530537428" name="Text">
    </p:cNvPr>
          <p:cNvSpPr>
            <a:spLocks noGrp="1"/>
          </p:cNvSpPr>
          <p:nvPr/>
        </p:nvSpPr>
        <p:spPr>
          <a:xfrm rot="0">
            <a:off x="152400" y="21971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536090711" name="Text">
    </p:cNvPr>
          <p:cNvSpPr>
            <a:spLocks noGrp="1"/>
          </p:cNvSpPr>
          <p:nvPr/>
        </p:nvSpPr>
        <p:spPr>
          <a:xfrm rot="0">
            <a:off x="952500" y="22479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PRM 고객 마스터 등록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2024년 일반부서_사이버보안_컴플라이언스관련 후속조치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[LOPAS] 24.3Q IT  시스템 애플리케이션 계정 유효성 검증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9월 Monthly Accountability Report 생성</a:t>
            </a:r>
          </a:p>
        </p:txBody>
      </p:sp>
      <p:sp>
        <p:nvSpPr>
          <p:cNvPr id="1517834071" name="Text">
    </p:cNvPr>
          <p:cNvSpPr>
            <a:spLocks noGrp="1"/>
          </p:cNvSpPr>
          <p:nvPr/>
        </p:nvSpPr>
        <p:spPr>
          <a:xfrm rot="0">
            <a:off x="7226300" y="22479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324243090" name="Text">
    </p:cNvPr>
          <p:cNvSpPr>
            <a:spLocks noGrp="1"/>
          </p:cNvSpPr>
          <p:nvPr/>
        </p:nvSpPr>
        <p:spPr>
          <a:xfrm rot="0">
            <a:off x="6108700" y="21971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726334304" name="Text">
    </p:cNvPr>
          <p:cNvSpPr>
            <a:spLocks noGrp="1"/>
          </p:cNvSpPr>
          <p:nvPr/>
        </p:nvSpPr>
        <p:spPr>
          <a:xfrm rot="0">
            <a:off x="5537200" y="22479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</a:p>
        </p:txBody>
      </p:sp>
      <p:sp>
        <p:nvSpPr>
          <p:cNvPr id="348350718" name="Text">
    </p:cNvPr>
          <p:cNvSpPr>
            <a:spLocks noGrp="1"/>
          </p:cNvSpPr>
          <p:nvPr/>
        </p:nvSpPr>
        <p:spPr>
          <a:xfrm rot="0">
            <a:off x="889000" y="21971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7196102" name="Text">
    </p:cNvPr>
          <p:cNvSpPr>
            <a:spLocks noGrp="1"/>
          </p:cNvSpPr>
          <p:nvPr/>
        </p:nvSpPr>
        <p:spPr>
          <a:xfrm rot="0">
            <a:off x="7124700" y="21971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18899991" name="Text">
    </p:cNvPr>
          <p:cNvSpPr>
            <a:spLocks noGrp="1"/>
          </p:cNvSpPr>
          <p:nvPr/>
        </p:nvSpPr>
        <p:spPr>
          <a:xfrm rot="0">
            <a:off x="5537200" y="21971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7300885" name="Rectangle"/>
          <p:cNvSpPr>
            <a:spLocks noGrp="1"/>
          </p:cNvSpPr>
          <p:nvPr/>
        </p:nvSpPr>
        <p:spPr>
          <a:xfrm>
            <a:off x="6870700" y="21971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126765943" name="Frame"/>
          <p:cNvSpPr>
            <a:spLocks noGrp="1"/>
          </p:cNvSpPr>
          <p:nvPr/>
        </p:nvSpPr>
        <p:spPr>
          <a:xfrm>
            <a:off x="152400" y="1371600"/>
            <a:ext cx="9639300" cy="82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63866219" name="Text">
    </p:cNvPr>
          <p:cNvSpPr>
            <a:spLocks noGrp="1"/>
          </p:cNvSpPr>
          <p:nvPr/>
        </p:nvSpPr>
        <p:spPr>
          <a:xfrm rot="0">
            <a:off x="152400" y="13716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219161809" name="Text">
    </p:cNvPr>
          <p:cNvSpPr>
            <a:spLocks noGrp="1"/>
          </p:cNvSpPr>
          <p:nvPr/>
        </p:nvSpPr>
        <p:spPr>
          <a:xfrm rot="0">
            <a:off x="939800" y="1422400"/>
            <a:ext cx="4610100" cy="774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자산클래스 980 추가필드탭 관재용 위치부서 FIELD 추가(SAPLXAIS0900)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S-imoms DSV 시스템에서 사용 중인 SAP-PM RFC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[PM] SAP PM 로직 수정 및 개발-&gt; ZPMR8120, ZPMR8121( 수정 ) -&gt;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ZIF_RFC_TERMINAL_NOTI ( 개발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[BC] SAP CVE 패치 Note 긴급 확인 및 적용작업(해당시스템 BW/HCM)</a:t>
            </a:r>
          </a:p>
        </p:txBody>
      </p:sp>
      <p:sp>
        <p:nvSpPr>
          <p:cNvPr id="349239785" name="Text">
    </p:cNvPr>
          <p:cNvSpPr>
            <a:spLocks noGrp="1"/>
          </p:cNvSpPr>
          <p:nvPr/>
        </p:nvSpPr>
        <p:spPr>
          <a:xfrm rot="0">
            <a:off x="7226300" y="14478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25976745" name="Text">
    </p:cNvPr>
          <p:cNvSpPr>
            <a:spLocks noGrp="1"/>
          </p:cNvSpPr>
          <p:nvPr/>
        </p:nvSpPr>
        <p:spPr>
          <a:xfrm rot="0">
            <a:off x="6108700" y="1371600"/>
            <a:ext cx="7620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749807092" name="Text">
    </p:cNvPr>
          <p:cNvSpPr>
            <a:spLocks noGrp="1"/>
          </p:cNvSpPr>
          <p:nvPr/>
        </p:nvSpPr>
        <p:spPr>
          <a:xfrm rot="0">
            <a:off x="5537200" y="14478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</a:p>
        </p:txBody>
      </p:sp>
      <p:sp>
        <p:nvSpPr>
          <p:cNvPr id="2005424202" name="Text">
    </p:cNvPr>
          <p:cNvSpPr>
            <a:spLocks noGrp="1"/>
          </p:cNvSpPr>
          <p:nvPr/>
        </p:nvSpPr>
        <p:spPr>
          <a:xfrm rot="0">
            <a:off x="889000" y="13716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6436067" name="Text">
    </p:cNvPr>
          <p:cNvSpPr>
            <a:spLocks noGrp="1"/>
          </p:cNvSpPr>
          <p:nvPr/>
        </p:nvSpPr>
        <p:spPr>
          <a:xfrm rot="0">
            <a:off x="7124700" y="1371600"/>
            <a:ext cx="26543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00269142" name="Text">
    </p:cNvPr>
          <p:cNvSpPr>
            <a:spLocks noGrp="1"/>
          </p:cNvSpPr>
          <p:nvPr/>
        </p:nvSpPr>
        <p:spPr>
          <a:xfrm rot="0">
            <a:off x="5537200" y="13716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4726616" name="Rectangle"/>
          <p:cNvSpPr>
            <a:spLocks noGrp="1"/>
          </p:cNvSpPr>
          <p:nvPr/>
        </p:nvSpPr>
        <p:spPr>
          <a:xfrm>
            <a:off x="6870700" y="1371600"/>
            <a:ext cx="254000" cy="8255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23817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3006340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1991093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9986030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7223936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9733964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9601523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2712063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2606128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9868539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9415171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0716682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5913547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81143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6112860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</a:p>
        </p:txBody>
      </p:sp>
      <p:sp>
        <p:nvSpPr>
          <p:cNvPr id="91428545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79252954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[FI]ERP 업그레이드 수출체선료 Mig 대상 자료 추출(ZFIB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6020_M)</a:t>
            </a:r>
          </a:p>
        </p:txBody>
      </p:sp>
      <p:sp>
        <p:nvSpPr>
          <p:cNvPr id="179148706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88323916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82392625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[FI]BUYER 누락 오류 수정(ZEXNR6100)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[FI]수출체선료 리스트 반제전표 체크(ZFIR9116)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[FI]자산클래스 980 추가필드탭 관재용 위치부서 FIELD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추가(SAPLXAIS0900)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[FI]ERP 업그레이드 수출체선료 Mig 대상 자료 추출(ZFIB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6020_M)</a:t>
            </a:r>
          </a:p>
        </p:txBody>
      </p:sp>
      <p:sp>
        <p:nvSpPr>
          <p:cNvPr id="199138921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</a:p>
        </p:txBody>
      </p:sp>
      <p:sp>
        <p:nvSpPr>
          <p:cNvPr id="59995126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</a:p>
        </p:txBody>
      </p:sp>
      <p:sp>
        <p:nvSpPr>
          <p:cNvPr id="75320555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211021897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4582286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6094802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69123610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187303408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발주 생성 시 대금수수계약 체결여부 점검 및 안내기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open po 리스트업 프로그램 개발</a:t>
            </a:r>
          </a:p>
        </p:txBody>
      </p:sp>
      <p:sp>
        <p:nvSpPr>
          <p:cNvPr id="161094633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34418807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65290855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발주 생성 시 대금수수계약 체결여부 점검 및 안내기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2차 통합테스트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open po 리스트업 프로그램 개발</a:t>
            </a:r>
          </a:p>
        </p:txBody>
      </p:sp>
      <p:sp>
        <p:nvSpPr>
          <p:cNvPr id="175084352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54831500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</a:p>
        </p:txBody>
      </p:sp>
      <p:sp>
        <p:nvSpPr>
          <p:cNvPr id="73006312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149913977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7398013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0795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5853699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0094256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7170658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6112502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5353416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5969902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4562061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2609507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9538107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6677618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7107219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7689822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9623462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6661172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</a:p>
        </p:txBody>
      </p:sp>
      <p:sp>
        <p:nvSpPr>
          <p:cNvPr id="212526860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</a:p>
        </p:txBody>
      </p:sp>
      <p:sp>
        <p:nvSpPr>
          <p:cNvPr id="134859407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</a:p>
        </p:txBody>
      </p:sp>
      <p:sp>
        <p:nvSpPr>
          <p:cNvPr id="139327324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37726524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605580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ERP/HCM운영 BC관련 권한 Role 유지/삭제 대상 취합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HCM개발 File System 가용공간 부족에 따른 로그삭제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업(2024년01월~03월(3개월))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일회성 배치잡 신규설정 및 등록작업(ZTD_D_CN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FM DLVRY_CUR_DAY 외 1건)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CVE 패치 Note 긴급 확인 및 적용작업(해당시스템 B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W/HCM)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159429292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</a:p>
        </p:txBody>
      </p:sp>
      <p:sp>
        <p:nvSpPr>
          <p:cNvPr id="136407202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</a:p>
        </p:txBody>
      </p:sp>
      <p:sp>
        <p:nvSpPr>
          <p:cNvPr id="59788246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</a:p>
        </p:txBody>
      </p:sp>
      <p:sp>
        <p:nvSpPr>
          <p:cNvPr id="7556323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579210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0703738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204287211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</a:p>
        </p:txBody>
      </p:sp>
      <p:sp>
        <p:nvSpPr>
          <p:cNvPr id="196769822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33426686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01326367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53987528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JAVA 공부하기 (스터디 기준): 9장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JAVA 공부하기 (스터디 기준): 10장</a:t>
            </a:r>
          </a:p>
        </p:txBody>
      </p:sp>
      <p:sp>
        <p:nvSpPr>
          <p:cNvPr id="179893922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50464690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9384694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</a:p>
        </p:txBody>
      </p:sp>
      <p:sp>
        <p:nvSpPr>
          <p:cNvPr id="36630537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6981316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21953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8753039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2415208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3062091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3805461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8720168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1793759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0417184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6076675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190679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3579282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2305668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5179248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3236897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3749553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25345733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208704986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67286749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39478757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12969858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Simoms DSV 시스템에서 사용 중인 SAP-PM RFC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* ZIF_RFC_CHEMI_CONSUMPTION Import Parameter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(BUDAT→CPUDT)</a:t>
            </a:r>
          </a:p>
        </p:txBody>
      </p:sp>
      <p:sp>
        <p:nvSpPr>
          <p:cNvPr id="28879207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  <a:br/>
          </a:p>
        </p:txBody>
      </p:sp>
      <p:sp>
        <p:nvSpPr>
          <p:cNvPr id="157251646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br/>
          </a:p>
        </p:txBody>
      </p:sp>
      <p:sp>
        <p:nvSpPr>
          <p:cNvPr id="197569213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br/>
          </a:p>
        </p:txBody>
      </p:sp>
      <p:sp>
        <p:nvSpPr>
          <p:cNvPr id="41642949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2663334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90249864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</a:p>
        </p:txBody>
      </p:sp>
      <p:sp>
        <p:nvSpPr>
          <p:cNvPr id="1432946419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</a:p>
        </p:txBody>
      </p:sp>
      <p:sp>
        <p:nvSpPr>
          <p:cNvPr id="1553974857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</a:t>
            </a:r>
          </a:p>
        </p:txBody>
      </p:sp>
      <p:sp>
        <p:nvSpPr>
          <p:cNvPr id="1751732602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557736093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092280683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통합 PRJ: 텍스트 라벨 한글표기 오류 테스트 외- SF 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RJ: 인포타입 추가 필드 사용여부 조사 외- [ITSM-117629]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통합테스트(신청 / 결재 / 현황조회 )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[ITSM-1186040 뉴펜션 운용기관 변경 신청서 수정: 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면수정(50%)- [ITSM-118613] 주택자금 은행 대출 중도 상환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관련 잔액 수정(4건)- 업무지원: New Healthcare Program 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용신청서 오류데이터 수정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[ITSM-1186040 뉴펜션 운용기관 변경 신청서 수정: 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면수정(100%)- 업무지원: 식비 카드사용내역 업로드 오류 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 확인 및 수정 지원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[ITSM-1186040 뉴펜션 운용기관 변경 신청서 수정: 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Data 및 승인처리 개발- 업무지원: 해외출장 재처리            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     급여전표 생성 오류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[ITSM-1186040 뉴펜션 운용기관 변경 신청서 수정: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청서관리(ZHRR3661) 및 관련인포타입(PA3538)  수정- [IT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SM-118760] 산재 승인으로 인한 항목(병가구분) 수정</a:t>
            </a:r>
          </a:p>
        </p:txBody>
      </p:sp>
      <p:sp>
        <p:nvSpPr>
          <p:cNvPr id="1662376591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br/>
          </a:p>
        </p:txBody>
      </p:sp>
      <p:sp>
        <p:nvSpPr>
          <p:cNvPr id="1096135958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br/>
          </a:p>
        </p:txBody>
      </p:sp>
      <p:sp>
        <p:nvSpPr>
          <p:cNvPr id="1414390371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br/>
          </a:p>
        </p:txBody>
      </p:sp>
      <p:sp>
        <p:nvSpPr>
          <p:cNvPr id="1112162360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56256860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08445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8809171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2327319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8465238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3533515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62735246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0735350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1642729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9547448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1440060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1064151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0266743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1105212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242690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4066626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24657133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</a:p>
        </p:txBody>
      </p:sp>
      <p:sp>
        <p:nvSpPr>
          <p:cNvPr id="11702995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[PM] SAP 사용자 지원 및 분석-&gt; 설비 마스터 Upload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[PP] SAP 사용자 지원 및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[QM] SAP 사용자 지원 및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[TS] SAP 사용자 지원 및 분석</a:t>
            </a:r>
          </a:p>
        </p:txBody>
      </p:sp>
      <p:sp>
        <p:nvSpPr>
          <p:cNvPr id="60997024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QM/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107923803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QM/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157641846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[TS] SAP TS 사용자 지원 -&gt; MTS RTS 데이터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개발 소스, 프로세스 분석-&gt; PP, PM , TS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[PM] SAP PM 로직 수정 및 개발-&gt; ZPMR8120, ZPMR8121 (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 ) -&gt; ZIF_RFC_TERMINAL_NOTI  ( 개발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[PM] 설비 마스터 업로드 로직 변경 -&gt; ZPMB1009 분석 및 변경</a:t>
            </a:r>
          </a:p>
        </p:txBody>
      </p:sp>
      <p:sp>
        <p:nvSpPr>
          <p:cNvPr id="38002097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177424462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25%</a:t>
            </a:r>
            <a:br/>
          </a:p>
        </p:txBody>
      </p:sp>
      <p:sp>
        <p:nvSpPr>
          <p:cNvPr id="92492517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</a:p>
        </p:txBody>
      </p:sp>
      <p:sp>
        <p:nvSpPr>
          <p:cNvPr id="153301308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1517849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9701774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70165970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23142970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47296609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53156515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64314488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ITSM-115143ERP Upgrade 프로젝트 소스 수정사항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ITSM-115036PP 인보이스 출력 관련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ITSM-116317[ERP Upgrade] 수송비 분석 리포트 개발을 위한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ERP 데이터 적재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ITSM-117162할인할증 신규 ERP CODE(zpsdr9050, zp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sdr9055) 관련, 할인할증 입력 기준 확대 및 코드 권한 부여</a:t>
            </a:r>
          </a:p>
        </p:txBody>
      </p:sp>
      <p:sp>
        <p:nvSpPr>
          <p:cNvPr id="92052630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77039378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94093836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</a:p>
        </p:txBody>
      </p:sp>
      <p:sp>
        <p:nvSpPr>
          <p:cNvPr id="152164762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8263128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39710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4603032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0261687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0456156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9203085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319918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5778408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3798367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098017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3195485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2021243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896738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8352406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7359395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34663987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</a:p>
        </p:txBody>
      </p:sp>
      <p:sp>
        <p:nvSpPr>
          <p:cNvPr id="182796481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873000343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ITSM-117555 첨부파일 정정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ITSM-118175ci 시설지원 PO번호 연동오류 보완</a:t>
            </a:r>
          </a:p>
        </p:txBody>
      </p:sp>
      <p:sp>
        <p:nvSpPr>
          <p:cNvPr id="1725276687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726660092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85359644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ITSM-117555 첨부파일 정정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ITSM-118175ci 시설지원 PO번호 연동오류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ITSM-117997 e-Biz 사후보너스포인트 적립관련 제3자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전자(세금)계산서 발급사실 조회 화면 통신사 선택 옵션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ITSM-118631유니폼 신청 거래처 GP20241000004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52 루비주유소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ITSM-118786업무용 경조화환 신청서 오타문구 수정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</a:p>
        </p:txBody>
      </p:sp>
      <p:sp>
        <p:nvSpPr>
          <p:cNvPr id="2015067583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</a:p>
        </p:txBody>
      </p:sp>
      <p:sp>
        <p:nvSpPr>
          <p:cNvPr id="865434985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</a:t>
            </a:r>
            <a:br/>
            <a:br/>
          </a:p>
        </p:txBody>
      </p:sp>
      <p:sp>
        <p:nvSpPr>
          <p:cNvPr id="1729210612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</a:p>
        </p:txBody>
      </p:sp>
      <p:sp>
        <p:nvSpPr>
          <p:cNvPr id="236776887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68188238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00714923" name="Text">
    </p:cNvPr>
          <p:cNvSpPr>
            <a:spLocks noGrp="1"/>
          </p:cNvSpPr>
          <p:nvPr/>
        </p:nvSpPr>
        <p:spPr>
          <a:xfrm rot="0">
            <a:off x="9702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603504610" name="Text">
    </p:cNvPr>
          <p:cNvSpPr>
            <a:spLocks noGrp="1"/>
          </p:cNvSpPr>
          <p:nvPr/>
        </p:nvSpPr>
        <p:spPr>
          <a:xfrm rot="0">
            <a:off x="93345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906733298" name="Text">
    </p:cNvPr>
          <p:cNvSpPr>
            <a:spLocks noGrp="1"/>
          </p:cNvSpPr>
          <p:nvPr/>
        </p:nvSpPr>
        <p:spPr>
          <a:xfrm rot="0">
            <a:off x="5930900" y="39370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LLI Status Monitoring</a:t>
            </a:r>
          </a:p>
        </p:txBody>
      </p:sp>
      <p:sp>
        <p:nvSpPr>
          <p:cNvPr id="1465478290" name="Text">
    </p:cNvPr>
          <p:cNvSpPr>
            <a:spLocks noGrp="1"/>
          </p:cNvSpPr>
          <p:nvPr/>
        </p:nvSpPr>
        <p:spPr>
          <a:xfrm rot="0">
            <a:off x="53086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472964443" name="Text">
    </p:cNvPr>
          <p:cNvSpPr>
            <a:spLocks noGrp="1"/>
          </p:cNvSpPr>
          <p:nvPr/>
        </p:nvSpPr>
        <p:spPr>
          <a:xfrm rot="0">
            <a:off x="889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596951462" name="Text">
    </p:cNvPr>
          <p:cNvSpPr>
            <a:spLocks noGrp="1"/>
          </p:cNvSpPr>
          <p:nvPr/>
        </p:nvSpPr>
        <p:spPr>
          <a:xfrm rot="0">
            <a:off x="711200" y="39370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LLI Status Monitoring</a:t>
            </a:r>
          </a:p>
        </p:txBody>
      </p:sp>
      <p:sp>
        <p:nvSpPr>
          <p:cNvPr id="888703623" name="Text">
    </p:cNvPr>
          <p:cNvSpPr>
            <a:spLocks noGrp="1"/>
          </p:cNvSpPr>
          <p:nvPr/>
        </p:nvSpPr>
        <p:spPr>
          <a:xfrm rot="0">
            <a:off x="44831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685333878" name="Text">
    </p:cNvPr>
          <p:cNvSpPr>
            <a:spLocks noGrp="1"/>
          </p:cNvSpPr>
          <p:nvPr/>
        </p:nvSpPr>
        <p:spPr>
          <a:xfrm rot="0">
            <a:off x="48514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</a:p>
        </p:txBody>
      </p:sp>
      <p:sp>
        <p:nvSpPr>
          <p:cNvPr id="840537907" name="Text">
    </p:cNvPr>
          <p:cNvSpPr>
            <a:spLocks noGrp="1"/>
          </p:cNvSpPr>
          <p:nvPr/>
        </p:nvSpPr>
        <p:spPr>
          <a:xfrm rot="0">
            <a:off x="4114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289949805" name="Text">
    </p:cNvPr>
          <p:cNvSpPr>
            <a:spLocks noGrp="1"/>
          </p:cNvSpPr>
          <p:nvPr/>
        </p:nvSpPr>
        <p:spPr>
          <a:xfrm rot="0">
            <a:off x="6604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37106801" name="Text">
    </p:cNvPr>
          <p:cNvSpPr>
            <a:spLocks noGrp="1"/>
          </p:cNvSpPr>
          <p:nvPr/>
        </p:nvSpPr>
        <p:spPr>
          <a:xfrm rot="0">
            <a:off x="58801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1148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9887042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8446910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3228469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4857604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2135965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7685276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895661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1144437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8623590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3871831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5558954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3218283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685069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8250994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</a:p>
        </p:txBody>
      </p:sp>
      <p:sp>
        <p:nvSpPr>
          <p:cNvPr id="76972434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</a:p>
        </p:txBody>
      </p:sp>
      <p:sp>
        <p:nvSpPr>
          <p:cNvPr id="170283605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CI 시설지원 관련 개선 및 보완요청</a:t>
            </a:r>
          </a:p>
        </p:txBody>
      </p:sp>
      <p:sp>
        <p:nvSpPr>
          <p:cNvPr id="190377169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4809780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66090419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고객 마스터 등록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CI 시설지원 관련 개선 및 보완요청</a:t>
            </a:r>
          </a:p>
        </p:txBody>
      </p:sp>
      <p:sp>
        <p:nvSpPr>
          <p:cNvPr id="100228487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</a:p>
        </p:txBody>
      </p:sp>
      <p:sp>
        <p:nvSpPr>
          <p:cNvPr id="832107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</a:p>
        </p:txBody>
      </p:sp>
      <p:sp>
        <p:nvSpPr>
          <p:cNvPr id="183073985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</a:p>
        </p:txBody>
      </p:sp>
      <p:sp>
        <p:nvSpPr>
          <p:cNvPr id="185715702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424380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2804264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141460026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</a:p>
        </p:txBody>
      </p:sp>
      <p:sp>
        <p:nvSpPr>
          <p:cNvPr id="90156434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5457219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6762773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48007708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ITSM-117949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상품권 현보유부서 코드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자동배차엔진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ITSM-118697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미사용 계정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Fortify 변경 점 발생으로 취약점 점검 프로세스 재연결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ITSM-117844 예상작업완료일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정기점검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ITSM-113287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자동배차엔진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상품권 판매 이력 카드할인률 수정 및 ERP 데이터 삭제</a:t>
            </a:r>
          </a:p>
        </p:txBody>
      </p:sp>
      <p:sp>
        <p:nvSpPr>
          <p:cNvPr id="19992030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</a:p>
        </p:txBody>
      </p:sp>
      <p:sp>
        <p:nvSpPr>
          <p:cNvPr id="91938350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</a:p>
        </p:txBody>
      </p:sp>
      <p:sp>
        <p:nvSpPr>
          <p:cNvPr id="22063325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</a:p>
        </p:txBody>
      </p:sp>
      <p:sp>
        <p:nvSpPr>
          <p:cNvPr id="35225575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6028801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8671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6556516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2095729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5039540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8724988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1085568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9342508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9686003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4932741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1479320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2263168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8675472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7342908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5764350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8253996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</a:p>
        </p:txBody>
      </p:sp>
      <p:sp>
        <p:nvSpPr>
          <p:cNvPr id="30829665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br/>
          </a:p>
        </p:txBody>
      </p:sp>
      <p:sp>
        <p:nvSpPr>
          <p:cNvPr id="171431118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'#3 외화입금내역 반제자동화' 작업 운영전환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및 SAP입력 작업 추가</a:t>
            </a:r>
            <a:br/>
          </a:p>
        </p:txBody>
      </p:sp>
      <p:sp>
        <p:nvSpPr>
          <p:cNvPr id="176813035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85886286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54714545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주간 마지막영업일, 월간 마지막영업일 RPA작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업 사용 엑셀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'가상계좌 List 송부' 작업 추가작업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신규 개발건 프로세스 논의 및 일정 지연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(SAP Update)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'항공급유 매출입력' 작업 개선필요. 매크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로 수정</a:t>
            </a:r>
            <a:br/>
          </a:p>
        </p:txBody>
      </p:sp>
      <p:sp>
        <p:nvSpPr>
          <p:cNvPr id="88331181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</a:p>
        </p:txBody>
      </p:sp>
      <p:sp>
        <p:nvSpPr>
          <p:cNvPr id="109951368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</a:p>
        </p:txBody>
      </p:sp>
      <p:sp>
        <p:nvSpPr>
          <p:cNvPr id="207474377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</a:p>
        </p:txBody>
      </p:sp>
      <p:sp>
        <p:nvSpPr>
          <p:cNvPr id="103651356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0250470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5948866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40507820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45142982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결과 보고서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신청)</a:t>
            </a:r>
          </a:p>
        </p:txBody>
      </p:sp>
      <p:sp>
        <p:nvSpPr>
          <p:cNvPr id="68856977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28093979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209365947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결과 보고서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신청)</a:t>
            </a:r>
          </a:p>
        </p:txBody>
      </p:sp>
      <p:sp>
        <p:nvSpPr>
          <p:cNvPr id="60949331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49002428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</a:p>
        </p:txBody>
      </p:sp>
      <p:sp>
        <p:nvSpPr>
          <p:cNvPr id="148780499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190259715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5009262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12535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7579076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1734260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2005592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171845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7248341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0332214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6163093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3887038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6123373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7517081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4799126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2172651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4681512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96673218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</a:p>
        </p:txBody>
      </p:sp>
      <p:sp>
        <p:nvSpPr>
          <p:cNvPr id="990305172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</a:p>
        </p:txBody>
      </p:sp>
      <p:sp>
        <p:nvSpPr>
          <p:cNvPr id="2112630554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</a:p>
        </p:txBody>
      </p:sp>
      <p:sp>
        <p:nvSpPr>
          <p:cNvPr id="1252829659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638567025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735602527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ITSM-118588, ITSM-118609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ITSM-118623, ITSM-118625, ITSM-118645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ITSM-118646, ITSM-118680, ITSM-118681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ITSM-118679, ITSM-118711, ITSM-118712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ITSM-116512 - 홍보팀 광고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ITSM-118739, ITSM-118770, ITSM-118778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ITSM-118780, ITSM-118772, ITSM-118806, ITSM-11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8824</a:t>
            </a:r>
          </a:p>
        </p:txBody>
      </p:sp>
      <p:sp>
        <p:nvSpPr>
          <p:cNvPr id="936380865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br/>
          </a:p>
        </p:txBody>
      </p:sp>
      <p:sp>
        <p:nvSpPr>
          <p:cNvPr id="412978321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br/>
          </a:p>
        </p:txBody>
      </p:sp>
      <p:sp>
        <p:nvSpPr>
          <p:cNvPr id="1088018873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br/>
          </a:p>
        </p:txBody>
      </p:sp>
      <p:sp>
        <p:nvSpPr>
          <p:cNvPr id="684960866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28099000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03012290" name="Text">
    </p:cNvPr>
          <p:cNvSpPr>
            <a:spLocks noGrp="1"/>
          </p:cNvSpPr>
          <p:nvPr/>
        </p:nvSpPr>
        <p:spPr>
          <a:xfrm rot="0">
            <a:off x="9702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</a:p>
        </p:txBody>
      </p:sp>
      <p:sp>
        <p:nvSpPr>
          <p:cNvPr id="1710080004" name="Text">
    </p:cNvPr>
          <p:cNvSpPr>
            <a:spLocks noGrp="1"/>
          </p:cNvSpPr>
          <p:nvPr/>
        </p:nvSpPr>
        <p:spPr>
          <a:xfrm rot="0">
            <a:off x="93345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</a:p>
        </p:txBody>
      </p:sp>
      <p:sp>
        <p:nvSpPr>
          <p:cNvPr id="1349046375" name="Text">
    </p:cNvPr>
          <p:cNvSpPr>
            <a:spLocks noGrp="1"/>
          </p:cNvSpPr>
          <p:nvPr/>
        </p:nvSpPr>
        <p:spPr>
          <a:xfrm rot="0">
            <a:off x="5930900" y="39370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사용자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Emergency Accident 및 Drill 관련 실시간 정보 공유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개선</a:t>
            </a:r>
          </a:p>
        </p:txBody>
      </p:sp>
      <p:sp>
        <p:nvSpPr>
          <p:cNvPr id="510223156" name="Text">
    </p:cNvPr>
          <p:cNvSpPr>
            <a:spLocks noGrp="1"/>
          </p:cNvSpPr>
          <p:nvPr/>
        </p:nvSpPr>
        <p:spPr>
          <a:xfrm rot="0">
            <a:off x="53086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267571171" name="Text">
    </p:cNvPr>
          <p:cNvSpPr>
            <a:spLocks noGrp="1"/>
          </p:cNvSpPr>
          <p:nvPr/>
        </p:nvSpPr>
        <p:spPr>
          <a:xfrm rot="0">
            <a:off x="889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089183094" name="Text">
    </p:cNvPr>
          <p:cNvSpPr>
            <a:spLocks noGrp="1"/>
          </p:cNvSpPr>
          <p:nvPr/>
        </p:nvSpPr>
        <p:spPr>
          <a:xfrm rot="0">
            <a:off x="711200" y="39370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Emergency Accident 및 Drill 관련 실시간 정보 공유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2024년 일반부서_사이버보안_컴플라이언스관련 후속조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ERS_CP_INTERFACE  제/개정 오류 확인 및 재처리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[휴넷/에쓰오일] 법정교육관련의 연계 교육이력 삭제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ERS 퇴작자 계정 상태값 변경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대주주 감사 관련 퇴직자 계정 조회 안되도록 수정 반영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문서수정 화면에서 권한 설정 오류 수정 반영</a:t>
            </a:r>
          </a:p>
        </p:txBody>
      </p:sp>
      <p:sp>
        <p:nvSpPr>
          <p:cNvPr id="1452705508" name="Text">
    </p:cNvPr>
          <p:cNvSpPr>
            <a:spLocks noGrp="1"/>
          </p:cNvSpPr>
          <p:nvPr/>
        </p:nvSpPr>
        <p:spPr>
          <a:xfrm rot="0">
            <a:off x="44831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</a:p>
        </p:txBody>
      </p:sp>
      <p:sp>
        <p:nvSpPr>
          <p:cNvPr id="53690305" name="Text">
    </p:cNvPr>
          <p:cNvSpPr>
            <a:spLocks noGrp="1"/>
          </p:cNvSpPr>
          <p:nvPr/>
        </p:nvSpPr>
        <p:spPr>
          <a:xfrm rot="0">
            <a:off x="48514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</a:p>
        </p:txBody>
      </p:sp>
      <p:sp>
        <p:nvSpPr>
          <p:cNvPr id="609676485" name="Text">
    </p:cNvPr>
          <p:cNvSpPr>
            <a:spLocks noGrp="1"/>
          </p:cNvSpPr>
          <p:nvPr/>
        </p:nvSpPr>
        <p:spPr>
          <a:xfrm rot="0">
            <a:off x="4114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</a:p>
        </p:txBody>
      </p:sp>
      <p:sp>
        <p:nvSpPr>
          <p:cNvPr id="952816916" name="Text">
    </p:cNvPr>
          <p:cNvSpPr>
            <a:spLocks noGrp="1"/>
          </p:cNvSpPr>
          <p:nvPr/>
        </p:nvSpPr>
        <p:spPr>
          <a:xfrm rot="0">
            <a:off x="6604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8982479" name="Text">
    </p:cNvPr>
          <p:cNvSpPr>
            <a:spLocks noGrp="1"/>
          </p:cNvSpPr>
          <p:nvPr/>
        </p:nvSpPr>
        <p:spPr>
          <a:xfrm rot="0">
            <a:off x="58801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91575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0075645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3087050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0086160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0362086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2978180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7570835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3253603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7123270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845047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9551141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7384932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9489092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2493813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9680337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</a:p>
        </p:txBody>
      </p:sp>
      <p:sp>
        <p:nvSpPr>
          <p:cNvPr id="187843464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</a:p>
        </p:txBody>
      </p:sp>
      <p:sp>
        <p:nvSpPr>
          <p:cNvPr id="51002138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재무관리 시나리오 대상 삭제 및 기능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비경상적 비용인식, 비경상적 채무반제 시나리오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[IT운영팀] 대주주 감사 대비 지원 (GCMS, EWS)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GCMS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EWS 인수인계</a:t>
            </a:r>
          </a:p>
        </p:txBody>
      </p:sp>
      <p:sp>
        <p:nvSpPr>
          <p:cNvPr id="198656229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87914585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70831019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재무관리 시나리오 대상 삭제 및 기능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[회계팅] 비경상적 비용인식, 비경상적 채무반제 시나리오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개선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[SAP DS Upgrade] 데이터 포맷 이상 유무 검증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[자재관리팀]주기범 계장 사번 변경으로 인한 계정 신규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등록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[생산IT지원팀] DB SAFER DDL, DML 쿼리내역 추출 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[멤버십마케팅팀]24년 사이버보안 컴플라이언스 체크리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스트 관련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[IT운영팀] 대주주 감사 대비 지원 (GCMS, EWS)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GCMS 인수인계</a:t>
            </a:r>
          </a:p>
        </p:txBody>
      </p:sp>
      <p:sp>
        <p:nvSpPr>
          <p:cNvPr id="10104443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</a:p>
        </p:txBody>
      </p:sp>
      <p:sp>
        <p:nvSpPr>
          <p:cNvPr id="87404128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133472707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</a:p>
        </p:txBody>
      </p:sp>
      <p:sp>
        <p:nvSpPr>
          <p:cNvPr id="151058191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485094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660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3236094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0692854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4277074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0731068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484056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4941212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9931186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1825843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0308339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8805113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6690171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6859640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0777022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84375856" name="Text">
    </p:cNvPr>
          <p:cNvSpPr>
            <a:spLocks noGrp="1"/>
          </p:cNvSpPr>
          <p:nvPr/>
        </p:nvSpPr>
        <p:spPr>
          <a:xfrm rot="0">
            <a:off x="97028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</a:p>
        </p:txBody>
      </p:sp>
      <p:sp>
        <p:nvSpPr>
          <p:cNvPr id="1187777508" name="Text">
    </p:cNvPr>
          <p:cNvSpPr>
            <a:spLocks noGrp="1"/>
          </p:cNvSpPr>
          <p:nvPr/>
        </p:nvSpPr>
        <p:spPr>
          <a:xfrm rot="0">
            <a:off x="93345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</a:p>
        </p:txBody>
      </p:sp>
      <p:sp>
        <p:nvSpPr>
          <p:cNvPr id="354250987" name="Text">
    </p:cNvPr>
          <p:cNvSpPr>
            <a:spLocks noGrp="1"/>
          </p:cNvSpPr>
          <p:nvPr/>
        </p:nvSpPr>
        <p:spPr>
          <a:xfrm rot="0">
            <a:off x="5930900" y="1511300"/>
            <a:ext cx="3403600" cy="3644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[ERP Upgrdae] 재고 및 출하현황 정보 제공을 위한 V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iew 생성 요청 (ITSM-117962)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ITSM-118773 LOPAS 송유계획서 PDF 파일 업로드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작업 관련 개선요청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</a:p>
        </p:txBody>
      </p:sp>
      <p:sp>
        <p:nvSpPr>
          <p:cNvPr id="1873847612" name="Text">
    </p:cNvPr>
          <p:cNvSpPr>
            <a:spLocks noGrp="1"/>
          </p:cNvSpPr>
          <p:nvPr/>
        </p:nvSpPr>
        <p:spPr>
          <a:xfrm rot="0">
            <a:off x="5308600" y="1511300"/>
            <a:ext cx="5715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155156442" name="Text">
    </p:cNvPr>
          <p:cNvSpPr>
            <a:spLocks noGrp="1"/>
          </p:cNvSpPr>
          <p:nvPr/>
        </p:nvSpPr>
        <p:spPr>
          <a:xfrm rot="0">
            <a:off x="88900" y="1511300"/>
            <a:ext cx="5715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659890062" name="Text">
    </p:cNvPr>
          <p:cNvSpPr>
            <a:spLocks noGrp="1"/>
          </p:cNvSpPr>
          <p:nvPr/>
        </p:nvSpPr>
        <p:spPr>
          <a:xfrm rot="0">
            <a:off x="711200" y="1511300"/>
            <a:ext cx="3403600" cy="3644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[BW] 백업 업무 처리 (세션 관리 및 권한설정)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E24-148_00 PDF 에러 점검 요청 (필수 요소, '2.입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하' 항목 누락)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24.3Q IT  시스템 애플리케이션 계정 유효성 검증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 (퇴직/보직변경/고용전환)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대송저유소 건 관련 '저유소기초재고(TT_PLT_BORW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_REPY)' 내 차입량/대여량 계산 로직 추가 요청 (ITSM-1178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43)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[ERP Upgrdae] 재고 및 출하현황 정보 제공을 위한 V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iew 생성 요청 (ITSM-117962)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ITSM-118773 LOPAS 송유계획서 PDF 파일 업로드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작업 관련 개선요청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VOC 1선처리 상담이력 처리담당자 오표기 점검요청 (PK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G_CRM_ETL 내 '처리담당자' 설정 변경)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VOC I/F 테스트 (VOC_Trans, 미사용 처리로 변경 -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된 함수 없음)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</a:p>
        </p:txBody>
      </p:sp>
      <p:sp>
        <p:nvSpPr>
          <p:cNvPr id="478893840" name="Text">
    </p:cNvPr>
          <p:cNvSpPr>
            <a:spLocks noGrp="1"/>
          </p:cNvSpPr>
          <p:nvPr/>
        </p:nvSpPr>
        <p:spPr>
          <a:xfrm rot="0">
            <a:off x="44831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</a:p>
        </p:txBody>
      </p:sp>
      <p:sp>
        <p:nvSpPr>
          <p:cNvPr id="1996003576" name="Text">
    </p:cNvPr>
          <p:cNvSpPr>
            <a:spLocks noGrp="1"/>
          </p:cNvSpPr>
          <p:nvPr/>
        </p:nvSpPr>
        <p:spPr>
          <a:xfrm rot="0">
            <a:off x="48514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</a:p>
        </p:txBody>
      </p:sp>
      <p:sp>
        <p:nvSpPr>
          <p:cNvPr id="1618647908" name="Text">
    </p:cNvPr>
          <p:cNvSpPr>
            <a:spLocks noGrp="1"/>
          </p:cNvSpPr>
          <p:nvPr/>
        </p:nvSpPr>
        <p:spPr>
          <a:xfrm rot="0">
            <a:off x="41148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br/>
          </a:p>
        </p:txBody>
      </p:sp>
      <p:sp>
        <p:nvSpPr>
          <p:cNvPr id="2110041468" name="Text">
    </p:cNvPr>
          <p:cNvSpPr>
            <a:spLocks noGrp="1"/>
          </p:cNvSpPr>
          <p:nvPr/>
        </p:nvSpPr>
        <p:spPr>
          <a:xfrm rot="0">
            <a:off x="660400" y="1511300"/>
            <a:ext cx="34544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93084931" name="Text">
    </p:cNvPr>
          <p:cNvSpPr>
            <a:spLocks noGrp="1"/>
          </p:cNvSpPr>
          <p:nvPr/>
        </p:nvSpPr>
        <p:spPr>
          <a:xfrm rot="0">
            <a:off x="5880100" y="1511300"/>
            <a:ext cx="34544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71466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1653487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1584615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2002430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2987388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6600845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9298590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2716575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8024562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5758235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3201538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0972355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9242455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7548989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7845434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</a:p>
        </p:txBody>
      </p:sp>
      <p:sp>
        <p:nvSpPr>
          <p:cNvPr id="210421667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213681709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[승강기연동] REUTERS국제가 연동 서버 변경에 따른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터페이스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및 PRM 거래처 마스터 연동관련 주석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ECOS 재배치에 따른 EAI 연동 작업 요청</a:t>
            </a:r>
          </a:p>
        </p:txBody>
      </p:sp>
      <p:sp>
        <p:nvSpPr>
          <p:cNvPr id="132410221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83195861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30595815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9월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[승강기연동] REUTERS국제가 연동 서버 변경에 따른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터페이스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및 PRM 거래처 마스터 연동관련 주석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ECOS 재배치에 따른 EAI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[NICE DB]휴,폐업정보_실시간조회 연동 에러수정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당사 교환출하 사전 연계테스트 지원</a:t>
            </a:r>
          </a:p>
        </p:txBody>
      </p:sp>
      <p:sp>
        <p:nvSpPr>
          <p:cNvPr id="6875586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73453907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79119625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</a:p>
        </p:txBody>
      </p:sp>
      <p:sp>
        <p:nvSpPr>
          <p:cNvPr id="150223214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935230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1625678617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강민경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◐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dirty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11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