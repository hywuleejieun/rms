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63073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336837107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336561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11775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0771836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90433694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00091066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528895733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78027004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96188625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564791536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880677963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775485684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86935069" name="Frame"/>
          <p:cNvSpPr>
            <a:spLocks noGrp="1"/>
          </p:cNvSpPr>
          <p:nvPr/>
        </p:nvSpPr>
        <p:spPr>
          <a:xfrm>
            <a:off x="25400" y="50927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341462820" name="Text">
    </p:cNvPr>
          <p:cNvSpPr>
            <a:spLocks noGrp="1"/>
          </p:cNvSpPr>
          <p:nvPr/>
        </p:nvSpPr>
        <p:spPr>
          <a:xfrm rot="0">
            <a:off x="152400" y="5118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2041150487" name="Text">
    </p:cNvPr>
          <p:cNvSpPr>
            <a:spLocks noGrp="1"/>
          </p:cNvSpPr>
          <p:nvPr/>
        </p:nvSpPr>
        <p:spPr>
          <a:xfrm rot="0">
            <a:off x="6451600" y="5651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36635572" name="Text">
    </p:cNvPr>
          <p:cNvSpPr>
            <a:spLocks noGrp="1"/>
          </p:cNvSpPr>
          <p:nvPr/>
        </p:nvSpPr>
        <p:spPr>
          <a:xfrm rot="0">
            <a:off x="2057400" y="5651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58511628" name="Text">
    </p:cNvPr>
          <p:cNvSpPr>
            <a:spLocks noGrp="1"/>
          </p:cNvSpPr>
          <p:nvPr/>
        </p:nvSpPr>
        <p:spPr>
          <a:xfrm rot="0">
            <a:off x="101600" y="5651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5491660" name="Text">
    </p:cNvPr>
          <p:cNvSpPr>
            <a:spLocks noGrp="1"/>
          </p:cNvSpPr>
          <p:nvPr/>
        </p:nvSpPr>
        <p:spPr>
          <a:xfrm rot="0">
            <a:off x="101600" y="5410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63933241" name="Text">
    </p:cNvPr>
          <p:cNvSpPr>
            <a:spLocks noGrp="1"/>
          </p:cNvSpPr>
          <p:nvPr/>
        </p:nvSpPr>
        <p:spPr>
          <a:xfrm rot="0">
            <a:off x="2057400" y="5410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537264017" name="Text">
    </p:cNvPr>
          <p:cNvSpPr>
            <a:spLocks noGrp="1"/>
          </p:cNvSpPr>
          <p:nvPr/>
        </p:nvSpPr>
        <p:spPr>
          <a:xfrm rot="0">
            <a:off x="6451600" y="5410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964620438" name="Text">
    </p:cNvPr>
          <p:cNvSpPr>
            <a:spLocks noGrp="1"/>
          </p:cNvSpPr>
          <p:nvPr/>
        </p:nvSpPr>
        <p:spPr>
          <a:xfrm rot="0">
            <a:off x="101600" y="5943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9970329" name="Text">
    </p:cNvPr>
          <p:cNvSpPr>
            <a:spLocks noGrp="1"/>
          </p:cNvSpPr>
          <p:nvPr/>
        </p:nvSpPr>
        <p:spPr>
          <a:xfrm rot="0">
            <a:off x="6451600" y="5943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6825076" name="Text">
    </p:cNvPr>
          <p:cNvSpPr>
            <a:spLocks noGrp="1"/>
          </p:cNvSpPr>
          <p:nvPr/>
        </p:nvSpPr>
        <p:spPr>
          <a:xfrm rot="0">
            <a:off x="2057400" y="5943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89249502" name="Text">
    </p:cNvPr>
          <p:cNvSpPr>
            <a:spLocks noGrp="1"/>
          </p:cNvSpPr>
          <p:nvPr/>
        </p:nvSpPr>
        <p:spPr>
          <a:xfrm rot="0">
            <a:off x="1244600" y="5943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23849374" name="Text">
    </p:cNvPr>
          <p:cNvSpPr>
            <a:spLocks noGrp="1"/>
          </p:cNvSpPr>
          <p:nvPr/>
        </p:nvSpPr>
        <p:spPr>
          <a:xfrm rot="0">
            <a:off x="1244600" y="5651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94660091" name="Text">
    </p:cNvPr>
          <p:cNvSpPr>
            <a:spLocks noGrp="1"/>
          </p:cNvSpPr>
          <p:nvPr/>
        </p:nvSpPr>
        <p:spPr>
          <a:xfrm rot="0">
            <a:off x="1244600" y="5410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325457317" name="Text">
    </p:cNvPr>
          <p:cNvSpPr>
            <a:spLocks noGrp="1"/>
          </p:cNvSpPr>
          <p:nvPr/>
        </p:nvSpPr>
        <p:spPr>
          <a:xfrm rot="0">
            <a:off x="8102600" y="5943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90626026" name="Text">
    </p:cNvPr>
          <p:cNvSpPr>
            <a:spLocks noGrp="1"/>
          </p:cNvSpPr>
          <p:nvPr/>
        </p:nvSpPr>
        <p:spPr>
          <a:xfrm rot="0">
            <a:off x="8102600" y="5410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503237501" name="Text">
    </p:cNvPr>
          <p:cNvSpPr>
            <a:spLocks noGrp="1"/>
          </p:cNvSpPr>
          <p:nvPr/>
        </p:nvSpPr>
        <p:spPr>
          <a:xfrm rot="0">
            <a:off x="8102600" y="5651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6564508" name="Frame"/>
          <p:cNvSpPr>
            <a:spLocks noGrp="1"/>
          </p:cNvSpPr>
          <p:nvPr/>
        </p:nvSpPr>
        <p:spPr>
          <a:xfrm>
            <a:off x="101600" y="2832100"/>
            <a:ext cx="9779000" cy="209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68956074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96398089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882957994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66741971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35663174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456250818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912408822" name="Frame"/>
          <p:cNvSpPr>
            <a:spLocks noGrp="1"/>
          </p:cNvSpPr>
          <p:nvPr/>
        </p:nvSpPr>
        <p:spPr>
          <a:xfrm>
            <a:off x="165100" y="43053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719559191" name="Text">
    </p:cNvPr>
          <p:cNvSpPr>
            <a:spLocks noGrp="1"/>
          </p:cNvSpPr>
          <p:nvPr/>
        </p:nvSpPr>
        <p:spPr>
          <a:xfrm rot="0">
            <a:off x="165100" y="4279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109890079" name="Text">
    </p:cNvPr>
          <p:cNvSpPr>
            <a:spLocks noGrp="1"/>
          </p:cNvSpPr>
          <p:nvPr/>
        </p:nvSpPr>
        <p:spPr>
          <a:xfrm rot="0">
            <a:off x="965200" y="43307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ITSM-119133 리얼그리드 갱신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ITSM-118057 S-imoms 작업 결과 보고서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2024.10월 결산의 EIS, Yellow Book 반영</a:t>
            </a:r>
          </a:p>
        </p:txBody>
      </p:sp>
      <p:sp>
        <p:nvSpPr>
          <p:cNvPr id="1471006300" name="Text">
    </p:cNvPr>
          <p:cNvSpPr>
            <a:spLocks noGrp="1"/>
          </p:cNvSpPr>
          <p:nvPr/>
        </p:nvSpPr>
        <p:spPr>
          <a:xfrm rot="0">
            <a:off x="7239000" y="43307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936480687" name="Text">
    </p:cNvPr>
          <p:cNvSpPr>
            <a:spLocks noGrp="1"/>
          </p:cNvSpPr>
          <p:nvPr/>
        </p:nvSpPr>
        <p:spPr>
          <a:xfrm rot="0">
            <a:off x="5549900" y="43307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</a:p>
        </p:txBody>
      </p:sp>
      <p:sp>
        <p:nvSpPr>
          <p:cNvPr id="1722270985" name="Text">
    </p:cNvPr>
          <p:cNvSpPr>
            <a:spLocks noGrp="1"/>
          </p:cNvSpPr>
          <p:nvPr/>
        </p:nvSpPr>
        <p:spPr>
          <a:xfrm rot="0">
            <a:off x="901700" y="4279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8822446" name="Text">
    </p:cNvPr>
          <p:cNvSpPr>
            <a:spLocks noGrp="1"/>
          </p:cNvSpPr>
          <p:nvPr/>
        </p:nvSpPr>
        <p:spPr>
          <a:xfrm rot="0">
            <a:off x="6121400" y="4279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9940191" name="Text">
    </p:cNvPr>
          <p:cNvSpPr>
            <a:spLocks noGrp="1"/>
          </p:cNvSpPr>
          <p:nvPr/>
        </p:nvSpPr>
        <p:spPr>
          <a:xfrm rot="0">
            <a:off x="5549900" y="4279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18420846" name="Frame"/>
          <p:cNvSpPr>
            <a:spLocks noGrp="1"/>
          </p:cNvSpPr>
          <p:nvPr/>
        </p:nvSpPr>
        <p:spPr>
          <a:xfrm>
            <a:off x="165100" y="34544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746864371" name="Text">
    </p:cNvPr>
          <p:cNvSpPr>
            <a:spLocks noGrp="1"/>
          </p:cNvSpPr>
          <p:nvPr/>
        </p:nvSpPr>
        <p:spPr>
          <a:xfrm rot="0">
            <a:off x="165100" y="34544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29166604" name="Text">
    </p:cNvPr>
          <p:cNvSpPr>
            <a:spLocks noGrp="1"/>
          </p:cNvSpPr>
          <p:nvPr/>
        </p:nvSpPr>
        <p:spPr>
          <a:xfrm rot="0">
            <a:off x="965200" y="3530600"/>
            <a:ext cx="4584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ERP 업그레이드 수출체선료 Mig 대상 자료 추출(ZFIB6020_M)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신규 발주 생성 시 대금수수계약 체결여부 점검 및 안내기능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1684427396" name="Text">
    </p:cNvPr>
          <p:cNvSpPr>
            <a:spLocks noGrp="1"/>
          </p:cNvSpPr>
          <p:nvPr/>
        </p:nvSpPr>
        <p:spPr>
          <a:xfrm rot="0">
            <a:off x="7239000" y="35306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347932938" name="Text">
    </p:cNvPr>
          <p:cNvSpPr>
            <a:spLocks noGrp="1"/>
          </p:cNvSpPr>
          <p:nvPr/>
        </p:nvSpPr>
        <p:spPr>
          <a:xfrm rot="0">
            <a:off x="5549900" y="35306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</a:p>
        </p:txBody>
      </p:sp>
      <p:sp>
        <p:nvSpPr>
          <p:cNvPr id="83215358" name="Text">
    </p:cNvPr>
          <p:cNvSpPr>
            <a:spLocks noGrp="1"/>
          </p:cNvSpPr>
          <p:nvPr/>
        </p:nvSpPr>
        <p:spPr>
          <a:xfrm rot="0">
            <a:off x="901700" y="34544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1394176" name="Text">
    </p:cNvPr>
          <p:cNvSpPr>
            <a:spLocks noGrp="1"/>
          </p:cNvSpPr>
          <p:nvPr/>
        </p:nvSpPr>
        <p:spPr>
          <a:xfrm rot="0">
            <a:off x="6121400" y="34544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04924750" name="Text">
    </p:cNvPr>
          <p:cNvSpPr>
            <a:spLocks noGrp="1"/>
          </p:cNvSpPr>
          <p:nvPr/>
        </p:nvSpPr>
        <p:spPr>
          <a:xfrm rot="0">
            <a:off x="5549900" y="34544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6666337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840022865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86362774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529578532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[OSPM] 작업정산 결재관리 리스트 함수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휴넷 스마트러닝 교육 데이터 재반영(2024/10/15~10/31)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[WMS] [IT운영팀] DB 데이터 변경 요청 및 승인 증빙자료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24년 하반기 S-OIL 재해복구 모의훈련</a:t>
            </a:r>
          </a:p>
        </p:txBody>
      </p:sp>
      <p:sp>
        <p:nvSpPr>
          <p:cNvPr id="989473531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863348472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701116955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</a:p>
        </p:txBody>
      </p:sp>
      <p:sp>
        <p:nvSpPr>
          <p:cNvPr id="2134846217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3505895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8605558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4508189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7200379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93281167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831600811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수출체선료 Mig 대상 자료 추출 프로그램 로직 수정(ZFIB6020_M)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이자율계산 공휴일 이자계산 제외 로직 추가(ZFIR1255)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수출 선박 오더 입력 시 선박평가 요청 자동화 로직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[BC] 2024년 하반기 DR 재해복구 모의훈련</a:t>
            </a:r>
          </a:p>
        </p:txBody>
      </p:sp>
      <p:sp>
        <p:nvSpPr>
          <p:cNvPr id="1723936000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066763546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984655362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</a:p>
        </p:txBody>
      </p:sp>
      <p:sp>
        <p:nvSpPr>
          <p:cNvPr id="1311197696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0056297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44053386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31207841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