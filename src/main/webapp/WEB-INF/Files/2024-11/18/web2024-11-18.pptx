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  <p:sldId id="2565" r:id="rId5"/>
    <p:sldId id="2566" r:id="rId6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48826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7721833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2795164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37642414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98182794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85518153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4565545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6620507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7530924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5247148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0502400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2703687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1036520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76543270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8307389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1703048557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</a:p>
        </p:txBody>
      </p:sp>
      <p:sp>
        <p:nvSpPr>
          <p:cNvPr id="1967476267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ITSM-117555 첨부파일 정정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ITSM-119037 CI 시설지원 관련 협력사 조회 및 엑셀다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운로드 조회화면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ITSM-119133 리얼그리드 갱신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ITSM-119115 거래처 경조화환 시스템 일부 보완요청</a:t>
            </a:r>
          </a:p>
        </p:txBody>
      </p:sp>
      <p:sp>
        <p:nvSpPr>
          <p:cNvPr id="61342914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122030834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105508047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ITSM-117555 첨부파일 정정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ITSM-119037 CI 시설지원 관련 협력사 조회 및 엑셀다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운로드 조회화면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ITSM-119133 리얼그리드 갱신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ITSM-119115 거래처 경조화환 시스템 일부 보완요청</a:t>
            </a:r>
          </a:p>
        </p:txBody>
      </p:sp>
      <p:sp>
        <p:nvSpPr>
          <p:cNvPr id="163633305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114511534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</a:p>
        </p:txBody>
      </p:sp>
      <p:sp>
        <p:nvSpPr>
          <p:cNvPr id="1874686098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</a:p>
        </p:txBody>
      </p:sp>
      <p:sp>
        <p:nvSpPr>
          <p:cNvPr id="127468921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69971142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27326284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559538322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</a:p>
        </p:txBody>
      </p:sp>
      <p:sp>
        <p:nvSpPr>
          <p:cNvPr id="999263837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LLI Status Monitoring</a:t>
            </a:r>
          </a:p>
        </p:txBody>
      </p:sp>
      <p:sp>
        <p:nvSpPr>
          <p:cNvPr id="772515143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71312271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144150821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LLI Status Monitoring</a:t>
            </a:r>
          </a:p>
        </p:txBody>
      </p:sp>
      <p:sp>
        <p:nvSpPr>
          <p:cNvPr id="50907288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1893360675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</a:p>
        </p:txBody>
      </p:sp>
      <p:sp>
        <p:nvSpPr>
          <p:cNvPr id="1374039156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</a:p>
        </p:txBody>
      </p:sp>
      <p:sp>
        <p:nvSpPr>
          <p:cNvPr id="131837470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12730229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07536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408056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2873109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3978739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02085641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18760186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7568179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2475176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6233088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4024039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8394111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4485779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3085236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88761343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2729091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12987349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</a:p>
        </p:txBody>
      </p:sp>
      <p:sp>
        <p:nvSpPr>
          <p:cNvPr id="181510595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CI 시설지원 관련 개선 및 보완요청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CI 시설물 지원 이력 분석을 위한 데이터베이스 뷰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생성 요청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ERP 및 PRM 거래처 마스터 연동관련 주석 추가요청</a:t>
            </a:r>
          </a:p>
        </p:txBody>
      </p:sp>
      <p:sp>
        <p:nvSpPr>
          <p:cNvPr id="174296775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76854591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19396580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CI 시설지원 관련 개선 및 보완요청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CI 시설물 지원 이력 분석을 위한 데이터베이스 뷰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생성 요청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ERP 및 PRM 거래처 마스터 연동관련 주석 추가요청</a:t>
            </a:r>
          </a:p>
        </p:txBody>
      </p:sp>
      <p:sp>
        <p:nvSpPr>
          <p:cNvPr id="69583789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138406296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</a:p>
        </p:txBody>
      </p:sp>
      <p:sp>
        <p:nvSpPr>
          <p:cNvPr id="13046093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</a:p>
        </p:txBody>
      </p:sp>
      <p:sp>
        <p:nvSpPr>
          <p:cNvPr id="32291635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9679006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71723438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</a:p>
        </p:txBody>
      </p:sp>
      <p:sp>
        <p:nvSpPr>
          <p:cNvPr id="1865582765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</a:p>
        </p:txBody>
      </p:sp>
      <p:sp>
        <p:nvSpPr>
          <p:cNvPr id="107239981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  <a:br/>
          </a:p>
        </p:txBody>
      </p:sp>
      <p:sp>
        <p:nvSpPr>
          <p:cNvPr id="1442481875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2092441386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20887280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휴가 11/11 - 11/15</a:t>
            </a:r>
            <a:br/>
          </a:p>
        </p:txBody>
      </p:sp>
      <p:sp>
        <p:nvSpPr>
          <p:cNvPr id="589631497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</a:p>
        </p:txBody>
      </p:sp>
      <p:sp>
        <p:nvSpPr>
          <p:cNvPr id="585684640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</a:p>
        </p:txBody>
      </p:sp>
      <p:sp>
        <p:nvSpPr>
          <p:cNvPr id="513133720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</a:p>
        </p:txBody>
      </p:sp>
      <p:sp>
        <p:nvSpPr>
          <p:cNvPr id="103581380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15650891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43779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1897830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0126657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56511544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99246889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52131139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888370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5945174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4582494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6196985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5543097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5513298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0135313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30351101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34891091" name="Text">
    </p:cNvPr>
          <p:cNvSpPr>
            <a:spLocks noGrp="1"/>
          </p:cNvSpPr>
          <p:nvPr/>
        </p:nvSpPr>
        <p:spPr>
          <a:xfrm rot="0">
            <a:off x="97028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</a:p>
        </p:txBody>
      </p:sp>
      <p:sp>
        <p:nvSpPr>
          <p:cNvPr id="1716626314" name="Text">
    </p:cNvPr>
          <p:cNvSpPr>
            <a:spLocks noGrp="1"/>
          </p:cNvSpPr>
          <p:nvPr/>
        </p:nvSpPr>
        <p:spPr>
          <a:xfrm rot="0">
            <a:off x="93345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</a:p>
        </p:txBody>
      </p:sp>
      <p:sp>
        <p:nvSpPr>
          <p:cNvPr id="2027491418" name="Text">
    </p:cNvPr>
          <p:cNvSpPr>
            <a:spLocks noGrp="1"/>
          </p:cNvSpPr>
          <p:nvPr/>
        </p:nvSpPr>
        <p:spPr>
          <a:xfrm rot="0">
            <a:off x="5930900" y="1511300"/>
            <a:ext cx="3403600" cy="2425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'윤활유 오더 처리 업무' 작업 개발</a:t>
            </a:r>
          </a:p>
        </p:txBody>
      </p:sp>
      <p:sp>
        <p:nvSpPr>
          <p:cNvPr id="987076211" name="Text">
    </p:cNvPr>
          <p:cNvSpPr>
            <a:spLocks noGrp="1"/>
          </p:cNvSpPr>
          <p:nvPr/>
        </p:nvSpPr>
        <p:spPr>
          <a:xfrm rot="0">
            <a:off x="5308600" y="15113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574635849" name="Text">
    </p:cNvPr>
          <p:cNvSpPr>
            <a:spLocks noGrp="1"/>
          </p:cNvSpPr>
          <p:nvPr/>
        </p:nvSpPr>
        <p:spPr>
          <a:xfrm rot="0">
            <a:off x="88900" y="15113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239848312" name="Text">
    </p:cNvPr>
          <p:cNvSpPr>
            <a:spLocks noGrp="1"/>
          </p:cNvSpPr>
          <p:nvPr/>
        </p:nvSpPr>
        <p:spPr>
          <a:xfrm rot="0">
            <a:off x="711200" y="1511300"/>
            <a:ext cx="3403600" cy="2425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ERP Upgrade 프로젝트 RPA 인력 투입. 간단한 자료 제공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'금융정보 취합 및 보고' 작업 금리 행 추가로 인한 데이터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오입력 현상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OCR 대상 작업들 OCR 불가 현상 확인.         - OCR가능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JDK가 삭제되어있음. 재설치 및 정상확인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DR 훈련 참가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 '윤활유 오더 처리업무' 개발을 위한 인터뷰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 'Margin 계산' 작업 조회데이터 없을 경우 로직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115PC RPA 확장프로그램 주기적 비활성화 및 사용자 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보 입력 팝업 지속알림 해결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ERP Upgrade 프로젝트 RPA 개발 회의 및 대상 작업 선별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 '나프타 수입부과금' 작업 오류 확인 및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 '윤활유 오더 처리업무' 작업일을 가져오기 위한 엑셀 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업.</a:t>
            </a:r>
          </a:p>
        </p:txBody>
      </p:sp>
      <p:sp>
        <p:nvSpPr>
          <p:cNvPr id="2039285726" name="Text">
    </p:cNvPr>
          <p:cNvSpPr>
            <a:spLocks noGrp="1"/>
          </p:cNvSpPr>
          <p:nvPr/>
        </p:nvSpPr>
        <p:spPr>
          <a:xfrm rot="0">
            <a:off x="44831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br/>
          </a:p>
        </p:txBody>
      </p:sp>
      <p:sp>
        <p:nvSpPr>
          <p:cNvPr id="1878876306" name="Text">
    </p:cNvPr>
          <p:cNvSpPr>
            <a:spLocks noGrp="1"/>
          </p:cNvSpPr>
          <p:nvPr/>
        </p:nvSpPr>
        <p:spPr>
          <a:xfrm rot="0">
            <a:off x="48514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br/>
          </a:p>
        </p:txBody>
      </p:sp>
      <p:sp>
        <p:nvSpPr>
          <p:cNvPr id="1290051667" name="Text">
    </p:cNvPr>
          <p:cNvSpPr>
            <a:spLocks noGrp="1"/>
          </p:cNvSpPr>
          <p:nvPr/>
        </p:nvSpPr>
        <p:spPr>
          <a:xfrm rot="0">
            <a:off x="41148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br/>
          </a:p>
        </p:txBody>
      </p:sp>
      <p:sp>
        <p:nvSpPr>
          <p:cNvPr id="836018658" name="Text">
    </p:cNvPr>
          <p:cNvSpPr>
            <a:spLocks noGrp="1"/>
          </p:cNvSpPr>
          <p:nvPr/>
        </p:nvSpPr>
        <p:spPr>
          <a:xfrm rot="0">
            <a:off x="660400" y="15113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44666609" name="Text">
    </p:cNvPr>
          <p:cNvSpPr>
            <a:spLocks noGrp="1"/>
          </p:cNvSpPr>
          <p:nvPr/>
        </p:nvSpPr>
        <p:spPr>
          <a:xfrm rot="0">
            <a:off x="5880100" y="15113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04761757" name="Text">
    </p:cNvPr>
          <p:cNvSpPr>
            <a:spLocks noGrp="1"/>
          </p:cNvSpPr>
          <p:nvPr/>
        </p:nvSpPr>
        <p:spPr>
          <a:xfrm rot="0">
            <a:off x="97028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1292121207" name="Text">
    </p:cNvPr>
          <p:cNvSpPr>
            <a:spLocks noGrp="1"/>
          </p:cNvSpPr>
          <p:nvPr/>
        </p:nvSpPr>
        <p:spPr>
          <a:xfrm rot="0">
            <a:off x="93345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</a:p>
        </p:txBody>
      </p:sp>
      <p:sp>
        <p:nvSpPr>
          <p:cNvPr id="1506494340" name="Text">
    </p:cNvPr>
          <p:cNvSpPr>
            <a:spLocks noGrp="1"/>
          </p:cNvSpPr>
          <p:nvPr/>
        </p:nvSpPr>
        <p:spPr>
          <a:xfrm rot="0">
            <a:off x="5930900" y="39370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구매요구서 미진행 시 자동삭제 및 협조부서 기각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전자결재 양식 신설(PC사용제한 해제 신청)</a:t>
            </a:r>
          </a:p>
        </p:txBody>
      </p:sp>
      <p:sp>
        <p:nvSpPr>
          <p:cNvPr id="1312149047" name="Text">
    </p:cNvPr>
          <p:cNvSpPr>
            <a:spLocks noGrp="1"/>
          </p:cNvSpPr>
          <p:nvPr/>
        </p:nvSpPr>
        <p:spPr>
          <a:xfrm rot="0">
            <a:off x="5308600" y="39370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892448362" name="Text">
    </p:cNvPr>
          <p:cNvSpPr>
            <a:spLocks noGrp="1"/>
          </p:cNvSpPr>
          <p:nvPr/>
        </p:nvSpPr>
        <p:spPr>
          <a:xfrm rot="0">
            <a:off x="88900" y="39370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501205303" name="Text">
    </p:cNvPr>
          <p:cNvSpPr>
            <a:spLocks noGrp="1"/>
          </p:cNvSpPr>
          <p:nvPr/>
        </p:nvSpPr>
        <p:spPr>
          <a:xfrm rot="0">
            <a:off x="711200" y="39370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구매요구서 미진행 시 자동삭제 및 협조부서 기각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전자결재 양식 신설(PC사용제한 해제 신청)</a:t>
            </a:r>
          </a:p>
        </p:txBody>
      </p:sp>
      <p:sp>
        <p:nvSpPr>
          <p:cNvPr id="1510869243" name="Text">
    </p:cNvPr>
          <p:cNvSpPr>
            <a:spLocks noGrp="1"/>
          </p:cNvSpPr>
          <p:nvPr/>
        </p:nvSpPr>
        <p:spPr>
          <a:xfrm rot="0">
            <a:off x="44831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975839739" name="Text">
    </p:cNvPr>
          <p:cNvSpPr>
            <a:spLocks noGrp="1"/>
          </p:cNvSpPr>
          <p:nvPr/>
        </p:nvSpPr>
        <p:spPr>
          <a:xfrm rot="0">
            <a:off x="48514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</a:p>
        </p:txBody>
      </p:sp>
      <p:sp>
        <p:nvSpPr>
          <p:cNvPr id="38832682" name="Text">
    </p:cNvPr>
          <p:cNvSpPr>
            <a:spLocks noGrp="1"/>
          </p:cNvSpPr>
          <p:nvPr/>
        </p:nvSpPr>
        <p:spPr>
          <a:xfrm rot="0">
            <a:off x="41148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</a:p>
        </p:txBody>
      </p:sp>
      <p:sp>
        <p:nvSpPr>
          <p:cNvPr id="255742588" name="Text">
    </p:cNvPr>
          <p:cNvSpPr>
            <a:spLocks noGrp="1"/>
          </p:cNvSpPr>
          <p:nvPr/>
        </p:nvSpPr>
        <p:spPr>
          <a:xfrm rot="0">
            <a:off x="660400" y="39370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35292336" name="Text">
    </p:cNvPr>
          <p:cNvSpPr>
            <a:spLocks noGrp="1"/>
          </p:cNvSpPr>
          <p:nvPr/>
        </p:nvSpPr>
        <p:spPr>
          <a:xfrm rot="0">
            <a:off x="5880100" y="39370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86855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0932357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9369983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12278134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67648005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17714843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3928761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2072790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0179194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6341870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7395122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7805928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8553121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16924165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67742093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184052414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</a:p>
        </p:txBody>
      </p:sp>
      <p:sp>
        <p:nvSpPr>
          <p:cNvPr id="1554533726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프로시저 수정, 페이징처리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ITSM-113794 OT 사이버보안 시스템 신청서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ITSM-118739 프로필사진 촬영 신청서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ITSM-118057 S-imoms 작업 결과 보고서</a:t>
            </a:r>
          </a:p>
        </p:txBody>
      </p:sp>
      <p:sp>
        <p:nvSpPr>
          <p:cNvPr id="27503833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159622601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327628513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프로시저 수정, 페이징처리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ITSM-113794 OT 사이버보안 시스템 신청서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ITSM-118739 프로필사진 촬영 신청서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ITSM-119172, ITSM-119212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ITSM-119213, ITSM-119244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OSPM 작업정산 결재관리 리스트 쿼리 수정ToolTip 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이터를 만들때 함수 호출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ITSM-119273, ITSM-119360, ITSM-119356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ITSM-119381, ITSM-119395</a:t>
            </a:r>
          </a:p>
        </p:txBody>
      </p:sp>
      <p:sp>
        <p:nvSpPr>
          <p:cNvPr id="224086898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</a:p>
        </p:txBody>
      </p:sp>
      <p:sp>
        <p:nvSpPr>
          <p:cNvPr id="99891346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</a:p>
        </p:txBody>
      </p:sp>
      <p:sp>
        <p:nvSpPr>
          <p:cNvPr id="119303414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</a:p>
        </p:txBody>
      </p:sp>
      <p:sp>
        <p:nvSpPr>
          <p:cNvPr id="182913219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86812841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44033964" name="Text">
    </p:cNvPr>
          <p:cNvSpPr>
            <a:spLocks noGrp="1"/>
          </p:cNvSpPr>
          <p:nvPr/>
        </p:nvSpPr>
        <p:spPr>
          <a:xfrm rot="0">
            <a:off x="97028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</a:p>
        </p:txBody>
      </p:sp>
      <p:sp>
        <p:nvSpPr>
          <p:cNvPr id="1965686674" name="Text">
    </p:cNvPr>
          <p:cNvSpPr>
            <a:spLocks noGrp="1"/>
          </p:cNvSpPr>
          <p:nvPr/>
        </p:nvSpPr>
        <p:spPr>
          <a:xfrm rot="0">
            <a:off x="93345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br/>
          </a:p>
        </p:txBody>
      </p:sp>
      <p:sp>
        <p:nvSpPr>
          <p:cNvPr id="709692864" name="Text">
    </p:cNvPr>
          <p:cNvSpPr>
            <a:spLocks noGrp="1"/>
          </p:cNvSpPr>
          <p:nvPr/>
        </p:nvSpPr>
        <p:spPr>
          <a:xfrm rot="0">
            <a:off x="5930900" y="3771900"/>
            <a:ext cx="3403600" cy="2730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사용자 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Emergency Accident 및 Drill 관련 실시간 정보 공유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개선</a:t>
            </a:r>
          </a:p>
        </p:txBody>
      </p:sp>
      <p:sp>
        <p:nvSpPr>
          <p:cNvPr id="480742905" name="Text">
    </p:cNvPr>
          <p:cNvSpPr>
            <a:spLocks noGrp="1"/>
          </p:cNvSpPr>
          <p:nvPr/>
        </p:nvSpPr>
        <p:spPr>
          <a:xfrm rot="0">
            <a:off x="5308600" y="37719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774640629" name="Text">
    </p:cNvPr>
          <p:cNvSpPr>
            <a:spLocks noGrp="1"/>
          </p:cNvSpPr>
          <p:nvPr/>
        </p:nvSpPr>
        <p:spPr>
          <a:xfrm rot="0">
            <a:off x="88900" y="37719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339983565" name="Text">
    </p:cNvPr>
          <p:cNvSpPr>
            <a:spLocks noGrp="1"/>
          </p:cNvSpPr>
          <p:nvPr/>
        </p:nvSpPr>
        <p:spPr>
          <a:xfrm rot="0">
            <a:off x="711200" y="3771900"/>
            <a:ext cx="3403600" cy="2730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Emergency Accident 및 Drill 관련 실시간 정보 공유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SOM-6-680 관리자 기능으로 개정처리 요청 및 CP 공지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사항 게시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KRI 데이터 미입력, KRI 대응방안 미입력 쿼리로 엑셀추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출하여 메일로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Tax Framework 문서제목 짤리는 오류 사항 수정 반영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 및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휴넷 스마트러닝 교육 데이터 재반영(2024/10/15~10/3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1)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소프트 스킬  Advanced 과정 현황 조회시 오류 확인 및 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복 교육 데이터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- 2024년 11월 인프라 취약점 조치대상 장비의 취약 항목 담당자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확인 및 조치 요청 회신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전자결재 시스템에서 회수한 교육훈련신청서 LMS 시스템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의 작성중인 문서에 안보이는 오류 확인 및 조치</a:t>
            </a:r>
          </a:p>
        </p:txBody>
      </p:sp>
      <p:sp>
        <p:nvSpPr>
          <p:cNvPr id="1445105800" name="Text">
    </p:cNvPr>
          <p:cNvSpPr>
            <a:spLocks noGrp="1"/>
          </p:cNvSpPr>
          <p:nvPr/>
        </p:nvSpPr>
        <p:spPr>
          <a:xfrm rot="0">
            <a:off x="44831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br/>
          </a:p>
        </p:txBody>
      </p:sp>
      <p:sp>
        <p:nvSpPr>
          <p:cNvPr id="1984567280" name="Text">
    </p:cNvPr>
          <p:cNvSpPr>
            <a:spLocks noGrp="1"/>
          </p:cNvSpPr>
          <p:nvPr/>
        </p:nvSpPr>
        <p:spPr>
          <a:xfrm rot="0">
            <a:off x="48514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83%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br/>
          </a:p>
        </p:txBody>
      </p:sp>
      <p:sp>
        <p:nvSpPr>
          <p:cNvPr id="943128951" name="Text">
    </p:cNvPr>
          <p:cNvSpPr>
            <a:spLocks noGrp="1"/>
          </p:cNvSpPr>
          <p:nvPr/>
        </p:nvSpPr>
        <p:spPr>
          <a:xfrm rot="0">
            <a:off x="41148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br/>
          </a:p>
        </p:txBody>
      </p:sp>
      <p:sp>
        <p:nvSpPr>
          <p:cNvPr id="832272232" name="Text">
    </p:cNvPr>
          <p:cNvSpPr>
            <a:spLocks noGrp="1"/>
          </p:cNvSpPr>
          <p:nvPr/>
        </p:nvSpPr>
        <p:spPr>
          <a:xfrm rot="0">
            <a:off x="660400" y="37719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37704707" name="Text">
    </p:cNvPr>
          <p:cNvSpPr>
            <a:spLocks noGrp="1"/>
          </p:cNvSpPr>
          <p:nvPr/>
        </p:nvSpPr>
        <p:spPr>
          <a:xfrm rot="0">
            <a:off x="5880100" y="37719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97434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3556310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6292263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8228825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911880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35405159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5287221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7199539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8027329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0157806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18410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1253542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6738725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47951975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3381591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11/25</a:t>
            </a:r>
            <a:br/>
          </a:p>
        </p:txBody>
      </p:sp>
      <p:sp>
        <p:nvSpPr>
          <p:cNvPr id="814845099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</a:p>
        </p:txBody>
      </p:sp>
      <p:sp>
        <p:nvSpPr>
          <p:cNvPr id="24642442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[리스크관리팀] EWS 시나리오 삭제 및 담당부서 제외 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[SAP DS Upgrade] EWS 모든 테이블 포맷이 다른 데이터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확인 요청 (운영-개발)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[ERP Upgrade] 데이터 마이그레이션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[리스크관리팀] EWS 시나리오 삭제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EWS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GCMS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WMS 인수인계</a:t>
            </a:r>
          </a:p>
        </p:txBody>
      </p:sp>
      <p:sp>
        <p:nvSpPr>
          <p:cNvPr id="73469218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53813140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73475398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[리스크관리팀] EWS 시나리오 삭제 및 담당부서 제외 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[SAP DS Upgrade] EWS 모든 테이블 포맷이 다른 데이터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확인 요청 (운영-개발)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[멤버십마케팅팀] 대구지사 사용자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IAMS IT Process 24년 2nd 평가 모집단 관련 자료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[ERP Upgrade] 데이터 마이그레이션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[IT운영팀] DB 데이터 변경 요청 및 승인 증빙자료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EWS 인수인계</a:t>
            </a:r>
          </a:p>
        </p:txBody>
      </p:sp>
      <p:sp>
        <p:nvSpPr>
          <p:cNvPr id="175758396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</a:p>
        </p:txBody>
      </p:sp>
      <p:sp>
        <p:nvSpPr>
          <p:cNvPr id="40143363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</a:p>
        </p:txBody>
      </p:sp>
      <p:sp>
        <p:nvSpPr>
          <p:cNvPr id="1019648878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</a:p>
        </p:txBody>
      </p:sp>
      <p:sp>
        <p:nvSpPr>
          <p:cNvPr id="178677610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7620462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92860115" name="Text">
    </p:cNvPr>
          <p:cNvSpPr>
            <a:spLocks noGrp="1"/>
          </p:cNvSpPr>
          <p:nvPr/>
        </p:nvSpPr>
        <p:spPr>
          <a:xfrm rot="0">
            <a:off x="97028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br/>
          </a:p>
        </p:txBody>
      </p:sp>
      <p:sp>
        <p:nvSpPr>
          <p:cNvPr id="1648964621" name="Text">
    </p:cNvPr>
          <p:cNvSpPr>
            <a:spLocks noGrp="1"/>
          </p:cNvSpPr>
          <p:nvPr/>
        </p:nvSpPr>
        <p:spPr>
          <a:xfrm rot="0">
            <a:off x="93345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  <a:br/>
          </a:p>
        </p:txBody>
      </p:sp>
      <p:sp>
        <p:nvSpPr>
          <p:cNvPr id="150129475" name="Text">
    </p:cNvPr>
          <p:cNvSpPr>
            <a:spLocks noGrp="1"/>
          </p:cNvSpPr>
          <p:nvPr/>
        </p:nvSpPr>
        <p:spPr>
          <a:xfrm rot="0">
            <a:off x="5930900" y="3771900"/>
            <a:ext cx="3403600" cy="25781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DB 캐시 및 버퍼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LOPAS 송유계획서 PDF 파일 업로드 작업 관련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 (ITSM-118773)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EAI 3차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[ERP Upgrdae] 재고 및 출하현황 정보 제공을 위한 V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iew 생성 요청 (ITSM-117962)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요청 ( * 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일일점검보고 (태운광 차장님, 김지혜 대리님, 박경근 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리님)</a:t>
            </a:r>
          </a:p>
        </p:txBody>
      </p:sp>
      <p:sp>
        <p:nvSpPr>
          <p:cNvPr id="2097232379" name="Text">
    </p:cNvPr>
          <p:cNvSpPr>
            <a:spLocks noGrp="1"/>
          </p:cNvSpPr>
          <p:nvPr/>
        </p:nvSpPr>
        <p:spPr>
          <a:xfrm rot="0">
            <a:off x="5308600" y="37719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898922959" name="Text">
    </p:cNvPr>
          <p:cNvSpPr>
            <a:spLocks noGrp="1"/>
          </p:cNvSpPr>
          <p:nvPr/>
        </p:nvSpPr>
        <p:spPr>
          <a:xfrm rot="0">
            <a:off x="88900" y="37719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525541051" name="Text">
    </p:cNvPr>
          <p:cNvSpPr>
            <a:spLocks noGrp="1"/>
          </p:cNvSpPr>
          <p:nvPr/>
        </p:nvSpPr>
        <p:spPr>
          <a:xfrm rot="0">
            <a:off x="711200" y="3771900"/>
            <a:ext cx="3403600" cy="25781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[ERP 계정관리] 담당자 백업 업무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DB 캐시 및 버퍼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송병찬 매니저님(6006) CP - LOPAS SSO 로그인 Er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ror 점검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LOPAS 송유계획서 PDF 파일 업로드 작업 관련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 (ITSM-118773)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[ERP Upgrdae] 재고 및 출하현황 정보 제공을 위한 V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iew 생성 요청 (ITSM-117962)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EAI 3차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요청 ( * 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 품질관리] PRM -&gt; CRM View List 정리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일일점검보고 (태운광 차장님, 김지혜 대리님, 박경근 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리님)</a:t>
            </a:r>
          </a:p>
        </p:txBody>
      </p:sp>
      <p:sp>
        <p:nvSpPr>
          <p:cNvPr id="1155238006" name="Text">
    </p:cNvPr>
          <p:cNvSpPr>
            <a:spLocks noGrp="1"/>
          </p:cNvSpPr>
          <p:nvPr/>
        </p:nvSpPr>
        <p:spPr>
          <a:xfrm rot="0">
            <a:off x="44831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br/>
          </a:p>
        </p:txBody>
      </p:sp>
      <p:sp>
        <p:nvSpPr>
          <p:cNvPr id="820097015" name="Text">
    </p:cNvPr>
          <p:cNvSpPr>
            <a:spLocks noGrp="1"/>
          </p:cNvSpPr>
          <p:nvPr/>
        </p:nvSpPr>
        <p:spPr>
          <a:xfrm rot="0">
            <a:off x="48514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br/>
          </a:p>
        </p:txBody>
      </p:sp>
      <p:sp>
        <p:nvSpPr>
          <p:cNvPr id="995865375" name="Text">
    </p:cNvPr>
          <p:cNvSpPr>
            <a:spLocks noGrp="1"/>
          </p:cNvSpPr>
          <p:nvPr/>
        </p:nvSpPr>
        <p:spPr>
          <a:xfrm rot="0">
            <a:off x="41148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br/>
          </a:p>
        </p:txBody>
      </p:sp>
      <p:sp>
        <p:nvSpPr>
          <p:cNvPr id="239480063" name="Text">
    </p:cNvPr>
          <p:cNvSpPr>
            <a:spLocks noGrp="1"/>
          </p:cNvSpPr>
          <p:nvPr/>
        </p:nvSpPr>
        <p:spPr>
          <a:xfrm rot="0">
            <a:off x="660400" y="37719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73726585" name="Text">
    </p:cNvPr>
          <p:cNvSpPr>
            <a:spLocks noGrp="1"/>
          </p:cNvSpPr>
          <p:nvPr/>
        </p:nvSpPr>
        <p:spPr>
          <a:xfrm rot="0">
            <a:off x="5880100" y="37719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04513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9607562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2718231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34752297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39288636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44191349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5661109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0317199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8755769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1403889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6598695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2903894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3929171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63960873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8869825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</a:p>
        </p:txBody>
      </p:sp>
      <p:sp>
        <p:nvSpPr>
          <p:cNvPr id="4121383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</a:p>
        </p:txBody>
      </p:sp>
      <p:sp>
        <p:nvSpPr>
          <p:cNvPr id="160868212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10월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2024.10월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SGI서울보증 차세대시스템 구축에 따른 전자보증 시스템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[승강기연동] REUTERS국제가 연동 서버 변경에 따른 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터페이스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 및 PRM 거래처 마스터 연동관련 주석 추가</a:t>
            </a:r>
          </a:p>
        </p:txBody>
      </p:sp>
      <p:sp>
        <p:nvSpPr>
          <p:cNvPr id="184379553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2070846969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60659192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10월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2024.10월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[승강기연동] REUTERS국제가 연동 서버 변경에 따른 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터페이스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 및 PRM 거래처 마스터 연동관련 주석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24년 하반기 S-OIL 재해복구 모의훈련</a:t>
            </a:r>
          </a:p>
        </p:txBody>
      </p:sp>
      <p:sp>
        <p:nvSpPr>
          <p:cNvPr id="33972687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</a:p>
        </p:txBody>
      </p:sp>
      <p:sp>
        <p:nvSpPr>
          <p:cNvPr id="122833578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</a:p>
        </p:txBody>
      </p:sp>
      <p:sp>
        <p:nvSpPr>
          <p:cNvPr id="117808515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</a:p>
        </p:txBody>
      </p:sp>
      <p:sp>
        <p:nvSpPr>
          <p:cNvPr id="20327970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2545074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