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30"/>
    <p:sldId id="274" r:id="rId32"/>
    <p:sldId id="275" r:id="rId34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slides/slide18.xml" Type="http://schemas.openxmlformats.org/officeDocument/2006/relationships/slide"/><Relationship Id="rId31" Target="notesSlides/notesSlide6.xml" Type="http://schemas.openxmlformats.org/officeDocument/2006/relationships/notesSlide"/><Relationship Id="rId32" Target="slides/slide19.xml" Type="http://schemas.openxmlformats.org/officeDocument/2006/relationships/slide"/><Relationship Id="rId33" Target="notesSlides/notesSlide7.xml" Type="http://schemas.openxmlformats.org/officeDocument/2006/relationships/notesSlide"/><Relationship Id="rId34" Target="slides/slide20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2024-04-01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[2024.04.09 ~ 2024.04.15]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4월 2주차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068586284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대 국회의원 선거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804613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967838006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2120897806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265834574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654827086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533207701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97277394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974875741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301037960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5579744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375100058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2000907656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484583147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08710228" name="Frame"/>
          <p:cNvSpPr>
            <a:spLocks noGrp="1"/>
          </p:cNvSpPr>
          <p:nvPr/>
        </p:nvSpPr>
        <p:spPr>
          <a:xfrm>
            <a:off x="25400" y="49403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566967029" name="Text">
    </p:cNvPr>
          <p:cNvSpPr>
            <a:spLocks noGrp="1"/>
          </p:cNvSpPr>
          <p:nvPr/>
        </p:nvSpPr>
        <p:spPr>
          <a:xfrm rot="0">
            <a:off x="152400" y="49657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300769897" name="Text">
    </p:cNvPr>
          <p:cNvSpPr>
            <a:spLocks noGrp="1"/>
          </p:cNvSpPr>
          <p:nvPr/>
        </p:nvSpPr>
        <p:spPr>
          <a:xfrm rot="0">
            <a:off x="6451600" y="54991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17609627" name="Text">
    </p:cNvPr>
          <p:cNvSpPr>
            <a:spLocks noGrp="1"/>
          </p:cNvSpPr>
          <p:nvPr/>
        </p:nvSpPr>
        <p:spPr>
          <a:xfrm rot="0">
            <a:off x="2057400" y="54991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17083548" name="Text">
    </p:cNvPr>
          <p:cNvSpPr>
            <a:spLocks noGrp="1"/>
          </p:cNvSpPr>
          <p:nvPr/>
        </p:nvSpPr>
        <p:spPr>
          <a:xfrm rot="0">
            <a:off x="101600" y="54991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46746226" name="Text">
    </p:cNvPr>
          <p:cNvSpPr>
            <a:spLocks noGrp="1"/>
          </p:cNvSpPr>
          <p:nvPr/>
        </p:nvSpPr>
        <p:spPr>
          <a:xfrm rot="0">
            <a:off x="101600" y="52578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416112874" name="Text">
    </p:cNvPr>
          <p:cNvSpPr>
            <a:spLocks noGrp="1"/>
          </p:cNvSpPr>
          <p:nvPr/>
        </p:nvSpPr>
        <p:spPr>
          <a:xfrm rot="0">
            <a:off x="2057400" y="52578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53400790" name="Text">
    </p:cNvPr>
          <p:cNvSpPr>
            <a:spLocks noGrp="1"/>
          </p:cNvSpPr>
          <p:nvPr/>
        </p:nvSpPr>
        <p:spPr>
          <a:xfrm rot="0">
            <a:off x="6451600" y="52578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369201392" name="Text">
    </p:cNvPr>
          <p:cNvSpPr>
            <a:spLocks noGrp="1"/>
          </p:cNvSpPr>
          <p:nvPr/>
        </p:nvSpPr>
        <p:spPr>
          <a:xfrm rot="0">
            <a:off x="101600" y="57912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34664511" name="Text">
    </p:cNvPr>
          <p:cNvSpPr>
            <a:spLocks noGrp="1"/>
          </p:cNvSpPr>
          <p:nvPr/>
        </p:nvSpPr>
        <p:spPr>
          <a:xfrm rot="0">
            <a:off x="6451600" y="57912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49780821" name="Text">
    </p:cNvPr>
          <p:cNvSpPr>
            <a:spLocks noGrp="1"/>
          </p:cNvSpPr>
          <p:nvPr/>
        </p:nvSpPr>
        <p:spPr>
          <a:xfrm rot="0">
            <a:off x="2057400" y="57912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9629009" name="Text">
    </p:cNvPr>
          <p:cNvSpPr>
            <a:spLocks noGrp="1"/>
          </p:cNvSpPr>
          <p:nvPr/>
        </p:nvSpPr>
        <p:spPr>
          <a:xfrm rot="0">
            <a:off x="1244600" y="57912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68485362" name="Text">
    </p:cNvPr>
          <p:cNvSpPr>
            <a:spLocks noGrp="1"/>
          </p:cNvSpPr>
          <p:nvPr/>
        </p:nvSpPr>
        <p:spPr>
          <a:xfrm rot="0">
            <a:off x="1244600" y="54991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55981323" name="Text">
    </p:cNvPr>
          <p:cNvSpPr>
            <a:spLocks noGrp="1"/>
          </p:cNvSpPr>
          <p:nvPr/>
        </p:nvSpPr>
        <p:spPr>
          <a:xfrm rot="0">
            <a:off x="1244600" y="52578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738611647" name="Text">
    </p:cNvPr>
          <p:cNvSpPr>
            <a:spLocks noGrp="1"/>
          </p:cNvSpPr>
          <p:nvPr/>
        </p:nvSpPr>
        <p:spPr>
          <a:xfrm rot="0">
            <a:off x="8102600" y="57912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46630067" name="Text">
    </p:cNvPr>
          <p:cNvSpPr>
            <a:spLocks noGrp="1"/>
          </p:cNvSpPr>
          <p:nvPr/>
        </p:nvSpPr>
        <p:spPr>
          <a:xfrm rot="0">
            <a:off x="8102600" y="52578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389978264" name="Text">
    </p:cNvPr>
          <p:cNvSpPr>
            <a:spLocks noGrp="1"/>
          </p:cNvSpPr>
          <p:nvPr/>
        </p:nvSpPr>
        <p:spPr>
          <a:xfrm rot="0">
            <a:off x="8102600" y="54991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12412404" name="Frame"/>
          <p:cNvSpPr>
            <a:spLocks noGrp="1"/>
          </p:cNvSpPr>
          <p:nvPr/>
        </p:nvSpPr>
        <p:spPr>
          <a:xfrm>
            <a:off x="101600" y="2832100"/>
            <a:ext cx="9779000" cy="194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677588319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17401892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2139691733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150111914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20939883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172296718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924604370" name="Frame"/>
          <p:cNvSpPr>
            <a:spLocks noGrp="1"/>
          </p:cNvSpPr>
          <p:nvPr/>
        </p:nvSpPr>
        <p:spPr>
          <a:xfrm>
            <a:off x="165100" y="41529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553020718" name="Text">
    </p:cNvPr>
          <p:cNvSpPr>
            <a:spLocks noGrp="1"/>
          </p:cNvSpPr>
          <p:nvPr/>
        </p:nvSpPr>
        <p:spPr>
          <a:xfrm rot="0">
            <a:off x="165100" y="41275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615260575" name="Text">
    </p:cNvPr>
          <p:cNvSpPr>
            <a:spLocks noGrp="1"/>
          </p:cNvSpPr>
          <p:nvPr/>
        </p:nvSpPr>
        <p:spPr>
          <a:xfrm rot="0">
            <a:off x="965200" y="41783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기안지 전결근거 관련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[ERM] 사이버보안 컴플라이언스 점검 결과 프로그램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신용보증기금 연동 모듈 변경에 따른 설치 및 테스트</a:t>
            </a:r>
          </a:p>
        </p:txBody>
      </p:sp>
      <p:sp>
        <p:nvSpPr>
          <p:cNvPr id="535359136" name="Text">
    </p:cNvPr>
          <p:cNvSpPr>
            <a:spLocks noGrp="1"/>
          </p:cNvSpPr>
          <p:nvPr/>
        </p:nvSpPr>
        <p:spPr>
          <a:xfrm rot="0">
            <a:off x="7239000" y="41783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411052862" name="Text">
    </p:cNvPr>
          <p:cNvSpPr>
            <a:spLocks noGrp="1"/>
          </p:cNvSpPr>
          <p:nvPr/>
        </p:nvSpPr>
        <p:spPr>
          <a:xfrm rot="0">
            <a:off x="5549900" y="41783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</a:p>
        </p:txBody>
      </p:sp>
      <p:sp>
        <p:nvSpPr>
          <p:cNvPr id="23560404" name="Text">
    </p:cNvPr>
          <p:cNvSpPr>
            <a:spLocks noGrp="1"/>
          </p:cNvSpPr>
          <p:nvPr/>
        </p:nvSpPr>
        <p:spPr>
          <a:xfrm rot="0">
            <a:off x="901700" y="41275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41041598" name="Text">
    </p:cNvPr>
          <p:cNvSpPr>
            <a:spLocks noGrp="1"/>
          </p:cNvSpPr>
          <p:nvPr/>
        </p:nvSpPr>
        <p:spPr>
          <a:xfrm rot="0">
            <a:off x="6121400" y="41275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74452592" name="Text">
    </p:cNvPr>
          <p:cNvSpPr>
            <a:spLocks noGrp="1"/>
          </p:cNvSpPr>
          <p:nvPr/>
        </p:nvSpPr>
        <p:spPr>
          <a:xfrm rot="0">
            <a:off x="5549900" y="41275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36295363" name="Frame"/>
          <p:cNvSpPr>
            <a:spLocks noGrp="1"/>
          </p:cNvSpPr>
          <p:nvPr/>
        </p:nvSpPr>
        <p:spPr>
          <a:xfrm>
            <a:off x="165100" y="34544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573269449" name="Text">
    </p:cNvPr>
          <p:cNvSpPr>
            <a:spLocks noGrp="1"/>
          </p:cNvSpPr>
          <p:nvPr/>
        </p:nvSpPr>
        <p:spPr>
          <a:xfrm rot="0">
            <a:off x="165100" y="34544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899444011" name="Text">
    </p:cNvPr>
          <p:cNvSpPr>
            <a:spLocks noGrp="1"/>
          </p:cNvSpPr>
          <p:nvPr/>
        </p:nvSpPr>
        <p:spPr>
          <a:xfrm rot="0">
            <a:off x="965200" y="35306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PP(Polypropylene) 제품별 원가내역 조회 Report 개발 요청(ZPCOR2030)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ITSM-107407 자영대리점 거래처 관리업무 간소화 추진(1차)</a:t>
            </a:r>
          </a:p>
        </p:txBody>
      </p:sp>
      <p:sp>
        <p:nvSpPr>
          <p:cNvPr id="1363410799" name="Text">
    </p:cNvPr>
          <p:cNvSpPr>
            <a:spLocks noGrp="1"/>
          </p:cNvSpPr>
          <p:nvPr/>
        </p:nvSpPr>
        <p:spPr>
          <a:xfrm rot="0">
            <a:off x="7239000" y="35306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999405995" name="Text">
    </p:cNvPr>
          <p:cNvSpPr>
            <a:spLocks noGrp="1"/>
          </p:cNvSpPr>
          <p:nvPr/>
        </p:nvSpPr>
        <p:spPr>
          <a:xfrm rot="0">
            <a:off x="5549900" y="35306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</a:p>
        </p:txBody>
      </p:sp>
      <p:sp>
        <p:nvSpPr>
          <p:cNvPr id="240170410" name="Text">
    </p:cNvPr>
          <p:cNvSpPr>
            <a:spLocks noGrp="1"/>
          </p:cNvSpPr>
          <p:nvPr/>
        </p:nvSpPr>
        <p:spPr>
          <a:xfrm rot="0">
            <a:off x="901700" y="34544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75864612" name="Text">
    </p:cNvPr>
          <p:cNvSpPr>
            <a:spLocks noGrp="1"/>
          </p:cNvSpPr>
          <p:nvPr/>
        </p:nvSpPr>
        <p:spPr>
          <a:xfrm rot="0">
            <a:off x="6121400" y="34544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0538382" name="Text">
    </p:cNvPr>
          <p:cNvSpPr>
            <a:spLocks noGrp="1"/>
          </p:cNvSpPr>
          <p:nvPr/>
        </p:nvSpPr>
        <p:spPr>
          <a:xfrm rot="0">
            <a:off x="5549900" y="34544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65734002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71880773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694484994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870931089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[RPA] A360 ruuner04 신규러너 작동불가 원인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소프트 스킬 관련 LMS 시스템 개선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ITSM-110068 학습자료실 내 게시판 명칭 변경 및 자료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[전자결재 신규 신청서 개발] 팀리더 경조금 신청서</a:t>
            </a:r>
          </a:p>
        </p:txBody>
      </p:sp>
      <p:sp>
        <p:nvSpPr>
          <p:cNvPr id="1610791178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410378229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319487151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</a:p>
        </p:txBody>
      </p:sp>
      <p:sp>
        <p:nvSpPr>
          <p:cNvPr id="4969286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78982572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20404966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49934184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444964956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210499616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967489106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수불 자재 관련 로직 수정(ZCOR6332)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구매처코드 생성 오류 분석및해결(ZFIR9057)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ZIM650R (제품 구입 물품대 및 비용문서 조회) 상 필드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[TD] 수급상황기록부 수출입관리 프로그램 업그레이드 요청</a:t>
            </a:r>
          </a:p>
        </p:txBody>
      </p:sp>
      <p:sp>
        <p:nvSpPr>
          <p:cNvPr id="702751445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517206261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612318413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</a:p>
        </p:txBody>
      </p:sp>
      <p:sp>
        <p:nvSpPr>
          <p:cNvPr id="216933562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17862776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31684416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24527436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71069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14607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0519561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7684467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9680665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5898486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1680339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8359997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2752619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3878776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6201601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3462658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8874153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6761991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1825681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</a:p>
        </p:txBody>
      </p:sp>
      <p:sp>
        <p:nvSpPr>
          <p:cNvPr id="119325654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147387009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특관자 거래내역 수정요청 추가수정(ZTRR7000)</a:t>
            </a:r>
          </a:p>
        </p:txBody>
      </p:sp>
      <p:sp>
        <p:nvSpPr>
          <p:cNvPr id="115417600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70418197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33438746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자산거래 요청 오류 원인 분석 및 해결(ZFIR9030)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휴가, 공휴일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구매처코드 생성 오류 분석및해결(ZFIR9057)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수불 자재 관련 로직 수정(ZCOR6332)</a:t>
            </a:r>
          </a:p>
        </p:txBody>
      </p:sp>
      <p:sp>
        <p:nvSpPr>
          <p:cNvPr id="26655627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29506712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213425951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51075065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639646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8410225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171178997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</a:p>
        </p:txBody>
      </p:sp>
      <p:sp>
        <p:nvSpPr>
          <p:cNvPr id="193136241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발주변경 품의 시 계약보증 정보 SAP 업데이트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SAP상 지급전표번호별 대상 수입신고번호 조회 리스트 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회 기능 생성</a:t>
            </a:r>
          </a:p>
        </p:txBody>
      </p:sp>
      <p:sp>
        <p:nvSpPr>
          <p:cNvPr id="42058870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8971697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57255392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발주변경 품의 시 계약보증 정보 SAP 업데이트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SAP상 지급전표번호별 대상 수입신고번호 조회 리스트 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회 기능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ZIM650R (제품 구입 물품대 및 비용문서 조회) 상 필드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수급상황기록부 수출입관리 프로그램 업그레이드 요청</a:t>
            </a:r>
          </a:p>
        </p:txBody>
      </p:sp>
      <p:sp>
        <p:nvSpPr>
          <p:cNvPr id="154609326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22102406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17791381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22651268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3405292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11986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7512748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4027936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0033550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9287952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77596085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3257848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8613961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1009352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989694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3122953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5960330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5179483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310490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5638381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</a:p>
        </p:txBody>
      </p:sp>
      <p:sp>
        <p:nvSpPr>
          <p:cNvPr id="102715096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br/>
          </a:p>
        </p:txBody>
      </p:sp>
      <p:sp>
        <p:nvSpPr>
          <p:cNvPr id="146420719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23년 노후 서버 교체, VM 이관 작업에 따른 서비스 점검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업무지원 ((구)ERP 조회용)</a:t>
            </a:r>
          </a:p>
        </p:txBody>
      </p:sp>
      <p:sp>
        <p:nvSpPr>
          <p:cNvPr id="52583649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6224449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208487226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BW운영과 상품권(GIFTPRD)서버 시스템 간 Connection 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제 발생으로 확인 및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Firori Web 멀티플 로그온 방지에 대한 SAP확인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내용전달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관련 BW개발자 업무지원(삼성SDS)</a:t>
            </a:r>
          </a:p>
        </p:txBody>
      </p:sp>
      <p:sp>
        <p:nvSpPr>
          <p:cNvPr id="46762499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95919071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184442705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</a:p>
        </p:txBody>
      </p:sp>
      <p:sp>
        <p:nvSpPr>
          <p:cNvPr id="88814649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1652965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2956314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</a:p>
        </p:txBody>
      </p:sp>
      <p:sp>
        <p:nvSpPr>
          <p:cNvPr id="49655542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</a:p>
        </p:txBody>
      </p:sp>
      <p:sp>
        <p:nvSpPr>
          <p:cNvPr id="697146823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16704899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92893226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68942376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자바 완전 정복:6장 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자바 완전 정복:7장 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자바 완전 정복:8장 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자바 완전 정복:9장 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자바 완전 정복:10장 공부하기</a:t>
            </a:r>
          </a:p>
        </p:txBody>
      </p:sp>
      <p:sp>
        <p:nvSpPr>
          <p:cNvPr id="182354094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</a:p>
        </p:txBody>
      </p:sp>
      <p:sp>
        <p:nvSpPr>
          <p:cNvPr id="112109201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</a:p>
        </p:txBody>
      </p:sp>
      <p:sp>
        <p:nvSpPr>
          <p:cNvPr id="203512166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186025365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790821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15445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5773160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3800041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8722744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7938802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55010666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6832418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8125381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1727476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7844343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6801612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726369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2718441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345235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7085886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br/>
          </a:p>
        </p:txBody>
      </p:sp>
      <p:sp>
        <p:nvSpPr>
          <p:cNvPr id="80066763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  <a:br/>
          </a:p>
        </p:txBody>
      </p:sp>
      <p:sp>
        <p:nvSpPr>
          <p:cNvPr id="8259932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ZMMR4061 - 서비스 입력시트 -&gt; 서비스라인별 기성실적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상세 통지 조회 기능* W/O에 대한 통지, 이력통지 조회 기능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 </a:t>
            </a:r>
          </a:p>
        </p:txBody>
      </p:sp>
      <p:sp>
        <p:nvSpPr>
          <p:cNvPr id="158042196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59316779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94931895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ZMMR4061 - 서비스 입력시트 -&gt; 서비스라인별 기성실적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상세 통지 조회 기능* W/O에 대한 통지, 이력통지 조회 기능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 </a:t>
            </a:r>
          </a:p>
        </p:txBody>
      </p:sp>
      <p:sp>
        <p:nvSpPr>
          <p:cNvPr id="159303657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br/>
          </a:p>
        </p:txBody>
      </p:sp>
      <p:sp>
        <p:nvSpPr>
          <p:cNvPr id="44658655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br/>
          </a:p>
        </p:txBody>
      </p:sp>
      <p:sp>
        <p:nvSpPr>
          <p:cNvPr id="179350175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  <a:br/>
          </a:p>
        </p:txBody>
      </p:sp>
      <p:sp>
        <p:nvSpPr>
          <p:cNvPr id="203486165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5644398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5907927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25016945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</a:p>
        </p:txBody>
      </p:sp>
      <p:sp>
        <p:nvSpPr>
          <p:cNvPr id="99243947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출입관리시스템(안면인식)기록 자동 연동 구축 적용(5/1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)</a:t>
            </a:r>
          </a:p>
        </p:txBody>
      </p:sp>
      <p:sp>
        <p:nvSpPr>
          <p:cNvPr id="32555986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29205696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6657471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근태확인서 메일발송시 메뉴링크추가 - 공장 중식비예외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자 급여반영일자 자동처리 테스트- 의료비지원 승인저장시 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류(가족 주민번호 상이:PA0540)- 생활안정자금 최종대출금액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수정(PA9412:6건)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공장 중식비예외자 신청 운영시스템 반영(결재 분기 포함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)- 국내출장비 신청서의 동행자 입력메뉴 비활성화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공장 중식비예외자 사용방법 안내- 특별휴가 보상 오류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데이터 수정- 특근과다발생 예외(자)조직 소스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정산완료된 해외출장비 재신청 가능토록 데이터 수정-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활안정자금 대출기간 차이에 대한 원인분석(기간 반올림)</a:t>
            </a:r>
          </a:p>
        </p:txBody>
      </p:sp>
      <p:sp>
        <p:nvSpPr>
          <p:cNvPr id="15409078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br/>
          </a:p>
        </p:txBody>
      </p:sp>
      <p:sp>
        <p:nvSpPr>
          <p:cNvPr id="66842732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br/>
          </a:p>
        </p:txBody>
      </p:sp>
      <p:sp>
        <p:nvSpPr>
          <p:cNvPr id="194279177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br/>
          </a:p>
        </p:txBody>
      </p:sp>
      <p:sp>
        <p:nvSpPr>
          <p:cNvPr id="38738028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3855281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47273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3938379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9535038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3584883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262158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01934852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1778860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1777889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8627741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9358224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4207767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2511287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5069359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6785020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0633069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155441314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</a:p>
        </p:txBody>
      </p:sp>
      <p:sp>
        <p:nvSpPr>
          <p:cNvPr id="69230537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복리후생 중식비 예외신청메뉴 - 프로젝트(공장) 추가 80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공제자료 급여 전송시 급여반영된 자료(사번,직책, 직군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등)와 인사정보 일치 되도록 반영 요청 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퇴직월급여명세서 내 과세소득총액 표기 요청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휴먼에러 방지 위해 직위 표기란에 직위/직책 함께 표기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 70%</a:t>
            </a:r>
          </a:p>
        </p:txBody>
      </p:sp>
      <p:sp>
        <p:nvSpPr>
          <p:cNvPr id="143247901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32473468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209091127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복리후생 중식비 예외신청메뉴 - 프로젝트(공장)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퇴직월급여명세서 내 과세소득총액 표기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휴먼에러 방지 위해 직위 표기란에 직위/직책 함께 표기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SAP HR 근태기록부확인(부서장) 메일 발송 시, 해당화면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링크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급여확인 메일 전송 문구 변경 요청</a:t>
            </a:r>
          </a:p>
        </p:txBody>
      </p:sp>
      <p:sp>
        <p:nvSpPr>
          <p:cNvPr id="121170769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30485853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4/5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4/9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4/9</a:t>
            </a:r>
            <a:br/>
          </a:p>
        </p:txBody>
      </p:sp>
      <p:sp>
        <p:nvSpPr>
          <p:cNvPr id="149822178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</a:p>
        </p:txBody>
      </p:sp>
      <p:sp>
        <p:nvSpPr>
          <p:cNvPr id="59809188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8033497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6002506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60688750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</a:p>
        </p:txBody>
      </p:sp>
      <p:sp>
        <p:nvSpPr>
          <p:cNvPr id="129502991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144392846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42770463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86368783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205881349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67487613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89576150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</a:p>
        </p:txBody>
      </p:sp>
      <p:sp>
        <p:nvSpPr>
          <p:cNvPr id="134846676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0484601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56569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6900261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5243933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6167706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2488953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72434546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6366027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940931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5937105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2550294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9842337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5729325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2639063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4779435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122421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120279157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</a:p>
        </p:txBody>
      </p:sp>
      <p:sp>
        <p:nvSpPr>
          <p:cNvPr id="126225681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ITSM-109651 e-Biz 접속화면에 에쓰오일 사보 게재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ITSM-110081 e-Biz 주문등록 메뉴 담당자 조회필터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가요청</a:t>
            </a:r>
          </a:p>
        </p:txBody>
      </p:sp>
      <p:sp>
        <p:nvSpPr>
          <p:cNvPr id="15254234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45823920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40592723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ITSM-109651 e-Biz 접속화면에 에쓰오일 사보 게재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ITSM-110016 법인카드 정산 신청서 결재 취소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ITSM-110081 e-Biz 주문등록 메뉴 담당자 조회필터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가요청</a:t>
            </a:r>
          </a:p>
        </p:txBody>
      </p:sp>
      <p:sp>
        <p:nvSpPr>
          <p:cNvPr id="93479260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4100003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</a:p>
        </p:txBody>
      </p:sp>
      <p:sp>
        <p:nvSpPr>
          <p:cNvPr id="5330721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</a:p>
        </p:txBody>
      </p:sp>
      <p:sp>
        <p:nvSpPr>
          <p:cNvPr id="33783246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0228377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2596237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207321516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</a:p>
        </p:txBody>
      </p:sp>
      <p:sp>
        <p:nvSpPr>
          <p:cNvPr id="202819576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</a:p>
        </p:txBody>
      </p:sp>
      <p:sp>
        <p:nvSpPr>
          <p:cNvPr id="168610575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42331173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95885002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Comment 리스트 작업</a:t>
            </a:r>
          </a:p>
        </p:txBody>
      </p:sp>
      <p:sp>
        <p:nvSpPr>
          <p:cNvPr id="31412909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15368734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122639303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</a:p>
        </p:txBody>
      </p:sp>
      <p:sp>
        <p:nvSpPr>
          <p:cNvPr id="81882310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1155750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51907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8888047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6149546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8183091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5679846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93300969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6362493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9992855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1990645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7368104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3280967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3354827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9393744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697061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3296974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98443544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8146317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</a:p>
        </p:txBody>
      </p:sp>
      <p:sp>
        <p:nvSpPr>
          <p:cNvPr id="203935522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16174788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36207539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</a:p>
        </p:txBody>
      </p:sp>
      <p:sp>
        <p:nvSpPr>
          <p:cNvPr id="123621764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07497009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</a:p>
        </p:txBody>
      </p:sp>
      <p:sp>
        <p:nvSpPr>
          <p:cNvPr id="193691335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109032765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8924034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3250530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</a:p>
        </p:txBody>
      </p:sp>
      <p:sp>
        <p:nvSpPr>
          <p:cNvPr id="109439801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</a:p>
        </p:txBody>
      </p:sp>
      <p:sp>
        <p:nvSpPr>
          <p:cNvPr id="177506362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116304926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205105765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65064150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ebiz push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ITSM-109515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ITSM-108150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ITSM-107461 예상완료일 변경결과ITSM-109112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결과 작성ITSM-110090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ITSM-110165 변경결과 작성</a:t>
            </a:r>
          </a:p>
        </p:txBody>
      </p:sp>
      <p:sp>
        <p:nvSpPr>
          <p:cNvPr id="163987746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82980596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131633033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98471545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0112450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11312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8898701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9108879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5209171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3624500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23216683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1660598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7082712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364310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7244628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0148247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7974302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6975517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8824211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7576752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</a:p>
        </p:txBody>
      </p:sp>
      <p:sp>
        <p:nvSpPr>
          <p:cNvPr id="73401844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</a:p>
        </p:txBody>
      </p:sp>
      <p:sp>
        <p:nvSpPr>
          <p:cNvPr id="23465776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</a:p>
        </p:txBody>
      </p:sp>
      <p:sp>
        <p:nvSpPr>
          <p:cNvPr id="141695763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99737302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28972363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Migration 작업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외화송금대사' 작업 프로세스 변경으로 인한 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셀 함수 재설정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'#1 회계지급전표 증빙대사' 작업 분류 E(e-sero/역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분개)로 넘어간 원인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'#2 외화지급계좌 증빙대사' 작업 RPA 의견에 따른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원인 확인 담당자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I/F정의서 정리 엑셀 최신화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[PPS/전자계약] 취약점 조치 장비 및 사용자 계정 확인 및 회신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ruuner04 신규러너 작동불가 원인 확인</a:t>
            </a:r>
          </a:p>
        </p:txBody>
      </p:sp>
      <p:sp>
        <p:nvSpPr>
          <p:cNvPr id="202047555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6822514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72027268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</a:p>
        </p:txBody>
      </p:sp>
      <p:sp>
        <p:nvSpPr>
          <p:cNvPr id="49873899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5712542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2099231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</a:p>
        </p:txBody>
      </p:sp>
      <p:sp>
        <p:nvSpPr>
          <p:cNvPr id="108697092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</a:p>
        </p:txBody>
      </p:sp>
      <p:sp>
        <p:nvSpPr>
          <p:cNvPr id="21016593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</a:p>
        </p:txBody>
      </p:sp>
      <p:sp>
        <p:nvSpPr>
          <p:cNvPr id="140045233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96087949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205981068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[전자결재 신규 신청서 개발] 팀리더 경조금 신청서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소프트 스킬 관련 LMS 시스템 개선 외</a:t>
            </a:r>
          </a:p>
        </p:txBody>
      </p:sp>
      <p:sp>
        <p:nvSpPr>
          <p:cNvPr id="110721920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153895973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</a:p>
        </p:txBody>
      </p:sp>
      <p:sp>
        <p:nvSpPr>
          <p:cNvPr id="70515994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</a:p>
        </p:txBody>
      </p:sp>
      <p:sp>
        <p:nvSpPr>
          <p:cNvPr id="163097292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4959744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02125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9304755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3092075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0427167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77764985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90603942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3315463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4880817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3872268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9533177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7510792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8409001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7838304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6780046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9457014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</a:p>
        </p:txBody>
      </p:sp>
      <p:sp>
        <p:nvSpPr>
          <p:cNvPr id="60712463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</a:p>
        </p:txBody>
      </p:sp>
      <p:sp>
        <p:nvSpPr>
          <p:cNvPr id="20515002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메뉴(작업계획서)		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기안지 전결근거 관련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ITSM-110097작업 정산서 팝업 창 전체 화면 기능 추가</a:t>
            </a:r>
          </a:p>
        </p:txBody>
      </p:sp>
      <p:sp>
        <p:nvSpPr>
          <p:cNvPr id="72691317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42209224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11935722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메뉴(작업완료관리)		-&gt; 프로시저 수정,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기안지 전결근거 관련 작업- 프론트 화면 정리중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ITSM-109966, ITSM-110009, ITSM-110019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ITSM-110026, ITSM-110038, ITSM-110057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ITSM-110061, ITSM-110054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ITSM-110122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ITSM-110152, ITSM-110153, ITSM-110145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ITSM-110134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ITSM-110097작업 정산서 팝업 창 전체 화면 기능 추가</a:t>
            </a:r>
          </a:p>
        </p:txBody>
      </p:sp>
      <p:sp>
        <p:nvSpPr>
          <p:cNvPr id="48489428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</a:p>
        </p:txBody>
      </p:sp>
      <p:sp>
        <p:nvSpPr>
          <p:cNvPr id="69652948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</a:p>
        </p:txBody>
      </p:sp>
      <p:sp>
        <p:nvSpPr>
          <p:cNvPr id="195663374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</a:p>
        </p:txBody>
      </p:sp>
      <p:sp>
        <p:nvSpPr>
          <p:cNvPr id="198681868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6992880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2693629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161037837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</a:p>
        </p:txBody>
      </p:sp>
      <p:sp>
        <p:nvSpPr>
          <p:cNvPr id="124296466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사이버보안 컴플라이언스 점검 결과 프로그램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</a:p>
        </p:txBody>
      </p:sp>
      <p:sp>
        <p:nvSpPr>
          <p:cNvPr id="25074625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83571296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23352456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사이버보안 컴플라이언스 점검 결과 프로그램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ITSM-108551 소프트 스킬 관련 LMS 시스템 개선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프로젝트 구매팀. 이혜리 사원 ERS 접속안됨 문의 및 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용자 등록 처리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ITSM-110068 학습자료실 내 게시판 명칭 변경 및 자료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[ERM 시스템] KRI 수정 오류 확인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프로젝트QA2팀 WBS 코드 업데이트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CP통합검색 연계뷰(VIEW_XIPER_ERS_SEARCH) FILE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_PATH_TXT 경로 변경.</a:t>
            </a:r>
          </a:p>
        </p:txBody>
      </p:sp>
      <p:sp>
        <p:nvSpPr>
          <p:cNvPr id="198101140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</a:p>
        </p:txBody>
      </p:sp>
      <p:sp>
        <p:nvSpPr>
          <p:cNvPr id="175033162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</a:p>
        </p:txBody>
      </p:sp>
      <p:sp>
        <p:nvSpPr>
          <p:cNvPr id="64462948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</a:p>
        </p:txBody>
      </p:sp>
      <p:sp>
        <p:nvSpPr>
          <p:cNvPr id="189963152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2676557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51403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1276730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115012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3900299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73706990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30603863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4329487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4532118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9053221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7355159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13926171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1947035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1324182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3501526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573595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br/>
          </a:p>
        </p:txBody>
      </p:sp>
      <p:sp>
        <p:nvSpPr>
          <p:cNvPr id="184892597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</a:p>
        </p:txBody>
      </p:sp>
      <p:sp>
        <p:nvSpPr>
          <p:cNvPr id="55929634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세션타임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구현</a:t>
            </a:r>
          </a:p>
        </p:txBody>
      </p:sp>
      <p:sp>
        <p:nvSpPr>
          <p:cNvPr id="39952614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16058417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5394626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SAP BW 인터페이스 오류 원인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폐기 완료 후 남은 판매품의서 제휴처 회수 데이터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24년 1분기 DML 작업 내역 SR 맵핑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WMS 개발서버 (HQWMSDEV01) SSL 적용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할당 불가 품목 조치 요청 (ITSM-110077)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공구창고 출고요청내역 데이터 추출 요청 (20.01.01 ~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24.04.12)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최상원 책임 PC WMS 개발 서버 프로그램 설치 지원 </a:t>
            </a:r>
          </a:p>
        </p:txBody>
      </p:sp>
      <p:sp>
        <p:nvSpPr>
          <p:cNvPr id="42898279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</a:p>
        </p:txBody>
      </p:sp>
      <p:sp>
        <p:nvSpPr>
          <p:cNvPr id="21101936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</a:p>
        </p:txBody>
      </p:sp>
      <p:sp>
        <p:nvSpPr>
          <p:cNvPr id="56704368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</a:p>
        </p:txBody>
      </p:sp>
      <p:sp>
        <p:nvSpPr>
          <p:cNvPr id="108664912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6502881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4724375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</a:p>
        </p:txBody>
      </p:sp>
      <p:sp>
        <p:nvSpPr>
          <p:cNvPr id="10670829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</a:p>
        </p:txBody>
      </p:sp>
      <p:sp>
        <p:nvSpPr>
          <p:cNvPr id="164251523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ITSM-109350 PRM 품질성적서 제공 시스템 추가 보완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 (품질규격 마스터 및 메일링 서비스)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(1) 처리 및 관리 페이지 내 고객정보 Like 쿼리문 제거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(2) VOC 목록 내 종료일 추가 &amp; '종료일' 검색</a:t>
            </a:r>
          </a:p>
        </p:txBody>
      </p:sp>
      <p:sp>
        <p:nvSpPr>
          <p:cNvPr id="57788905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78252530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23374117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ITSM-109350 PRM 품질성적서 제공 시스템 추가 보완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 (품질규격 마스터 및 메일링 서비스)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품질성적서 &gt; 거래처별 판정현황 내 (1)리스트 (2) 세부사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항 변경 [ ITSM-109540 ]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VOC 관련 점검 회의 (8층 고객센터)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(1) 처리 및 관리 페이지 내 고객정보 Like 쿼리문 제거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(2) VOC 목록 내 종료일 추가 &amp; '종료일' 검색</a:t>
            </a:r>
          </a:p>
        </p:txBody>
      </p:sp>
      <p:sp>
        <p:nvSpPr>
          <p:cNvPr id="151041431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</a:p>
        </p:txBody>
      </p:sp>
      <p:sp>
        <p:nvSpPr>
          <p:cNvPr id="200929655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</a:p>
        </p:txBody>
      </p:sp>
      <p:sp>
        <p:nvSpPr>
          <p:cNvPr id="167802512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</a:p>
        </p:txBody>
      </p:sp>
      <p:sp>
        <p:nvSpPr>
          <p:cNvPr id="49130983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4028469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91124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8412290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434686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3748408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0651503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64522339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1961507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8006113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3106502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7643663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8559824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94953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9848773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3372307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0862553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36972877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</a:p>
        </p:txBody>
      </p:sp>
      <p:sp>
        <p:nvSpPr>
          <p:cNvPr id="142516954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2024.2월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2024.3월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</a:p>
        </p:txBody>
      </p:sp>
      <p:sp>
        <p:nvSpPr>
          <p:cNvPr id="73436022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50444718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5186080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2024.2월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3월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2024.3월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[전자결재 신규 신청서 개발] 팀리더 경조금 신청서</a:t>
            </a:r>
          </a:p>
        </p:txBody>
      </p:sp>
      <p:sp>
        <p:nvSpPr>
          <p:cNvPr id="116229115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116752735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</a:p>
        </p:txBody>
      </p:sp>
      <p:sp>
        <p:nvSpPr>
          <p:cNvPr id="209429434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</a:p>
        </p:txBody>
      </p:sp>
      <p:sp>
        <p:nvSpPr>
          <p:cNvPr id="116291863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7027994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068586284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최연화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이상엽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최연화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황보람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공현호</a:t>
                      </a: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순현국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대 국회의원 선거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순현국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이재원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◐ 공현호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공현호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박남신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