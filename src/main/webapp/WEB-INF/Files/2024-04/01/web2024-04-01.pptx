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71146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6133197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8721103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8148272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8324559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0119111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4979694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0962659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5485453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9155993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9192457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7404742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9514037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101154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3734021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148591960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</a:p>
        </p:txBody>
      </p:sp>
      <p:sp>
        <p:nvSpPr>
          <p:cNvPr id="99353151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</a:p>
        </p:txBody>
      </p:sp>
      <p:sp>
        <p:nvSpPr>
          <p:cNvPr id="176341035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92188438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67943979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ITSM-108716 e-Biz. 현수막지원 직전주문경과 초과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sql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ITSM-109417 e-biz 품질점검결과서의 적합여부 불일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조치요청</a:t>
            </a:r>
          </a:p>
        </p:txBody>
      </p:sp>
      <p:sp>
        <p:nvSpPr>
          <p:cNvPr id="53546151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br/>
          </a:p>
        </p:txBody>
      </p:sp>
      <p:sp>
        <p:nvSpPr>
          <p:cNvPr id="71783295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7073286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</a:p>
        </p:txBody>
      </p:sp>
      <p:sp>
        <p:nvSpPr>
          <p:cNvPr id="106953239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3658770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425412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88689657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82514218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</a:p>
        </p:txBody>
      </p:sp>
      <p:sp>
        <p:nvSpPr>
          <p:cNvPr id="75511350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58841005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83961066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Dashboard사이버보안 컴플라이언스 점검 결과에 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른 개선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[ITSM-109568]기존 공장 Fuel Gas 도입량에 따라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된 MW, LHV 계유 반영 요청</a:t>
            </a:r>
          </a:p>
        </p:txBody>
      </p:sp>
      <p:sp>
        <p:nvSpPr>
          <p:cNvPr id="68902880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35017903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61415960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202533793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159199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19144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9176395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7745855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2834596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5648493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6824777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769348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0630629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813940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4437071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6228540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4460485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9127912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6708652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8088649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35605730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</a:p>
        </p:txBody>
      </p:sp>
      <p:sp>
        <p:nvSpPr>
          <p:cNvPr id="14102739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</a:p>
        </p:txBody>
      </p:sp>
      <p:sp>
        <p:nvSpPr>
          <p:cNvPr id="167412013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79709916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92271331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유외사업 관리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생일선물지급 발송예정일 검색 조건 변경</a:t>
            </a:r>
          </a:p>
        </p:txBody>
      </p:sp>
      <p:sp>
        <p:nvSpPr>
          <p:cNvPr id="2396354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</a:p>
        </p:txBody>
      </p:sp>
      <p:sp>
        <p:nvSpPr>
          <p:cNvPr id="70995848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</a:p>
        </p:txBody>
      </p:sp>
      <p:sp>
        <p:nvSpPr>
          <p:cNvPr id="76750485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</a:p>
        </p:txBody>
      </p:sp>
      <p:sp>
        <p:nvSpPr>
          <p:cNvPr id="162596888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542154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8002049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</a:p>
        </p:txBody>
      </p:sp>
      <p:sp>
        <p:nvSpPr>
          <p:cNvPr id="205702724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</a:p>
        </p:txBody>
      </p:sp>
      <p:sp>
        <p:nvSpPr>
          <p:cNvPr id="122082627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208381429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60070134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7578359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ITSM-109163 작엽결과 작성 ITSM-109203 변경요청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삭제ITSM-109157 취약점ITSM-109171 작업유형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부작업 생성ITSM-109212 작업유형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ITSM-108999 배포 및 작엽결과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goolge FCM 정책 만료로 인한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ITSM-109337 작엽결과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취약점 점검 장애</a:t>
            </a:r>
          </a:p>
        </p:txBody>
      </p:sp>
      <p:sp>
        <p:nvSpPr>
          <p:cNvPr id="184644634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</a:p>
        </p:txBody>
      </p:sp>
      <p:sp>
        <p:nvSpPr>
          <p:cNvPr id="82587440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</a:p>
        </p:txBody>
      </p:sp>
      <p:sp>
        <p:nvSpPr>
          <p:cNvPr id="211321259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</a:p>
        </p:txBody>
      </p:sp>
      <p:sp>
        <p:nvSpPr>
          <p:cNvPr id="153055117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9724857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66251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9896568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5819014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7311869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4819990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83901647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4210796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5564072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599974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54478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9537826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4513221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3523541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963927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05941442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</a:p>
        </p:txBody>
      </p:sp>
      <p:sp>
        <p:nvSpPr>
          <p:cNvPr id="373793385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</a:p>
        </p:txBody>
      </p:sp>
      <p:sp>
        <p:nvSpPr>
          <p:cNvPr id="795728414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</a:p>
        </p:txBody>
      </p:sp>
      <p:sp>
        <p:nvSpPr>
          <p:cNvPr id="1847028224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2137431689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410940902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'자금운영팀 - #4 외화송금대사' 작업 Mig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ration 완료    + Migration 미흡한 부분 재수정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'사전점검' 작업 CP 비정상 확인 및         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정상 확인 후 메일 재발송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전환된 모든 작업 운영 전환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RPA CP&amp;ERP 계정 약 10여개 PW 동기화 및 Credential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RPA CP&amp;ERP 계정 PW 충돌로 인한 작업 배포 실패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잠금 해제, 새벽작업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WMB7 버전 설치 및 문의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작업 스케쥴 재설정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'#1 회계지급전표 증빙대사' 작업 script 에러 발생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원인 파악을 위한 로그 추가</a:t>
            </a:r>
          </a:p>
        </p:txBody>
      </p:sp>
      <p:sp>
        <p:nvSpPr>
          <p:cNvPr id="358986321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</a:p>
        </p:txBody>
      </p:sp>
      <p:sp>
        <p:nvSpPr>
          <p:cNvPr id="1081580951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</a:p>
        </p:txBody>
      </p:sp>
      <p:sp>
        <p:nvSpPr>
          <p:cNvPr id="187617734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</a:p>
        </p:txBody>
      </p:sp>
      <p:sp>
        <p:nvSpPr>
          <p:cNvPr id="383068490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3519099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3947658" name="Text">
    </p:cNvPr>
          <p:cNvSpPr>
            <a:spLocks noGrp="1"/>
          </p:cNvSpPr>
          <p:nvPr/>
        </p:nvSpPr>
        <p:spPr>
          <a:xfrm rot="0">
            <a:off x="9702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790632162" name="Text">
    </p:cNvPr>
          <p:cNvSpPr>
            <a:spLocks noGrp="1"/>
          </p:cNvSpPr>
          <p:nvPr/>
        </p:nvSpPr>
        <p:spPr>
          <a:xfrm rot="0">
            <a:off x="93345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</a:p>
        </p:txBody>
      </p:sp>
      <p:sp>
        <p:nvSpPr>
          <p:cNvPr id="276882741" name="Text">
    </p:cNvPr>
          <p:cNvSpPr>
            <a:spLocks noGrp="1"/>
          </p:cNvSpPr>
          <p:nvPr/>
        </p:nvSpPr>
        <p:spPr>
          <a:xfrm rot="0">
            <a:off x="5930900" y="37846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[전자결재 신규 신청서 개발] 팀리더 경조금 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소프트 스킬 관련 LMS 시스템 개선 외</a:t>
            </a:r>
          </a:p>
        </p:txBody>
      </p:sp>
      <p:sp>
        <p:nvSpPr>
          <p:cNvPr id="1767142640" name="Text">
    </p:cNvPr>
          <p:cNvSpPr>
            <a:spLocks noGrp="1"/>
          </p:cNvSpPr>
          <p:nvPr/>
        </p:nvSpPr>
        <p:spPr>
          <a:xfrm rot="0">
            <a:off x="53086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367209309" name="Text">
    </p:cNvPr>
          <p:cNvSpPr>
            <a:spLocks noGrp="1"/>
          </p:cNvSpPr>
          <p:nvPr/>
        </p:nvSpPr>
        <p:spPr>
          <a:xfrm rot="0">
            <a:off x="889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2118479510" name="Text">
    </p:cNvPr>
          <p:cNvSpPr>
            <a:spLocks noGrp="1"/>
          </p:cNvSpPr>
          <p:nvPr/>
        </p:nvSpPr>
        <p:spPr>
          <a:xfrm rot="0">
            <a:off x="711200" y="37846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[전자결재 신규 신청서 개발] 팀리더 경조금 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소프트 스킬 관련 LMS 시스템 개선 외</a:t>
            </a:r>
          </a:p>
        </p:txBody>
      </p:sp>
      <p:sp>
        <p:nvSpPr>
          <p:cNvPr id="1769706790" name="Text">
    </p:cNvPr>
          <p:cNvSpPr>
            <a:spLocks noGrp="1"/>
          </p:cNvSpPr>
          <p:nvPr/>
        </p:nvSpPr>
        <p:spPr>
          <a:xfrm rot="0">
            <a:off x="44831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599957261" name="Text">
    </p:cNvPr>
          <p:cNvSpPr>
            <a:spLocks noGrp="1"/>
          </p:cNvSpPr>
          <p:nvPr/>
        </p:nvSpPr>
        <p:spPr>
          <a:xfrm rot="0">
            <a:off x="48514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497766709" name="Text">
    </p:cNvPr>
          <p:cNvSpPr>
            <a:spLocks noGrp="1"/>
          </p:cNvSpPr>
          <p:nvPr/>
        </p:nvSpPr>
        <p:spPr>
          <a:xfrm rot="0">
            <a:off x="4114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</a:p>
        </p:txBody>
      </p:sp>
      <p:sp>
        <p:nvSpPr>
          <p:cNvPr id="1213181384" name="Text">
    </p:cNvPr>
          <p:cNvSpPr>
            <a:spLocks noGrp="1"/>
          </p:cNvSpPr>
          <p:nvPr/>
        </p:nvSpPr>
        <p:spPr>
          <a:xfrm rot="0">
            <a:off x="6604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99827522" name="Text">
    </p:cNvPr>
          <p:cNvSpPr>
            <a:spLocks noGrp="1"/>
          </p:cNvSpPr>
          <p:nvPr/>
        </p:nvSpPr>
        <p:spPr>
          <a:xfrm rot="0">
            <a:off x="58801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93910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3073678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5342132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484597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2861366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9130156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2898275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4512664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4642635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4182550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9288902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6829053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1550842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0942229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6155210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97816804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</a:p>
        </p:txBody>
      </p:sp>
      <p:sp>
        <p:nvSpPr>
          <p:cNvPr id="144463804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메뉴(작업계획서)		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</a:t>
            </a:r>
          </a:p>
        </p:txBody>
      </p:sp>
      <p:sp>
        <p:nvSpPr>
          <p:cNvPr id="40241817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80665278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56702031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메뉴(작업완료관리)		-&gt; 프로시저 수정,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작업- 프론트 화면 정리중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ITSM-109252 -&gt; 아로마틱영업팀 본부장 이상 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품의서 자료 및 목록 제공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장비사용 신청서 -&gt; 전자결재 첨부파일 경로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ITSM-109570 -&gt; 품의서 수정 요청 --- [중부영업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지원팀] GS E&amp;R - Net 출하방식 적용</a:t>
            </a:r>
          </a:p>
        </p:txBody>
      </p:sp>
      <p:sp>
        <p:nvSpPr>
          <p:cNvPr id="134388589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61846374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90231188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59265239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8370917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97489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2218696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7492785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7295443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6572414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7957843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4015881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0488062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2262748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7864867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296491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1410309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5457793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8629367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929655" name="Text">
    </p:cNvPr>
          <p:cNvSpPr>
            <a:spLocks noGrp="1"/>
          </p:cNvSpPr>
          <p:nvPr/>
        </p:nvSpPr>
        <p:spPr>
          <a:xfrm rot="0">
            <a:off x="9702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147928548" name="Text">
    </p:cNvPr>
          <p:cNvSpPr>
            <a:spLocks noGrp="1"/>
          </p:cNvSpPr>
          <p:nvPr/>
        </p:nvSpPr>
        <p:spPr>
          <a:xfrm rot="0">
            <a:off x="93345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2125688977" name="Text">
    </p:cNvPr>
          <p:cNvSpPr>
            <a:spLocks noGrp="1"/>
          </p:cNvSpPr>
          <p:nvPr/>
        </p:nvSpPr>
        <p:spPr>
          <a:xfrm rot="0">
            <a:off x="5930900" y="1511300"/>
            <a:ext cx="3403600" cy="2882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ITSM-108551 소프트 스킬 관련 LMS 시스템 개선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</a:p>
        </p:txBody>
      </p:sp>
      <p:sp>
        <p:nvSpPr>
          <p:cNvPr id="1308615054" name="Text">
    </p:cNvPr>
          <p:cNvSpPr>
            <a:spLocks noGrp="1"/>
          </p:cNvSpPr>
          <p:nvPr/>
        </p:nvSpPr>
        <p:spPr>
          <a:xfrm rot="0">
            <a:off x="53086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078880683" name="Text">
    </p:cNvPr>
          <p:cNvSpPr>
            <a:spLocks noGrp="1"/>
          </p:cNvSpPr>
          <p:nvPr/>
        </p:nvSpPr>
        <p:spPr>
          <a:xfrm rot="0">
            <a:off x="889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531001497" name="Text">
    </p:cNvPr>
          <p:cNvSpPr>
            <a:spLocks noGrp="1"/>
          </p:cNvSpPr>
          <p:nvPr/>
        </p:nvSpPr>
        <p:spPr>
          <a:xfrm rot="0">
            <a:off x="711200" y="1511300"/>
            <a:ext cx="3403600" cy="2882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ITSM-108551 소프트 스킬 관련 LMS 시스템 개선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2024-03-22 일자 개정시 중복 문서번호 데이터 첨부로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오류 발생. 재개정처리(28건)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 결재 완료후 전표생성 오류 확인 및 비용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신청금액, 공급가액 동일하게 수정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CDU3-W-6108 개정처리한 건인데. 문서가 4~5페이지가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잘못 변환됨. 원인 확인 요청 및 재처리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SMSDS-2322 문서 열기시 느린현상 확인 및 PDF 파일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리사이징 후 수정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부서지침서 'U-11100 운전 절차서(DIST2-P-1110)' 1건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제정오류 재 제정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스마트러닝 URL 변경 요청(기존 스마트러닝 운영업체(유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밥) 계약만료 후 신규업체(휴넷)으로 사이트가 개편)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디지털 서식 첨부파일 추가로 인한 SOM-2-090,  SOM-2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-100 첨부서식 정렬 요청</a:t>
            </a:r>
          </a:p>
        </p:txBody>
      </p:sp>
      <p:sp>
        <p:nvSpPr>
          <p:cNvPr id="1049886360" name="Text">
    </p:cNvPr>
          <p:cNvSpPr>
            <a:spLocks noGrp="1"/>
          </p:cNvSpPr>
          <p:nvPr/>
        </p:nvSpPr>
        <p:spPr>
          <a:xfrm rot="0">
            <a:off x="44831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</a:p>
        </p:txBody>
      </p:sp>
      <p:sp>
        <p:nvSpPr>
          <p:cNvPr id="206736213" name="Text">
    </p:cNvPr>
          <p:cNvSpPr>
            <a:spLocks noGrp="1"/>
          </p:cNvSpPr>
          <p:nvPr/>
        </p:nvSpPr>
        <p:spPr>
          <a:xfrm rot="0">
            <a:off x="48514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</a:p>
        </p:txBody>
      </p:sp>
      <p:sp>
        <p:nvSpPr>
          <p:cNvPr id="1071818821" name="Text">
    </p:cNvPr>
          <p:cNvSpPr>
            <a:spLocks noGrp="1"/>
          </p:cNvSpPr>
          <p:nvPr/>
        </p:nvSpPr>
        <p:spPr>
          <a:xfrm rot="0">
            <a:off x="4114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</a:p>
        </p:txBody>
      </p:sp>
      <p:sp>
        <p:nvSpPr>
          <p:cNvPr id="1831192786" name="Text">
    </p:cNvPr>
          <p:cNvSpPr>
            <a:spLocks noGrp="1"/>
          </p:cNvSpPr>
          <p:nvPr/>
        </p:nvSpPr>
        <p:spPr>
          <a:xfrm rot="0">
            <a:off x="6604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81596624" name="Text">
    </p:cNvPr>
          <p:cNvSpPr>
            <a:spLocks noGrp="1"/>
          </p:cNvSpPr>
          <p:nvPr/>
        </p:nvSpPr>
        <p:spPr>
          <a:xfrm rot="0">
            <a:off x="58801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87146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3028566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3767250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2951891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0865719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8060373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2014584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8609024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5175193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1973370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0916387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911053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2284448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8487608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2604211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21355821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88066606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세션타임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30분으로 변경- 동시접속제한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SP414 투자예산 장기 미집행 시나리오 미처리 데이터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불가 원인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과도한 상품권 대금 결제시나리오 매출대비회수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율 5% 이상 데이터 관련 확인 요청</a:t>
            </a:r>
          </a:p>
        </p:txBody>
      </p:sp>
      <p:sp>
        <p:nvSpPr>
          <p:cNvPr id="91107112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67953872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03851670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 -&gt; 모바일상품권 전환 관련 수정 요청(CRM 호출 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로시저 변경 및 통합 테스트)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세션타임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30분으로 변경- 동시접속제한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기회수 상품권 이미지 대조 및 데이터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공구 불출 내역 5년치 데이터 추출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HQWMSDEV01 개발 서버 이관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공구창고 권한 요청 : 안재종, 박필희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SP414 투자예산 장기 미집행 시나리오 미처리 데이터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불가 원인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과도한 상품권 대금 결제시나리오 매출대비회수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율 5% 이상 데이터 관련 확인 요청</a:t>
            </a:r>
          </a:p>
        </p:txBody>
      </p:sp>
      <p:sp>
        <p:nvSpPr>
          <p:cNvPr id="14613699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135242967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</a:p>
        </p:txBody>
      </p:sp>
      <p:sp>
        <p:nvSpPr>
          <p:cNvPr id="176889723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61161613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8081458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7642737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170110528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</a:p>
        </p:txBody>
      </p:sp>
      <p:sp>
        <p:nvSpPr>
          <p:cNvPr id="213999174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추가 보완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(품질규격 마스터 및 메일링 서비스)</a:t>
            </a:r>
          </a:p>
        </p:txBody>
      </p:sp>
      <p:sp>
        <p:nvSpPr>
          <p:cNvPr id="92717557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76435878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85996177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추가 보완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(품질규격 마스터 및 메일링 서비스)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[ITSM-109157] 품질 규격 마스터 일자별 증기압/유동점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표준범위 지정 기능 (배포작업)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상담이력_VOC 이관 등록 오류 (김민주 사원님 [고객센터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]) 확인 요청 - 'CHAN_ROW_ID'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'이관관리 &gt; 해상이관오더관리' 내 '제주저유소(3203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 - '0.3% LRFO(5104)' 데이터 확인 (배치 및 테이블 점검)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 보조</a:t>
            </a:r>
          </a:p>
        </p:txBody>
      </p:sp>
      <p:sp>
        <p:nvSpPr>
          <p:cNvPr id="209233319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146397893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5205349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</a:p>
        </p:txBody>
      </p:sp>
      <p:sp>
        <p:nvSpPr>
          <p:cNvPr id="19000103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806480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1824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5689823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4792516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8851233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2316373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743333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3488637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2508330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6328028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658176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7491549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4788014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4483234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10174220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4935442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104201932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25158015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: IW21)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(SAP PM) 작업요청 시 작업환경위험도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입력 및 PSORMS Interface Attribute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[전자결재 신규 신청서 개발] 팀리더 경조금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청서</a:t>
            </a:r>
            <a:br/>
          </a:p>
        </p:txBody>
      </p:sp>
      <p:sp>
        <p:nvSpPr>
          <p:cNvPr id="113496287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21142965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84133208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: IW21)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(SAP PM) 작업요청 시 작업환경위험도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입력 및 PSORMS Interface Attribute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[전자결재 신규 신청서 개발] 팀리더 경조금 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청서</a:t>
            </a:r>
            <a:br/>
          </a:p>
        </p:txBody>
      </p:sp>
      <p:sp>
        <p:nvSpPr>
          <p:cNvPr id="35558735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173021511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98459949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142568453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4169358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