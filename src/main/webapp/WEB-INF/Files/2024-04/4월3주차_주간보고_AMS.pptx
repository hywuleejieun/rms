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[2024.04.16 ~ 2024.04.22]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4월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53903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75412563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8025600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2604032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3932731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518590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72780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799216014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13841042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594410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1724180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91981077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9609879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02996239" name="Frame"/>
          <p:cNvSpPr>
            <a:spLocks noGrp="1"/>
          </p:cNvSpPr>
          <p:nvPr/>
        </p:nvSpPr>
        <p:spPr>
          <a:xfrm>
            <a:off x="25400" y="5219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91868792" name="Text">
    </p:cNvPr>
          <p:cNvSpPr>
            <a:spLocks noGrp="1"/>
          </p:cNvSpPr>
          <p:nvPr/>
        </p:nvSpPr>
        <p:spPr>
          <a:xfrm rot="0">
            <a:off x="152400" y="5245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751156457" name="Text">
    </p:cNvPr>
          <p:cNvSpPr>
            <a:spLocks noGrp="1"/>
          </p:cNvSpPr>
          <p:nvPr/>
        </p:nvSpPr>
        <p:spPr>
          <a:xfrm rot="0">
            <a:off x="6451600" y="5778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8163802" name="Text">
    </p:cNvPr>
          <p:cNvSpPr>
            <a:spLocks noGrp="1"/>
          </p:cNvSpPr>
          <p:nvPr/>
        </p:nvSpPr>
        <p:spPr>
          <a:xfrm rot="0">
            <a:off x="2057400" y="5778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651170" name="Text">
    </p:cNvPr>
          <p:cNvSpPr>
            <a:spLocks noGrp="1"/>
          </p:cNvSpPr>
          <p:nvPr/>
        </p:nvSpPr>
        <p:spPr>
          <a:xfrm rot="0">
            <a:off x="101600" y="5778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9699675" name="Text">
    </p:cNvPr>
          <p:cNvSpPr>
            <a:spLocks noGrp="1"/>
          </p:cNvSpPr>
          <p:nvPr/>
        </p:nvSpPr>
        <p:spPr>
          <a:xfrm rot="0">
            <a:off x="101600" y="5537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932073358" name="Text">
    </p:cNvPr>
          <p:cNvSpPr>
            <a:spLocks noGrp="1"/>
          </p:cNvSpPr>
          <p:nvPr/>
        </p:nvSpPr>
        <p:spPr>
          <a:xfrm rot="0">
            <a:off x="2057400" y="5537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835742196" name="Text">
    </p:cNvPr>
          <p:cNvSpPr>
            <a:spLocks noGrp="1"/>
          </p:cNvSpPr>
          <p:nvPr/>
        </p:nvSpPr>
        <p:spPr>
          <a:xfrm rot="0">
            <a:off x="6451600" y="5537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91493846" name="Text">
    </p:cNvPr>
          <p:cNvSpPr>
            <a:spLocks noGrp="1"/>
          </p:cNvSpPr>
          <p:nvPr/>
        </p:nvSpPr>
        <p:spPr>
          <a:xfrm rot="0">
            <a:off x="101600" y="6070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2697832" name="Text">
    </p:cNvPr>
          <p:cNvSpPr>
            <a:spLocks noGrp="1"/>
          </p:cNvSpPr>
          <p:nvPr/>
        </p:nvSpPr>
        <p:spPr>
          <a:xfrm rot="0">
            <a:off x="6451600" y="6070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0324161" name="Text">
    </p:cNvPr>
          <p:cNvSpPr>
            <a:spLocks noGrp="1"/>
          </p:cNvSpPr>
          <p:nvPr/>
        </p:nvSpPr>
        <p:spPr>
          <a:xfrm rot="0">
            <a:off x="2057400" y="6070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742537" name="Text">
    </p:cNvPr>
          <p:cNvSpPr>
            <a:spLocks noGrp="1"/>
          </p:cNvSpPr>
          <p:nvPr/>
        </p:nvSpPr>
        <p:spPr>
          <a:xfrm rot="0">
            <a:off x="1244600" y="6070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6937434" name="Text">
    </p:cNvPr>
          <p:cNvSpPr>
            <a:spLocks noGrp="1"/>
          </p:cNvSpPr>
          <p:nvPr/>
        </p:nvSpPr>
        <p:spPr>
          <a:xfrm rot="0">
            <a:off x="1244600" y="5778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8249835" name="Text">
    </p:cNvPr>
          <p:cNvSpPr>
            <a:spLocks noGrp="1"/>
          </p:cNvSpPr>
          <p:nvPr/>
        </p:nvSpPr>
        <p:spPr>
          <a:xfrm rot="0">
            <a:off x="1244600" y="5537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28917288" name="Text">
    </p:cNvPr>
          <p:cNvSpPr>
            <a:spLocks noGrp="1"/>
          </p:cNvSpPr>
          <p:nvPr/>
        </p:nvSpPr>
        <p:spPr>
          <a:xfrm rot="0">
            <a:off x="8102600" y="6070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6623506" name="Text">
    </p:cNvPr>
          <p:cNvSpPr>
            <a:spLocks noGrp="1"/>
          </p:cNvSpPr>
          <p:nvPr/>
        </p:nvSpPr>
        <p:spPr>
          <a:xfrm rot="0">
            <a:off x="8102600" y="5537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861827107" name="Text">
    </p:cNvPr>
          <p:cNvSpPr>
            <a:spLocks noGrp="1"/>
          </p:cNvSpPr>
          <p:nvPr/>
        </p:nvSpPr>
        <p:spPr>
          <a:xfrm rot="0">
            <a:off x="8102600" y="5778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4119129" name="Frame"/>
          <p:cNvSpPr>
            <a:spLocks noGrp="1"/>
          </p:cNvSpPr>
          <p:nvPr/>
        </p:nvSpPr>
        <p:spPr>
          <a:xfrm>
            <a:off x="101600" y="31115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34543520" name="Text">
    </p:cNvPr>
          <p:cNvSpPr>
            <a:spLocks noGrp="1"/>
          </p:cNvSpPr>
          <p:nvPr/>
        </p:nvSpPr>
        <p:spPr>
          <a:xfrm rot="0">
            <a:off x="165100" y="3175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2601481" name="Text">
    </p:cNvPr>
          <p:cNvSpPr>
            <a:spLocks noGrp="1"/>
          </p:cNvSpPr>
          <p:nvPr/>
        </p:nvSpPr>
        <p:spPr>
          <a:xfrm rot="0">
            <a:off x="152400" y="3136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03336485" name="Text">
    </p:cNvPr>
          <p:cNvSpPr>
            <a:spLocks noGrp="1"/>
          </p:cNvSpPr>
          <p:nvPr/>
        </p:nvSpPr>
        <p:spPr>
          <a:xfrm rot="0">
            <a:off x="165100" y="3390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34484036" name="Text">
    </p:cNvPr>
          <p:cNvSpPr>
            <a:spLocks noGrp="1"/>
          </p:cNvSpPr>
          <p:nvPr/>
        </p:nvSpPr>
        <p:spPr>
          <a:xfrm rot="0">
            <a:off x="901700" y="3390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0139726" name="Text">
    </p:cNvPr>
          <p:cNvSpPr>
            <a:spLocks noGrp="1"/>
          </p:cNvSpPr>
          <p:nvPr/>
        </p:nvSpPr>
        <p:spPr>
          <a:xfrm rot="0">
            <a:off x="5549900" y="3390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04308867" name="Text">
    </p:cNvPr>
          <p:cNvSpPr>
            <a:spLocks noGrp="1"/>
          </p:cNvSpPr>
          <p:nvPr/>
        </p:nvSpPr>
        <p:spPr>
          <a:xfrm rot="0">
            <a:off x="6121400" y="3390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37126474" name="Frame"/>
          <p:cNvSpPr>
            <a:spLocks noGrp="1"/>
          </p:cNvSpPr>
          <p:nvPr/>
        </p:nvSpPr>
        <p:spPr>
          <a:xfrm>
            <a:off x="165100" y="4432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68465483" name="Text">
    </p:cNvPr>
          <p:cNvSpPr>
            <a:spLocks noGrp="1"/>
          </p:cNvSpPr>
          <p:nvPr/>
        </p:nvSpPr>
        <p:spPr>
          <a:xfrm rot="0">
            <a:off x="165100" y="4406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29505353" name="Text">
    </p:cNvPr>
          <p:cNvSpPr>
            <a:spLocks noGrp="1"/>
          </p:cNvSpPr>
          <p:nvPr/>
        </p:nvSpPr>
        <p:spPr>
          <a:xfrm rot="0">
            <a:off x="965200" y="4457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</a:p>
        </p:txBody>
      </p:sp>
      <p:sp>
        <p:nvSpPr>
          <p:cNvPr id="953916462" name="Text">
    </p:cNvPr>
          <p:cNvSpPr>
            <a:spLocks noGrp="1"/>
          </p:cNvSpPr>
          <p:nvPr/>
        </p:nvSpPr>
        <p:spPr>
          <a:xfrm rot="0">
            <a:off x="7239000" y="4457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8487400" name="Text">
    </p:cNvPr>
          <p:cNvSpPr>
            <a:spLocks noGrp="1"/>
          </p:cNvSpPr>
          <p:nvPr/>
        </p:nvSpPr>
        <p:spPr>
          <a:xfrm rot="0">
            <a:off x="5549900" y="4457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</a:p>
        </p:txBody>
      </p:sp>
      <p:sp>
        <p:nvSpPr>
          <p:cNvPr id="1087001328" name="Text">
    </p:cNvPr>
          <p:cNvSpPr>
            <a:spLocks noGrp="1"/>
          </p:cNvSpPr>
          <p:nvPr/>
        </p:nvSpPr>
        <p:spPr>
          <a:xfrm rot="0">
            <a:off x="901700" y="4406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0087763" name="Text">
    </p:cNvPr>
          <p:cNvSpPr>
            <a:spLocks noGrp="1"/>
          </p:cNvSpPr>
          <p:nvPr/>
        </p:nvSpPr>
        <p:spPr>
          <a:xfrm rot="0">
            <a:off x="6121400" y="4406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9260682" name="Text">
    </p:cNvPr>
          <p:cNvSpPr>
            <a:spLocks noGrp="1"/>
          </p:cNvSpPr>
          <p:nvPr/>
        </p:nvSpPr>
        <p:spPr>
          <a:xfrm rot="0">
            <a:off x="5549900" y="4406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6133229" name="Frame"/>
          <p:cNvSpPr>
            <a:spLocks noGrp="1"/>
          </p:cNvSpPr>
          <p:nvPr/>
        </p:nvSpPr>
        <p:spPr>
          <a:xfrm>
            <a:off x="165100" y="37338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97817847" name="Text">
    </p:cNvPr>
          <p:cNvSpPr>
            <a:spLocks noGrp="1"/>
          </p:cNvSpPr>
          <p:nvPr/>
        </p:nvSpPr>
        <p:spPr>
          <a:xfrm rot="0">
            <a:off x="165100" y="3733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25625895" name="Text">
    </p:cNvPr>
          <p:cNvSpPr>
            <a:spLocks noGrp="1"/>
          </p:cNvSpPr>
          <p:nvPr/>
        </p:nvSpPr>
        <p:spPr>
          <a:xfrm rot="0">
            <a:off x="965200" y="38100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038337244" name="Text">
    </p:cNvPr>
          <p:cNvSpPr>
            <a:spLocks noGrp="1"/>
          </p:cNvSpPr>
          <p:nvPr/>
        </p:nvSpPr>
        <p:spPr>
          <a:xfrm rot="0">
            <a:off x="7239000" y="38100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95059782" name="Text">
    </p:cNvPr>
          <p:cNvSpPr>
            <a:spLocks noGrp="1"/>
          </p:cNvSpPr>
          <p:nvPr/>
        </p:nvSpPr>
        <p:spPr>
          <a:xfrm rot="0">
            <a:off x="5549900" y="38100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</a:p>
        </p:txBody>
      </p:sp>
      <p:sp>
        <p:nvSpPr>
          <p:cNvPr id="1392906880" name="Text">
    </p:cNvPr>
          <p:cNvSpPr>
            <a:spLocks noGrp="1"/>
          </p:cNvSpPr>
          <p:nvPr/>
        </p:nvSpPr>
        <p:spPr>
          <a:xfrm rot="0">
            <a:off x="901700" y="3733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8099500" name="Text">
    </p:cNvPr>
          <p:cNvSpPr>
            <a:spLocks noGrp="1"/>
          </p:cNvSpPr>
          <p:nvPr/>
        </p:nvSpPr>
        <p:spPr>
          <a:xfrm rot="0">
            <a:off x="6121400" y="3733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908843" name="Text">
    </p:cNvPr>
          <p:cNvSpPr>
            <a:spLocks noGrp="1"/>
          </p:cNvSpPr>
          <p:nvPr/>
        </p:nvSpPr>
        <p:spPr>
          <a:xfrm rot="0">
            <a:off x="5549900" y="3733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2403855" name="Frame"/>
          <p:cNvSpPr>
            <a:spLocks noGrp="1"/>
          </p:cNvSpPr>
          <p:nvPr/>
        </p:nvSpPr>
        <p:spPr>
          <a:xfrm>
            <a:off x="127000" y="1384300"/>
            <a:ext cx="9779000" cy="1587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85420841" name="Frame"/>
          <p:cNvSpPr>
            <a:spLocks noGrp="1"/>
          </p:cNvSpPr>
          <p:nvPr/>
        </p:nvSpPr>
        <p:spPr>
          <a:xfrm>
            <a:off x="152400" y="23495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99261500" name="Text">
    </p:cNvPr>
          <p:cNvSpPr>
            <a:spLocks noGrp="1"/>
          </p:cNvSpPr>
          <p:nvPr/>
        </p:nvSpPr>
        <p:spPr>
          <a:xfrm rot="0">
            <a:off x="152400" y="2324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79400467" name="Text">
    </p:cNvPr>
          <p:cNvSpPr>
            <a:spLocks noGrp="1"/>
          </p:cNvSpPr>
          <p:nvPr/>
        </p:nvSpPr>
        <p:spPr>
          <a:xfrm rot="0">
            <a:off x="952500" y="23749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ITSM-109651 e-Biz 접속화면에 에쓰오일 사보 게재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휴먼에러 방지 위해 직위 표기란에 직위/직책 함께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profile 변경에 따른 RA 반영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2024.2월 결산의 EIS, Yellow Book 반영</a:t>
            </a:r>
          </a:p>
        </p:txBody>
      </p:sp>
      <p:sp>
        <p:nvSpPr>
          <p:cNvPr id="2136762931" name="Text">
    </p:cNvPr>
          <p:cNvSpPr>
            <a:spLocks noGrp="1"/>
          </p:cNvSpPr>
          <p:nvPr/>
        </p:nvSpPr>
        <p:spPr>
          <a:xfrm rot="0">
            <a:off x="7226300" y="23749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29732907" name="Text">
    </p:cNvPr>
          <p:cNvSpPr>
            <a:spLocks noGrp="1"/>
          </p:cNvSpPr>
          <p:nvPr/>
        </p:nvSpPr>
        <p:spPr>
          <a:xfrm rot="0">
            <a:off x="6108700" y="2324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12630864" name="Text">
    </p:cNvPr>
          <p:cNvSpPr>
            <a:spLocks noGrp="1"/>
          </p:cNvSpPr>
          <p:nvPr/>
        </p:nvSpPr>
        <p:spPr>
          <a:xfrm rot="0">
            <a:off x="5537200" y="23749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</a:p>
        </p:txBody>
      </p:sp>
      <p:sp>
        <p:nvSpPr>
          <p:cNvPr id="260343136" name="Text">
    </p:cNvPr>
          <p:cNvSpPr>
            <a:spLocks noGrp="1"/>
          </p:cNvSpPr>
          <p:nvPr/>
        </p:nvSpPr>
        <p:spPr>
          <a:xfrm rot="0">
            <a:off x="889000" y="2324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170833" name="Text">
    </p:cNvPr>
          <p:cNvSpPr>
            <a:spLocks noGrp="1"/>
          </p:cNvSpPr>
          <p:nvPr/>
        </p:nvSpPr>
        <p:spPr>
          <a:xfrm rot="0">
            <a:off x="7124700" y="2324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781182" name="Text">
    </p:cNvPr>
          <p:cNvSpPr>
            <a:spLocks noGrp="1"/>
          </p:cNvSpPr>
          <p:nvPr/>
        </p:nvSpPr>
        <p:spPr>
          <a:xfrm rot="0">
            <a:off x="5537200" y="2324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9205101" name="Rectangle"/>
          <p:cNvSpPr>
            <a:spLocks noGrp="1"/>
          </p:cNvSpPr>
          <p:nvPr/>
        </p:nvSpPr>
        <p:spPr>
          <a:xfrm>
            <a:off x="6870700" y="2324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39503700" name="Frame"/>
          <p:cNvSpPr>
            <a:spLocks noGrp="1"/>
          </p:cNvSpPr>
          <p:nvPr/>
        </p:nvSpPr>
        <p:spPr>
          <a:xfrm>
            <a:off x="152400" y="1371600"/>
            <a:ext cx="9639300" cy="952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97326298" name="Text">
    </p:cNvPr>
          <p:cNvSpPr>
            <a:spLocks noGrp="1"/>
          </p:cNvSpPr>
          <p:nvPr/>
        </p:nvSpPr>
        <p:spPr>
          <a:xfrm rot="0">
            <a:off x="152400" y="13716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79207359" name="Text">
    </p:cNvPr>
          <p:cNvSpPr>
            <a:spLocks noGrp="1"/>
          </p:cNvSpPr>
          <p:nvPr/>
        </p:nvSpPr>
        <p:spPr>
          <a:xfrm rot="0">
            <a:off x="939800" y="1422400"/>
            <a:ext cx="46101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자산거래요청 결재요청 이슈 원인 분석 및 해결(ZFIR9031N)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어음 결산 프로그램 성능 및 유지보수(ZTRR1810, ZTRR1830)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ZMMR4061 - 서비스 입력시트 -&gt; 서비스라인별 기성실적 상세 통지 조회 기능 *W/O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에 대한 통지, 이력통지 조회 기능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[ITSM-110346] HCM - 발령 : 파견조직 오류 수정</a:t>
            </a:r>
          </a:p>
        </p:txBody>
      </p:sp>
      <p:sp>
        <p:nvSpPr>
          <p:cNvPr id="156252741" name="Text">
    </p:cNvPr>
          <p:cNvSpPr>
            <a:spLocks noGrp="1"/>
          </p:cNvSpPr>
          <p:nvPr/>
        </p:nvSpPr>
        <p:spPr>
          <a:xfrm rot="0">
            <a:off x="7226300" y="1447800"/>
            <a:ext cx="2552700" cy="876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56764360" name="Text">
    </p:cNvPr>
          <p:cNvSpPr>
            <a:spLocks noGrp="1"/>
          </p:cNvSpPr>
          <p:nvPr/>
        </p:nvSpPr>
        <p:spPr>
          <a:xfrm rot="0">
            <a:off x="6108700" y="13716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2292345" name="Text">
    </p:cNvPr>
          <p:cNvSpPr>
            <a:spLocks noGrp="1"/>
          </p:cNvSpPr>
          <p:nvPr/>
        </p:nvSpPr>
        <p:spPr>
          <a:xfrm rot="0">
            <a:off x="5537200" y="1447800"/>
            <a:ext cx="571500" cy="876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470848730" name="Text">
    </p:cNvPr>
          <p:cNvSpPr>
            <a:spLocks noGrp="1"/>
          </p:cNvSpPr>
          <p:nvPr/>
        </p:nvSpPr>
        <p:spPr>
          <a:xfrm rot="0">
            <a:off x="889000" y="13716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4441208" name="Text">
    </p:cNvPr>
          <p:cNvSpPr>
            <a:spLocks noGrp="1"/>
          </p:cNvSpPr>
          <p:nvPr/>
        </p:nvSpPr>
        <p:spPr>
          <a:xfrm rot="0">
            <a:off x="7124700" y="13716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7967671" name="Text">
    </p:cNvPr>
          <p:cNvSpPr>
            <a:spLocks noGrp="1"/>
          </p:cNvSpPr>
          <p:nvPr/>
        </p:nvSpPr>
        <p:spPr>
          <a:xfrm rot="0">
            <a:off x="5537200" y="13716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290929" name="Rectangle"/>
          <p:cNvSpPr>
            <a:spLocks noGrp="1"/>
          </p:cNvSpPr>
          <p:nvPr/>
        </p:nvSpPr>
        <p:spPr>
          <a:xfrm>
            <a:off x="6870700" y="13716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3838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27090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68187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2518943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29859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165550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89485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44680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73642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552122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48844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225463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45028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34014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88393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6282803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</a:p>
        </p:txBody>
      </p:sp>
      <p:sp>
        <p:nvSpPr>
          <p:cNvPr id="2141966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</a:p>
        </p:txBody>
      </p:sp>
      <p:sp>
        <p:nvSpPr>
          <p:cNvPr id="106717868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612645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5464771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수불리포트 데이터 분석(ZCOR6332)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자산거래요청 결재요청 이슈 원인 분석 및 해결(ZFIR903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1N)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결재요청 증빙 첨부 누락 관련 원인 분석 및 해결(ZEAM80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어음 결산 프로그램 성능 및 유지보수 (ZTRR1810, ZTRR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1830)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20241분기 전표 데이터 다운로드</a:t>
            </a:r>
          </a:p>
        </p:txBody>
      </p:sp>
      <p:sp>
        <p:nvSpPr>
          <p:cNvPr id="21365565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5110519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036294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42019613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60826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308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67534908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</a:p>
        </p:txBody>
      </p:sp>
      <p:sp>
        <p:nvSpPr>
          <p:cNvPr id="18197756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</a:p>
        </p:txBody>
      </p:sp>
      <p:sp>
        <p:nvSpPr>
          <p:cNvPr id="405904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861945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380134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</a:p>
        </p:txBody>
      </p:sp>
      <p:sp>
        <p:nvSpPr>
          <p:cNvPr id="158734456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567142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6456566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</a:p>
        </p:txBody>
      </p:sp>
      <p:sp>
        <p:nvSpPr>
          <p:cNvPr id="100465011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522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1435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03515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00381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074197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2824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245945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841129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65525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88350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77703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842286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8197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33879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86693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58145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827410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147726661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0408880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559255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02777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현재 릴리즈 되어 수행중인 배치잡 리스트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관련 BW개발자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1분기 계정 유효성 검증 대상서버 확인정리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 ((구)ERP 조회용)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astm 환산 프로그램 download 전달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</a:p>
        </p:txBody>
      </p:sp>
      <p:sp>
        <p:nvSpPr>
          <p:cNvPr id="9213498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5611751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286321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2278516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1902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094354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9211122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20336493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78577060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241263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0263925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정복:10장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정복:11장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정복:12장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정복:13장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정복:14장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정복:15장 공부하기</a:t>
            </a:r>
          </a:p>
        </p:txBody>
      </p:sp>
      <p:sp>
        <p:nvSpPr>
          <p:cNvPr id="20799227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16678681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7279167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12794398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947798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4718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47223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2703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8144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936048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175672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2557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32790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15112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47024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26160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63461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20201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42665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10931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3032747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172903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8105905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435613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667806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ZMMR4061 - 서비스 입력시트 -&gt; 서비스라인별 기성실적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상세 통지 조회 기능* W/O에 대한 통지, 이력통지 조회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</a:t>
            </a:r>
          </a:p>
        </p:txBody>
      </p:sp>
      <p:sp>
        <p:nvSpPr>
          <p:cNvPr id="11174171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20041578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br/>
          </a:p>
        </p:txBody>
      </p:sp>
      <p:sp>
        <p:nvSpPr>
          <p:cNvPr id="2418982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</a:p>
        </p:txBody>
      </p:sp>
      <p:sp>
        <p:nvSpPr>
          <p:cNvPr id="16800509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90081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0643030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097088848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</a:p>
        </p:txBody>
      </p:sp>
      <p:sp>
        <p:nvSpPr>
          <p:cNvPr id="83095742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출입관리시스템(안면인식)기록 자동 연동 구축 적용(5/1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</a:p>
        </p:txBody>
      </p:sp>
      <p:sp>
        <p:nvSpPr>
          <p:cNvPr id="349094682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53202408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715010912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경조금신청서의 기본급란 승호월 표기 기준 확인- 법적선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임자 위험물안전관리자 대리자 지정 관련 안내 메일 대상자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외관련 로직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조직한계처리 문의 대응- 결재직위관리 코드 출력순서변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경관련 수작업 전송- [ITSM-107997]특근 과다 발생 예외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메뉴 개발 및 최종 테스트- 생활안정자금 급여반영 누락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인조사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[ITSM-110346] HCM - 발령 : 파견조직 오류 수정- [IT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SM-110326] 해외 출장비 신청서 내 출장기간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[대주주감사 recommendation] SAP HCM alerting 설정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혹은 approval 설정 관련 시스템 분석 및 협의- 병가휴가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외 3건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건강보험 연말정산 결과 업로드시 오류 문의- 주택자금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상환 및 생활자금 상환 입력기간 예외 문의 등 급여작업 지원 </a:t>
            </a:r>
          </a:p>
        </p:txBody>
      </p:sp>
      <p:sp>
        <p:nvSpPr>
          <p:cNvPr id="210276124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526470586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866891043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307858891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9092934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3977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05772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92685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9278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729501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14047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24815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59459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13969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07998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42807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35025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47491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375892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6281943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65179027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</a:p>
        </p:txBody>
      </p:sp>
      <p:sp>
        <p:nvSpPr>
          <p:cNvPr id="1330154946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급여 문의 응대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</a:t>
            </a:r>
          </a:p>
        </p:txBody>
      </p:sp>
      <p:sp>
        <p:nvSpPr>
          <p:cNvPr id="939886741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312622356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8121801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휴먼에러 방지 위해 직위 표기란에 직위/직책 함께 표기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법적선임자 위험물안전관리자 대리자 지정 관련 안내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대상자 제외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발령품의 관리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권한 분리에 따른 오류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급여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국내출장비 신청서 Cost Center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 및 특근명령서 내역 삭제 요청</a:t>
            </a:r>
          </a:p>
        </p:txBody>
      </p:sp>
      <p:sp>
        <p:nvSpPr>
          <p:cNvPr id="242027070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48297542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</a:p>
        </p:txBody>
      </p:sp>
      <p:sp>
        <p:nvSpPr>
          <p:cNvPr id="101684726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01223502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9364703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296834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37358604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979870941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1375268624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17192892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93363993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1919132332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85410719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46231565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231782536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8954716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66984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88641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6528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07968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329807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9145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21563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81810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37155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22550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29923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08660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23827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28503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537406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9620137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52410921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ITSM-110191 e-Biz CI 시설관리(협력사용) 검수요청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 버튼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ITSM-110437 e-Biz 가격등록 메뉴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ITSM-110481 법인카드(임원 체력단련비) 정산 관련,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원복요청</a:t>
            </a:r>
          </a:p>
        </p:txBody>
      </p:sp>
      <p:sp>
        <p:nvSpPr>
          <p:cNvPr id="3367566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8047775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717294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ITSM-110081 e-Biz 주문등록 메뉴 담당자 조회필터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ITSM-110191 e-Biz CI 시설관리(협력사용) 검수요청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 버튼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ITSM-110437 e-Biz 가격등록 메뉴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ITSM-110481 법인카드(임원 체력단련비) 정산 관련,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원복요청</a:t>
            </a:r>
          </a:p>
        </p:txBody>
      </p:sp>
      <p:sp>
        <p:nvSpPr>
          <p:cNvPr id="2112605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0127879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8811784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6709869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32943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59555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31038558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1869266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15842265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8268840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34092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</a:p>
        </p:txBody>
      </p:sp>
      <p:sp>
        <p:nvSpPr>
          <p:cNvPr id="100811206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06272834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67831630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41487436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80461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3340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13515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6895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99095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016381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158161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5125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62756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26168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6175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61941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39764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705442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157043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55168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326545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1570236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22883780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193742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269655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8340609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474143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512030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3490577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44532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48168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25045224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4274906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29849221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9427113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45683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ITSM-105389 상태 변경ITSM-110269 데이터작업서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ITSM-110160 견적서 삭제ITSM-110103 배포 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key 및 profile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ITSM-87269 변경요청서 삭제ITSM-102699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제ITSM-97993 변경요청서 삭제</a:t>
            </a:r>
          </a:p>
        </p:txBody>
      </p:sp>
      <p:sp>
        <p:nvSpPr>
          <p:cNvPr id="122303302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7757409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77938002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95690807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7073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9281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99824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28643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62961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8008158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71864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65246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44135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87466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19320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05268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20972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89507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900885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783471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376387045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1252731659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606717403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98748030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44929894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'CCS 사전점검' 재수행 및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ZEAM8200 자료 중 첫 루프 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시하는 로직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SAP 작성 데이터 로그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및 해당 결재이미지 저장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IAM 서버 유효성검증 접속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회계지급전표' 작업 건 1개일 경우 스크립트 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러 발생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'rpa01' 계정 패스워드 만료 예외자 처리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담당자 복직. RPA 작업 프로세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 재안내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회계지급계좌' 작업 추가수행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'LPG팀-자가수송비 정산' 작업 업무 프로세스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인터뷰 및 시현 영상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IIB7환경 설정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작업 모니터링</a:t>
            </a:r>
          </a:p>
        </p:txBody>
      </p:sp>
      <p:sp>
        <p:nvSpPr>
          <p:cNvPr id="1474209433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74025009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561876215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759551036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4141527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540450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64941529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872990944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1698674284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4071761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13724085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휴먼에러 방지 위해 직위 표기란에 직위/직책 함께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197215431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24345605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214360143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138904887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7614960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2428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44431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7387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86401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727690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60562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59664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54996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810180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05298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086867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73277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66808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51006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59616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6787768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2639748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</a:p>
        </p:txBody>
      </p:sp>
      <p:sp>
        <p:nvSpPr>
          <p:cNvPr id="11584551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68491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739061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ITSM-110097작업 정산서 팝업 창 전체 화면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ITSM-110156, ITSM-110292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ITSM-110176, ITSM-110042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ITSM-110349, ITSM-110353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ITSM-110416, ITSM-110333, ITSM-110413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ITSM-110436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ITSM-110438, ITSM-110097, ITSM-110467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ITSM-110489, ITSM-110482</a:t>
            </a:r>
          </a:p>
        </p:txBody>
      </p:sp>
      <p:sp>
        <p:nvSpPr>
          <p:cNvPr id="15231721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20739854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8519212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4127440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10887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2564377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06587295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</a:p>
        </p:txBody>
      </p:sp>
      <p:sp>
        <p:nvSpPr>
          <p:cNvPr id="892793818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</a:p>
        </p:txBody>
      </p:sp>
      <p:sp>
        <p:nvSpPr>
          <p:cNvPr id="1976609096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343541234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335670168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'회전기계 PM 지침(MET-M-0101)' 개정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재개정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SOM-2-100과 SOM-2-090의 첨부서식을 수정. 문서번호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순서대로 정렬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정기적검토-개정대상 첨부파일 미등록으로 인해 CP 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오류 발생 확인 및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프로젝트QA2팀 WBS 코드 업데이트 및 전표생성 재처리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관련 리스크 오너 변경 사항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ERS_CP 개정오류 확인 및 재처리, CP 공지 사항 게시 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SHE DB 연계 RI 배치관련 오류 확인 및 수동 스케줄러 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profile 변경에 따른 RA 반영 요청 </a:t>
            </a:r>
          </a:p>
        </p:txBody>
      </p:sp>
      <p:sp>
        <p:nvSpPr>
          <p:cNvPr id="1295394706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37847957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270967939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641755158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7914632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6763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1626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75860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666895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21805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253873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86027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51524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35889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75961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69334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43307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578109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726287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6505943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</a:p>
        </p:txBody>
      </p:sp>
      <p:sp>
        <p:nvSpPr>
          <p:cNvPr id="211796343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</a:p>
        </p:txBody>
      </p:sp>
      <p:sp>
        <p:nvSpPr>
          <p:cNvPr id="86458410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1728550486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7655349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91491445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대구지사 요청 :  회수 ERP 연계 데이터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멤버십 요청 : 제휴처 회수 데이터 관련 제휴처 코드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내부 감사 개선 내역 中- GCMS 사외 보관 재고를 구분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할 수 있게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개발서버 (HQWMSDEV01) SSL 적용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삼성 SDS 인력 VDI 개발 서버 접근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HQWMSDBN1/2 서버 교체 이관 작업 관련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Controller 검토 품의서 관련 시나리오 정상데이터 시나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리오 추출 오류 관련 확인 요청</a:t>
            </a:r>
          </a:p>
        </p:txBody>
      </p:sp>
      <p:sp>
        <p:nvSpPr>
          <p:cNvPr id="1835615505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</a:p>
        </p:txBody>
      </p:sp>
      <p:sp>
        <p:nvSpPr>
          <p:cNvPr id="914869196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</a:p>
        </p:txBody>
      </p:sp>
      <p:sp>
        <p:nvSpPr>
          <p:cNvPr id="553818205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894282969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0593688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0101534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789540184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</a:p>
        </p:txBody>
      </p:sp>
      <p:sp>
        <p:nvSpPr>
          <p:cNvPr id="1497877098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미적용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</a:p>
        </p:txBody>
      </p:sp>
      <p:sp>
        <p:nvSpPr>
          <p:cNvPr id="2034879358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23651493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35450704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미적용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</a:p>
        </p:txBody>
      </p:sp>
      <p:sp>
        <p:nvSpPr>
          <p:cNvPr id="101281167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824988683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672623536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</a:p>
        </p:txBody>
      </p:sp>
      <p:sp>
        <p:nvSpPr>
          <p:cNvPr id="1426376425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3973715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2286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83034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76843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380375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064912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95279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255736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88867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93574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64082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92859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67770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06587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34271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41630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5515734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</a:p>
        </p:txBody>
      </p:sp>
      <p:sp>
        <p:nvSpPr>
          <p:cNvPr id="11755113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인수인계</a:t>
            </a:r>
          </a:p>
        </p:txBody>
      </p:sp>
      <p:sp>
        <p:nvSpPr>
          <p:cNvPr id="5454304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72955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19631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인수인계</a:t>
            </a:r>
          </a:p>
        </p:txBody>
      </p:sp>
      <p:sp>
        <p:nvSpPr>
          <p:cNvPr id="13056176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20337297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90361998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9567517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002579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공현호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