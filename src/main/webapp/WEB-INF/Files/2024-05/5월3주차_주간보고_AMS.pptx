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30"/>
    <p:sldId id="274" r:id="rId32"/>
    <p:sldId id="275" r:id="rId34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slides/slide18.xml" Type="http://schemas.openxmlformats.org/officeDocument/2006/relationships/slide"/><Relationship Id="rId31" Target="notesSlides/notesSlide6.xml" Type="http://schemas.openxmlformats.org/officeDocument/2006/relationships/notesSlide"/><Relationship Id="rId32" Target="slides/slide19.xml" Type="http://schemas.openxmlformats.org/officeDocument/2006/relationships/slide"/><Relationship Id="rId33" Target="notesSlides/notesSlide7.xml" Type="http://schemas.openxmlformats.org/officeDocument/2006/relationships/notesSlide"/><Relationship Id="rId34" Target="slides/slide20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2024-04-30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[2024.05.14 ~ 2024.05.20]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5월 3주차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940828104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근로자의 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어린이날</a:t>
                      </a: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대체휴일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 Duty 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err="1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부처님오신날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05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201367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93263645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011982822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386725824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562083156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550616085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88553650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488137773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590954928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42496619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975322736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876516012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246332432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23231823" name="Frame"/>
          <p:cNvSpPr>
            <a:spLocks noGrp="1"/>
          </p:cNvSpPr>
          <p:nvPr/>
        </p:nvSpPr>
        <p:spPr>
          <a:xfrm>
            <a:off x="25400" y="58547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702586532" name="Text">
    </p:cNvPr>
          <p:cNvSpPr>
            <a:spLocks noGrp="1"/>
          </p:cNvSpPr>
          <p:nvPr/>
        </p:nvSpPr>
        <p:spPr>
          <a:xfrm rot="0">
            <a:off x="152400" y="5880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630209877" name="Text">
    </p:cNvPr>
          <p:cNvSpPr>
            <a:spLocks noGrp="1"/>
          </p:cNvSpPr>
          <p:nvPr/>
        </p:nvSpPr>
        <p:spPr>
          <a:xfrm rot="0">
            <a:off x="6451600" y="6413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2883825" name="Text">
    </p:cNvPr>
          <p:cNvSpPr>
            <a:spLocks noGrp="1"/>
          </p:cNvSpPr>
          <p:nvPr/>
        </p:nvSpPr>
        <p:spPr>
          <a:xfrm rot="0">
            <a:off x="2057400" y="6413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57521578" name="Text">
    </p:cNvPr>
          <p:cNvSpPr>
            <a:spLocks noGrp="1"/>
          </p:cNvSpPr>
          <p:nvPr/>
        </p:nvSpPr>
        <p:spPr>
          <a:xfrm rot="0">
            <a:off x="101600" y="6413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33691182" name="Text">
    </p:cNvPr>
          <p:cNvSpPr>
            <a:spLocks noGrp="1"/>
          </p:cNvSpPr>
          <p:nvPr/>
        </p:nvSpPr>
        <p:spPr>
          <a:xfrm rot="0">
            <a:off x="101600" y="6172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8593622" name="Text">
    </p:cNvPr>
          <p:cNvSpPr>
            <a:spLocks noGrp="1"/>
          </p:cNvSpPr>
          <p:nvPr/>
        </p:nvSpPr>
        <p:spPr>
          <a:xfrm rot="0">
            <a:off x="2057400" y="6172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486532938" name="Text">
    </p:cNvPr>
          <p:cNvSpPr>
            <a:spLocks noGrp="1"/>
          </p:cNvSpPr>
          <p:nvPr/>
        </p:nvSpPr>
        <p:spPr>
          <a:xfrm rot="0">
            <a:off x="6451600" y="6172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788890010" name="Text">
    </p:cNvPr>
          <p:cNvSpPr>
            <a:spLocks noGrp="1"/>
          </p:cNvSpPr>
          <p:nvPr/>
        </p:nvSpPr>
        <p:spPr>
          <a:xfrm rot="0">
            <a:off x="101600" y="6705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03628492" name="Text">
    </p:cNvPr>
          <p:cNvSpPr>
            <a:spLocks noGrp="1"/>
          </p:cNvSpPr>
          <p:nvPr/>
        </p:nvSpPr>
        <p:spPr>
          <a:xfrm rot="0">
            <a:off x="6451600" y="6705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64092972" name="Text">
    </p:cNvPr>
          <p:cNvSpPr>
            <a:spLocks noGrp="1"/>
          </p:cNvSpPr>
          <p:nvPr/>
        </p:nvSpPr>
        <p:spPr>
          <a:xfrm rot="0">
            <a:off x="2057400" y="6705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79432361" name="Text">
    </p:cNvPr>
          <p:cNvSpPr>
            <a:spLocks noGrp="1"/>
          </p:cNvSpPr>
          <p:nvPr/>
        </p:nvSpPr>
        <p:spPr>
          <a:xfrm rot="0">
            <a:off x="1244600" y="6705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60245029" name="Text">
    </p:cNvPr>
          <p:cNvSpPr>
            <a:spLocks noGrp="1"/>
          </p:cNvSpPr>
          <p:nvPr/>
        </p:nvSpPr>
        <p:spPr>
          <a:xfrm rot="0">
            <a:off x="1244600" y="6413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4985944" name="Text">
    </p:cNvPr>
          <p:cNvSpPr>
            <a:spLocks noGrp="1"/>
          </p:cNvSpPr>
          <p:nvPr/>
        </p:nvSpPr>
        <p:spPr>
          <a:xfrm rot="0">
            <a:off x="1244600" y="6172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843688599" name="Text">
    </p:cNvPr>
          <p:cNvSpPr>
            <a:spLocks noGrp="1"/>
          </p:cNvSpPr>
          <p:nvPr/>
        </p:nvSpPr>
        <p:spPr>
          <a:xfrm rot="0">
            <a:off x="8102600" y="6705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4563160" name="Text">
    </p:cNvPr>
          <p:cNvSpPr>
            <a:spLocks noGrp="1"/>
          </p:cNvSpPr>
          <p:nvPr/>
        </p:nvSpPr>
        <p:spPr>
          <a:xfrm rot="0">
            <a:off x="8102600" y="6172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649584776" name="Text">
    </p:cNvPr>
          <p:cNvSpPr>
            <a:spLocks noGrp="1"/>
          </p:cNvSpPr>
          <p:nvPr/>
        </p:nvSpPr>
        <p:spPr>
          <a:xfrm rot="0">
            <a:off x="8102600" y="6413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7308525" name="Frame"/>
          <p:cNvSpPr>
            <a:spLocks noGrp="1"/>
          </p:cNvSpPr>
          <p:nvPr/>
        </p:nvSpPr>
        <p:spPr>
          <a:xfrm>
            <a:off x="101600" y="3136900"/>
            <a:ext cx="9779000" cy="2552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724936509" name="Text">
    </p:cNvPr>
          <p:cNvSpPr>
            <a:spLocks noGrp="1"/>
          </p:cNvSpPr>
          <p:nvPr/>
        </p:nvSpPr>
        <p:spPr>
          <a:xfrm rot="0">
            <a:off x="165100" y="32004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75692850" name="Text">
    </p:cNvPr>
          <p:cNvSpPr>
            <a:spLocks noGrp="1"/>
          </p:cNvSpPr>
          <p:nvPr/>
        </p:nvSpPr>
        <p:spPr>
          <a:xfrm rot="0">
            <a:off x="152400" y="31623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221947685" name="Text">
    </p:cNvPr>
          <p:cNvSpPr>
            <a:spLocks noGrp="1"/>
          </p:cNvSpPr>
          <p:nvPr/>
        </p:nvSpPr>
        <p:spPr>
          <a:xfrm rot="0">
            <a:off x="165100" y="34163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395834834" name="Text">
    </p:cNvPr>
          <p:cNvSpPr>
            <a:spLocks noGrp="1"/>
          </p:cNvSpPr>
          <p:nvPr/>
        </p:nvSpPr>
        <p:spPr>
          <a:xfrm rot="0">
            <a:off x="901700" y="34163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15430788" name="Text">
    </p:cNvPr>
          <p:cNvSpPr>
            <a:spLocks noGrp="1"/>
          </p:cNvSpPr>
          <p:nvPr/>
        </p:nvSpPr>
        <p:spPr>
          <a:xfrm rot="0">
            <a:off x="5549900" y="34163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480552203" name="Text">
    </p:cNvPr>
          <p:cNvSpPr>
            <a:spLocks noGrp="1"/>
          </p:cNvSpPr>
          <p:nvPr/>
        </p:nvSpPr>
        <p:spPr>
          <a:xfrm rot="0">
            <a:off x="6121400" y="34163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989884784" name="Frame"/>
          <p:cNvSpPr>
            <a:spLocks noGrp="1"/>
          </p:cNvSpPr>
          <p:nvPr/>
        </p:nvSpPr>
        <p:spPr>
          <a:xfrm>
            <a:off x="165100" y="4762500"/>
            <a:ext cx="9664700" cy="927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319896231" name="Text">
    </p:cNvPr>
          <p:cNvSpPr>
            <a:spLocks noGrp="1"/>
          </p:cNvSpPr>
          <p:nvPr/>
        </p:nvSpPr>
        <p:spPr>
          <a:xfrm rot="0">
            <a:off x="165100" y="4737100"/>
            <a:ext cx="7366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942487622" name="Text">
    </p:cNvPr>
          <p:cNvSpPr>
            <a:spLocks noGrp="1"/>
          </p:cNvSpPr>
          <p:nvPr/>
        </p:nvSpPr>
        <p:spPr>
          <a:xfrm rot="0">
            <a:off x="965200" y="4787900"/>
            <a:ext cx="45847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기안지 전결근거 관련 작업(최소 기안 후 기안자만 전결근거 수정 가능하도록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수정)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PRM 영업시설물 지원 시스템 개발</a:t>
            </a:r>
          </a:p>
        </p:txBody>
      </p:sp>
      <p:sp>
        <p:nvSpPr>
          <p:cNvPr id="457793407" name="Text">
    </p:cNvPr>
          <p:cNvSpPr>
            <a:spLocks noGrp="1"/>
          </p:cNvSpPr>
          <p:nvPr/>
        </p:nvSpPr>
        <p:spPr>
          <a:xfrm rot="0">
            <a:off x="7239000" y="4787900"/>
            <a:ext cx="25527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595211927" name="Text">
    </p:cNvPr>
          <p:cNvSpPr>
            <a:spLocks noGrp="1"/>
          </p:cNvSpPr>
          <p:nvPr/>
        </p:nvSpPr>
        <p:spPr>
          <a:xfrm rot="0">
            <a:off x="5549900" y="4787900"/>
            <a:ext cx="5715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</a:p>
        </p:txBody>
      </p:sp>
      <p:sp>
        <p:nvSpPr>
          <p:cNvPr id="967111773" name="Text">
    </p:cNvPr>
          <p:cNvSpPr>
            <a:spLocks noGrp="1"/>
          </p:cNvSpPr>
          <p:nvPr/>
        </p:nvSpPr>
        <p:spPr>
          <a:xfrm rot="0">
            <a:off x="901700" y="4737100"/>
            <a:ext cx="46482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54928167" name="Text">
    </p:cNvPr>
          <p:cNvSpPr>
            <a:spLocks noGrp="1"/>
          </p:cNvSpPr>
          <p:nvPr/>
        </p:nvSpPr>
        <p:spPr>
          <a:xfrm rot="0">
            <a:off x="6121400" y="4737100"/>
            <a:ext cx="36449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2627180" name="Text">
    </p:cNvPr>
          <p:cNvSpPr>
            <a:spLocks noGrp="1"/>
          </p:cNvSpPr>
          <p:nvPr/>
        </p:nvSpPr>
        <p:spPr>
          <a:xfrm rot="0">
            <a:off x="5549900" y="4737100"/>
            <a:ext cx="571500" cy="95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1225290" name="Frame"/>
          <p:cNvSpPr>
            <a:spLocks noGrp="1"/>
          </p:cNvSpPr>
          <p:nvPr/>
        </p:nvSpPr>
        <p:spPr>
          <a:xfrm>
            <a:off x="165100" y="3759200"/>
            <a:ext cx="9639300" cy="9779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440569587" name="Text">
    </p:cNvPr>
          <p:cNvSpPr>
            <a:spLocks noGrp="1"/>
          </p:cNvSpPr>
          <p:nvPr/>
        </p:nvSpPr>
        <p:spPr>
          <a:xfrm rot="0">
            <a:off x="165100" y="3759200"/>
            <a:ext cx="7366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843287363" name="Text">
    </p:cNvPr>
          <p:cNvSpPr>
            <a:spLocks noGrp="1"/>
          </p:cNvSpPr>
          <p:nvPr/>
        </p:nvSpPr>
        <p:spPr>
          <a:xfrm rot="0">
            <a:off x="965200" y="3835400"/>
            <a:ext cx="45847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SHBE 대상 일반용역 사후평가표 수정 요청 *발주 생성 및 기성보고서 전송 RFC 함수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ITSM-107407 자영대리점 거래처 관리업무 간소화 추진(1차)</a:t>
            </a:r>
          </a:p>
        </p:txBody>
      </p:sp>
      <p:sp>
        <p:nvSpPr>
          <p:cNvPr id="472984168" name="Text">
    </p:cNvPr>
          <p:cNvSpPr>
            <a:spLocks noGrp="1"/>
          </p:cNvSpPr>
          <p:nvPr/>
        </p:nvSpPr>
        <p:spPr>
          <a:xfrm rot="0">
            <a:off x="7239000" y="3835400"/>
            <a:ext cx="25527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110470447" name="Text">
    </p:cNvPr>
          <p:cNvSpPr>
            <a:spLocks noGrp="1"/>
          </p:cNvSpPr>
          <p:nvPr/>
        </p:nvSpPr>
        <p:spPr>
          <a:xfrm rot="0">
            <a:off x="5549900" y="3835400"/>
            <a:ext cx="571500" cy="901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</a:p>
        </p:txBody>
      </p:sp>
      <p:sp>
        <p:nvSpPr>
          <p:cNvPr id="1122958501" name="Text">
    </p:cNvPr>
          <p:cNvSpPr>
            <a:spLocks noGrp="1"/>
          </p:cNvSpPr>
          <p:nvPr/>
        </p:nvSpPr>
        <p:spPr>
          <a:xfrm rot="0">
            <a:off x="901700" y="3759200"/>
            <a:ext cx="46482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69054198" name="Text">
    </p:cNvPr>
          <p:cNvSpPr>
            <a:spLocks noGrp="1"/>
          </p:cNvSpPr>
          <p:nvPr/>
        </p:nvSpPr>
        <p:spPr>
          <a:xfrm rot="0">
            <a:off x="6121400" y="3759200"/>
            <a:ext cx="36449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5483460" name="Text">
    </p:cNvPr>
          <p:cNvSpPr>
            <a:spLocks noGrp="1"/>
          </p:cNvSpPr>
          <p:nvPr/>
        </p:nvSpPr>
        <p:spPr>
          <a:xfrm rot="0">
            <a:off x="5549900" y="3759200"/>
            <a:ext cx="571500" cy="977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25866788" name="Frame"/>
          <p:cNvSpPr>
            <a:spLocks noGrp="1"/>
          </p:cNvSpPr>
          <p:nvPr/>
        </p:nvSpPr>
        <p:spPr>
          <a:xfrm>
            <a:off x="127000" y="1384300"/>
            <a:ext cx="9779000" cy="16129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500137167" name="Frame"/>
          <p:cNvSpPr>
            <a:spLocks noGrp="1"/>
          </p:cNvSpPr>
          <p:nvPr/>
        </p:nvSpPr>
        <p:spPr>
          <a:xfrm>
            <a:off x="152400" y="2222500"/>
            <a:ext cx="9664700" cy="774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720587385" name="Text">
    </p:cNvPr>
          <p:cNvSpPr>
            <a:spLocks noGrp="1"/>
          </p:cNvSpPr>
          <p:nvPr/>
        </p:nvSpPr>
        <p:spPr>
          <a:xfrm rot="0">
            <a:off x="152400" y="2197100"/>
            <a:ext cx="7366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949151629" name="Text">
    </p:cNvPr>
          <p:cNvSpPr>
            <a:spLocks noGrp="1"/>
          </p:cNvSpPr>
          <p:nvPr/>
        </p:nvSpPr>
        <p:spPr>
          <a:xfrm rot="0">
            <a:off x="952500" y="2247900"/>
            <a:ext cx="45974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중처법대상여부 컬럼 및 Dataset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A360 '#1 회계지급전표' 작업 PC 딜레이로 인한 스크립트 에러. 데이터정리 및 재수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LMS 소프트스킬 Leader 인증현황 조회시 버그 확인 및 수정반영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EAI시스템 ACE12업그레이드에 따른 지원</a:t>
            </a:r>
          </a:p>
        </p:txBody>
      </p:sp>
      <p:sp>
        <p:nvSpPr>
          <p:cNvPr id="1016131208" name="Text">
    </p:cNvPr>
          <p:cNvSpPr>
            <a:spLocks noGrp="1"/>
          </p:cNvSpPr>
          <p:nvPr/>
        </p:nvSpPr>
        <p:spPr>
          <a:xfrm rot="0">
            <a:off x="7226300" y="22479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935824363" name="Text">
    </p:cNvPr>
          <p:cNvSpPr>
            <a:spLocks noGrp="1"/>
          </p:cNvSpPr>
          <p:nvPr/>
        </p:nvSpPr>
        <p:spPr>
          <a:xfrm rot="0">
            <a:off x="6108700" y="2197100"/>
            <a:ext cx="7620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23187176" name="Text">
    </p:cNvPr>
          <p:cNvSpPr>
            <a:spLocks noGrp="1"/>
          </p:cNvSpPr>
          <p:nvPr/>
        </p:nvSpPr>
        <p:spPr>
          <a:xfrm rot="0">
            <a:off x="5537200" y="22479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</a:p>
        </p:txBody>
      </p:sp>
      <p:sp>
        <p:nvSpPr>
          <p:cNvPr id="519034710" name="Text">
    </p:cNvPr>
          <p:cNvSpPr>
            <a:spLocks noGrp="1"/>
          </p:cNvSpPr>
          <p:nvPr/>
        </p:nvSpPr>
        <p:spPr>
          <a:xfrm rot="0">
            <a:off x="889000" y="2197100"/>
            <a:ext cx="46482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32331949" name="Text">
    </p:cNvPr>
          <p:cNvSpPr>
            <a:spLocks noGrp="1"/>
          </p:cNvSpPr>
          <p:nvPr/>
        </p:nvSpPr>
        <p:spPr>
          <a:xfrm rot="0">
            <a:off x="7124700" y="2197100"/>
            <a:ext cx="26543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4095139" name="Text">
    </p:cNvPr>
          <p:cNvSpPr>
            <a:spLocks noGrp="1"/>
          </p:cNvSpPr>
          <p:nvPr/>
        </p:nvSpPr>
        <p:spPr>
          <a:xfrm rot="0">
            <a:off x="5537200" y="2197100"/>
            <a:ext cx="571500" cy="800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7149280" name="Rectangle"/>
          <p:cNvSpPr>
            <a:spLocks noGrp="1"/>
          </p:cNvSpPr>
          <p:nvPr/>
        </p:nvSpPr>
        <p:spPr>
          <a:xfrm>
            <a:off x="6870700" y="2197100"/>
            <a:ext cx="254000" cy="800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954816839" name="Frame"/>
          <p:cNvSpPr>
            <a:spLocks noGrp="1"/>
          </p:cNvSpPr>
          <p:nvPr/>
        </p:nvSpPr>
        <p:spPr>
          <a:xfrm>
            <a:off x="152400" y="1371600"/>
            <a:ext cx="9639300" cy="82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440784012" name="Text">
    </p:cNvPr>
          <p:cNvSpPr>
            <a:spLocks noGrp="1"/>
          </p:cNvSpPr>
          <p:nvPr/>
        </p:nvSpPr>
        <p:spPr>
          <a:xfrm rot="0">
            <a:off x="152400" y="13716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702520778" name="Text">
    </p:cNvPr>
          <p:cNvSpPr>
            <a:spLocks noGrp="1"/>
          </p:cNvSpPr>
          <p:nvPr/>
        </p:nvSpPr>
        <p:spPr>
          <a:xfrm rot="0">
            <a:off x="939800" y="1422400"/>
            <a:ext cx="4610100" cy="774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PP 가공비 계산 신규개발(ZPCOR2070)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교육훈련신청서,출장비신청서 관련 회계전표 생성시 Bank T 1000으로 고정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(ZFI_RFC_RECEIVE_POSTING)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[HCM] 근태기록부 확인자 조직&amp; Unit 반영 자동 생성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[BC] BW개발 System Copy(데이터 동기화) 작업</a:t>
            </a:r>
          </a:p>
        </p:txBody>
      </p:sp>
      <p:sp>
        <p:nvSpPr>
          <p:cNvPr id="2043168406" name="Text">
    </p:cNvPr>
          <p:cNvSpPr>
            <a:spLocks noGrp="1"/>
          </p:cNvSpPr>
          <p:nvPr/>
        </p:nvSpPr>
        <p:spPr>
          <a:xfrm rot="0">
            <a:off x="7226300" y="14478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738446579" name="Text">
    </p:cNvPr>
          <p:cNvSpPr>
            <a:spLocks noGrp="1"/>
          </p:cNvSpPr>
          <p:nvPr/>
        </p:nvSpPr>
        <p:spPr>
          <a:xfrm rot="0">
            <a:off x="6108700" y="1371600"/>
            <a:ext cx="7620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2101748481" name="Text">
    </p:cNvPr>
          <p:cNvSpPr>
            <a:spLocks noGrp="1"/>
          </p:cNvSpPr>
          <p:nvPr/>
        </p:nvSpPr>
        <p:spPr>
          <a:xfrm rot="0">
            <a:off x="5537200" y="14478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</a:p>
        </p:txBody>
      </p:sp>
      <p:sp>
        <p:nvSpPr>
          <p:cNvPr id="1261723476" name="Text">
    </p:cNvPr>
          <p:cNvSpPr>
            <a:spLocks noGrp="1"/>
          </p:cNvSpPr>
          <p:nvPr/>
        </p:nvSpPr>
        <p:spPr>
          <a:xfrm rot="0">
            <a:off x="889000" y="13716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4997074" name="Text">
    </p:cNvPr>
          <p:cNvSpPr>
            <a:spLocks noGrp="1"/>
          </p:cNvSpPr>
          <p:nvPr/>
        </p:nvSpPr>
        <p:spPr>
          <a:xfrm rot="0">
            <a:off x="7124700" y="1371600"/>
            <a:ext cx="26543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8135019" name="Text">
    </p:cNvPr>
          <p:cNvSpPr>
            <a:spLocks noGrp="1"/>
          </p:cNvSpPr>
          <p:nvPr/>
        </p:nvSpPr>
        <p:spPr>
          <a:xfrm rot="0">
            <a:off x="5537200" y="13716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46882197" name="Rectangle"/>
          <p:cNvSpPr>
            <a:spLocks noGrp="1"/>
          </p:cNvSpPr>
          <p:nvPr/>
        </p:nvSpPr>
        <p:spPr>
          <a:xfrm>
            <a:off x="6870700" y="1371600"/>
            <a:ext cx="254000" cy="8255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18329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6393699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5287173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0120469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3407702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6299089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6429508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3829339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2993425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4097602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7189036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6199473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3117834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3233549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0322822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</a:p>
        </p:txBody>
      </p:sp>
      <p:sp>
        <p:nvSpPr>
          <p:cNvPr id="145538973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62590744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162892383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93082412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59207566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교육훈련신청서,출장비신청서 관련 회계전표 생성시 Bank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T 1000으로 고정 반영(ZFI_RFC_RECEIVE_POSTING)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월별 PP 생산오더 액티비티 작업시간 생성(ZPCOR2050)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공휴일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가공비 계산 신규개발 (ZPCOR2070)</a:t>
            </a:r>
          </a:p>
        </p:txBody>
      </p:sp>
      <p:sp>
        <p:nvSpPr>
          <p:cNvPr id="25675613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143007880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37157825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</a:p>
        </p:txBody>
      </p:sp>
      <p:sp>
        <p:nvSpPr>
          <p:cNvPr id="163758574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41017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6238482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3235186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</a:p>
        </p:txBody>
      </p:sp>
      <p:sp>
        <p:nvSpPr>
          <p:cNvPr id="97934485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ERP와 e-Pro간 입고/납품완료 불일치 점검 및 모니터링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ZLBR2050에서 구매발주 삭제 시 오류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Vendor Master 요청</a:t>
            </a:r>
          </a:p>
        </p:txBody>
      </p:sp>
      <p:sp>
        <p:nvSpPr>
          <p:cNvPr id="176631377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13418078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49065493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구입 물품대 및 선박 관련 비용문서 Report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ERP와 e-Pro간 입고/납품완료 불일치 점검 및 모니터링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ZLBR2050에서 구매발주 삭제 시 오류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Vendor Master 요청</a:t>
            </a:r>
          </a:p>
        </p:txBody>
      </p:sp>
      <p:sp>
        <p:nvSpPr>
          <p:cNvPr id="51475078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22939083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152692039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</a:p>
        </p:txBody>
      </p:sp>
      <p:sp>
        <p:nvSpPr>
          <p:cNvPr id="134175909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7781314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36148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3170377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8184733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0215944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7197226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7341239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9790865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2011533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2312740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8081518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5424340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534235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419805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9640754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2801576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</a:p>
        </p:txBody>
      </p:sp>
      <p:sp>
        <p:nvSpPr>
          <p:cNvPr id="95696164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</a:p>
        </p:txBody>
      </p:sp>
      <p:sp>
        <p:nvSpPr>
          <p:cNvPr id="145444278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29067251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00788351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44152204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HCM개발 File System 가용공간 부족에 따른 로그삭제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업(‘23년07월~’23년09월)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 (삼성SDS)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BW개발 System Copy(데이터 동기화)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신규 SSL VPN 장비의 SBC/VDI DDC와의 연동 테스트에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따른 SAP 서비스 확인 주말작업 업무지원</a:t>
            </a:r>
          </a:p>
        </p:txBody>
      </p:sp>
      <p:sp>
        <p:nvSpPr>
          <p:cNvPr id="18961069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05/18</a:t>
            </a:r>
            <a:br/>
            <a:br/>
          </a:p>
        </p:txBody>
      </p:sp>
      <p:sp>
        <p:nvSpPr>
          <p:cNvPr id="1564169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05/18</a:t>
            </a:r>
            <a:br/>
            <a:br/>
          </a:p>
        </p:txBody>
      </p:sp>
      <p:sp>
        <p:nvSpPr>
          <p:cNvPr id="62066794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br/>
          </a:p>
        </p:txBody>
      </p:sp>
      <p:sp>
        <p:nvSpPr>
          <p:cNvPr id="77308771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9063464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6611065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175505030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</a:p>
        </p:txBody>
      </p:sp>
      <p:sp>
        <p:nvSpPr>
          <p:cNvPr id="169538529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17311869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35915731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72214954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웹프로그래밍:CH 3 공부하기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웹프로그래밍:CH 4 공부하기</a:t>
            </a:r>
          </a:p>
        </p:txBody>
      </p:sp>
      <p:sp>
        <p:nvSpPr>
          <p:cNvPr id="186382841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</a:p>
        </p:txBody>
      </p:sp>
      <p:sp>
        <p:nvSpPr>
          <p:cNvPr id="121920815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1%</a:t>
            </a:r>
            <a:br/>
          </a:p>
        </p:txBody>
      </p:sp>
      <p:sp>
        <p:nvSpPr>
          <p:cNvPr id="2729577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120964565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2379336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6829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408540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194686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206558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1319390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71420150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3557247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7323565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1053937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2450644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3268022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6039507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9093489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9419063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6018570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110805477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</a:p>
        </p:txBody>
      </p:sp>
      <p:sp>
        <p:nvSpPr>
          <p:cNvPr id="178846075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</a:p>
        </p:txBody>
      </p:sp>
      <p:sp>
        <p:nvSpPr>
          <p:cNvPr id="95894758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48270924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4660111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</a:p>
        </p:txBody>
      </p:sp>
      <p:sp>
        <p:nvSpPr>
          <p:cNvPr id="62178375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160785794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186798090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</a:p>
        </p:txBody>
      </p:sp>
      <p:sp>
        <p:nvSpPr>
          <p:cNvPr id="143804152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3009801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0832586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73244368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</a:p>
        </p:txBody>
      </p:sp>
      <p:sp>
        <p:nvSpPr>
          <p:cNvPr id="122163402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</a:t>
            </a:r>
          </a:p>
        </p:txBody>
      </p:sp>
      <p:sp>
        <p:nvSpPr>
          <p:cNvPr id="211294603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40167639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97156843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중식비 예외신청 문의 외- [ITSM-105121] 배우자 동반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무급휴직 신청서 개발(리스트화면 100%, 상세화면 10%)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개발(상세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화면 50%, oData 20%)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고정공제 구매처 계좌 변경 후속조치 문의 외- [ITSM-10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5121] 배우자 동반 무급휴직 신청서 개발(상세화면 70%, oDa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ta 50%)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[ITSM-105121] 배우자 동반 무급휴직 신청서 개발(상세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화면 100%, oData 50%)- 급여작업 지원(수당공제 데이터 업로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드 외)</a:t>
            </a:r>
          </a:p>
        </p:txBody>
      </p:sp>
      <p:sp>
        <p:nvSpPr>
          <p:cNvPr id="195104421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br/>
          </a:p>
        </p:txBody>
      </p:sp>
      <p:sp>
        <p:nvSpPr>
          <p:cNvPr id="24719384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br/>
          </a:p>
        </p:txBody>
      </p:sp>
      <p:sp>
        <p:nvSpPr>
          <p:cNvPr id="3669704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br/>
          </a:p>
        </p:txBody>
      </p:sp>
      <p:sp>
        <p:nvSpPr>
          <p:cNvPr id="208143340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5882178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38556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8381581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996729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8183503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6337289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1686375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5316247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9513959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1625545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602492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0616846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2951411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9081362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8368917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3889980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</a:p>
        </p:txBody>
      </p:sp>
      <p:sp>
        <p:nvSpPr>
          <p:cNvPr id="87732129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</a:p>
        </p:txBody>
      </p:sp>
      <p:sp>
        <p:nvSpPr>
          <p:cNvPr id="206341155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 주간과장 직책수당 관련 요청 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근로시간단축 신청서의 근태 반영 요청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 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급여명세서 문구 변경 요청 80%</a:t>
            </a:r>
          </a:p>
        </p:txBody>
      </p:sp>
      <p:sp>
        <p:nvSpPr>
          <p:cNvPr id="136875535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67788551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24451011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근태기록부 확인자 조직&amp; Unit 반영 자동 생성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출장명령서/출장비신청서의 출장기간 표기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주택보조금 지급년월 일괄입력시 이전지급정보 동시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급여명세서 문구 변경 요청</a:t>
            </a:r>
          </a:p>
        </p:txBody>
      </p:sp>
      <p:sp>
        <p:nvSpPr>
          <p:cNvPr id="150209987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07/16</a:t>
            </a:r>
            <a:br/>
          </a:p>
        </p:txBody>
      </p:sp>
      <p:sp>
        <p:nvSpPr>
          <p:cNvPr id="61267748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82657494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</a:p>
        </p:txBody>
      </p:sp>
      <p:sp>
        <p:nvSpPr>
          <p:cNvPr id="37666849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4634549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6110523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44480962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</a:p>
        </p:txBody>
      </p:sp>
      <p:sp>
        <p:nvSpPr>
          <p:cNvPr id="28421388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176784827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73559823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74457504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ITSM-110150e-Biz 납품보류 해제기능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ITSM-109418자가수송 실거리 내용 입력/수정 시 조회 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 FNL</a:t>
            </a:r>
          </a:p>
        </p:txBody>
      </p:sp>
      <p:sp>
        <p:nvSpPr>
          <p:cNvPr id="1904869337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</a:p>
        </p:txBody>
      </p:sp>
      <p:sp>
        <p:nvSpPr>
          <p:cNvPr id="163661749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52883826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41395453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255068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2735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4637922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5187484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1172209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0615979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490783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1146944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224998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4805865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5549584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1649853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6647023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575978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0821858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4525470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86390044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127067777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ITSM-110150 e-Biz 납품보류 해제기능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ITSM-111477 ISIMS DB 데이터 수정</a:t>
            </a:r>
          </a:p>
        </p:txBody>
      </p:sp>
      <p:sp>
        <p:nvSpPr>
          <p:cNvPr id="56824918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81192112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10980930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ITSM-110150 e-Biz 납품보류 해제기능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ITSM-111477 ISIMS DB 데이터 수정</a:t>
            </a:r>
          </a:p>
        </p:txBody>
      </p:sp>
      <p:sp>
        <p:nvSpPr>
          <p:cNvPr id="163895611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91240011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55027312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134839665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448573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167787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34786722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199837574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</a:p>
        </p:txBody>
      </p:sp>
      <p:sp>
        <p:nvSpPr>
          <p:cNvPr id="92093194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32491154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67699619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</a:p>
        </p:txBody>
      </p:sp>
      <p:sp>
        <p:nvSpPr>
          <p:cNvPr id="95719955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75590517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</a:p>
        </p:txBody>
      </p:sp>
      <p:sp>
        <p:nvSpPr>
          <p:cNvPr id="65651754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158754656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00966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50058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8664463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7771925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6167011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9287677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8436498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4210640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4601699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4502303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8153097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0330662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5929231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0558584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1509931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4546062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61813118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50111547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</a:p>
        </p:txBody>
      </p:sp>
      <p:sp>
        <p:nvSpPr>
          <p:cNvPr id="178422395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208483126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5969138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중처법대상여부 컬럼 및 Dataset 보완</a:t>
            </a:r>
          </a:p>
        </p:txBody>
      </p:sp>
      <p:sp>
        <p:nvSpPr>
          <p:cNvPr id="173479064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117204338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</a:p>
        </p:txBody>
      </p:sp>
      <p:sp>
        <p:nvSpPr>
          <p:cNvPr id="42384234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05/06</a:t>
            </a:r>
            <a:br/>
          </a:p>
        </p:txBody>
      </p:sp>
      <p:sp>
        <p:nvSpPr>
          <p:cNvPr id="90545666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983471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1933097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210578713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</a:p>
        </p:txBody>
      </p:sp>
      <p:sp>
        <p:nvSpPr>
          <p:cNvPr id="15830640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82614568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700507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66063180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ITSM-107346 배포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ITSM-111352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정기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배차 엔진 장애로 재가동</a:t>
            </a:r>
          </a:p>
        </p:txBody>
      </p:sp>
      <p:sp>
        <p:nvSpPr>
          <p:cNvPr id="39230517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102738151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66201382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47621061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5868822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31421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2889048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9118083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9846889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7284759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0073639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1433793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4091652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1136411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4264561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1312063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8681037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5721297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5913465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43737268" name="Text">
    </p:cNvPr>
          <p:cNvSpPr>
            <a:spLocks noGrp="1"/>
          </p:cNvSpPr>
          <p:nvPr/>
        </p:nvSpPr>
        <p:spPr>
          <a:xfrm rot="0">
            <a:off x="9702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67252443" name="Text">
    </p:cNvPr>
          <p:cNvSpPr>
            <a:spLocks noGrp="1"/>
          </p:cNvSpPr>
          <p:nvPr/>
        </p:nvSpPr>
        <p:spPr>
          <a:xfrm rot="0">
            <a:off x="93345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</a:p>
        </p:txBody>
      </p:sp>
      <p:sp>
        <p:nvSpPr>
          <p:cNvPr id="220953482" name="Text">
    </p:cNvPr>
          <p:cNvSpPr>
            <a:spLocks noGrp="1"/>
          </p:cNvSpPr>
          <p:nvPr/>
        </p:nvSpPr>
        <p:spPr>
          <a:xfrm rot="0">
            <a:off x="5930900" y="1511300"/>
            <a:ext cx="3403600" cy="2882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A360 Migratio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</a:t>
            </a:r>
          </a:p>
        </p:txBody>
      </p:sp>
      <p:sp>
        <p:nvSpPr>
          <p:cNvPr id="987478504" name="Text">
    </p:cNvPr>
          <p:cNvSpPr>
            <a:spLocks noGrp="1"/>
          </p:cNvSpPr>
          <p:nvPr/>
        </p:nvSpPr>
        <p:spPr>
          <a:xfrm rot="0">
            <a:off x="53086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269292247" name="Text">
    </p:cNvPr>
          <p:cNvSpPr>
            <a:spLocks noGrp="1"/>
          </p:cNvSpPr>
          <p:nvPr/>
        </p:nvSpPr>
        <p:spPr>
          <a:xfrm rot="0">
            <a:off x="889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85748965" name="Text">
    </p:cNvPr>
          <p:cNvSpPr>
            <a:spLocks noGrp="1"/>
          </p:cNvSpPr>
          <p:nvPr/>
        </p:nvSpPr>
        <p:spPr>
          <a:xfrm rot="0">
            <a:off x="711200" y="1511300"/>
            <a:ext cx="3403600" cy="2882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새벽작업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'#1 회계지급전표' 작업 PC 딜레이로 인한 스크립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트 에러. 데이터정리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MTE Studio 큐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외화지급계좌' 작업 오류 확인          SAP 오입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력으로 인한 로직 변경 및 모니터링 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ocr_admin 계정 PW만료 예외신청에도 불구하고 만료팝업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원인 확인 및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타 작업 테스트로 인한 '#1 회계지급전표' 작업 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단 및 데이터정리,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 및 기타] VDI 변경으로 인한 백업 및 VDI 재설정, EAI 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설치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취약점점검으로 인한 DB 및 WEB 서버 확인요청 및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상황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'법인영업팀 - 항공급유'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VDI 변경으로 인한 WMB7, IIB10, MTE, SQLGate, Git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재설치 및 설정, 소스 파일 빌드</a:t>
            </a:r>
          </a:p>
        </p:txBody>
      </p:sp>
      <p:sp>
        <p:nvSpPr>
          <p:cNvPr id="1404940519" name="Text">
    </p:cNvPr>
          <p:cNvSpPr>
            <a:spLocks noGrp="1"/>
          </p:cNvSpPr>
          <p:nvPr/>
        </p:nvSpPr>
        <p:spPr>
          <a:xfrm rot="0">
            <a:off x="44831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</a:p>
        </p:txBody>
      </p:sp>
      <p:sp>
        <p:nvSpPr>
          <p:cNvPr id="877549441" name="Text">
    </p:cNvPr>
          <p:cNvSpPr>
            <a:spLocks noGrp="1"/>
          </p:cNvSpPr>
          <p:nvPr/>
        </p:nvSpPr>
        <p:spPr>
          <a:xfrm rot="0">
            <a:off x="48514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</a:p>
        </p:txBody>
      </p:sp>
      <p:sp>
        <p:nvSpPr>
          <p:cNvPr id="1278046325" name="Text">
    </p:cNvPr>
          <p:cNvSpPr>
            <a:spLocks noGrp="1"/>
          </p:cNvSpPr>
          <p:nvPr/>
        </p:nvSpPr>
        <p:spPr>
          <a:xfrm rot="0">
            <a:off x="4114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br/>
          </a:p>
        </p:txBody>
      </p:sp>
      <p:sp>
        <p:nvSpPr>
          <p:cNvPr id="716195409" name="Text">
    </p:cNvPr>
          <p:cNvSpPr>
            <a:spLocks noGrp="1"/>
          </p:cNvSpPr>
          <p:nvPr/>
        </p:nvSpPr>
        <p:spPr>
          <a:xfrm rot="0">
            <a:off x="6604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9009896" name="Text">
    </p:cNvPr>
          <p:cNvSpPr>
            <a:spLocks noGrp="1"/>
          </p:cNvSpPr>
          <p:nvPr/>
        </p:nvSpPr>
        <p:spPr>
          <a:xfrm rot="0">
            <a:off x="58801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75172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7192162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6260376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5702543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4112325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650493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4604678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3218052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3008457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4291547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9958718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2400252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3992274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1386124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716406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43037259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6248703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요청서 (CP 전자결제-공장 tab)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86685035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83181213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53130949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요청서 (CP 전자결제-공장 tab)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146943978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102162063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</a:p>
        </p:txBody>
      </p:sp>
      <p:sp>
        <p:nvSpPr>
          <p:cNvPr id="78773900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75346933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9506339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0979443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959339675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</a:p>
        </p:txBody>
      </p:sp>
      <p:sp>
        <p:nvSpPr>
          <p:cNvPr id="1331115355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 [OSPM] 편의성 수정 -&gt; 메뉴(작업완료관리) -&gt; 프로시저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작업(최소 기안 후 기안자만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전결근거 수정 가능하도록 수정)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ITSM-110729CP 결재 새문서 ［마곡］ 탭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추가 요청</a:t>
            </a:r>
          </a:p>
        </p:txBody>
      </p:sp>
      <p:sp>
        <p:nvSpPr>
          <p:cNvPr id="1813542745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571409565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380148535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 [OSPM] 편의성 수정 -&gt; 메뉴(작업완료관리) -&gt; 프로시저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작업- 프론트 화면 정리중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TSM-110729CP 결재 새문서 ［마곡］ 탭 생성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신청서 추가 요청 (작업완료 -&gt; 테스트 요청 드림)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ITSM-111261임원 경조금 신청서(공장) 내 담당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부서 분리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ITSM-111267, ITSM-111258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ITSM-111371, ITSM-111370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ITSM-111402, ITSM-111404, ITSM-111435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마곡 탭 관련 신청서1. 발송 메일 나누지 않고 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나로 사용2. 내용수정 및 유의사항 수정3. 풋살 신청서 시간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계산 로직 추가</a:t>
            </a:r>
          </a:p>
        </p:txBody>
      </p:sp>
      <p:sp>
        <p:nvSpPr>
          <p:cNvPr id="1612941652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br/>
          </a:p>
        </p:txBody>
      </p:sp>
      <p:sp>
        <p:nvSpPr>
          <p:cNvPr id="1328453814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br/>
          </a:p>
        </p:txBody>
      </p:sp>
      <p:sp>
        <p:nvSpPr>
          <p:cNvPr id="1549826792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br/>
          </a:p>
        </p:txBody>
      </p:sp>
      <p:sp>
        <p:nvSpPr>
          <p:cNvPr id="239281008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8264005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17480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8471165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738250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7589026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1728906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3436881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2272794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1726687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7575558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6197563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4544656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8758599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0379845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621336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9104829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</a:p>
        </p:txBody>
      </p:sp>
      <p:sp>
        <p:nvSpPr>
          <p:cNvPr id="61177452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</a:p>
        </p:txBody>
      </p:sp>
      <p:sp>
        <p:nvSpPr>
          <p:cNvPr id="100430767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[에쓰-오일/휴넷] 데이터 연계를 위한 진행사항 공유 및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청사항 확인 </a:t>
            </a:r>
          </a:p>
        </p:txBody>
      </p:sp>
      <p:sp>
        <p:nvSpPr>
          <p:cNvPr id="19430881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64501947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89908341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LMS 소프트스킬 Leader 인증현황 조회시 버그 확인 및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data 삭제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휴넷 스마트러닝 24년 (5/1~14) 교육이력 수동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 전표생성 오류 확인 및 안내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[에쓰-오일/휴넷] 데이터 연계를 위한 진행사항 공유 및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청사항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멘토링 비용신청서 생산직 지원금액 10만원으로 결재신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청하도록 제한 요청 적용</a:t>
            </a:r>
          </a:p>
        </p:txBody>
      </p:sp>
      <p:sp>
        <p:nvSpPr>
          <p:cNvPr id="178174482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</a:p>
        </p:txBody>
      </p:sp>
      <p:sp>
        <p:nvSpPr>
          <p:cNvPr id="118055969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</a:p>
        </p:txBody>
      </p:sp>
      <p:sp>
        <p:nvSpPr>
          <p:cNvPr id="190648891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</a:p>
        </p:txBody>
      </p:sp>
      <p:sp>
        <p:nvSpPr>
          <p:cNvPr id="193478419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377509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1374764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</a:p>
        </p:txBody>
      </p:sp>
      <p:sp>
        <p:nvSpPr>
          <p:cNvPr id="132532213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</a:p>
        </p:txBody>
      </p:sp>
      <p:sp>
        <p:nvSpPr>
          <p:cNvPr id="78815358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통합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배포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담당자 미팅 (업무프로세스 관련)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- 5.20 휴가</a:t>
            </a:r>
          </a:p>
        </p:txBody>
      </p:sp>
      <p:sp>
        <p:nvSpPr>
          <p:cNvPr id="15508903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94908007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28489907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신규 VDI 환경 세팅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신규 VDI 환경 세팅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삼성sds 개발서버 접근 원격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신규 VDI 환경 세팅</a:t>
            </a:r>
          </a:p>
        </p:txBody>
      </p:sp>
      <p:sp>
        <p:nvSpPr>
          <p:cNvPr id="81729989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124518329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152435165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</a:p>
        </p:txBody>
      </p:sp>
      <p:sp>
        <p:nvSpPr>
          <p:cNvPr id="64967858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249566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24921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0083777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6039631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0786292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1102930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9942016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2380244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3065189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5813665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9406383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7641763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2005972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8398861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4572273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38581957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822026277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br/>
          </a:p>
        </p:txBody>
      </p:sp>
      <p:sp>
        <p:nvSpPr>
          <p:cNvPr id="1691778954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ITSM-109350 PRM 품질성적서 제공 시스템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추가 보완 요청 (품질규격 마스터 및 메일링 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SAP DS 가이드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인증심사 회의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수정('중복 및 광고') 및 삭제 시, 서버 Error 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생 확인 및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신규 발급 VDI 내 개발환경 세팅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(LOPAS/VOC/PRM)</a:t>
            </a:r>
            <a:br/>
          </a:p>
        </p:txBody>
      </p:sp>
      <p:sp>
        <p:nvSpPr>
          <p:cNvPr id="325743777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054790437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003382995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ITSM-109350 PRM 품질성적서 제공 시스템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추가 보완 요청 (품질규격 마스터 및 메일링 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SAP DS 가이드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거래처코드(20000003) 내 담당자 변경 및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배치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상담지식 내 'voctest' (테스트) 기록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ITSM-110824 ISMS-P 관련 VOC System 정리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(CRM 측 협의 필요)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수정('중복 및 광고') 및 삭제 시, 서버 Error 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생 확인 및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신규 발급 VDI 내 개발환경 세팅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(LOPAS/VOC/PRM)</a:t>
            </a:r>
            <a:br/>
          </a:p>
        </p:txBody>
      </p:sp>
      <p:sp>
        <p:nvSpPr>
          <p:cNvPr id="538192283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1612418628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</a:p>
        </p:txBody>
      </p:sp>
      <p:sp>
        <p:nvSpPr>
          <p:cNvPr id="672415385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br/>
          </a:p>
        </p:txBody>
      </p:sp>
      <p:sp>
        <p:nvSpPr>
          <p:cNvPr id="374697698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6716994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5641673" name="Text">
    </p:cNvPr>
          <p:cNvSpPr>
            <a:spLocks noGrp="1"/>
          </p:cNvSpPr>
          <p:nvPr/>
        </p:nvSpPr>
        <p:spPr>
          <a:xfrm rot="0">
            <a:off x="9702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581964637" name="Text">
    </p:cNvPr>
          <p:cNvSpPr>
            <a:spLocks noGrp="1"/>
          </p:cNvSpPr>
          <p:nvPr/>
        </p:nvSpPr>
        <p:spPr>
          <a:xfrm rot="0">
            <a:off x="93345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531585943" name="Text">
    </p:cNvPr>
          <p:cNvSpPr>
            <a:spLocks noGrp="1"/>
          </p:cNvSpPr>
          <p:nvPr/>
        </p:nvSpPr>
        <p:spPr>
          <a:xfrm rot="0">
            <a:off x="5930900" y="39370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2024.4월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VDI전환 작업</a:t>
            </a:r>
          </a:p>
        </p:txBody>
      </p:sp>
      <p:sp>
        <p:nvSpPr>
          <p:cNvPr id="1861757925" name="Text">
    </p:cNvPr>
          <p:cNvSpPr>
            <a:spLocks noGrp="1"/>
          </p:cNvSpPr>
          <p:nvPr/>
        </p:nvSpPr>
        <p:spPr>
          <a:xfrm rot="0">
            <a:off x="53086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230733115" name="Text">
    </p:cNvPr>
          <p:cNvSpPr>
            <a:spLocks noGrp="1"/>
          </p:cNvSpPr>
          <p:nvPr/>
        </p:nvSpPr>
        <p:spPr>
          <a:xfrm rot="0">
            <a:off x="889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801666341" name="Text">
    </p:cNvPr>
          <p:cNvSpPr>
            <a:spLocks noGrp="1"/>
          </p:cNvSpPr>
          <p:nvPr/>
        </p:nvSpPr>
        <p:spPr>
          <a:xfrm rot="0">
            <a:off x="711200" y="39370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4월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2024.4월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EAI시스템 ACE12업그레이드에 따른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VDI전환 작업</a:t>
            </a:r>
          </a:p>
        </p:txBody>
      </p:sp>
      <p:sp>
        <p:nvSpPr>
          <p:cNvPr id="1247735976" name="Text">
    </p:cNvPr>
          <p:cNvSpPr>
            <a:spLocks noGrp="1"/>
          </p:cNvSpPr>
          <p:nvPr/>
        </p:nvSpPr>
        <p:spPr>
          <a:xfrm rot="0">
            <a:off x="44831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1700158725" name="Text">
    </p:cNvPr>
          <p:cNvSpPr>
            <a:spLocks noGrp="1"/>
          </p:cNvSpPr>
          <p:nvPr/>
        </p:nvSpPr>
        <p:spPr>
          <a:xfrm rot="0">
            <a:off x="48514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1840727545" name="Text">
    </p:cNvPr>
          <p:cNvSpPr>
            <a:spLocks noGrp="1"/>
          </p:cNvSpPr>
          <p:nvPr/>
        </p:nvSpPr>
        <p:spPr>
          <a:xfrm rot="0">
            <a:off x="4114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20608055" name="Text">
    </p:cNvPr>
          <p:cNvSpPr>
            <a:spLocks noGrp="1"/>
          </p:cNvSpPr>
          <p:nvPr/>
        </p:nvSpPr>
        <p:spPr>
          <a:xfrm rot="0">
            <a:off x="6604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12666120" name="Text">
    </p:cNvPr>
          <p:cNvSpPr>
            <a:spLocks noGrp="1"/>
          </p:cNvSpPr>
          <p:nvPr/>
        </p:nvSpPr>
        <p:spPr>
          <a:xfrm rot="0">
            <a:off x="58801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940828104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근로자의 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어린이날</a:t>
                      </a: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대체휴일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 Duty 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err="1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부처님오신날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05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