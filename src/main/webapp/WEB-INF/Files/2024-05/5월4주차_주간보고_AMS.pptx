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[2024.05.21 ~ 2024.05.27]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5월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근로자의 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어린이날</a:t>
                      </a: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부처님오신날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51813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2970511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1226712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211255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7857324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958334786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00000365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884769238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8693735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750204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81578838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53874383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9699298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89895423" name="Frame"/>
          <p:cNvSpPr>
            <a:spLocks noGrp="1"/>
          </p:cNvSpPr>
          <p:nvPr/>
        </p:nvSpPr>
        <p:spPr>
          <a:xfrm>
            <a:off x="25400" y="5854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34128340" name="Text">
    </p:cNvPr>
          <p:cNvSpPr>
            <a:spLocks noGrp="1"/>
          </p:cNvSpPr>
          <p:nvPr/>
        </p:nvSpPr>
        <p:spPr>
          <a:xfrm rot="0">
            <a:off x="152400" y="5880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327637713" name="Text">
    </p:cNvPr>
          <p:cNvSpPr>
            <a:spLocks noGrp="1"/>
          </p:cNvSpPr>
          <p:nvPr/>
        </p:nvSpPr>
        <p:spPr>
          <a:xfrm rot="0">
            <a:off x="6451600" y="6413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7957634" name="Text">
    </p:cNvPr>
          <p:cNvSpPr>
            <a:spLocks noGrp="1"/>
          </p:cNvSpPr>
          <p:nvPr/>
        </p:nvSpPr>
        <p:spPr>
          <a:xfrm rot="0">
            <a:off x="2057400" y="6413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3364307" name="Text">
    </p:cNvPr>
          <p:cNvSpPr>
            <a:spLocks noGrp="1"/>
          </p:cNvSpPr>
          <p:nvPr/>
        </p:nvSpPr>
        <p:spPr>
          <a:xfrm rot="0">
            <a:off x="101600" y="6413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6485262" name="Text">
    </p:cNvPr>
          <p:cNvSpPr>
            <a:spLocks noGrp="1"/>
          </p:cNvSpPr>
          <p:nvPr/>
        </p:nvSpPr>
        <p:spPr>
          <a:xfrm rot="0">
            <a:off x="101600" y="6172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64308297" name="Text">
    </p:cNvPr>
          <p:cNvSpPr>
            <a:spLocks noGrp="1"/>
          </p:cNvSpPr>
          <p:nvPr/>
        </p:nvSpPr>
        <p:spPr>
          <a:xfrm rot="0">
            <a:off x="2057400" y="6172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418784064" name="Text">
    </p:cNvPr>
          <p:cNvSpPr>
            <a:spLocks noGrp="1"/>
          </p:cNvSpPr>
          <p:nvPr/>
        </p:nvSpPr>
        <p:spPr>
          <a:xfrm rot="0">
            <a:off x="6451600" y="6172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15599573" name="Text">
    </p:cNvPr>
          <p:cNvSpPr>
            <a:spLocks noGrp="1"/>
          </p:cNvSpPr>
          <p:nvPr/>
        </p:nvSpPr>
        <p:spPr>
          <a:xfrm rot="0">
            <a:off x="101600" y="6705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5482413" name="Text">
    </p:cNvPr>
          <p:cNvSpPr>
            <a:spLocks noGrp="1"/>
          </p:cNvSpPr>
          <p:nvPr/>
        </p:nvSpPr>
        <p:spPr>
          <a:xfrm rot="0">
            <a:off x="6451600" y="6705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2807729" name="Text">
    </p:cNvPr>
          <p:cNvSpPr>
            <a:spLocks noGrp="1"/>
          </p:cNvSpPr>
          <p:nvPr/>
        </p:nvSpPr>
        <p:spPr>
          <a:xfrm rot="0">
            <a:off x="2057400" y="6705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8789496" name="Text">
    </p:cNvPr>
          <p:cNvSpPr>
            <a:spLocks noGrp="1"/>
          </p:cNvSpPr>
          <p:nvPr/>
        </p:nvSpPr>
        <p:spPr>
          <a:xfrm rot="0">
            <a:off x="1244600" y="6705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2430894" name="Text">
    </p:cNvPr>
          <p:cNvSpPr>
            <a:spLocks noGrp="1"/>
          </p:cNvSpPr>
          <p:nvPr/>
        </p:nvSpPr>
        <p:spPr>
          <a:xfrm rot="0">
            <a:off x="1244600" y="6413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4979272" name="Text">
    </p:cNvPr>
          <p:cNvSpPr>
            <a:spLocks noGrp="1"/>
          </p:cNvSpPr>
          <p:nvPr/>
        </p:nvSpPr>
        <p:spPr>
          <a:xfrm rot="0">
            <a:off x="1244600" y="6172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874545950" name="Text">
    </p:cNvPr>
          <p:cNvSpPr>
            <a:spLocks noGrp="1"/>
          </p:cNvSpPr>
          <p:nvPr/>
        </p:nvSpPr>
        <p:spPr>
          <a:xfrm rot="0">
            <a:off x="8102600" y="6705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1489322" name="Text">
    </p:cNvPr>
          <p:cNvSpPr>
            <a:spLocks noGrp="1"/>
          </p:cNvSpPr>
          <p:nvPr/>
        </p:nvSpPr>
        <p:spPr>
          <a:xfrm rot="0">
            <a:off x="8102600" y="6172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870636515" name="Text">
    </p:cNvPr>
          <p:cNvSpPr>
            <a:spLocks noGrp="1"/>
          </p:cNvSpPr>
          <p:nvPr/>
        </p:nvSpPr>
        <p:spPr>
          <a:xfrm rot="0">
            <a:off x="8102600" y="6413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9553703" name="Frame"/>
          <p:cNvSpPr>
            <a:spLocks noGrp="1"/>
          </p:cNvSpPr>
          <p:nvPr/>
        </p:nvSpPr>
        <p:spPr>
          <a:xfrm>
            <a:off x="101600" y="3136900"/>
            <a:ext cx="9779000" cy="2552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30136958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4620726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00664911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65847428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2885403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47491898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18701288" name="Frame"/>
          <p:cNvSpPr>
            <a:spLocks noGrp="1"/>
          </p:cNvSpPr>
          <p:nvPr/>
        </p:nvSpPr>
        <p:spPr>
          <a:xfrm>
            <a:off x="165100" y="4762500"/>
            <a:ext cx="9664700" cy="927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69077330" name="Text">
    </p:cNvPr>
          <p:cNvSpPr>
            <a:spLocks noGrp="1"/>
          </p:cNvSpPr>
          <p:nvPr/>
        </p:nvSpPr>
        <p:spPr>
          <a:xfrm rot="0">
            <a:off x="165100" y="47371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99791758" name="Text">
    </p:cNvPr>
          <p:cNvSpPr>
            <a:spLocks noGrp="1"/>
          </p:cNvSpPr>
          <p:nvPr/>
        </p:nvSpPr>
        <p:spPr>
          <a:xfrm rot="0">
            <a:off x="965200" y="4787900"/>
            <a:ext cx="4584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작업(최소 기안 후 기안자만 전결근거 수정 가능하도록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ERP와 e-Pro간 입고/납품완료 불일치 점검 및 모니터링 리포트 개발 요청</a:t>
            </a:r>
          </a:p>
        </p:txBody>
      </p:sp>
      <p:sp>
        <p:nvSpPr>
          <p:cNvPr id="265594140" name="Text">
    </p:cNvPr>
          <p:cNvSpPr>
            <a:spLocks noGrp="1"/>
          </p:cNvSpPr>
          <p:nvPr/>
        </p:nvSpPr>
        <p:spPr>
          <a:xfrm rot="0">
            <a:off x="7239000" y="47879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81892335" name="Text">
    </p:cNvPr>
          <p:cNvSpPr>
            <a:spLocks noGrp="1"/>
          </p:cNvSpPr>
          <p:nvPr/>
        </p:nvSpPr>
        <p:spPr>
          <a:xfrm rot="0">
            <a:off x="5549900" y="47879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2146847013" name="Text">
    </p:cNvPr>
          <p:cNvSpPr>
            <a:spLocks noGrp="1"/>
          </p:cNvSpPr>
          <p:nvPr/>
        </p:nvSpPr>
        <p:spPr>
          <a:xfrm rot="0">
            <a:off x="901700" y="47371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0675676" name="Text">
    </p:cNvPr>
          <p:cNvSpPr>
            <a:spLocks noGrp="1"/>
          </p:cNvSpPr>
          <p:nvPr/>
        </p:nvSpPr>
        <p:spPr>
          <a:xfrm rot="0">
            <a:off x="6121400" y="47371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7127716" name="Text">
    </p:cNvPr>
          <p:cNvSpPr>
            <a:spLocks noGrp="1"/>
          </p:cNvSpPr>
          <p:nvPr/>
        </p:nvSpPr>
        <p:spPr>
          <a:xfrm rot="0">
            <a:off x="5549900" y="47371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8008306" name="Frame"/>
          <p:cNvSpPr>
            <a:spLocks noGrp="1"/>
          </p:cNvSpPr>
          <p:nvPr/>
        </p:nvSpPr>
        <p:spPr>
          <a:xfrm>
            <a:off x="165100" y="3759200"/>
            <a:ext cx="9639300" cy="97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04681147" name="Text">
    </p:cNvPr>
          <p:cNvSpPr>
            <a:spLocks noGrp="1"/>
          </p:cNvSpPr>
          <p:nvPr/>
        </p:nvSpPr>
        <p:spPr>
          <a:xfrm rot="0">
            <a:off x="165100" y="37592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368406930" name="Text">
    </p:cNvPr>
          <p:cNvSpPr>
            <a:spLocks noGrp="1"/>
          </p:cNvSpPr>
          <p:nvPr/>
        </p:nvSpPr>
        <p:spPr>
          <a:xfrm rot="0">
            <a:off x="965200" y="3835400"/>
            <a:ext cx="4584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 *발주 생성 및 기성보고서 전송 RFC 함수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2053196596" name="Text">
    </p:cNvPr>
          <p:cNvSpPr>
            <a:spLocks noGrp="1"/>
          </p:cNvSpPr>
          <p:nvPr/>
        </p:nvSpPr>
        <p:spPr>
          <a:xfrm rot="0">
            <a:off x="7239000" y="38354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07742095" name="Text">
    </p:cNvPr>
          <p:cNvSpPr>
            <a:spLocks noGrp="1"/>
          </p:cNvSpPr>
          <p:nvPr/>
        </p:nvSpPr>
        <p:spPr>
          <a:xfrm rot="0">
            <a:off x="5549900" y="38354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554859642" name="Text">
    </p:cNvPr>
          <p:cNvSpPr>
            <a:spLocks noGrp="1"/>
          </p:cNvSpPr>
          <p:nvPr/>
        </p:nvSpPr>
        <p:spPr>
          <a:xfrm rot="0">
            <a:off x="901700" y="37592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6779617" name="Text">
    </p:cNvPr>
          <p:cNvSpPr>
            <a:spLocks noGrp="1"/>
          </p:cNvSpPr>
          <p:nvPr/>
        </p:nvSpPr>
        <p:spPr>
          <a:xfrm rot="0">
            <a:off x="6121400" y="3759200"/>
            <a:ext cx="36449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81791" name="Text">
    </p:cNvPr>
          <p:cNvSpPr>
            <a:spLocks noGrp="1"/>
          </p:cNvSpPr>
          <p:nvPr/>
        </p:nvSpPr>
        <p:spPr>
          <a:xfrm rot="0">
            <a:off x="5549900" y="37592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640839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29984614" name="Frame"/>
          <p:cNvSpPr>
            <a:spLocks noGrp="1"/>
          </p:cNvSpPr>
          <p:nvPr/>
        </p:nvSpPr>
        <p:spPr>
          <a:xfrm>
            <a:off x="152400" y="2070100"/>
            <a:ext cx="9664700" cy="927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81359791" name="Text">
    </p:cNvPr>
          <p:cNvSpPr>
            <a:spLocks noGrp="1"/>
          </p:cNvSpPr>
          <p:nvPr/>
        </p:nvSpPr>
        <p:spPr>
          <a:xfrm rot="0">
            <a:off x="152400" y="20447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4355867" name="Text">
    </p:cNvPr>
          <p:cNvSpPr>
            <a:spLocks noGrp="1"/>
          </p:cNvSpPr>
          <p:nvPr/>
        </p:nvSpPr>
        <p:spPr>
          <a:xfrm rot="0">
            <a:off x="952500" y="2095500"/>
            <a:ext cx="45974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A11 '#3 외화입금전문' 작업 개선방향 및 프로세스 변경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TSM-110729CP 결재 새문서 ［마곡］ 탭 생성 및 신청서 추가 요청 (작업완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료 -&gt; 테스트 요청 드림)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멘토링 및 ODA/TDA신청서 전표생성시 작업시간 초과 오류 확인 및  생성된 전표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번호 확인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ISMS(P) 인증심사 회의</a:t>
            </a:r>
          </a:p>
        </p:txBody>
      </p:sp>
      <p:sp>
        <p:nvSpPr>
          <p:cNvPr id="1519993563" name="Text">
    </p:cNvPr>
          <p:cNvSpPr>
            <a:spLocks noGrp="1"/>
          </p:cNvSpPr>
          <p:nvPr/>
        </p:nvSpPr>
        <p:spPr>
          <a:xfrm rot="0">
            <a:off x="7226300" y="20955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95862353" name="Text">
    </p:cNvPr>
          <p:cNvSpPr>
            <a:spLocks noGrp="1"/>
          </p:cNvSpPr>
          <p:nvPr/>
        </p:nvSpPr>
        <p:spPr>
          <a:xfrm rot="0">
            <a:off x="6108700" y="2044700"/>
            <a:ext cx="7620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89876496" name="Text">
    </p:cNvPr>
          <p:cNvSpPr>
            <a:spLocks noGrp="1"/>
          </p:cNvSpPr>
          <p:nvPr/>
        </p:nvSpPr>
        <p:spPr>
          <a:xfrm rot="0">
            <a:off x="5537200" y="20955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</a:p>
        </p:txBody>
      </p:sp>
      <p:sp>
        <p:nvSpPr>
          <p:cNvPr id="331854159" name="Text">
    </p:cNvPr>
          <p:cNvSpPr>
            <a:spLocks noGrp="1"/>
          </p:cNvSpPr>
          <p:nvPr/>
        </p:nvSpPr>
        <p:spPr>
          <a:xfrm rot="0">
            <a:off x="889000" y="20447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145526" name="Text">
    </p:cNvPr>
          <p:cNvSpPr>
            <a:spLocks noGrp="1"/>
          </p:cNvSpPr>
          <p:nvPr/>
        </p:nvSpPr>
        <p:spPr>
          <a:xfrm rot="0">
            <a:off x="7124700" y="2044700"/>
            <a:ext cx="26543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7591585" name="Text">
    </p:cNvPr>
          <p:cNvSpPr>
            <a:spLocks noGrp="1"/>
          </p:cNvSpPr>
          <p:nvPr/>
        </p:nvSpPr>
        <p:spPr>
          <a:xfrm rot="0">
            <a:off x="5537200" y="20447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0049518" name="Rectangle"/>
          <p:cNvSpPr>
            <a:spLocks noGrp="1"/>
          </p:cNvSpPr>
          <p:nvPr/>
        </p:nvSpPr>
        <p:spPr>
          <a:xfrm>
            <a:off x="6870700" y="2044700"/>
            <a:ext cx="254000" cy="952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14666552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48226628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826804282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가공비 계산 신규개발(ZPCOR2070)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수출체선시스템 전표 생성 별 로직 수정(ZFIR9124)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ITSM-110150 e-Biz 납품보류 해제기능 개발 요청</a:t>
            </a:r>
          </a:p>
        </p:txBody>
      </p:sp>
      <p:sp>
        <p:nvSpPr>
          <p:cNvPr id="203835797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6334418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48066046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</a:p>
        </p:txBody>
      </p:sp>
      <p:sp>
        <p:nvSpPr>
          <p:cNvPr id="555811095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4818478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1049777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858658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379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16953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91974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41562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351966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3868683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45500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33991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34100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60198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09494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91617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17566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125597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04831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4580509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31630262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1703672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283421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3063868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가공비 계산 신규개발 (ZPCOR2070)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수출체선시스템에서 지급전표 생성 로직 수정(ZFIR9114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수출체선시스템 전표 생성 별 로직 수정(ZFIR9124)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</a:p>
        </p:txBody>
      </p:sp>
      <p:sp>
        <p:nvSpPr>
          <p:cNvPr id="7166269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20838791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6441988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08139133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194858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7345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77978588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</a:p>
        </p:txBody>
      </p:sp>
      <p:sp>
        <p:nvSpPr>
          <p:cNvPr id="2644538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</a:p>
        </p:txBody>
      </p:sp>
      <p:sp>
        <p:nvSpPr>
          <p:cNvPr id="143869687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85496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502304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</a:p>
        </p:txBody>
      </p:sp>
      <p:sp>
        <p:nvSpPr>
          <p:cNvPr id="154599692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2532315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69515293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</a:p>
        </p:txBody>
      </p:sp>
      <p:sp>
        <p:nvSpPr>
          <p:cNvPr id="126762371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588272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3231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60053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781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145470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359591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8388167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71430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052647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937525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475013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06452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38869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45759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657153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2492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60449390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5597918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0853957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4968036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9833630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시스템 오브젝트 Access Key 신규생성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 5월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DMS서버 MaxDB 데이타파일 추가 및 AutoLog 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삭제작업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프로젝트 관련 Notes 반영 완료로 HANA DB SHD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Tenant 백업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배치잡 삭제 및 신규설정 작업(ZPM_WO_DA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TE_GATHER 외1건)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58274150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8179878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4682600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791269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678630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94194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80847195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135763823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6604937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4092356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1566319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3 복습하기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4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5 공부하기</a:t>
            </a:r>
          </a:p>
        </p:txBody>
      </p:sp>
      <p:sp>
        <p:nvSpPr>
          <p:cNvPr id="10596263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</a:p>
        </p:txBody>
      </p:sp>
      <p:sp>
        <p:nvSpPr>
          <p:cNvPr id="11084007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05.23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</a:p>
        </p:txBody>
      </p:sp>
      <p:sp>
        <p:nvSpPr>
          <p:cNvPr id="11395477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660691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815005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5317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791523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60555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264641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868609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062208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42153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68923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04909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41450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80758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01960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75065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656197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30680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9194938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3864784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3935146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094141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546658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2497307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0288689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4935936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96545077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01895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40257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1472923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56912623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</a:t>
            </a:r>
          </a:p>
        </p:txBody>
      </p:sp>
      <p:sp>
        <p:nvSpPr>
          <p:cNvPr id="87105714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09953705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2601538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개발(oD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ata 70%)- 급여작업 지원(주택보조금 급여반영 오류 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개발(oD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ata 90%)- 급여작업 지원(주택보조금 급여반영 등)- 업무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(특근명령서 입력 오류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[ITSM-111467] 주택자금대출 급여반영 데이터 수정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[ITSM-105121] 배우자 동반 무급휴직 신청서 개발(CP EAI(3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0%))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개발(CP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EAI(70%))- 업무지원(경조금 신청시 경조코드 관련 문의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퇴직자 생활안정자금 중도상환 신청 등록 지원- 변동공제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관리 사용여부에 따른 공제내역 확인</a:t>
            </a:r>
          </a:p>
        </p:txBody>
      </p:sp>
      <p:sp>
        <p:nvSpPr>
          <p:cNvPr id="179518752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454359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55046136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19715766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122345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461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4879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09757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456869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899388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170001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34903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22988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315339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99252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82815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18489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43925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08655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30935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7529247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0210104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40%</a:t>
            </a:r>
          </a:p>
        </p:txBody>
      </p:sp>
      <p:sp>
        <p:nvSpPr>
          <p:cNvPr id="10701638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56412383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441703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급여명세서 문구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보훈정보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주택자금대출 급여반영 데이터 수정 요청</a:t>
            </a:r>
          </a:p>
        </p:txBody>
      </p:sp>
      <p:sp>
        <p:nvSpPr>
          <p:cNvPr id="186611405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6523467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5/22</a:t>
            </a:r>
            <a:br/>
          </a:p>
        </p:txBody>
      </p:sp>
      <p:sp>
        <p:nvSpPr>
          <p:cNvPr id="11450170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9285169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33534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65666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2210962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48186677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369945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2892313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0798753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</a:p>
        </p:txBody>
      </p:sp>
      <p:sp>
        <p:nvSpPr>
          <p:cNvPr id="3214787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53804620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753011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4705831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141640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8006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1244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571642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70163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72181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695993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67910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37344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10823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14647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791175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83231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74558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156520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36936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92202488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9969250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ITSM-111233 유니폼 수량 제한 예외 처리 신청</a:t>
            </a:r>
          </a:p>
        </p:txBody>
      </p:sp>
      <p:sp>
        <p:nvSpPr>
          <p:cNvPr id="169971894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895710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37678075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ITSM-111477 ISIMS DB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ITSM-111485 법인카드 CCS 담당자 정보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ITSM-111233 유니폼 수량 제한 예외 처리 신청</a:t>
            </a:r>
          </a:p>
        </p:txBody>
      </p:sp>
      <p:sp>
        <p:nvSpPr>
          <p:cNvPr id="92978072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9728141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172536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4125410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9718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63797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3391891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21474290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189423381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9385686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9007140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52851375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7757669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84419216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8877667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16266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6508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90854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108058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539218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268092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009792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12026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433753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41239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089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92960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98933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2709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52813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80836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2834336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2879281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유니폼 수량 제한 예외 처리 신청</a:t>
            </a:r>
          </a:p>
        </p:txBody>
      </p:sp>
      <p:sp>
        <p:nvSpPr>
          <p:cNvPr id="15158182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768865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4850235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유니폼 수량 제한 예외 처리 신청</a:t>
            </a:r>
          </a:p>
        </p:txBody>
      </p:sp>
      <p:sp>
        <p:nvSpPr>
          <p:cNvPr id="89557728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5918923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</a:p>
        </p:txBody>
      </p:sp>
      <p:sp>
        <p:nvSpPr>
          <p:cNvPr id="601891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17619303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38897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84793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753106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126931293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59928564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8627326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5288624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ITSM-111464 요청정보 작성ITSM-111502 상태변경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스크립트 추가ITSM-111583 데이터 작업서 삭제ITSM-1114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44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ITSM-111437 서비스요청서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ITSM-94689 견적서 삭제ITSM-107346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mobile 설치지원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ITSM-111796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android push updata 로 인한 소스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ITSM-105121 요청자 변경</a:t>
            </a:r>
          </a:p>
        </p:txBody>
      </p:sp>
      <p:sp>
        <p:nvSpPr>
          <p:cNvPr id="145545693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93781703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91422574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3203617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094960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7426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0475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59677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710381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204539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318707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75215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50450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42935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93807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237776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63212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377987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34209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1232576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903211963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</a:p>
        </p:txBody>
      </p:sp>
      <p:sp>
        <p:nvSpPr>
          <p:cNvPr id="1049232838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</a:p>
        </p:txBody>
      </p:sp>
      <p:sp>
        <p:nvSpPr>
          <p:cNvPr id="1669650567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14681888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778149311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새벽 에러 확인 및  녹화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'구매관리팀-구매송장처리업무' 작업 SAP 로그인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에러 -&gt; 담당자 변경 확인 Credential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외화입금전문' 작업 개선방향 및 프로세스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SAP 입력 방지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로직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'구매자금 추심' 작업 에러 확인 및 일부수정,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'소방대원 편성'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담당자 요청으로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인한 수기 승인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외화입금전문' 작업 OCR 개선 테스트 및 현 상황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'분기별 나프타 수입부과금' 작업 수행 및 오류확인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재수행</a:t>
            </a:r>
          </a:p>
        </p:txBody>
      </p:sp>
      <p:sp>
        <p:nvSpPr>
          <p:cNvPr id="1084950912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9533080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516714065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013093458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4296919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3265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88927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5546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32601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400586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948572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38087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75391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750702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500344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24274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43002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324500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581792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26945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0442673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61264109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3482045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144786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0469561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6954927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7709460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5922706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696557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61418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6132821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br/>
            <a:br/>
            <a:br/>
          </a:p>
        </p:txBody>
      </p:sp>
      <p:sp>
        <p:nvSpPr>
          <p:cNvPr id="1807836010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br/>
            <a:br/>
            <a:br/>
            <a:br/>
          </a:p>
        </p:txBody>
      </p:sp>
      <p:sp>
        <p:nvSpPr>
          <p:cNvPr id="49142833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(최소 기안 후 기안자만 전결근거 수정 가능하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도록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풋살장 신청서 -수정사항-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풋살장 신청서 -&gt; 연락처 삭제(개인정보라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 안된다고함), 사용일자체크 + 사용예약내역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리스트 + 동의서 변경 + 메일내용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공통 -&gt; 메일발송 시점을 첫 결재자가 결재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할 경우 발송 + 김혜숙책임님한테도 추가발송</a:t>
            </a:r>
            <a:br/>
          </a:p>
        </p:txBody>
      </p:sp>
      <p:sp>
        <p:nvSpPr>
          <p:cNvPr id="1040303452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641763532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1565742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프론트 화면 정리중(한글)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TSM-110729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CP 결재 새문서 ［마곡］ 탭 생성 및 신청서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요청 (작업완료 -&gt; 테스트 요청 드림)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ITSM-111637, ITSM-111653, ITSM-111652,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ITSM-110729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ITSM-111674, ITSM-111684, ITSM-111693,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ITSM-111718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ITSM-111773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ITSM-111815, ITSM-111813, ITSM-111811</a:t>
            </a:r>
            <a:br/>
          </a:p>
        </p:txBody>
      </p:sp>
      <p:sp>
        <p:nvSpPr>
          <p:cNvPr id="1219347356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2016859376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128309768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334880025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0470484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5257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40619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16888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663017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66114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92035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50759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35181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74372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871706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133718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62667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4994888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9746672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0613723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542428514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57263935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</a:p>
        </p:txBody>
      </p:sp>
      <p:sp>
        <p:nvSpPr>
          <p:cNvPr id="1736041317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0637602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31509859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교육훈련신청서[공정안전보고서 작성 및 평가] 사업자번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호 오류 확인 및 변경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교육훈련신청서(API 510 자격 시험,5001-차승호),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출장비신청서( ASME Sec. VIII Div.1 실무 교육,5133-김병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수)  전표번호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멘토링 및 ODA/TDA신청서 전표생성시 작업시간 초과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확인 및  생성된 전표번호 확인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VMS (BN3500 Series) 및 Vibration Monitoring 관련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교육	, 근태 중복 오류 확인 및 재처리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연계 오류 확인 및 삭제 요청(2024년 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장 단기 MBA 과정-정승문 책임)</a:t>
            </a:r>
          </a:p>
        </p:txBody>
      </p:sp>
      <p:sp>
        <p:nvSpPr>
          <p:cNvPr id="1087500762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746616430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210790307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561322066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2142215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7088021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299759878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153889651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(업무 프로세스 및 인터페이스 관련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</a:p>
        </p:txBody>
      </p:sp>
      <p:sp>
        <p:nvSpPr>
          <p:cNvPr id="32654886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656625378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51356403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회수 ERP 연계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강남지사 기회수 상품권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담당자 미팅 (업무 프로세스 및 인터페이스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관련 지원)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할당 불가 품목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(품질관리창고) 자재 마스터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인터페이스 정의서 최신화</a:t>
            </a:r>
          </a:p>
        </p:txBody>
      </p:sp>
      <p:sp>
        <p:nvSpPr>
          <p:cNvPr id="1607912564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275491038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911517666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</a:p>
        </p:txBody>
      </p:sp>
      <p:sp>
        <p:nvSpPr>
          <p:cNvPr id="453163389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8792453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321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4327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8893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2131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62154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826889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76364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698662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267305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425376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562450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96205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735738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65546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79808635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31478182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</a:p>
        </p:txBody>
      </p:sp>
      <p:sp>
        <p:nvSpPr>
          <p:cNvPr id="248532475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ITSM-109350 PRM 품질성적서 제공 시스템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보완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발생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</a:p>
        </p:txBody>
      </p:sp>
      <p:sp>
        <p:nvSpPr>
          <p:cNvPr id="595521129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97730421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0715445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 관리 &gt; 저유소 재고 현황 Search time out 현상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(추가 발생 시, 쿼리 성능 향상 고려)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ITSM-109350 PRM 품질성적서 제공 시스템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보완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ISMS(P) 인증심사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HMP &gt; VOC 시스템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HMP 접수 '이메일' 누락으로 인한 불만 접수 건 점검 (HM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P-CRM-VOC)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PRM_ETL (대외문서) Error 점검 ( * Column 사이즈 이슈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이나, 미사용 항목으로 사유 확인 후 종료)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발생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[VDI] 신규 발급 VDI 내 개발환경 세팅 (LOPAS/VOC/PRM) (로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컬 D 드라이브로 변경)</a:t>
            </a:r>
          </a:p>
        </p:txBody>
      </p:sp>
      <p:sp>
        <p:nvSpPr>
          <p:cNvPr id="263015336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542775186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841611056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</a:p>
        </p:txBody>
      </p:sp>
      <p:sp>
        <p:nvSpPr>
          <p:cNvPr id="1112161049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8977395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1096939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41120727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901238011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모니터링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(CHARM) Check 항목 추가</a:t>
            </a:r>
            <a:br/>
          </a:p>
        </p:txBody>
      </p:sp>
      <p:sp>
        <p:nvSpPr>
          <p:cNvPr id="1828066030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28976262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129134320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모니터링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VDI전환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(CHARM) Check 항목 추가</a:t>
            </a:r>
            <a:br/>
          </a:p>
        </p:txBody>
      </p:sp>
      <p:sp>
        <p:nvSpPr>
          <p:cNvPr id="1966328258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97222376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1531682969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70359360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6748328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근로자의 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어린이날</a:t>
                      </a: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부처님오신날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