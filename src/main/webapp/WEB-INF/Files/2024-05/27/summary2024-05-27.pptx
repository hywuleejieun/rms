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51813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2970511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267125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11255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7324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958334786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0000365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884769238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8693735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7502045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81578838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53874383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9699298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89895423" name="Frame"/>
          <p:cNvSpPr>
            <a:spLocks noGrp="1"/>
          </p:cNvSpPr>
          <p:nvPr/>
        </p:nvSpPr>
        <p:spPr>
          <a:xfrm>
            <a:off x="25400" y="5854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34128340" name="Text">
    </p:cNvPr>
          <p:cNvSpPr>
            <a:spLocks noGrp="1"/>
          </p:cNvSpPr>
          <p:nvPr/>
        </p:nvSpPr>
        <p:spPr>
          <a:xfrm rot="0">
            <a:off x="152400" y="5880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327637713" name="Text">
    </p:cNvPr>
          <p:cNvSpPr>
            <a:spLocks noGrp="1"/>
          </p:cNvSpPr>
          <p:nvPr/>
        </p:nvSpPr>
        <p:spPr>
          <a:xfrm rot="0">
            <a:off x="6451600" y="6413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7957634" name="Text">
    </p:cNvPr>
          <p:cNvSpPr>
            <a:spLocks noGrp="1"/>
          </p:cNvSpPr>
          <p:nvPr/>
        </p:nvSpPr>
        <p:spPr>
          <a:xfrm rot="0">
            <a:off x="2057400" y="6413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3364307" name="Text">
    </p:cNvPr>
          <p:cNvSpPr>
            <a:spLocks noGrp="1"/>
          </p:cNvSpPr>
          <p:nvPr/>
        </p:nvSpPr>
        <p:spPr>
          <a:xfrm rot="0">
            <a:off x="101600" y="6413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6485262" name="Text">
    </p:cNvPr>
          <p:cNvSpPr>
            <a:spLocks noGrp="1"/>
          </p:cNvSpPr>
          <p:nvPr/>
        </p:nvSpPr>
        <p:spPr>
          <a:xfrm rot="0">
            <a:off x="101600" y="6172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64308297" name="Text">
    </p:cNvPr>
          <p:cNvSpPr>
            <a:spLocks noGrp="1"/>
          </p:cNvSpPr>
          <p:nvPr/>
        </p:nvSpPr>
        <p:spPr>
          <a:xfrm rot="0">
            <a:off x="2057400" y="6172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418784064" name="Text">
    </p:cNvPr>
          <p:cNvSpPr>
            <a:spLocks noGrp="1"/>
          </p:cNvSpPr>
          <p:nvPr/>
        </p:nvSpPr>
        <p:spPr>
          <a:xfrm rot="0">
            <a:off x="6451600" y="6172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15599573" name="Text">
    </p:cNvPr>
          <p:cNvSpPr>
            <a:spLocks noGrp="1"/>
          </p:cNvSpPr>
          <p:nvPr/>
        </p:nvSpPr>
        <p:spPr>
          <a:xfrm rot="0">
            <a:off x="101600" y="6705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5482413" name="Text">
    </p:cNvPr>
          <p:cNvSpPr>
            <a:spLocks noGrp="1"/>
          </p:cNvSpPr>
          <p:nvPr/>
        </p:nvSpPr>
        <p:spPr>
          <a:xfrm rot="0">
            <a:off x="6451600" y="6705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2807729" name="Text">
    </p:cNvPr>
          <p:cNvSpPr>
            <a:spLocks noGrp="1"/>
          </p:cNvSpPr>
          <p:nvPr/>
        </p:nvSpPr>
        <p:spPr>
          <a:xfrm rot="0">
            <a:off x="2057400" y="6705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8789496" name="Text">
    </p:cNvPr>
          <p:cNvSpPr>
            <a:spLocks noGrp="1"/>
          </p:cNvSpPr>
          <p:nvPr/>
        </p:nvSpPr>
        <p:spPr>
          <a:xfrm rot="0">
            <a:off x="1244600" y="6705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2430894" name="Text">
    </p:cNvPr>
          <p:cNvSpPr>
            <a:spLocks noGrp="1"/>
          </p:cNvSpPr>
          <p:nvPr/>
        </p:nvSpPr>
        <p:spPr>
          <a:xfrm rot="0">
            <a:off x="1244600" y="6413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4979272" name="Text">
    </p:cNvPr>
          <p:cNvSpPr>
            <a:spLocks noGrp="1"/>
          </p:cNvSpPr>
          <p:nvPr/>
        </p:nvSpPr>
        <p:spPr>
          <a:xfrm rot="0">
            <a:off x="1244600" y="6172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874545950" name="Text">
    </p:cNvPr>
          <p:cNvSpPr>
            <a:spLocks noGrp="1"/>
          </p:cNvSpPr>
          <p:nvPr/>
        </p:nvSpPr>
        <p:spPr>
          <a:xfrm rot="0">
            <a:off x="8102600" y="6705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1489322" name="Text">
    </p:cNvPr>
          <p:cNvSpPr>
            <a:spLocks noGrp="1"/>
          </p:cNvSpPr>
          <p:nvPr/>
        </p:nvSpPr>
        <p:spPr>
          <a:xfrm rot="0">
            <a:off x="8102600" y="6172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870636515" name="Text">
    </p:cNvPr>
          <p:cNvSpPr>
            <a:spLocks noGrp="1"/>
          </p:cNvSpPr>
          <p:nvPr/>
        </p:nvSpPr>
        <p:spPr>
          <a:xfrm rot="0">
            <a:off x="8102600" y="6413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9553703" name="Frame"/>
          <p:cNvSpPr>
            <a:spLocks noGrp="1"/>
          </p:cNvSpPr>
          <p:nvPr/>
        </p:nvSpPr>
        <p:spPr>
          <a:xfrm>
            <a:off x="101600" y="3136900"/>
            <a:ext cx="9779000" cy="2552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30136958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4620726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00664911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65847428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2885403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47491898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18701288" name="Frame"/>
          <p:cNvSpPr>
            <a:spLocks noGrp="1"/>
          </p:cNvSpPr>
          <p:nvPr/>
        </p:nvSpPr>
        <p:spPr>
          <a:xfrm>
            <a:off x="165100" y="4762500"/>
            <a:ext cx="9664700" cy="927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69077330" name="Text">
    </p:cNvPr>
          <p:cNvSpPr>
            <a:spLocks noGrp="1"/>
          </p:cNvSpPr>
          <p:nvPr/>
        </p:nvSpPr>
        <p:spPr>
          <a:xfrm rot="0">
            <a:off x="165100" y="47371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99791758" name="Text">
    </p:cNvPr>
          <p:cNvSpPr>
            <a:spLocks noGrp="1"/>
          </p:cNvSpPr>
          <p:nvPr/>
        </p:nvSpPr>
        <p:spPr>
          <a:xfrm rot="0">
            <a:off x="965200" y="47879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작업(최소 기안 후 기안자만 전결근거 수정 가능하도록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ERP와 e-Pro간 입고/납품완료 불일치 점검 및 모니터링 리포트 개발 요청</a:t>
            </a:r>
          </a:p>
        </p:txBody>
      </p:sp>
      <p:sp>
        <p:nvSpPr>
          <p:cNvPr id="265594140" name="Text">
    </p:cNvPr>
          <p:cNvSpPr>
            <a:spLocks noGrp="1"/>
          </p:cNvSpPr>
          <p:nvPr/>
        </p:nvSpPr>
        <p:spPr>
          <a:xfrm rot="0">
            <a:off x="7239000" y="47879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81892335" name="Text">
    </p:cNvPr>
          <p:cNvSpPr>
            <a:spLocks noGrp="1"/>
          </p:cNvSpPr>
          <p:nvPr/>
        </p:nvSpPr>
        <p:spPr>
          <a:xfrm rot="0">
            <a:off x="5549900" y="47879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2146847013" name="Text">
    </p:cNvPr>
          <p:cNvSpPr>
            <a:spLocks noGrp="1"/>
          </p:cNvSpPr>
          <p:nvPr/>
        </p:nvSpPr>
        <p:spPr>
          <a:xfrm rot="0">
            <a:off x="901700" y="47371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0675676" name="Text">
    </p:cNvPr>
          <p:cNvSpPr>
            <a:spLocks noGrp="1"/>
          </p:cNvSpPr>
          <p:nvPr/>
        </p:nvSpPr>
        <p:spPr>
          <a:xfrm rot="0">
            <a:off x="6121400" y="47371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7127716" name="Text">
    </p:cNvPr>
          <p:cNvSpPr>
            <a:spLocks noGrp="1"/>
          </p:cNvSpPr>
          <p:nvPr/>
        </p:nvSpPr>
        <p:spPr>
          <a:xfrm rot="0">
            <a:off x="5549900" y="47371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8008306" name="Frame"/>
          <p:cNvSpPr>
            <a:spLocks noGrp="1"/>
          </p:cNvSpPr>
          <p:nvPr/>
        </p:nvSpPr>
        <p:spPr>
          <a:xfrm>
            <a:off x="165100" y="3759200"/>
            <a:ext cx="9639300" cy="97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04681147" name="Text">
    </p:cNvPr>
          <p:cNvSpPr>
            <a:spLocks noGrp="1"/>
          </p:cNvSpPr>
          <p:nvPr/>
        </p:nvSpPr>
        <p:spPr>
          <a:xfrm rot="0">
            <a:off x="165100" y="37592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368406930" name="Text">
    </p:cNvPr>
          <p:cNvSpPr>
            <a:spLocks noGrp="1"/>
          </p:cNvSpPr>
          <p:nvPr/>
        </p:nvSpPr>
        <p:spPr>
          <a:xfrm rot="0">
            <a:off x="965200" y="38354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 *발주 생성 및 기성보고서 전송 RFC 함수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2053196596" name="Text">
    </p:cNvPr>
          <p:cNvSpPr>
            <a:spLocks noGrp="1"/>
          </p:cNvSpPr>
          <p:nvPr/>
        </p:nvSpPr>
        <p:spPr>
          <a:xfrm rot="0">
            <a:off x="7239000" y="38354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07742095" name="Text">
    </p:cNvPr>
          <p:cNvSpPr>
            <a:spLocks noGrp="1"/>
          </p:cNvSpPr>
          <p:nvPr/>
        </p:nvSpPr>
        <p:spPr>
          <a:xfrm rot="0">
            <a:off x="5549900" y="38354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554859642" name="Text">
    </p:cNvPr>
          <p:cNvSpPr>
            <a:spLocks noGrp="1"/>
          </p:cNvSpPr>
          <p:nvPr/>
        </p:nvSpPr>
        <p:spPr>
          <a:xfrm rot="0">
            <a:off x="901700" y="37592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6779617" name="Text">
    </p:cNvPr>
          <p:cNvSpPr>
            <a:spLocks noGrp="1"/>
          </p:cNvSpPr>
          <p:nvPr/>
        </p:nvSpPr>
        <p:spPr>
          <a:xfrm rot="0">
            <a:off x="6121400" y="3759200"/>
            <a:ext cx="36449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81791" name="Text">
    </p:cNvPr>
          <p:cNvSpPr>
            <a:spLocks noGrp="1"/>
          </p:cNvSpPr>
          <p:nvPr/>
        </p:nvSpPr>
        <p:spPr>
          <a:xfrm rot="0">
            <a:off x="5549900" y="37592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640839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29984614" name="Frame"/>
          <p:cNvSpPr>
            <a:spLocks noGrp="1"/>
          </p:cNvSpPr>
          <p:nvPr/>
        </p:nvSpPr>
        <p:spPr>
          <a:xfrm>
            <a:off x="152400" y="2070100"/>
            <a:ext cx="9664700" cy="927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81359791" name="Text">
    </p:cNvPr>
          <p:cNvSpPr>
            <a:spLocks noGrp="1"/>
          </p:cNvSpPr>
          <p:nvPr/>
        </p:nvSpPr>
        <p:spPr>
          <a:xfrm rot="0">
            <a:off x="152400" y="20447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24355867" name="Text">
    </p:cNvPr>
          <p:cNvSpPr>
            <a:spLocks noGrp="1"/>
          </p:cNvSpPr>
          <p:nvPr/>
        </p:nvSpPr>
        <p:spPr>
          <a:xfrm rot="0">
            <a:off x="952500" y="2095500"/>
            <a:ext cx="45974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A11 '#3 외화입금전문' 작업 개선방향 및 프로세스 변경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TSM-110729CP 결재 새문서 ［마곡］ 탭 생성 및 신청서 추가 요청 (작업완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료 -&gt; 테스트 요청 드림)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멘토링 및 ODA/TDA신청서 전표생성시 작업시간 초과 오류 확인 및  생성된 전표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번호 확인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ISMS(P) 인증심사 회의</a:t>
            </a:r>
          </a:p>
        </p:txBody>
      </p:sp>
      <p:sp>
        <p:nvSpPr>
          <p:cNvPr id="1519993563" name="Text">
    </p:cNvPr>
          <p:cNvSpPr>
            <a:spLocks noGrp="1"/>
          </p:cNvSpPr>
          <p:nvPr/>
        </p:nvSpPr>
        <p:spPr>
          <a:xfrm rot="0">
            <a:off x="7226300" y="20955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95862353" name="Text">
    </p:cNvPr>
          <p:cNvSpPr>
            <a:spLocks noGrp="1"/>
          </p:cNvSpPr>
          <p:nvPr/>
        </p:nvSpPr>
        <p:spPr>
          <a:xfrm rot="0">
            <a:off x="6108700" y="2044700"/>
            <a:ext cx="7620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89876496" name="Text">
    </p:cNvPr>
          <p:cNvSpPr>
            <a:spLocks noGrp="1"/>
          </p:cNvSpPr>
          <p:nvPr/>
        </p:nvSpPr>
        <p:spPr>
          <a:xfrm rot="0">
            <a:off x="5537200" y="20955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</a:p>
        </p:txBody>
      </p:sp>
      <p:sp>
        <p:nvSpPr>
          <p:cNvPr id="331854159" name="Text">
    </p:cNvPr>
          <p:cNvSpPr>
            <a:spLocks noGrp="1"/>
          </p:cNvSpPr>
          <p:nvPr/>
        </p:nvSpPr>
        <p:spPr>
          <a:xfrm rot="0">
            <a:off x="889000" y="20447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145526" name="Text">
    </p:cNvPr>
          <p:cNvSpPr>
            <a:spLocks noGrp="1"/>
          </p:cNvSpPr>
          <p:nvPr/>
        </p:nvSpPr>
        <p:spPr>
          <a:xfrm rot="0">
            <a:off x="7124700" y="2044700"/>
            <a:ext cx="26543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7591585" name="Text">
    </p:cNvPr>
          <p:cNvSpPr>
            <a:spLocks noGrp="1"/>
          </p:cNvSpPr>
          <p:nvPr/>
        </p:nvSpPr>
        <p:spPr>
          <a:xfrm rot="0">
            <a:off x="5537200" y="20447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0049518" name="Rectangle"/>
          <p:cNvSpPr>
            <a:spLocks noGrp="1"/>
          </p:cNvSpPr>
          <p:nvPr/>
        </p:nvSpPr>
        <p:spPr>
          <a:xfrm>
            <a:off x="6870700" y="2044700"/>
            <a:ext cx="254000" cy="952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4666552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48226628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826804282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가공비 계산 신규개발(ZPCOR2070)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수출체선시스템 전표 생성 별 로직 수정(ZFIR9124)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ITSM-110150 e-Biz 납품보류 해제기능 개발 요청</a:t>
            </a:r>
          </a:p>
        </p:txBody>
      </p:sp>
      <p:sp>
        <p:nvSpPr>
          <p:cNvPr id="203835797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6334418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48066046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</a:p>
        </p:txBody>
      </p:sp>
      <p:sp>
        <p:nvSpPr>
          <p:cNvPr id="555811095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4818478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1049777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8586584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