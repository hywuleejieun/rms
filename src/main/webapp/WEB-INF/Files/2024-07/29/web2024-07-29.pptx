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  <p:sldId id="2567" r:id="rId7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56820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4673263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8758146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8704439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6171025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82651886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5945271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1785357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6262863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2020248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9609168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921803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5001725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7825480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4353191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10426216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</a:p>
        </p:txBody>
      </p:sp>
      <p:sp>
        <p:nvSpPr>
          <p:cNvPr id="135436979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ITSM-113634 CCS(법인카드정산)시스템 적요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란 글자수 증액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ITSM-114479 e-biz 내 수정 요청</a:t>
            </a:r>
            <a:br/>
          </a:p>
        </p:txBody>
      </p:sp>
      <p:sp>
        <p:nvSpPr>
          <p:cNvPr id="180819040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29339009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2797713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ITSM-113634 CCS(법인카드정산)시스템 적요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란 글자수 증액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ITSM-114479 e-biz 내 수정 요청</a:t>
            </a:r>
            <a:br/>
          </a:p>
        </p:txBody>
      </p:sp>
      <p:sp>
        <p:nvSpPr>
          <p:cNvPr id="2989586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55276688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</a:p>
        </p:txBody>
      </p:sp>
      <p:sp>
        <p:nvSpPr>
          <p:cNvPr id="76985625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</a:p>
        </p:txBody>
      </p:sp>
      <p:sp>
        <p:nvSpPr>
          <p:cNvPr id="207532378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9612562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3238938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94951338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141205317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</a:p>
        </p:txBody>
      </p:sp>
      <p:sp>
        <p:nvSpPr>
          <p:cNvPr id="30921204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35355682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73265788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</a:p>
        </p:txBody>
      </p:sp>
      <p:sp>
        <p:nvSpPr>
          <p:cNvPr id="77603915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30554029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189334611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1310519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3680634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05874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2499425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0002021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3884612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9215112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9235042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9426851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9767404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6945006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5595762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7703276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6368888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3798024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7331042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2032264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203511493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</a:p>
        </p:txBody>
      </p:sp>
      <p:sp>
        <p:nvSpPr>
          <p:cNvPr id="100602303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시스템추가보완</a:t>
            </a:r>
          </a:p>
        </p:txBody>
      </p:sp>
      <p:sp>
        <p:nvSpPr>
          <p:cNvPr id="101406239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62282339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92051777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시스템추가보완</a:t>
            </a:r>
          </a:p>
        </p:txBody>
      </p:sp>
      <p:sp>
        <p:nvSpPr>
          <p:cNvPr id="208954495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24399179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</a:p>
        </p:txBody>
      </p:sp>
      <p:sp>
        <p:nvSpPr>
          <p:cNvPr id="202392246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</a:p>
        </p:txBody>
      </p:sp>
      <p:sp>
        <p:nvSpPr>
          <p:cNvPr id="128938752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370436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85504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</a:p>
        </p:txBody>
      </p:sp>
      <p:sp>
        <p:nvSpPr>
          <p:cNvPr id="173991512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</a:p>
        </p:txBody>
      </p:sp>
      <p:sp>
        <p:nvSpPr>
          <p:cNvPr id="202177938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95920839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73670383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80186942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ITSM-113591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Scouter APM 제거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ATSS 엔진 지도 배포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ITSM-106923 변경결과 작성,ITSM-113591 배포상태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변경,ITSM-114276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ITSM-113772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엔진 서버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ITSM-114494 견적서 삭제,ITSM-66433 서비스 요청서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삭제,ITSM-68508 서비스 요청서 삭제,ITSM-71029 서비스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요청서 삭제,ITSM-83243 서비스 요청서 삭제,ITSM-7356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6 서비스 요청서 삭제</a:t>
            </a:r>
          </a:p>
        </p:txBody>
      </p:sp>
      <p:sp>
        <p:nvSpPr>
          <p:cNvPr id="48115061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br/>
            <a:br/>
            <a:br/>
          </a:p>
        </p:txBody>
      </p:sp>
      <p:sp>
        <p:nvSpPr>
          <p:cNvPr id="119146820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br/>
            <a:br/>
            <a:br/>
          </a:p>
        </p:txBody>
      </p:sp>
      <p:sp>
        <p:nvSpPr>
          <p:cNvPr id="63162646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br/>
            <a:br/>
            <a:br/>
          </a:p>
        </p:txBody>
      </p:sp>
      <p:sp>
        <p:nvSpPr>
          <p:cNvPr id="208622879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4658824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73357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2412429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4653211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0101596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5424186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752456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7803907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032990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1281936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5066634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141479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7215616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1563437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4863563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693896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</a:p>
        </p:txBody>
      </p:sp>
      <p:sp>
        <p:nvSpPr>
          <p:cNvPr id="153341460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</a:p>
        </p:txBody>
      </p:sp>
      <p:sp>
        <p:nvSpPr>
          <p:cNvPr id="199007083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A360 Migratio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 (보류)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'유럽 터미널사의 당사 재고 현황 수집' 작업 안정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화</a:t>
            </a:r>
          </a:p>
        </p:txBody>
      </p:sp>
      <p:sp>
        <p:nvSpPr>
          <p:cNvPr id="133173746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8690457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62376242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'유럽 터미널사의 당사 재고 현황 수집' 작업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[기타] VDI 재발급 이상확인 및 조치요청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작업 새벽 작업 모니터링 및 에러 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[RPA] A360 OCR 사용 작업들 에러 발생       -&gt; PC 재부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팅       -&gt; 윈도우 보안 업데이트 제거 및 재부팅                 -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&gt; NAVER OCR 문의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[RPA] A360 '#4 외화송금' 작업 수신자 변경</a:t>
            </a:r>
          </a:p>
        </p:txBody>
      </p:sp>
      <p:sp>
        <p:nvSpPr>
          <p:cNvPr id="171554926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</a:p>
        </p:txBody>
      </p:sp>
      <p:sp>
        <p:nvSpPr>
          <p:cNvPr id="75397340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</a:p>
        </p:txBody>
      </p:sp>
      <p:sp>
        <p:nvSpPr>
          <p:cNvPr id="94423628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</a:p>
        </p:txBody>
      </p:sp>
      <p:sp>
        <p:nvSpPr>
          <p:cNvPr id="48689650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2159312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2806748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54999810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</a:p>
        </p:txBody>
      </p:sp>
      <p:sp>
        <p:nvSpPr>
          <p:cNvPr id="178331401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CCS(법인카드정산)시스템 적요란 글자수 증액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</a:p>
        </p:txBody>
      </p:sp>
      <p:sp>
        <p:nvSpPr>
          <p:cNvPr id="135900471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69212238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83972597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CCS(법인카드정산)시스템 적요란 글자수 증액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CP 결재문서 'SG생성/변경/삭제 요청서' 양식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</a:p>
        </p:txBody>
      </p:sp>
      <p:sp>
        <p:nvSpPr>
          <p:cNvPr id="159265577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6116991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66990173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97059625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641350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17349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9671651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3081769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5359736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2823733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3687470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9818866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5575767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6781358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5963494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0466391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6815079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5353933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7684631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6469604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</a:p>
        </p:txBody>
      </p:sp>
      <p:sp>
        <p:nvSpPr>
          <p:cNvPr id="51722692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</a:p>
        </p:txBody>
      </p:sp>
      <p:sp>
        <p:nvSpPr>
          <p:cNvPr id="135559445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</a:p>
        </p:txBody>
      </p:sp>
      <p:sp>
        <p:nvSpPr>
          <p:cNvPr id="65323054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53649367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73540029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ITSM-114352, ITSM-114354, ITSM-114369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ITSM-114377, ITSM-114405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ITSM-114469, ITSM-114428, ITSM-114459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ITSM-114493, ITSM-114475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ITSM-114466, ITSM-114526, ITSM-113857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ITSM-114594, ITSM-114596, ITSM-114633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ITSM-114637메일요청 수정 -&gt; A11-24-0147(내용및첨부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파일)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ITSM-114638, ITSM-114671, ITSM-114676</a:t>
            </a:r>
          </a:p>
        </p:txBody>
      </p:sp>
      <p:sp>
        <p:nvSpPr>
          <p:cNvPr id="139035839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14083426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206788477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47065438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3131311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781574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75328956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</a:p>
        </p:txBody>
      </p:sp>
      <p:sp>
        <p:nvSpPr>
          <p:cNvPr id="41220607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ITSM-114619 LMS 학습자료실 안전 동영상 9건 업로드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기존 자료 삭제</a:t>
            </a:r>
          </a:p>
        </p:txBody>
      </p:sp>
      <p:sp>
        <p:nvSpPr>
          <p:cNvPr id="97515350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40664978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201791738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 ZERR1190 사용 여부 문의(RI-93 사용여부)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PSM 이행상태(등급평가) 준비 핵심 실무과정(3042 - 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종한 )  전표생성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ITSM-114469 교육 일정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'24년 본사 IT시스템 어플리케이션 계정 유효성 검증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수행 안내(LMS 계정 확인 요청)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ITSM-114619 LMS 학습자료실 안전 동영상 9건 업로드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기존 자료 삭제</a:t>
            </a:r>
          </a:p>
        </p:txBody>
      </p:sp>
      <p:sp>
        <p:nvSpPr>
          <p:cNvPr id="186007429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69294981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</a:p>
        </p:txBody>
      </p:sp>
      <p:sp>
        <p:nvSpPr>
          <p:cNvPr id="144829362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</a:p>
        </p:txBody>
      </p:sp>
      <p:sp>
        <p:nvSpPr>
          <p:cNvPr id="42913363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806961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57916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3726063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3032035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8771101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8174953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35725574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6789559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0008989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4513005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9273699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9521279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2672713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079821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0721777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30631927" name="Text">
    </p:cNvPr>
          <p:cNvSpPr>
            <a:spLocks noGrp="1"/>
          </p:cNvSpPr>
          <p:nvPr/>
        </p:nvSpPr>
        <p:spPr>
          <a:xfrm rot="0">
            <a:off x="9702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</a:p>
        </p:txBody>
      </p:sp>
      <p:sp>
        <p:nvSpPr>
          <p:cNvPr id="905125731" name="Text">
    </p:cNvPr>
          <p:cNvSpPr>
            <a:spLocks noGrp="1"/>
          </p:cNvSpPr>
          <p:nvPr/>
        </p:nvSpPr>
        <p:spPr>
          <a:xfrm rot="0">
            <a:off x="93345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</a:p>
        </p:txBody>
      </p:sp>
      <p:sp>
        <p:nvSpPr>
          <p:cNvPr id="1270524748" name="Text">
    </p:cNvPr>
          <p:cNvSpPr>
            <a:spLocks noGrp="1"/>
          </p:cNvSpPr>
          <p:nvPr/>
        </p:nvSpPr>
        <p:spPr>
          <a:xfrm rot="0">
            <a:off x="5930900" y="1511300"/>
            <a:ext cx="3403600" cy="3035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구현- 관리자 페이지 IP 검증 기능 구현-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멤버십마케팅팀 지류상품권 재고 이관 DB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하계 휴가</a:t>
            </a:r>
          </a:p>
        </p:txBody>
      </p:sp>
      <p:sp>
        <p:nvSpPr>
          <p:cNvPr id="1684523103" name="Text">
    </p:cNvPr>
          <p:cNvSpPr>
            <a:spLocks noGrp="1"/>
          </p:cNvSpPr>
          <p:nvPr/>
        </p:nvSpPr>
        <p:spPr>
          <a:xfrm rot="0">
            <a:off x="53086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74965941" name="Text">
    </p:cNvPr>
          <p:cNvSpPr>
            <a:spLocks noGrp="1"/>
          </p:cNvSpPr>
          <p:nvPr/>
        </p:nvSpPr>
        <p:spPr>
          <a:xfrm rot="0">
            <a:off x="889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028045021" name="Text">
    </p:cNvPr>
          <p:cNvSpPr>
            <a:spLocks noGrp="1"/>
          </p:cNvSpPr>
          <p:nvPr/>
        </p:nvSpPr>
        <p:spPr>
          <a:xfrm rot="0">
            <a:off x="711200" y="1511300"/>
            <a:ext cx="3403600" cy="3035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구현- 관리자 페이지 IP 검증 기능 구현-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[구미지사] 판독기 회수 기 회수 오류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[전북지사] 출고확정 이후 재고 미 반영 오류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 지류상품권 재고 이관 DB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[공장인사후생팀] GCMS 실행 오류 원격 지원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[LPG팀] 기 회수 상품권 DB작업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24년 본사 IT시스템 어플리케이션 계정 유효성 검증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[공구창고] 입고 지연관리 입고 완료가 되었는데 입고 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연 상태 데이터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[공구창고] 대여 요청 시 상세정보에 반납예정일자 다른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데이터가 있는지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VDI 리셋으로 인한 ERP Upgrade 삼성 SDS WMS 설치 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24년 본사 IT시스템 어플리케이션 계정 유효성 검증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VDI 포맷으로 인한 환경 재 설정 [GCMS, EWS, WMS]</a:t>
            </a:r>
          </a:p>
        </p:txBody>
      </p:sp>
      <p:sp>
        <p:nvSpPr>
          <p:cNvPr id="599295218" name="Text">
    </p:cNvPr>
          <p:cNvSpPr>
            <a:spLocks noGrp="1"/>
          </p:cNvSpPr>
          <p:nvPr/>
        </p:nvSpPr>
        <p:spPr>
          <a:xfrm rot="0">
            <a:off x="44831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</a:p>
        </p:txBody>
      </p:sp>
      <p:sp>
        <p:nvSpPr>
          <p:cNvPr id="2043119082" name="Text">
    </p:cNvPr>
          <p:cNvSpPr>
            <a:spLocks noGrp="1"/>
          </p:cNvSpPr>
          <p:nvPr/>
        </p:nvSpPr>
        <p:spPr>
          <a:xfrm rot="0">
            <a:off x="48514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</a:p>
        </p:txBody>
      </p:sp>
      <p:sp>
        <p:nvSpPr>
          <p:cNvPr id="1946474858" name="Text">
    </p:cNvPr>
          <p:cNvSpPr>
            <a:spLocks noGrp="1"/>
          </p:cNvSpPr>
          <p:nvPr/>
        </p:nvSpPr>
        <p:spPr>
          <a:xfrm rot="0">
            <a:off x="4114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</a:p>
        </p:txBody>
      </p:sp>
      <p:sp>
        <p:nvSpPr>
          <p:cNvPr id="2081163111" name="Text">
    </p:cNvPr>
          <p:cNvSpPr>
            <a:spLocks noGrp="1"/>
          </p:cNvSpPr>
          <p:nvPr/>
        </p:nvSpPr>
        <p:spPr>
          <a:xfrm rot="0">
            <a:off x="6604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9013248" name="Text">
    </p:cNvPr>
          <p:cNvSpPr>
            <a:spLocks noGrp="1"/>
          </p:cNvSpPr>
          <p:nvPr/>
        </p:nvSpPr>
        <p:spPr>
          <a:xfrm rot="0">
            <a:off x="58801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32806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584460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8416247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0085507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0850256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40163735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1732454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3007054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7186083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6419384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1742123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3684392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8013210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0001507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40756781" name="Text">
    </p:cNvPr>
          <p:cNvSpPr>
            <a:spLocks noGrp="1"/>
          </p:cNvSpPr>
          <p:nvPr/>
        </p:nvSpPr>
        <p:spPr>
          <a:xfrm rot="0">
            <a:off x="9702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</a:p>
        </p:txBody>
      </p:sp>
      <p:sp>
        <p:nvSpPr>
          <p:cNvPr id="344119042" name="Text">
    </p:cNvPr>
          <p:cNvSpPr>
            <a:spLocks noGrp="1"/>
          </p:cNvSpPr>
          <p:nvPr/>
        </p:nvSpPr>
        <p:spPr>
          <a:xfrm rot="0">
            <a:off x="93345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</a:p>
        </p:txBody>
      </p:sp>
      <p:sp>
        <p:nvSpPr>
          <p:cNvPr id="77302492" name="Text">
    </p:cNvPr>
          <p:cNvSpPr>
            <a:spLocks noGrp="1"/>
          </p:cNvSpPr>
          <p:nvPr/>
        </p:nvSpPr>
        <p:spPr>
          <a:xfrm rot="0">
            <a:off x="5930900" y="1511300"/>
            <a:ext cx="3403600" cy="3035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smartsuite Framework 1.0.9 버전 업그레이드 검토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반영 (운영)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</a:p>
        </p:txBody>
      </p:sp>
      <p:sp>
        <p:nvSpPr>
          <p:cNvPr id="1066238876" name="Text">
    </p:cNvPr>
          <p:cNvSpPr>
            <a:spLocks noGrp="1"/>
          </p:cNvSpPr>
          <p:nvPr/>
        </p:nvSpPr>
        <p:spPr>
          <a:xfrm rot="0">
            <a:off x="53086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45924418" name="Text">
    </p:cNvPr>
          <p:cNvSpPr>
            <a:spLocks noGrp="1"/>
          </p:cNvSpPr>
          <p:nvPr/>
        </p:nvSpPr>
        <p:spPr>
          <a:xfrm rot="0">
            <a:off x="889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02403410" name="Text">
    </p:cNvPr>
          <p:cNvSpPr>
            <a:spLocks noGrp="1"/>
          </p:cNvSpPr>
          <p:nvPr/>
        </p:nvSpPr>
        <p:spPr>
          <a:xfrm rot="0">
            <a:off x="711200" y="1511300"/>
            <a:ext cx="3403600" cy="3035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LOPAS DEV(SVN) - 운영 서버 코드 동기화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LOPAS PRD 서버 Windows 보안패치 및 점검 (일정 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 / 추후 고지)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2024년 2Q 시스템 모의해킹 취약점 점검 및 조치계획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회신 (1. 정보누출 / 2. HTTPS 미적용) [ 2024.07.24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완료 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물류비관리 &gt; 계획vs실적관리 &gt; 수송수단별 계획 vs 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적물류비현황 내 물량 / 단가 데이터 이상 점검 ( IF_TS_TRA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NS_COST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ISMS-P 인증심사 결함사항 확인요청 (VOC 테이블 목록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조회)회신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규정준수 모니터링 관련 처리기일 자료 요청 회신 (TSM-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114572)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</a:p>
        </p:txBody>
      </p:sp>
      <p:sp>
        <p:nvSpPr>
          <p:cNvPr id="1418053734" name="Text">
    </p:cNvPr>
          <p:cNvSpPr>
            <a:spLocks noGrp="1"/>
          </p:cNvSpPr>
          <p:nvPr/>
        </p:nvSpPr>
        <p:spPr>
          <a:xfrm rot="0">
            <a:off x="44831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</a:p>
        </p:txBody>
      </p:sp>
      <p:sp>
        <p:nvSpPr>
          <p:cNvPr id="130494473" name="Text">
    </p:cNvPr>
          <p:cNvSpPr>
            <a:spLocks noGrp="1"/>
          </p:cNvSpPr>
          <p:nvPr/>
        </p:nvSpPr>
        <p:spPr>
          <a:xfrm rot="0">
            <a:off x="48514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</a:p>
        </p:txBody>
      </p:sp>
      <p:sp>
        <p:nvSpPr>
          <p:cNvPr id="1303840801" name="Text">
    </p:cNvPr>
          <p:cNvSpPr>
            <a:spLocks noGrp="1"/>
          </p:cNvSpPr>
          <p:nvPr/>
        </p:nvSpPr>
        <p:spPr>
          <a:xfrm rot="0">
            <a:off x="4114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</a:p>
        </p:txBody>
      </p:sp>
      <p:sp>
        <p:nvSpPr>
          <p:cNvPr id="1113234747" name="Text">
    </p:cNvPr>
          <p:cNvSpPr>
            <a:spLocks noGrp="1"/>
          </p:cNvSpPr>
          <p:nvPr/>
        </p:nvSpPr>
        <p:spPr>
          <a:xfrm rot="0">
            <a:off x="6604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4645486" name="Text">
    </p:cNvPr>
          <p:cNvSpPr>
            <a:spLocks noGrp="1"/>
          </p:cNvSpPr>
          <p:nvPr/>
        </p:nvSpPr>
        <p:spPr>
          <a:xfrm rot="0">
            <a:off x="58801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65919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4570801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0961840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900586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3246361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8325106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3277461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972089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4119515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412325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7770106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7375787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1121808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8745612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8855446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533201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49328873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2024.6월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6월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SAP ERP TS 기능 변경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영업시설물 지원관리 시스템 관련 EAI PO번호 연동</a:t>
            </a:r>
          </a:p>
        </p:txBody>
      </p:sp>
      <p:sp>
        <p:nvSpPr>
          <p:cNvPr id="132321832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22127338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2535604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2024.5월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2024.6월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6월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구매요구서 내 LCC, 정성평가 체크박스 추가 요청(2차)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가족돌봄휴직의 비고란 및 인사부서메모란 전체 내용 표기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되도록 반영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영업시설물 시스템 추가 보완(연계 시스템)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SAP ERP TS 기능 변경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영업시설물 지원관리 시스템 관련 EAI PO번호 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 CrowdStrike의 Falcon제품군 패치 에러로 인한 VDI셋팅</a:t>
            </a:r>
          </a:p>
        </p:txBody>
      </p:sp>
      <p:sp>
        <p:nvSpPr>
          <p:cNvPr id="76941414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37048165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13362126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118379685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962290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