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  <p:sldId id="2565" r:id="rId5"/>
    <p:sldId id="2566" r:id="rId6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72052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189067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0829280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45586954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435789083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52286815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26574398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02015726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9565182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9016459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5449220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14324838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2009362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52546854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125471999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</a:p>
        </p:txBody>
      </p:sp>
      <p:sp>
        <p:nvSpPr>
          <p:cNvPr id="2047600722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</a:p>
        </p:txBody>
      </p:sp>
      <p:sp>
        <p:nvSpPr>
          <p:cNvPr id="85968231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ITSM-112364 e-Biz 장기미사용 계정 관리방안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ITSM-113275 업무용 경조화환 신청 및 관리시스템 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ITSM-113630탱크청소 검수서류 첨부 권한 부여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ITSM-113634 CCS(법인카드정산)시스템 적요란 글자수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증액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ITSM-114011 KRX 관련 추가수정</a:t>
            </a:r>
          </a:p>
        </p:txBody>
      </p:sp>
      <p:sp>
        <p:nvSpPr>
          <p:cNvPr id="251776261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1883874242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1428524257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ITSM-112364 e-Biz 장기미사용 계정 관리방안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ITSM-113275 업무용 경조화환 신청 및 관리시스템 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ITSM-113614 탱크청소 검수서류 첨부 권한 부여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ITSM-113634 CCS(법인카드정산)시스템 적요란 글자수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증액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ITSM-114011 KRX 관련 추가수정</a:t>
            </a:r>
          </a:p>
        </p:txBody>
      </p:sp>
      <p:sp>
        <p:nvSpPr>
          <p:cNvPr id="200734112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</a:p>
        </p:txBody>
      </p:sp>
      <p:sp>
        <p:nvSpPr>
          <p:cNvPr id="178153534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</a:p>
        </p:txBody>
      </p:sp>
      <p:sp>
        <p:nvSpPr>
          <p:cNvPr id="93038927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</a:p>
        </p:txBody>
      </p:sp>
      <p:sp>
        <p:nvSpPr>
          <p:cNvPr id="1322212759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23672603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5512936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</a:p>
        </p:txBody>
      </p:sp>
      <p:sp>
        <p:nvSpPr>
          <p:cNvPr id="402736104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</a:p>
        </p:txBody>
      </p:sp>
      <p:sp>
        <p:nvSpPr>
          <p:cNvPr id="748062362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[ITSM-112959]ERP Upgrade 관련 OAS Interface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웹동적점검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[ITSM-112945]일일 출하업무 Data 검증 기능 개발</a:t>
            </a:r>
          </a:p>
        </p:txBody>
      </p:sp>
      <p:sp>
        <p:nvSpPr>
          <p:cNvPr id="433805601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739864065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975007516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[ITSM-112959]ERP Upgrade 관련 OAS Interface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웹동적점검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[ITSM-112945]일일 출하업무 Data 검증 기능 개발</a:t>
            </a:r>
          </a:p>
        </p:txBody>
      </p:sp>
      <p:sp>
        <p:nvSpPr>
          <p:cNvPr id="1828901735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</a:p>
        </p:txBody>
      </p:sp>
      <p:sp>
        <p:nvSpPr>
          <p:cNvPr id="785616311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</a:p>
        </p:txBody>
      </p:sp>
      <p:sp>
        <p:nvSpPr>
          <p:cNvPr id="1759628380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</a:p>
        </p:txBody>
      </p:sp>
      <p:sp>
        <p:nvSpPr>
          <p:cNvPr id="1554344069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67357597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0347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60078717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8576876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35347236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7999514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79235448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0301632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13618992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5078777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2403676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5882899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072134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7395288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34267400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78233584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1310008209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</a:p>
        </p:txBody>
      </p:sp>
      <p:sp>
        <p:nvSpPr>
          <p:cNvPr id="395055827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영업시설지원 시스템추가보완</a:t>
            </a:r>
          </a:p>
        </p:txBody>
      </p:sp>
      <p:sp>
        <p:nvSpPr>
          <p:cNvPr id="2068167037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16466499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1849566626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탱크청소 검수서류 첨부 권한 부여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영업시설지원 시스템추가보완</a:t>
            </a:r>
          </a:p>
        </p:txBody>
      </p:sp>
      <p:sp>
        <p:nvSpPr>
          <p:cNvPr id="424917052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1334535226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</a:p>
        </p:txBody>
      </p:sp>
      <p:sp>
        <p:nvSpPr>
          <p:cNvPr id="1122209519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</a:p>
        </p:txBody>
      </p:sp>
      <p:sp>
        <p:nvSpPr>
          <p:cNvPr id="1567596580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01131245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04912972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</a:p>
        </p:txBody>
      </p:sp>
      <p:sp>
        <p:nvSpPr>
          <p:cNvPr id="319623149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</a:p>
        </p:txBody>
      </p:sp>
      <p:sp>
        <p:nvSpPr>
          <p:cNvPr id="868475688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ASM 변경 관리 요청 업무</a:t>
            </a:r>
          </a:p>
        </p:txBody>
      </p:sp>
      <p:sp>
        <p:nvSpPr>
          <p:cNvPr id="564599460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463091160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742252724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서비스 설치 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ITSM-113923 변경작업계획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SSL 인증서 교체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ITSM-108778 자동배포,ITSM-113287 배포상태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,ITSM-113629 배포상태 변경,ITSM-112970 변경결과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그룹웨어 모바일 설치 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그룹웨어 모바일 설치 지원</a:t>
            </a:r>
          </a:p>
        </p:txBody>
      </p:sp>
      <p:sp>
        <p:nvSpPr>
          <p:cNvPr id="4955320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</a:p>
        </p:txBody>
      </p:sp>
      <p:sp>
        <p:nvSpPr>
          <p:cNvPr id="421577775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</a:p>
        </p:txBody>
      </p:sp>
      <p:sp>
        <p:nvSpPr>
          <p:cNvPr id="1763320556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</a:p>
        </p:txBody>
      </p:sp>
      <p:sp>
        <p:nvSpPr>
          <p:cNvPr id="719411003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89390467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246061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7103393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0005575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44854010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45601133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4360329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10324210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8356954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2473924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9594612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809225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09915259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4512963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02727460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76509759" name="Text">
    </p:cNvPr>
          <p:cNvSpPr>
            <a:spLocks noGrp="1"/>
          </p:cNvSpPr>
          <p:nvPr/>
        </p:nvSpPr>
        <p:spPr>
          <a:xfrm rot="0">
            <a:off x="9702800" y="15113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</a:p>
        </p:txBody>
      </p:sp>
      <p:sp>
        <p:nvSpPr>
          <p:cNvPr id="119727399" name="Text">
    </p:cNvPr>
          <p:cNvSpPr>
            <a:spLocks noGrp="1"/>
          </p:cNvSpPr>
          <p:nvPr/>
        </p:nvSpPr>
        <p:spPr>
          <a:xfrm rot="0">
            <a:off x="9334500" y="15113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</a:p>
        </p:txBody>
      </p:sp>
      <p:sp>
        <p:nvSpPr>
          <p:cNvPr id="492093290" name="Text">
    </p:cNvPr>
          <p:cNvSpPr>
            <a:spLocks noGrp="1"/>
          </p:cNvSpPr>
          <p:nvPr/>
        </p:nvSpPr>
        <p:spPr>
          <a:xfrm rot="0">
            <a:off x="5930900" y="1511300"/>
            <a:ext cx="3403600" cy="25781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이상관리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'#3 외화 입금' 작업 재가동을 위한 A360 Migratio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n (보류)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'유럽 터미널사의 당사 재고 현황 수집' 작업 개발</a:t>
            </a:r>
          </a:p>
        </p:txBody>
      </p:sp>
      <p:sp>
        <p:nvSpPr>
          <p:cNvPr id="2000636615" name="Text">
    </p:cNvPr>
          <p:cNvSpPr>
            <a:spLocks noGrp="1"/>
          </p:cNvSpPr>
          <p:nvPr/>
        </p:nvSpPr>
        <p:spPr>
          <a:xfrm rot="0">
            <a:off x="5308600" y="1511300"/>
            <a:ext cx="5715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492090494" name="Text">
    </p:cNvPr>
          <p:cNvSpPr>
            <a:spLocks noGrp="1"/>
          </p:cNvSpPr>
          <p:nvPr/>
        </p:nvSpPr>
        <p:spPr>
          <a:xfrm rot="0">
            <a:off x="88900" y="1511300"/>
            <a:ext cx="5715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223306030" name="Text">
    </p:cNvPr>
          <p:cNvSpPr>
            <a:spLocks noGrp="1"/>
          </p:cNvSpPr>
          <p:nvPr/>
        </p:nvSpPr>
        <p:spPr>
          <a:xfrm rot="0">
            <a:off x="711200" y="1511300"/>
            <a:ext cx="3403600" cy="25781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115PC 작업 중단 확인 및 순차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'#4 외화송금' 작업 예외문서 포함처리 원인 확인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-&gt; RPA 입력 이력 없음. 모니터링 필요 -&gt; 새벽작업 녹화 및 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당자 전달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'구매자금 추심' 작업 실패 문의 응대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'나프타 수입부과금' 엑셀 다수의 중복 값 문의 -&gt;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담당자 수기입력 부분으로 인한 오류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rpa_poc01 계정 잠금 해제 및 113PC 화면 잠금 재부팅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'유럽 터미널사의 당사 재고 현황 수집' 작업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을 위한 논의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VDI 강제재부팅으로 인한 시스템 접근불가 접근 결재 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 및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[PPS] SSL 인증서 갱신 작업 완료 안내 및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AP1, AP2 서버 waslog 300여개 다운 및 특정구문 확인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MTE Studio 큐 정리</a:t>
            </a:r>
          </a:p>
        </p:txBody>
      </p:sp>
      <p:sp>
        <p:nvSpPr>
          <p:cNvPr id="894967810" name="Text">
    </p:cNvPr>
          <p:cNvSpPr>
            <a:spLocks noGrp="1"/>
          </p:cNvSpPr>
          <p:nvPr/>
        </p:nvSpPr>
        <p:spPr>
          <a:xfrm rot="0">
            <a:off x="4483100" y="15113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</a:p>
        </p:txBody>
      </p:sp>
      <p:sp>
        <p:nvSpPr>
          <p:cNvPr id="943467804" name="Text">
    </p:cNvPr>
          <p:cNvSpPr>
            <a:spLocks noGrp="1"/>
          </p:cNvSpPr>
          <p:nvPr/>
        </p:nvSpPr>
        <p:spPr>
          <a:xfrm rot="0">
            <a:off x="4851400" y="15113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</a:p>
        </p:txBody>
      </p:sp>
      <p:sp>
        <p:nvSpPr>
          <p:cNvPr id="7571745" name="Text">
    </p:cNvPr>
          <p:cNvSpPr>
            <a:spLocks noGrp="1"/>
          </p:cNvSpPr>
          <p:nvPr/>
        </p:nvSpPr>
        <p:spPr>
          <a:xfrm rot="0">
            <a:off x="4114800" y="15113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</a:p>
        </p:txBody>
      </p:sp>
      <p:sp>
        <p:nvSpPr>
          <p:cNvPr id="1984159248" name="Text">
    </p:cNvPr>
          <p:cNvSpPr>
            <a:spLocks noGrp="1"/>
          </p:cNvSpPr>
          <p:nvPr/>
        </p:nvSpPr>
        <p:spPr>
          <a:xfrm rot="0">
            <a:off x="660400" y="1511300"/>
            <a:ext cx="34544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0876266" name="Text">
    </p:cNvPr>
          <p:cNvSpPr>
            <a:spLocks noGrp="1"/>
          </p:cNvSpPr>
          <p:nvPr/>
        </p:nvSpPr>
        <p:spPr>
          <a:xfrm rot="0">
            <a:off x="5880100" y="1511300"/>
            <a:ext cx="34544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33157750" name="Text">
    </p:cNvPr>
          <p:cNvSpPr>
            <a:spLocks noGrp="1"/>
          </p:cNvSpPr>
          <p:nvPr/>
        </p:nvSpPr>
        <p:spPr>
          <a:xfrm rot="0">
            <a:off x="9702800" y="40894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1204064698" name="Text">
    </p:cNvPr>
          <p:cNvSpPr>
            <a:spLocks noGrp="1"/>
          </p:cNvSpPr>
          <p:nvPr/>
        </p:nvSpPr>
        <p:spPr>
          <a:xfrm rot="0">
            <a:off x="9334500" y="40894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</a:p>
        </p:txBody>
      </p:sp>
      <p:sp>
        <p:nvSpPr>
          <p:cNvPr id="790586380" name="Text">
    </p:cNvPr>
          <p:cNvSpPr>
            <a:spLocks noGrp="1"/>
          </p:cNvSpPr>
          <p:nvPr/>
        </p:nvSpPr>
        <p:spPr>
          <a:xfrm rot="0">
            <a:off x="5930900" y="40894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업무용 경조화환 신청 및 관리시스템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구매요구서 내 LCC, 정성평가 체크박스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배우자 동반 무급휴직 신청서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CCS(법인카드정산)시스템 적요란 글자수 증액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영업시설물 시스템 추가 보완(연계 시스템)</a:t>
            </a:r>
          </a:p>
        </p:txBody>
      </p:sp>
      <p:sp>
        <p:nvSpPr>
          <p:cNvPr id="1355297261" name="Text">
    </p:cNvPr>
          <p:cNvSpPr>
            <a:spLocks noGrp="1"/>
          </p:cNvSpPr>
          <p:nvPr/>
        </p:nvSpPr>
        <p:spPr>
          <a:xfrm rot="0">
            <a:off x="5308600" y="40894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451662611" name="Text">
    </p:cNvPr>
          <p:cNvSpPr>
            <a:spLocks noGrp="1"/>
          </p:cNvSpPr>
          <p:nvPr/>
        </p:nvSpPr>
        <p:spPr>
          <a:xfrm rot="0">
            <a:off x="88900" y="40894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2034354357" name="Text">
    </p:cNvPr>
          <p:cNvSpPr>
            <a:spLocks noGrp="1"/>
          </p:cNvSpPr>
          <p:nvPr/>
        </p:nvSpPr>
        <p:spPr>
          <a:xfrm rot="0">
            <a:off x="711200" y="40894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업무용 경조화환 신청 및 관리시스템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구매요구서 내 LCC, 정성평가 체크박스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배우자 동반 무급휴직 신청서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CCS(법인카드정산)시스템 적요란 글자수 증액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영업시설물 시스템 추가 보완(연계 시스템)</a:t>
            </a:r>
          </a:p>
        </p:txBody>
      </p:sp>
      <p:sp>
        <p:nvSpPr>
          <p:cNvPr id="757791893" name="Text">
    </p:cNvPr>
          <p:cNvSpPr>
            <a:spLocks noGrp="1"/>
          </p:cNvSpPr>
          <p:nvPr/>
        </p:nvSpPr>
        <p:spPr>
          <a:xfrm rot="0">
            <a:off x="4483100" y="40894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1023207300" name="Text">
    </p:cNvPr>
          <p:cNvSpPr>
            <a:spLocks noGrp="1"/>
          </p:cNvSpPr>
          <p:nvPr/>
        </p:nvSpPr>
        <p:spPr>
          <a:xfrm rot="0">
            <a:off x="4851400" y="40894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</a:p>
        </p:txBody>
      </p:sp>
      <p:sp>
        <p:nvSpPr>
          <p:cNvPr id="2018232387" name="Text">
    </p:cNvPr>
          <p:cNvSpPr>
            <a:spLocks noGrp="1"/>
          </p:cNvSpPr>
          <p:nvPr/>
        </p:nvSpPr>
        <p:spPr>
          <a:xfrm rot="0">
            <a:off x="4114800" y="40894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</a:p>
        </p:txBody>
      </p:sp>
      <p:sp>
        <p:nvSpPr>
          <p:cNvPr id="255370143" name="Text">
    </p:cNvPr>
          <p:cNvSpPr>
            <a:spLocks noGrp="1"/>
          </p:cNvSpPr>
          <p:nvPr/>
        </p:nvSpPr>
        <p:spPr>
          <a:xfrm rot="0">
            <a:off x="660400" y="40894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72123833" name="Text">
    </p:cNvPr>
          <p:cNvSpPr>
            <a:spLocks noGrp="1"/>
          </p:cNvSpPr>
          <p:nvPr/>
        </p:nvSpPr>
        <p:spPr>
          <a:xfrm rot="0">
            <a:off x="5880100" y="40894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27188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794844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2135880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45196308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099029561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23689451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1541105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0821037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49854488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2733207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4382672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60603772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420926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15362611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86346499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</a:p>
        </p:txBody>
      </p:sp>
      <p:sp>
        <p:nvSpPr>
          <p:cNvPr id="1208300293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</a:p>
        </p:txBody>
      </p:sp>
      <p:sp>
        <p:nvSpPr>
          <p:cNvPr id="349705428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메뉴(작업정산관리) -&gt; 프로시저 수정, 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이징처리</a:t>
            </a:r>
          </a:p>
        </p:txBody>
      </p:sp>
      <p:sp>
        <p:nvSpPr>
          <p:cNvPr id="1204395154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809020486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1363422303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메뉴(작업정산관리) -&gt; 프로시저 수정, 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ITSM-113878, ITSM-113927, ITSM-113933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ITSM-113965, ITSM-113919, ITSM-113997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ITSM-113998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ITSM-114059, ITSM-114066메일요청 -&gt; A20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-24-0014(첨부파일수정), A51-24-0187(내용수정)</a:t>
            </a:r>
          </a:p>
        </p:txBody>
      </p:sp>
      <p:sp>
        <p:nvSpPr>
          <p:cNvPr id="91159575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</a:p>
        </p:txBody>
      </p:sp>
      <p:sp>
        <p:nvSpPr>
          <p:cNvPr id="248040740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</a:p>
        </p:txBody>
      </p:sp>
      <p:sp>
        <p:nvSpPr>
          <p:cNvPr id="2070350375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</a:p>
        </p:txBody>
      </p:sp>
      <p:sp>
        <p:nvSpPr>
          <p:cNvPr id="196208576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43489509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24475413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</a:p>
        </p:txBody>
      </p:sp>
      <p:sp>
        <p:nvSpPr>
          <p:cNvPr id="1926327588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</a:p>
        </p:txBody>
      </p:sp>
      <p:sp>
        <p:nvSpPr>
          <p:cNvPr id="1994001241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ITSM-108725 엔지니어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ITSM-114010 ERM 시스템 기능 수정 요청</a:t>
            </a:r>
          </a:p>
        </p:txBody>
      </p:sp>
      <p:sp>
        <p:nvSpPr>
          <p:cNvPr id="1726004067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1957608573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233789313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ITSM-108725 엔지니어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퇴직자가 정기적검토 이메일의 수신자로 아직 남아 있음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.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[Spot Check] MSDS 차기 검토일 관련 문의 및 S-MSDS-2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225 차기검토일 변경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ERS 신규 입사자 사용자 연계 배치 재실행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ITSM-114010 ERM 시스템 기능 수정 요청</a:t>
            </a:r>
          </a:p>
        </p:txBody>
      </p:sp>
      <p:sp>
        <p:nvSpPr>
          <p:cNvPr id="726209958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</a:p>
        </p:txBody>
      </p:sp>
      <p:sp>
        <p:nvSpPr>
          <p:cNvPr id="1209108495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</a:p>
        </p:txBody>
      </p:sp>
      <p:sp>
        <p:nvSpPr>
          <p:cNvPr id="1239259172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</a:p>
        </p:txBody>
      </p:sp>
      <p:sp>
        <p:nvSpPr>
          <p:cNvPr id="1056542145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68562077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248754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3959893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5596087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5669056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097713371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31464517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5298412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1754606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6157901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0607703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4867855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7112743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6651179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7866879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38067082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</a:p>
        </p:txBody>
      </p:sp>
      <p:sp>
        <p:nvSpPr>
          <p:cNvPr id="930051874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</a:p>
        </p:txBody>
      </p:sp>
      <p:sp>
        <p:nvSpPr>
          <p:cNvPr id="86081636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사이버 보안 컴플라이언스 점검 조치 사항 中- 동시접속제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 기능 구현- 관리자 페이지 IP 검증 기능 구현- 세션타임 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구현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운영 서버 JDK 업그레이드 검토 1.5 -&gt; 1.8</a:t>
            </a:r>
          </a:p>
        </p:txBody>
      </p:sp>
      <p:sp>
        <p:nvSpPr>
          <p:cNvPr id="34178194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946276322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941321767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금융결제원 상품권 데이터 전송 여부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사용자 Mobile App 비밀번호 분실 초기화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사이버 보안 컴플라이언스 점검 조치 사항 中- 동시접속제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 기능 구현- 관리자 페이지 IP 검증 기능 구현- 세션타임 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구현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SP414 (투자예산장기미집행) 시나리오 로직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SP055 (매출채권이 담보가액을 초과) 시나리오 당일 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는 전일 채권합계액 SAP과 차이 발생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SP062 (과도한 상품권 대금 결제) 시나리오 07.08 이후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검출 데이터 오류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IT운영 관련 프로그램 실행 허용 신청서 결재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- 24 개인정보보호 교육 참여</a:t>
            </a:r>
          </a:p>
        </p:txBody>
      </p:sp>
      <p:sp>
        <p:nvSpPr>
          <p:cNvPr id="825293792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07/11</a:t>
            </a:r>
            <a:br/>
          </a:p>
        </p:txBody>
      </p:sp>
      <p:sp>
        <p:nvSpPr>
          <p:cNvPr id="2144588864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75%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07/11</a:t>
            </a:r>
            <a:br/>
          </a:p>
        </p:txBody>
      </p:sp>
      <p:sp>
        <p:nvSpPr>
          <p:cNvPr id="86480025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07/11</a:t>
            </a:r>
            <a:br/>
          </a:p>
        </p:txBody>
      </p:sp>
      <p:sp>
        <p:nvSpPr>
          <p:cNvPr id="1714333772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58409874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28841752" name="Text">
    </p:cNvPr>
          <p:cNvSpPr>
            <a:spLocks noGrp="1"/>
          </p:cNvSpPr>
          <p:nvPr/>
        </p:nvSpPr>
        <p:spPr>
          <a:xfrm rot="0">
            <a:off x="97028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</a:p>
        </p:txBody>
      </p:sp>
      <p:sp>
        <p:nvSpPr>
          <p:cNvPr id="148756209" name="Text">
    </p:cNvPr>
          <p:cNvSpPr>
            <a:spLocks noGrp="1"/>
          </p:cNvSpPr>
          <p:nvPr/>
        </p:nvSpPr>
        <p:spPr>
          <a:xfrm rot="0">
            <a:off x="93345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br/>
          </a:p>
        </p:txBody>
      </p:sp>
      <p:sp>
        <p:nvSpPr>
          <p:cNvPr id="463627118" name="Text">
    </p:cNvPr>
          <p:cNvSpPr>
            <a:spLocks noGrp="1"/>
          </p:cNvSpPr>
          <p:nvPr/>
        </p:nvSpPr>
        <p:spPr>
          <a:xfrm rot="0">
            <a:off x="5930900" y="3771900"/>
            <a:ext cx="3403600" cy="25781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LOPAS DEV 서버 Windows 보안패치 및 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기준정보 &gt; 선박 운항 동정표 관리 내 [ 연간항차 / 월항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 ] 검색 필터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SAP DS 배치 중단 현상 관련 조치 및 점검 요청 ( * 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영 여부 모니터링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HQBCAPPD (192.168.40.231, DEV) EOS 관련 확인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및 공수/일정 공유 (JEUS 업그레이드)</a:t>
            </a:r>
          </a:p>
        </p:txBody>
      </p:sp>
      <p:sp>
        <p:nvSpPr>
          <p:cNvPr id="1983652776" name="Text">
    </p:cNvPr>
          <p:cNvSpPr>
            <a:spLocks noGrp="1"/>
          </p:cNvSpPr>
          <p:nvPr/>
        </p:nvSpPr>
        <p:spPr>
          <a:xfrm rot="0">
            <a:off x="5308600" y="3771900"/>
            <a:ext cx="5715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2133487016" name="Text">
    </p:cNvPr>
          <p:cNvSpPr>
            <a:spLocks noGrp="1"/>
          </p:cNvSpPr>
          <p:nvPr/>
        </p:nvSpPr>
        <p:spPr>
          <a:xfrm rot="0">
            <a:off x="88900" y="3771900"/>
            <a:ext cx="5715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421938914" name="Text">
    </p:cNvPr>
          <p:cNvSpPr>
            <a:spLocks noGrp="1"/>
          </p:cNvSpPr>
          <p:nvPr/>
        </p:nvSpPr>
        <p:spPr>
          <a:xfrm rot="0">
            <a:off x="711200" y="3771900"/>
            <a:ext cx="3403600" cy="25781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[CISO] 2024 개인정보보호 사내 교육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LOPAS PRD 서버 SSL 및 웹 방화벽 인증서 갱신 및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기준정보 &gt; 선박 운항 동정표 관리 내 [ 연간항차 / 월항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 ] 검색 필터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SAP DS 배치 중단 현상 관련 조치 및 점검 요청 ( * 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영 여부 모니터링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접속로그관리 내 값이 지정되지 않은 미사용 컬럼 주석 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2024 상반기 VOC DB(전체) 데이터 조회 처리(정보처리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신청서 승인 후 조치) [ITSM-113803]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VOC PRD 서버 SSL 및 웹 방화벽 인증서 갱신 및 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HQBCAPPD (192.168.40.231, DEV) EOS 관련 확인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및 공수/일정 공유 (JEUS 업그레이드)</a:t>
            </a:r>
          </a:p>
        </p:txBody>
      </p:sp>
      <p:sp>
        <p:nvSpPr>
          <p:cNvPr id="286785467" name="Text">
    </p:cNvPr>
          <p:cNvSpPr>
            <a:spLocks noGrp="1"/>
          </p:cNvSpPr>
          <p:nvPr/>
        </p:nvSpPr>
        <p:spPr>
          <a:xfrm rot="0">
            <a:off x="44831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</a:p>
        </p:txBody>
      </p:sp>
      <p:sp>
        <p:nvSpPr>
          <p:cNvPr id="111263570" name="Text">
    </p:cNvPr>
          <p:cNvSpPr>
            <a:spLocks noGrp="1"/>
          </p:cNvSpPr>
          <p:nvPr/>
        </p:nvSpPr>
        <p:spPr>
          <a:xfrm rot="0">
            <a:off x="48514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15%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</a:p>
        </p:txBody>
      </p:sp>
      <p:sp>
        <p:nvSpPr>
          <p:cNvPr id="709543171" name="Text">
    </p:cNvPr>
          <p:cNvSpPr>
            <a:spLocks noGrp="1"/>
          </p:cNvSpPr>
          <p:nvPr/>
        </p:nvSpPr>
        <p:spPr>
          <a:xfrm rot="0">
            <a:off x="41148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br/>
          </a:p>
        </p:txBody>
      </p:sp>
      <p:sp>
        <p:nvSpPr>
          <p:cNvPr id="32540670" name="Text">
    </p:cNvPr>
          <p:cNvSpPr>
            <a:spLocks noGrp="1"/>
          </p:cNvSpPr>
          <p:nvPr/>
        </p:nvSpPr>
        <p:spPr>
          <a:xfrm rot="0">
            <a:off x="660400" y="3771900"/>
            <a:ext cx="34544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00348764" name="Text">
    </p:cNvPr>
          <p:cNvSpPr>
            <a:spLocks noGrp="1"/>
          </p:cNvSpPr>
          <p:nvPr/>
        </p:nvSpPr>
        <p:spPr>
          <a:xfrm rot="0">
            <a:off x="5880100" y="3771900"/>
            <a:ext cx="34544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54459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8442330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7182438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34819950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441023772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50303834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030951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7477124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10969726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7003141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9814795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9672909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9860300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06732927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15086658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</a:p>
        </p:txBody>
      </p:sp>
      <p:sp>
        <p:nvSpPr>
          <p:cNvPr id="56993680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</a:p>
        </p:txBody>
      </p:sp>
      <p:sp>
        <p:nvSpPr>
          <p:cNvPr id="375145029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2024.5월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구매요구서 내 LCC, 정성평가 체크박스 추가 요청(2차)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배우자 동반 무급휴직 신청서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영업시설물 시스템 추가 보완(연계 시스템)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SGI서울보증 차세대시스템 구축에 따른 전자보증 시스템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테스트</a:t>
            </a:r>
          </a:p>
        </p:txBody>
      </p:sp>
      <p:sp>
        <p:nvSpPr>
          <p:cNvPr id="719308637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494466929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2016998104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2024.5월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배우자 동반 무급휴직 신청서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입고/납품완료 불일치 모니터링 i/f 필드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구매요구서 내 LCC, 정성평가 체크박스 추가 요청(2차)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영업시설물 시스템 추가 보완(연계 시스템)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 신규개발 AP서버의 인증서 설치 및 Cipher.propert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ies 서버설정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 I/F 항목별 담당자 확인요청</a:t>
            </a:r>
          </a:p>
        </p:txBody>
      </p:sp>
      <p:sp>
        <p:nvSpPr>
          <p:cNvPr id="201509360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07/11</a:t>
            </a:r>
            <a:br/>
          </a:p>
        </p:txBody>
      </p:sp>
      <p:sp>
        <p:nvSpPr>
          <p:cNvPr id="1488130562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07/11</a:t>
            </a:r>
            <a:br/>
          </a:p>
        </p:txBody>
      </p:sp>
      <p:sp>
        <p:nvSpPr>
          <p:cNvPr id="44741914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07/11</a:t>
            </a:r>
            <a:br/>
          </a:p>
        </p:txBody>
      </p:sp>
      <p:sp>
        <p:nvSpPr>
          <p:cNvPr id="1027287461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69788859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