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2024-06-25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[2024.06.25 ~ 2024.07.01]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7월 1주차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31525735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07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57468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1652088277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655346021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997938310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929920136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325030341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26526576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1147577913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418599689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01549419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305900667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1662883691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643440922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37266479" name="Frame"/>
          <p:cNvSpPr>
            <a:spLocks noGrp="1"/>
          </p:cNvSpPr>
          <p:nvPr/>
        </p:nvSpPr>
        <p:spPr>
          <a:xfrm>
            <a:off x="25400" y="50927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21242572" name="Text">
    </p:cNvPr>
          <p:cNvSpPr>
            <a:spLocks noGrp="1"/>
          </p:cNvSpPr>
          <p:nvPr/>
        </p:nvSpPr>
        <p:spPr>
          <a:xfrm rot="0">
            <a:off x="152400" y="51181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071269238" name="Text">
    </p:cNvPr>
          <p:cNvSpPr>
            <a:spLocks noGrp="1"/>
          </p:cNvSpPr>
          <p:nvPr/>
        </p:nvSpPr>
        <p:spPr>
          <a:xfrm rot="0">
            <a:off x="6451600" y="56515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3239468" name="Text">
    </p:cNvPr>
          <p:cNvSpPr>
            <a:spLocks noGrp="1"/>
          </p:cNvSpPr>
          <p:nvPr/>
        </p:nvSpPr>
        <p:spPr>
          <a:xfrm rot="0">
            <a:off x="2057400" y="56515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41865412" name="Text">
    </p:cNvPr>
          <p:cNvSpPr>
            <a:spLocks noGrp="1"/>
          </p:cNvSpPr>
          <p:nvPr/>
        </p:nvSpPr>
        <p:spPr>
          <a:xfrm rot="0">
            <a:off x="101600" y="56515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6834954" name="Text">
    </p:cNvPr>
          <p:cNvSpPr>
            <a:spLocks noGrp="1"/>
          </p:cNvSpPr>
          <p:nvPr/>
        </p:nvSpPr>
        <p:spPr>
          <a:xfrm rot="0">
            <a:off x="101600" y="54102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657989344" name="Text">
    </p:cNvPr>
          <p:cNvSpPr>
            <a:spLocks noGrp="1"/>
          </p:cNvSpPr>
          <p:nvPr/>
        </p:nvSpPr>
        <p:spPr>
          <a:xfrm rot="0">
            <a:off x="2057400" y="54102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498093235" name="Text">
    </p:cNvPr>
          <p:cNvSpPr>
            <a:spLocks noGrp="1"/>
          </p:cNvSpPr>
          <p:nvPr/>
        </p:nvSpPr>
        <p:spPr>
          <a:xfrm rot="0">
            <a:off x="6451600" y="54102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728931831" name="Text">
    </p:cNvPr>
          <p:cNvSpPr>
            <a:spLocks noGrp="1"/>
          </p:cNvSpPr>
          <p:nvPr/>
        </p:nvSpPr>
        <p:spPr>
          <a:xfrm rot="0">
            <a:off x="101600" y="59436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95165118" name="Text">
    </p:cNvPr>
          <p:cNvSpPr>
            <a:spLocks noGrp="1"/>
          </p:cNvSpPr>
          <p:nvPr/>
        </p:nvSpPr>
        <p:spPr>
          <a:xfrm rot="0">
            <a:off x="6451600" y="59436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0703059" name="Text">
    </p:cNvPr>
          <p:cNvSpPr>
            <a:spLocks noGrp="1"/>
          </p:cNvSpPr>
          <p:nvPr/>
        </p:nvSpPr>
        <p:spPr>
          <a:xfrm rot="0">
            <a:off x="2057400" y="59436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6495213" name="Text">
    </p:cNvPr>
          <p:cNvSpPr>
            <a:spLocks noGrp="1"/>
          </p:cNvSpPr>
          <p:nvPr/>
        </p:nvSpPr>
        <p:spPr>
          <a:xfrm rot="0">
            <a:off x="1244600" y="59436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168159" name="Text">
    </p:cNvPr>
          <p:cNvSpPr>
            <a:spLocks noGrp="1"/>
          </p:cNvSpPr>
          <p:nvPr/>
        </p:nvSpPr>
        <p:spPr>
          <a:xfrm rot="0">
            <a:off x="1244600" y="56515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5839874" name="Text">
    </p:cNvPr>
          <p:cNvSpPr>
            <a:spLocks noGrp="1"/>
          </p:cNvSpPr>
          <p:nvPr/>
        </p:nvSpPr>
        <p:spPr>
          <a:xfrm rot="0">
            <a:off x="1244600" y="54102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1888291853" name="Text">
    </p:cNvPr>
          <p:cNvSpPr>
            <a:spLocks noGrp="1"/>
          </p:cNvSpPr>
          <p:nvPr/>
        </p:nvSpPr>
        <p:spPr>
          <a:xfrm rot="0">
            <a:off x="8102600" y="59436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7727724" name="Text">
    </p:cNvPr>
          <p:cNvSpPr>
            <a:spLocks noGrp="1"/>
          </p:cNvSpPr>
          <p:nvPr/>
        </p:nvSpPr>
        <p:spPr>
          <a:xfrm rot="0">
            <a:off x="8102600" y="54102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526364928" name="Text">
    </p:cNvPr>
          <p:cNvSpPr>
            <a:spLocks noGrp="1"/>
          </p:cNvSpPr>
          <p:nvPr/>
        </p:nvSpPr>
        <p:spPr>
          <a:xfrm rot="0">
            <a:off x="8102600" y="56515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1829221" name="Frame"/>
          <p:cNvSpPr>
            <a:spLocks noGrp="1"/>
          </p:cNvSpPr>
          <p:nvPr/>
        </p:nvSpPr>
        <p:spPr>
          <a:xfrm>
            <a:off x="101600" y="28321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122577615" name="Text">
    </p:cNvPr>
          <p:cNvSpPr>
            <a:spLocks noGrp="1"/>
          </p:cNvSpPr>
          <p:nvPr/>
        </p:nvSpPr>
        <p:spPr>
          <a:xfrm rot="0">
            <a:off x="165100" y="28956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7862440" name="Text">
    </p:cNvPr>
          <p:cNvSpPr>
            <a:spLocks noGrp="1"/>
          </p:cNvSpPr>
          <p:nvPr/>
        </p:nvSpPr>
        <p:spPr>
          <a:xfrm rot="0">
            <a:off x="152400" y="28575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156620280" name="Text">
    </p:cNvPr>
          <p:cNvSpPr>
            <a:spLocks noGrp="1"/>
          </p:cNvSpPr>
          <p:nvPr/>
        </p:nvSpPr>
        <p:spPr>
          <a:xfrm rot="0">
            <a:off x="165100" y="31115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2065984005" name="Text">
    </p:cNvPr>
          <p:cNvSpPr>
            <a:spLocks noGrp="1"/>
          </p:cNvSpPr>
          <p:nvPr/>
        </p:nvSpPr>
        <p:spPr>
          <a:xfrm rot="0">
            <a:off x="901700" y="31115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9582842" name="Text">
    </p:cNvPr>
          <p:cNvSpPr>
            <a:spLocks noGrp="1"/>
          </p:cNvSpPr>
          <p:nvPr/>
        </p:nvSpPr>
        <p:spPr>
          <a:xfrm rot="0">
            <a:off x="5549900" y="31115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662065993" name="Text">
    </p:cNvPr>
          <p:cNvSpPr>
            <a:spLocks noGrp="1"/>
          </p:cNvSpPr>
          <p:nvPr/>
        </p:nvSpPr>
        <p:spPr>
          <a:xfrm rot="0">
            <a:off x="6121400" y="31115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593383820" name="Frame"/>
          <p:cNvSpPr>
            <a:spLocks noGrp="1"/>
          </p:cNvSpPr>
          <p:nvPr/>
        </p:nvSpPr>
        <p:spPr>
          <a:xfrm>
            <a:off x="165100" y="43053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71098272" name="Text">
    </p:cNvPr>
          <p:cNvSpPr>
            <a:spLocks noGrp="1"/>
          </p:cNvSpPr>
          <p:nvPr/>
        </p:nvSpPr>
        <p:spPr>
          <a:xfrm rot="0">
            <a:off x="165100" y="42799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240145754" name="Text">
    </p:cNvPr>
          <p:cNvSpPr>
            <a:spLocks noGrp="1"/>
          </p:cNvSpPr>
          <p:nvPr/>
        </p:nvSpPr>
        <p:spPr>
          <a:xfrm rot="0">
            <a:off x="965200" y="43307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구축(3차)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구매관련 기안지 RODA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신용보증기금 연동 모듈 변경에 따른 설치 및 테스트</a:t>
            </a:r>
          </a:p>
        </p:txBody>
      </p:sp>
      <p:sp>
        <p:nvSpPr>
          <p:cNvPr id="1707141772" name="Text">
    </p:cNvPr>
          <p:cNvSpPr>
            <a:spLocks noGrp="1"/>
          </p:cNvSpPr>
          <p:nvPr/>
        </p:nvSpPr>
        <p:spPr>
          <a:xfrm rot="0">
            <a:off x="7239000" y="43307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876811657" name="Text">
    </p:cNvPr>
          <p:cNvSpPr>
            <a:spLocks noGrp="1"/>
          </p:cNvSpPr>
          <p:nvPr/>
        </p:nvSpPr>
        <p:spPr>
          <a:xfrm rot="0">
            <a:off x="5549900" y="43307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1556389842" name="Text">
    </p:cNvPr>
          <p:cNvSpPr>
            <a:spLocks noGrp="1"/>
          </p:cNvSpPr>
          <p:nvPr/>
        </p:nvSpPr>
        <p:spPr>
          <a:xfrm rot="0">
            <a:off x="901700" y="42799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45518485" name="Text">
    </p:cNvPr>
          <p:cNvSpPr>
            <a:spLocks noGrp="1"/>
          </p:cNvSpPr>
          <p:nvPr/>
        </p:nvSpPr>
        <p:spPr>
          <a:xfrm rot="0">
            <a:off x="6121400" y="42799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43382677" name="Text">
    </p:cNvPr>
          <p:cNvSpPr>
            <a:spLocks noGrp="1"/>
          </p:cNvSpPr>
          <p:nvPr/>
        </p:nvSpPr>
        <p:spPr>
          <a:xfrm rot="0">
            <a:off x="5549900" y="42799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3794441" name="Frame"/>
          <p:cNvSpPr>
            <a:spLocks noGrp="1"/>
          </p:cNvSpPr>
          <p:nvPr/>
        </p:nvSpPr>
        <p:spPr>
          <a:xfrm>
            <a:off x="165100" y="34544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24214548" name="Text">
    </p:cNvPr>
          <p:cNvSpPr>
            <a:spLocks noGrp="1"/>
          </p:cNvSpPr>
          <p:nvPr/>
        </p:nvSpPr>
        <p:spPr>
          <a:xfrm rot="0">
            <a:off x="165100" y="34544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560782346" name="Text">
    </p:cNvPr>
          <p:cNvSpPr>
            <a:spLocks noGrp="1"/>
          </p:cNvSpPr>
          <p:nvPr/>
        </p:nvSpPr>
        <p:spPr>
          <a:xfrm rot="0">
            <a:off x="965200" y="35306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구매요구서 내 LCC, 정성평가 체크박스 추가 요청* LLC(Life Cycle Costing), 정성평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가 관련 로직 반영 및 인터페이스 수정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ITSM-107407자영대리점 거래처 관리업무 간소화 추진(1차)</a:t>
            </a:r>
          </a:p>
        </p:txBody>
      </p:sp>
      <p:sp>
        <p:nvSpPr>
          <p:cNvPr id="885077989" name="Text">
    </p:cNvPr>
          <p:cNvSpPr>
            <a:spLocks noGrp="1"/>
          </p:cNvSpPr>
          <p:nvPr/>
        </p:nvSpPr>
        <p:spPr>
          <a:xfrm rot="0">
            <a:off x="7239000" y="35306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72264567" name="Text">
    </p:cNvPr>
          <p:cNvSpPr>
            <a:spLocks noGrp="1"/>
          </p:cNvSpPr>
          <p:nvPr/>
        </p:nvSpPr>
        <p:spPr>
          <a:xfrm rot="0">
            <a:off x="5549900" y="35306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</a:p>
        </p:txBody>
      </p:sp>
      <p:sp>
        <p:nvSpPr>
          <p:cNvPr id="1574576041" name="Text">
    </p:cNvPr>
          <p:cNvSpPr>
            <a:spLocks noGrp="1"/>
          </p:cNvSpPr>
          <p:nvPr/>
        </p:nvSpPr>
        <p:spPr>
          <a:xfrm rot="0">
            <a:off x="901700" y="34544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37322900" name="Text">
    </p:cNvPr>
          <p:cNvSpPr>
            <a:spLocks noGrp="1"/>
          </p:cNvSpPr>
          <p:nvPr/>
        </p:nvSpPr>
        <p:spPr>
          <a:xfrm rot="0">
            <a:off x="6121400" y="34544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59715628" name="Text">
    </p:cNvPr>
          <p:cNvSpPr>
            <a:spLocks noGrp="1"/>
          </p:cNvSpPr>
          <p:nvPr/>
        </p:nvSpPr>
        <p:spPr>
          <a:xfrm rot="0">
            <a:off x="5549900" y="34544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1974884" name="Frame"/>
          <p:cNvSpPr>
            <a:spLocks noGrp="1"/>
          </p:cNvSpPr>
          <p:nvPr/>
        </p:nvSpPr>
        <p:spPr>
          <a:xfrm>
            <a:off x="127000" y="1384300"/>
            <a:ext cx="9779000" cy="1308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768589842" name="Frame"/>
          <p:cNvSpPr>
            <a:spLocks noGrp="1"/>
          </p:cNvSpPr>
          <p:nvPr/>
        </p:nvSpPr>
        <p:spPr>
          <a:xfrm>
            <a:off x="152400" y="20701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2068645391" name="Text">
    </p:cNvPr>
          <p:cNvSpPr>
            <a:spLocks noGrp="1"/>
          </p:cNvSpPr>
          <p:nvPr/>
        </p:nvSpPr>
        <p:spPr>
          <a:xfrm rot="0">
            <a:off x="152400" y="20447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1335553116" name="Text">
    </p:cNvPr>
          <p:cNvSpPr>
            <a:spLocks noGrp="1"/>
          </p:cNvSpPr>
          <p:nvPr/>
        </p:nvSpPr>
        <p:spPr>
          <a:xfrm rot="0">
            <a:off x="952500" y="20955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[OSPM] 정산서작성 오류수정(DMZ영역)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ERM 시스템 프로파일 반경에 따른 Risk assessment 반영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구매요구서 내 LCC, 정성평가 체크박스 추가 요청(1차)</a:t>
            </a:r>
          </a:p>
        </p:txBody>
      </p:sp>
      <p:sp>
        <p:nvSpPr>
          <p:cNvPr id="738869261" name="Text">
    </p:cNvPr>
          <p:cNvSpPr>
            <a:spLocks noGrp="1"/>
          </p:cNvSpPr>
          <p:nvPr/>
        </p:nvSpPr>
        <p:spPr>
          <a:xfrm rot="0">
            <a:off x="7226300" y="20955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294479236" name="Text">
    </p:cNvPr>
          <p:cNvSpPr>
            <a:spLocks noGrp="1"/>
          </p:cNvSpPr>
          <p:nvPr/>
        </p:nvSpPr>
        <p:spPr>
          <a:xfrm rot="0">
            <a:off x="6108700" y="20447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40072388" name="Text">
    </p:cNvPr>
          <p:cNvSpPr>
            <a:spLocks noGrp="1"/>
          </p:cNvSpPr>
          <p:nvPr/>
        </p:nvSpPr>
        <p:spPr>
          <a:xfrm rot="0">
            <a:off x="5537200" y="20955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</a:p>
        </p:txBody>
      </p:sp>
      <p:sp>
        <p:nvSpPr>
          <p:cNvPr id="444825816" name="Text">
    </p:cNvPr>
          <p:cNvSpPr>
            <a:spLocks noGrp="1"/>
          </p:cNvSpPr>
          <p:nvPr/>
        </p:nvSpPr>
        <p:spPr>
          <a:xfrm rot="0">
            <a:off x="889000" y="20447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93950381" name="Text">
    </p:cNvPr>
          <p:cNvSpPr>
            <a:spLocks noGrp="1"/>
          </p:cNvSpPr>
          <p:nvPr/>
        </p:nvSpPr>
        <p:spPr>
          <a:xfrm rot="0">
            <a:off x="7124700" y="20447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4607602" name="Text">
    </p:cNvPr>
          <p:cNvSpPr>
            <a:spLocks noGrp="1"/>
          </p:cNvSpPr>
          <p:nvPr/>
        </p:nvSpPr>
        <p:spPr>
          <a:xfrm rot="0">
            <a:off x="5537200" y="20447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4832695" name="Rectangle"/>
          <p:cNvSpPr>
            <a:spLocks noGrp="1"/>
          </p:cNvSpPr>
          <p:nvPr/>
        </p:nvSpPr>
        <p:spPr>
          <a:xfrm>
            <a:off x="6870700" y="20447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2710337" name="Frame"/>
          <p:cNvSpPr>
            <a:spLocks noGrp="1"/>
          </p:cNvSpPr>
          <p:nvPr/>
        </p:nvSpPr>
        <p:spPr>
          <a:xfrm>
            <a:off x="152400" y="13716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90042267" name="Text">
    </p:cNvPr>
          <p:cNvSpPr>
            <a:spLocks noGrp="1"/>
          </p:cNvSpPr>
          <p:nvPr/>
        </p:nvSpPr>
        <p:spPr>
          <a:xfrm rot="0">
            <a:off x="152400" y="13716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617548970" name="Text">
    </p:cNvPr>
          <p:cNvSpPr>
            <a:spLocks noGrp="1"/>
          </p:cNvSpPr>
          <p:nvPr/>
        </p:nvSpPr>
        <p:spPr>
          <a:xfrm rot="0">
            <a:off x="939800" y="1422400"/>
            <a:ext cx="4610100" cy="622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관세 세율별비중 집계 비율산정 프로그램 개발(ZFIR7801)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[TD] ZTDR5130 수송비 정산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ITSM-111624수출신고 관련 T-CODE 에러 수정</a:t>
            </a:r>
          </a:p>
        </p:txBody>
      </p:sp>
      <p:sp>
        <p:nvSpPr>
          <p:cNvPr id="635651831" name="Text">
    </p:cNvPr>
          <p:cNvSpPr>
            <a:spLocks noGrp="1"/>
          </p:cNvSpPr>
          <p:nvPr/>
        </p:nvSpPr>
        <p:spPr>
          <a:xfrm rot="0">
            <a:off x="7226300" y="14478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023361436" name="Text">
    </p:cNvPr>
          <p:cNvSpPr>
            <a:spLocks noGrp="1"/>
          </p:cNvSpPr>
          <p:nvPr/>
        </p:nvSpPr>
        <p:spPr>
          <a:xfrm rot="0">
            <a:off x="6108700" y="1371600"/>
            <a:ext cx="7620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696239485" name="Text">
    </p:cNvPr>
          <p:cNvSpPr>
            <a:spLocks noGrp="1"/>
          </p:cNvSpPr>
          <p:nvPr/>
        </p:nvSpPr>
        <p:spPr>
          <a:xfrm rot="0">
            <a:off x="5537200" y="14478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</a:p>
        </p:txBody>
      </p:sp>
      <p:sp>
        <p:nvSpPr>
          <p:cNvPr id="963409192" name="Text">
    </p:cNvPr>
          <p:cNvSpPr>
            <a:spLocks noGrp="1"/>
          </p:cNvSpPr>
          <p:nvPr/>
        </p:nvSpPr>
        <p:spPr>
          <a:xfrm rot="0">
            <a:off x="889000" y="13716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140492" name="Text">
    </p:cNvPr>
          <p:cNvSpPr>
            <a:spLocks noGrp="1"/>
          </p:cNvSpPr>
          <p:nvPr/>
        </p:nvSpPr>
        <p:spPr>
          <a:xfrm rot="0">
            <a:off x="7124700" y="1371600"/>
            <a:ext cx="26543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85414129" name="Text">
    </p:cNvPr>
          <p:cNvSpPr>
            <a:spLocks noGrp="1"/>
          </p:cNvSpPr>
          <p:nvPr/>
        </p:nvSpPr>
        <p:spPr>
          <a:xfrm rot="0">
            <a:off x="5537200" y="13716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2253309" name="Rectangle"/>
          <p:cNvSpPr>
            <a:spLocks noGrp="1"/>
          </p:cNvSpPr>
          <p:nvPr/>
        </p:nvSpPr>
        <p:spPr>
          <a:xfrm>
            <a:off x="6870700" y="1371600"/>
            <a:ext cx="254000" cy="6731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0709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259307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467369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0715732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613196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6663118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5002250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5228799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550768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887029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748876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263064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4970223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525615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353011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08011105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83257307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170255878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13857515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7689804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연차휴가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 세율별비중 산정을 위한 SAP 자동화 프로그램 개발(Z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FIR7800)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관세 세율별비중 집계 비율산정 프로그램 개발(ZFIR7801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창립기념일</a:t>
            </a:r>
          </a:p>
        </p:txBody>
      </p:sp>
      <p:sp>
        <p:nvSpPr>
          <p:cNvPr id="82723030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6547491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70739630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203931970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116271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703660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210267004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175588370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및 제품 구입 비용문서 조회 프로그램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입고/납품완료 불일치 모니터링 i/f 필드 추가 (전기일, 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빙일, 입력일)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원산국 필드 추가 요청</a:t>
            </a:r>
          </a:p>
        </p:txBody>
      </p:sp>
      <p:sp>
        <p:nvSpPr>
          <p:cNvPr id="208954473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76007391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88024382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임차 Loss/Gain 전기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및 제품 구입 비용문서 조회 프로그램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입고/납품완료 불일치 모니터링 i/f 필드 추가 (전기일, 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빙일, 입력일)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원산국 필드 추가 요청</a:t>
            </a:r>
          </a:p>
        </p:txBody>
      </p:sp>
      <p:sp>
        <p:nvSpPr>
          <p:cNvPr id="42309817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98979304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37737512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43027349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626708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41232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319124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2508755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701784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8860067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134766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495999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598825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559685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9365348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688653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559567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251413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9645580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7250245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</a:p>
        </p:txBody>
      </p:sp>
      <p:sp>
        <p:nvSpPr>
          <p:cNvPr id="170099721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202516606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</a:p>
        </p:txBody>
      </p:sp>
      <p:sp>
        <p:nvSpPr>
          <p:cNvPr id="13057054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43899677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6895257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Smart-ERP운영 F/S Full로 로그파일 삭제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ERP시스템 S-imoms(GE APM Connector) 설치 파일 확인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210340045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94134256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119804854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61321873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8852823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8392881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19654138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8100195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0212159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24600512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6621098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6</a:t>
            </a:r>
          </a:p>
        </p:txBody>
      </p:sp>
      <p:sp>
        <p:nvSpPr>
          <p:cNvPr id="41665892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</a:p>
        </p:txBody>
      </p:sp>
      <p:sp>
        <p:nvSpPr>
          <p:cNvPr id="75419116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</a:p>
        </p:txBody>
      </p:sp>
      <p:sp>
        <p:nvSpPr>
          <p:cNvPr id="111377447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</a:p>
        </p:txBody>
      </p:sp>
      <p:sp>
        <p:nvSpPr>
          <p:cNvPr id="139909179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249905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45907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5594052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1640223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0616328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1641985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577025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5355628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3447288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0813243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537462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203393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4566576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87044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49563093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374353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41540006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12545403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184908492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61226554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4976283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189942736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08/16</a:t>
            </a:r>
            <a:br/>
            <a:br/>
            <a:br/>
          </a:p>
        </p:txBody>
      </p:sp>
      <p:sp>
        <p:nvSpPr>
          <p:cNvPr id="13634851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11102661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77922912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167266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25961662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588927531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773176672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853010649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237210667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952421949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[ITSM-113035] 2024년 휴양소 신청사용을 위한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세팅- 채용발령 오입력으로 사번 삭제 후, 재발령 방법 안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내- 신규조직 cp조회순서 변경관련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[ITSM-112950] 자격/면허 등록신청 승인/반려시 알림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메일발송기능 추가- 휴양소 신청자 당첨관리 문의 대응(2024년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도 당첨기준 점검 등)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[ITSM-113193] 해외출장비신청서 수정- [ITSM-1122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48] 생산직평가 시스템 : 상반기용 종합평가 결과관리 신규개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발(30%)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[ITSM-113227] 국민연금 상/하한액 변경- [ITSM-112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248] 생산직평가 시스템 : 상반기용 종합평가 결과관리 신규개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발(50%) - HCM 직원사진등록 문의 대응 및 테스트- 특근명령신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청현황 화면에 결재자 정보 추가관련 검토</a:t>
            </a:r>
          </a:p>
        </p:txBody>
      </p:sp>
      <p:sp>
        <p:nvSpPr>
          <p:cNvPr id="1002015480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br/>
            <a:br/>
          </a:p>
        </p:txBody>
      </p:sp>
      <p:sp>
        <p:nvSpPr>
          <p:cNvPr id="1084621612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br/>
            <a:br/>
          </a:p>
        </p:txBody>
      </p:sp>
      <p:sp>
        <p:nvSpPr>
          <p:cNvPr id="2073168413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br/>
            <a:br/>
          </a:p>
        </p:txBody>
      </p:sp>
      <p:sp>
        <p:nvSpPr>
          <p:cNvPr id="1698272884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12491617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49913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563488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351504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580630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7728021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29857877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472813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628040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285531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2408012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485483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837709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4008980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419376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1510363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44992805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</a:p>
        </p:txBody>
      </p:sp>
      <p:sp>
        <p:nvSpPr>
          <p:cNvPr id="1975091030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 20%</a:t>
            </a:r>
          </a:p>
        </p:txBody>
      </p:sp>
      <p:sp>
        <p:nvSpPr>
          <p:cNvPr id="119840005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9019467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63208398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평균임금 조회 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교대근무 대근자 정보 Interface Table Attribute로 추가</a:t>
            </a:r>
          </a:p>
        </p:txBody>
      </p:sp>
      <p:sp>
        <p:nvSpPr>
          <p:cNvPr id="160603359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76920953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93831672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79821724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559189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497577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72001567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46849407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166341077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98368371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98295194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ITSM-111624수출신고 관련 T-CODE 에러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ITSM-112761소매가격지원제도 개선에 따른 시스템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ITSM-112024ZTDR5130 수송비 정산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45074343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42006756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</a:p>
        </p:txBody>
      </p:sp>
      <p:sp>
        <p:nvSpPr>
          <p:cNvPr id="161307012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49452854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7345094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76835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266802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287751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6997888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5879389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8803333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4390460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4475193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5389638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648081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395166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1684368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8821862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0570521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565527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61214707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81991374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ITSM-113139 신규 퇴직임원 송정역주유소 e-Biz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</a:p>
        </p:txBody>
      </p:sp>
      <p:sp>
        <p:nvSpPr>
          <p:cNvPr id="46087720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62181391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11498363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ITSM-110540 ISIMS Web 서버 전환작업(API반영)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ITSM-112364 e-Biz 장기미사용 계정 관리방안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ITSM-113139 신규 퇴직임원 송정역주유소 e-Biz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</a:p>
        </p:txBody>
      </p:sp>
      <p:sp>
        <p:nvSpPr>
          <p:cNvPr id="95901991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63405770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16321222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99915924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253993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728665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77600826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10346923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61018315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10970806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8242318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웹동적점검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[ITSM-112945]일일 출하업무 Data 검증 기능 개발</a:t>
            </a:r>
          </a:p>
        </p:txBody>
      </p:sp>
      <p:sp>
        <p:nvSpPr>
          <p:cNvPr id="71102411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206891579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</a:p>
        </p:txBody>
      </p:sp>
      <p:sp>
        <p:nvSpPr>
          <p:cNvPr id="536428549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57734107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64778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69772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3718889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7152850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0474322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1920468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1846033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109458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2588290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9309965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6040093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8223860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859771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7305452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1528031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7901167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69071021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202412467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반영 조직코드 개선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구축(3차)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탱크청소 검수서류 첨부 권한 부여 요청</a:t>
            </a:r>
          </a:p>
        </p:txBody>
      </p:sp>
      <p:sp>
        <p:nvSpPr>
          <p:cNvPr id="106926926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5825063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2579653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반영 조직코드 개선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영업시설지원 시스템 구축(3차)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탱크청소 검수서류 첨부 권한 부여 요청</a:t>
            </a:r>
          </a:p>
        </p:txBody>
      </p:sp>
      <p:sp>
        <p:nvSpPr>
          <p:cNvPr id="260667744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85148677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</a:p>
        </p:txBody>
      </p:sp>
      <p:sp>
        <p:nvSpPr>
          <p:cNvPr id="116866268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293141163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276367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1072993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</a:p>
        </p:txBody>
      </p:sp>
      <p:sp>
        <p:nvSpPr>
          <p:cNvPr id="171402854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81900845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상차계획 조회 쿼리 튜닝</a:t>
            </a:r>
          </a:p>
        </p:txBody>
      </p:sp>
      <p:sp>
        <p:nvSpPr>
          <p:cNvPr id="31983934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100408442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269675512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ITSM-110554 배포상태 변경ITSM-107346 배포상태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변경ITSM-113078 견적서 삭제ITSM-110821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FCM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배차 엔진 장애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ITSM-113034 상태 변경ITSM-113183 변경요청서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 조회 쿼리 튜닝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ITSM-113245 작업유형 변경ITSM-113269 데이터작업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삭제ITSM-110540 상태 변경ITSM-113092 배포상태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경ITSM-106910 서비스종료 admin 처리ITSM-113295 현작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업자 변경ITSM-112180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정기 점검</a:t>
            </a:r>
          </a:p>
        </p:txBody>
      </p:sp>
      <p:sp>
        <p:nvSpPr>
          <p:cNvPr id="194371176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165626723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31840656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06/20</a:t>
            </a:r>
            <a:br/>
          </a:p>
        </p:txBody>
      </p:sp>
      <p:sp>
        <p:nvSpPr>
          <p:cNvPr id="878582394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0423626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50068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5378099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093075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0795247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446709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8107905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763732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0755097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8903163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8439490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3286597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530748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5535190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7940342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6392224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644999876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1801885930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'#3 외화 입금' 작업 재가동을 위한 A360 Migratio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 (보류)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프로세스 논의</a:t>
            </a:r>
          </a:p>
        </p:txBody>
      </p:sp>
      <p:sp>
        <p:nvSpPr>
          <p:cNvPr id="2038011433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513000900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31508111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Upgrade 작업을 위한 미사용중인 인터페이스 사전 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인터페이스별 RFC/IDOC 명 재확인 및 Excel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 송금' 새벽 작업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'Spoke서버DB 연결 정보' 문서 전달 및 PW 담당자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'금융정보 취합 및 보고' 작업 회계전표 후첨부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련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SAP EAP 업데이트 개발 서버 RPA ID 생성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Putty 로그 잔여 용량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MTE Studio 큐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'#4 외화송금' 새벽 작업 엑셀 오류로 인한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- (PC 재부팅 후 수행하니 정상)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'유럽 터미널사의 당사 재고 현황 수집'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을 위한 프로세스 논의</a:t>
            </a:r>
          </a:p>
        </p:txBody>
      </p:sp>
      <p:sp>
        <p:nvSpPr>
          <p:cNvPr id="752750281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</a:p>
        </p:txBody>
      </p:sp>
      <p:sp>
        <p:nvSpPr>
          <p:cNvPr id="430116261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</a:p>
        </p:txBody>
      </p:sp>
      <p:sp>
        <p:nvSpPr>
          <p:cNvPr id="928903674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1195444895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4907512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4204046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123087514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229252009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969729224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935465867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919446366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내 LCC, 정성평가 체크박스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배우자 동반 무급휴직 신청서 개발 요청</a:t>
            </a:r>
          </a:p>
        </p:txBody>
      </p:sp>
      <p:sp>
        <p:nvSpPr>
          <p:cNvPr id="1810338173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903070317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553054681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</a:p>
        </p:txBody>
      </p:sp>
      <p:sp>
        <p:nvSpPr>
          <p:cNvPr id="2080006602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2489009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9430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7297535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4119578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223859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1582403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9152892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624902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462498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644613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6740113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7945106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3949969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4687828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701936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4792442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187131591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</a:p>
        </p:txBody>
      </p:sp>
      <p:sp>
        <p:nvSpPr>
          <p:cNvPr id="162954705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구매관련 기안지 RODA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ITSM-112346(VPN사용자 등록 신청서)</a:t>
            </a:r>
          </a:p>
        </p:txBody>
      </p:sp>
      <p:sp>
        <p:nvSpPr>
          <p:cNvPr id="191299493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3282516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04641764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구매관련 기안지 RODA 자동화- 완료 이후 추가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정전달 받아서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ITSM-112346(VPN사용자 등록 신청서)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ITSM-113027, ITSM-113040메일요청 - 기안지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내용 수정(DG7-24-0005)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ITSM-113105, ITSM-113113ITSM-113095,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ITSM-113097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정산서작성 오류수정(DMZ영역)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ITSM-113236, ITSM-113241, ITSM-113250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ITSM-113299, ITSM-113297, ITSM-113293</a:t>
            </a:r>
          </a:p>
        </p:txBody>
      </p:sp>
      <p:sp>
        <p:nvSpPr>
          <p:cNvPr id="148111474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9147320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57635338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</a:p>
        </p:txBody>
      </p:sp>
      <p:sp>
        <p:nvSpPr>
          <p:cNvPr id="169058105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401496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422111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</a:p>
        </p:txBody>
      </p:sp>
      <p:sp>
        <p:nvSpPr>
          <p:cNvPr id="38576999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</a:p>
        </p:txBody>
      </p:sp>
      <p:sp>
        <p:nvSpPr>
          <p:cNvPr id="140491331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</a:p>
        </p:txBody>
      </p:sp>
      <p:sp>
        <p:nvSpPr>
          <p:cNvPr id="32827074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09314488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61471465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ITSM-108725 엔지니어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6월24일 개정오류 2건 재개정 처리(1)MET-M-0101, 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CDU3-W-6202)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CWCS 관련하여 CWCS_EN 필수 입력안하면 저장 안되는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현상 예외처리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프로파일 반경에 따른 Risk assessment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 </a:t>
            </a:r>
          </a:p>
        </p:txBody>
      </p:sp>
      <p:sp>
        <p:nvSpPr>
          <p:cNvPr id="48773107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</a:p>
        </p:txBody>
      </p:sp>
      <p:sp>
        <p:nvSpPr>
          <p:cNvPr id="10931890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</a:p>
        </p:txBody>
      </p:sp>
      <p:sp>
        <p:nvSpPr>
          <p:cNvPr id="11980049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br/>
          </a:p>
        </p:txBody>
      </p:sp>
      <p:sp>
        <p:nvSpPr>
          <p:cNvPr id="103730525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2534315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16569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0649487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6276739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9558093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2834821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261740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95825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11696946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123970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4112496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4731066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6927283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870029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1343496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3373472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07/04</a:t>
            </a:r>
            <a:br/>
          </a:p>
        </p:txBody>
      </p:sp>
      <p:sp>
        <p:nvSpPr>
          <p:cNvPr id="23657240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</a:p>
        </p:txBody>
      </p:sp>
      <p:sp>
        <p:nvSpPr>
          <p:cNvPr id="213721363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Xplatform 설치 후 실행 안되는 오류 원인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구현- 관리자 페이지 IP 검증 기능 구현- 세션타임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재무프로세스 미 검출 시나리오 점검 요청 (회계팀)</a:t>
            </a:r>
          </a:p>
        </p:txBody>
      </p:sp>
      <p:sp>
        <p:nvSpPr>
          <p:cNvPr id="51436299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33738096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2532765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IAMS IT process 증빙 자료 요청 (리스크관리팀)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ERP Upgrade 기술 검수 Process 문의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점검 조치 사항 中- 동시접속제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한 기능 구현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DS 관련 시스템 전체 Job 사용 유무 검토 요청 (EWS, GCM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DS Upgrade 회의  (8층회의실 오전10시)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- 06/27 휴가</a:t>
            </a:r>
          </a:p>
        </p:txBody>
      </p:sp>
      <p:sp>
        <p:nvSpPr>
          <p:cNvPr id="179169805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81860523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1225146171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</a:p>
        </p:txBody>
      </p:sp>
      <p:sp>
        <p:nvSpPr>
          <p:cNvPr id="64978095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0554788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64556161" name="Text">
    </p:cNvPr>
          <p:cNvSpPr>
            <a:spLocks noGrp="1"/>
          </p:cNvSpPr>
          <p:nvPr/>
        </p:nvSpPr>
        <p:spPr>
          <a:xfrm rot="0">
            <a:off x="9702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</a:p>
        </p:txBody>
      </p:sp>
      <p:sp>
        <p:nvSpPr>
          <p:cNvPr id="801921204" name="Text">
    </p:cNvPr>
          <p:cNvSpPr>
            <a:spLocks noGrp="1"/>
          </p:cNvSpPr>
          <p:nvPr/>
        </p:nvSpPr>
        <p:spPr>
          <a:xfrm rot="0">
            <a:off x="93345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</a:p>
        </p:txBody>
      </p:sp>
      <p:sp>
        <p:nvSpPr>
          <p:cNvPr id="1460564966" name="Text">
    </p:cNvPr>
          <p:cNvSpPr>
            <a:spLocks noGrp="1"/>
          </p:cNvSpPr>
          <p:nvPr/>
        </p:nvSpPr>
        <p:spPr>
          <a:xfrm rot="0">
            <a:off x="59309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ITSM-112563 VOC 관리자 웹페이지내 열람/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조회 기록 페이지 생성 -ISMS-P 권고사항 관련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개선</a:t>
            </a:r>
            <a:br/>
          </a:p>
        </p:txBody>
      </p:sp>
      <p:sp>
        <p:nvSpPr>
          <p:cNvPr id="2052847259" name="Text">
    </p:cNvPr>
          <p:cNvSpPr>
            <a:spLocks noGrp="1"/>
          </p:cNvSpPr>
          <p:nvPr/>
        </p:nvSpPr>
        <p:spPr>
          <a:xfrm rot="0">
            <a:off x="53086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001286147" name="Text">
    </p:cNvPr>
          <p:cNvSpPr>
            <a:spLocks noGrp="1"/>
          </p:cNvSpPr>
          <p:nvPr/>
        </p:nvSpPr>
        <p:spPr>
          <a:xfrm rot="0">
            <a:off x="88900" y="37719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982375334" name="Text">
    </p:cNvPr>
          <p:cNvSpPr>
            <a:spLocks noGrp="1"/>
          </p:cNvSpPr>
          <p:nvPr/>
        </p:nvSpPr>
        <p:spPr>
          <a:xfrm rot="0">
            <a:off x="711200" y="37719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 정보 회신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및 테스트 계정 생성 (개발서버 / 운영 필요 시,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요청)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 SAP DS 이전 계획 회의 (ERP Upgrade 프로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젝트)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(SAP DS 이전 계획 회의) LOPAS 배치 프로젝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트 사용여부 점검 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2024년 2분기 웹 서비스 모의해킹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청 ( * 운영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ITSM-112563 VOC 관리자 웹페이지내 열람/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조회 기록 페이지 생성 -ISMS-P 권고사항 관련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개선</a:t>
            </a:r>
            <a:br/>
          </a:p>
        </p:txBody>
      </p:sp>
      <p:sp>
        <p:nvSpPr>
          <p:cNvPr id="506990162" name="Text">
    </p:cNvPr>
          <p:cNvSpPr>
            <a:spLocks noGrp="1"/>
          </p:cNvSpPr>
          <p:nvPr/>
        </p:nvSpPr>
        <p:spPr>
          <a:xfrm rot="0">
            <a:off x="44831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07/26</a:t>
            </a:r>
            <a:br/>
            <a:br/>
            <a:br/>
          </a:p>
        </p:txBody>
      </p:sp>
      <p:sp>
        <p:nvSpPr>
          <p:cNvPr id="997379104" name="Text">
    </p:cNvPr>
          <p:cNvSpPr>
            <a:spLocks noGrp="1"/>
          </p:cNvSpPr>
          <p:nvPr/>
        </p:nvSpPr>
        <p:spPr>
          <a:xfrm rot="0">
            <a:off x="48514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br/>
          </a:p>
        </p:txBody>
      </p:sp>
      <p:sp>
        <p:nvSpPr>
          <p:cNvPr id="86318689" name="Text">
    </p:cNvPr>
          <p:cNvSpPr>
            <a:spLocks noGrp="1"/>
          </p:cNvSpPr>
          <p:nvPr/>
        </p:nvSpPr>
        <p:spPr>
          <a:xfrm rot="0">
            <a:off x="4114800" y="37719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</a:p>
        </p:txBody>
      </p:sp>
      <p:sp>
        <p:nvSpPr>
          <p:cNvPr id="1361159560" name="Text">
    </p:cNvPr>
          <p:cNvSpPr>
            <a:spLocks noGrp="1"/>
          </p:cNvSpPr>
          <p:nvPr/>
        </p:nvSpPr>
        <p:spPr>
          <a:xfrm rot="0">
            <a:off x="6604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63551840" name="Text">
    </p:cNvPr>
          <p:cNvSpPr>
            <a:spLocks noGrp="1"/>
          </p:cNvSpPr>
          <p:nvPr/>
        </p:nvSpPr>
        <p:spPr>
          <a:xfrm rot="0">
            <a:off x="5880100" y="37719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130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5902319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9471075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0353987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606651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983682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4315615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8795595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9379863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6857940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268988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26190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026824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910568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46254093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1882824930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1615601015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입고/납품완료 불일치 모니터링 i/f 필드 추가</a:t>
            </a:r>
          </a:p>
        </p:txBody>
      </p:sp>
      <p:sp>
        <p:nvSpPr>
          <p:cNvPr id="1282009501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58465228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888304560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2024.5월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SHBE 대상 일반용역 사후평가표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System 상 화학물질위험성평가(CHARM) Check 항목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요청(1차)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배우자 동반 무급휴직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입고/납품완료 불일치 모니터링 i/f 필드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구매요구서 내 LCC, 정성평가 체크박스 추가 요청(2차)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Seasonal Domestic Sales Analysis - Fuel Products da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ta표출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투자관리번호 신규요청 및 예산 할당(영업시설물) 연동방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식 변경</a:t>
            </a:r>
          </a:p>
        </p:txBody>
      </p:sp>
      <p:sp>
        <p:nvSpPr>
          <p:cNvPr id="878012412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</a:p>
        </p:txBody>
      </p:sp>
      <p:sp>
        <p:nvSpPr>
          <p:cNvPr id="938694122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06/26</a:t>
            </a:r>
            <a:br/>
            <a:br/>
          </a:p>
        </p:txBody>
      </p:sp>
      <p:sp>
        <p:nvSpPr>
          <p:cNvPr id="836917316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380293691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621141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3931525735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박남신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07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