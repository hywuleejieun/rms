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  <p:sldId id="2562" r:id="rId2"/>
    <p:sldId id="2563" r:id="rId3"/>
    <p:sldId id="2564" r:id="rId4"/>
  </p:sldIdLst>
  <p:sldSz cx="10160000" cy="7429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207093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22593071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4673690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307157329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761319655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566631184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15002250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55228799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95507685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438870298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7488762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2630649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249702239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352561531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63530112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</a:p>
        </p:txBody>
      </p:sp>
      <p:sp>
        <p:nvSpPr>
          <p:cNvPr id="1080111050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br/>
          </a:p>
        </p:txBody>
      </p:sp>
      <p:sp>
        <p:nvSpPr>
          <p:cNvPr id="1832573072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구분회계기준 비용의 1차원가요소 data 산출 프로그램 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성 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[CO] PP 제조원가 검증 프로그램 개발(ZPCOR2050~ZPC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OR2090)</a:t>
            </a:r>
          </a:p>
        </p:txBody>
      </p:sp>
      <p:sp>
        <p:nvSpPr>
          <p:cNvPr id="1702558781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1138575156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176898042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연차휴가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관세 세율별비중 산정을 위한 SAP 자동화 프로그램 개발(Z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FIR7800)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관세 세율별비중 집계 비율산정 프로그램 개발(ZFIR7801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창립기념일</a:t>
            </a:r>
          </a:p>
        </p:txBody>
      </p:sp>
      <p:sp>
        <p:nvSpPr>
          <p:cNvPr id="827230307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</a:p>
        </p:txBody>
      </p:sp>
      <p:sp>
        <p:nvSpPr>
          <p:cNvPr id="65474915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</a:p>
        </p:txBody>
      </p:sp>
      <p:sp>
        <p:nvSpPr>
          <p:cNvPr id="707396300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</a:p>
        </p:txBody>
      </p:sp>
      <p:sp>
        <p:nvSpPr>
          <p:cNvPr id="2039319708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11162718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7036604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</a:p>
        </p:txBody>
      </p:sp>
      <p:sp>
        <p:nvSpPr>
          <p:cNvPr id="2102670048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</a:p>
        </p:txBody>
      </p:sp>
      <p:sp>
        <p:nvSpPr>
          <p:cNvPr id="1755883706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관련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원화 Usance 차입금 도입 관련 ERP 시스템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원유 및 제품 구입 비용문서 조회 프로그램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입고/납품완료 불일치 모니터링 i/f 필드 추가 (전기일, 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빙일, 입력일)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SAP의 ZIMBAD B/L List에 원산국 필드 추가 요청</a:t>
            </a:r>
          </a:p>
        </p:txBody>
      </p:sp>
      <p:sp>
        <p:nvSpPr>
          <p:cNvPr id="2089544735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1760073918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880243825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관련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원유 임차 Loss/Gain 전기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원화 Usance 차입금 도입 관련 ERP 시스템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원유 및 제품 구입 비용문서 조회 프로그램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입고/납품완료 불일치 모니터링 i/f 필드 추가 (전기일, 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빙일, 입력일)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SAP의 ZIMBAD B/L List에 원산국 필드 추가 요청</a:t>
            </a:r>
          </a:p>
        </p:txBody>
      </p:sp>
      <p:sp>
        <p:nvSpPr>
          <p:cNvPr id="423098173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</a:p>
        </p:txBody>
      </p:sp>
      <p:sp>
        <p:nvSpPr>
          <p:cNvPr id="989793040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</a:p>
        </p:txBody>
      </p:sp>
      <p:sp>
        <p:nvSpPr>
          <p:cNvPr id="377375129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</a:p>
        </p:txBody>
      </p:sp>
      <p:sp>
        <p:nvSpPr>
          <p:cNvPr id="430273499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66267085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241232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31912450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725087557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070178423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08860067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713476646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4959998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25988250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85596859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793653486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836886534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5595678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32514133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29645580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72502453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</a:p>
        </p:txBody>
      </p:sp>
      <p:sp>
        <p:nvSpPr>
          <p:cNvPr id="1700997217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</a:p>
        </p:txBody>
      </p:sp>
      <p:sp>
        <p:nvSpPr>
          <p:cNvPr id="2025166067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마감업무 지원작업</a:t>
            </a:r>
          </a:p>
        </p:txBody>
      </p:sp>
      <p:sp>
        <p:nvSpPr>
          <p:cNvPr id="13057054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1438996775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689525726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Smart-ERP운영 F/S Full로 로그파일 삭제 작업 업무지원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ERP시스템 S-imoms(GE APM Connector) 설치 파일 확인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전달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고도화 프로젝트 BC관련  업무지원(삼성SDS)</a:t>
            </a:r>
          </a:p>
        </p:txBody>
      </p:sp>
      <p:sp>
        <p:nvSpPr>
          <p:cNvPr id="2103400450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</a:p>
        </p:txBody>
      </p:sp>
      <p:sp>
        <p:nvSpPr>
          <p:cNvPr id="941342564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</a:p>
        </p:txBody>
      </p:sp>
      <p:sp>
        <p:nvSpPr>
          <p:cNvPr id="1198048545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</a:p>
        </p:txBody>
      </p:sp>
      <p:sp>
        <p:nvSpPr>
          <p:cNvPr id="613218737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88528234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83928819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</a:p>
        </p:txBody>
      </p:sp>
      <p:sp>
        <p:nvSpPr>
          <p:cNvPr id="1196541389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</a:p>
        </p:txBody>
      </p:sp>
      <p:sp>
        <p:nvSpPr>
          <p:cNvPr id="81001959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</a:p>
        </p:txBody>
      </p:sp>
      <p:sp>
        <p:nvSpPr>
          <p:cNvPr id="102121597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1246005125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66210989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짧고 굵게 배우는 JSP 웹 프로그래밍과 스프링 프레임워크: CH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짧고 굵게 배우는 JSP 웹 프로그래밍과 스프링 프레임워크: CH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6</a:t>
            </a:r>
          </a:p>
        </p:txBody>
      </p:sp>
      <p:sp>
        <p:nvSpPr>
          <p:cNvPr id="416658929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06/26</a:t>
            </a:r>
            <a:br/>
            <a:br/>
          </a:p>
        </p:txBody>
      </p:sp>
      <p:sp>
        <p:nvSpPr>
          <p:cNvPr id="754191166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06/26</a:t>
            </a:r>
            <a:br/>
            <a:br/>
          </a:p>
        </p:txBody>
      </p:sp>
      <p:sp>
        <p:nvSpPr>
          <p:cNvPr id="1113774474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06/26</a:t>
            </a:r>
            <a:br/>
            <a:br/>
          </a:p>
        </p:txBody>
      </p:sp>
      <p:sp>
        <p:nvSpPr>
          <p:cNvPr id="1399091791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22499055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7459071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05594052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16402230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90616328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216419857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957702555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53556287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34472882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08132430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53746267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320339380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545665766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870445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495630930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63743536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08/16</a:t>
            </a:r>
            <a:br/>
            <a:br/>
            <a:br/>
          </a:p>
        </p:txBody>
      </p:sp>
      <p:sp>
        <p:nvSpPr>
          <p:cNvPr id="1415400063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05/29</a:t>
            </a:r>
            <a:br/>
            <a:br/>
            <a:br/>
          </a:p>
        </p:txBody>
      </p:sp>
      <p:sp>
        <p:nvSpPr>
          <p:cNvPr id="1125454038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구매요구서 내 LCC, 정성평가 체크박스 추가 요청* LLC(L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ife Cycle Costing), 정성평가 관련 로직 반영 및 인터페이스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수정 </a:t>
            </a:r>
          </a:p>
        </p:txBody>
      </p:sp>
      <p:sp>
        <p:nvSpPr>
          <p:cNvPr id="184908492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612265549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449762831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구매요구서 내 LCC, 정성평가 체크박스 추가 요청* LLC(L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ife Cycle Costing), 정성평가 관련 로직 반영 및 인터페이스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수정 </a:t>
            </a:r>
          </a:p>
        </p:txBody>
      </p:sp>
      <p:sp>
        <p:nvSpPr>
          <p:cNvPr id="1899427360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08/16</a:t>
            </a:r>
            <a:br/>
            <a:br/>
            <a:br/>
          </a:p>
        </p:txBody>
      </p:sp>
      <p:sp>
        <p:nvSpPr>
          <p:cNvPr id="1363485136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br/>
          </a:p>
        </p:txBody>
      </p:sp>
      <p:sp>
        <p:nvSpPr>
          <p:cNvPr id="111026611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05/29</a:t>
            </a:r>
            <a:br/>
            <a:br/>
            <a:br/>
          </a:p>
        </p:txBody>
      </p:sp>
      <p:sp>
        <p:nvSpPr>
          <p:cNvPr id="1779229121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51672662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25961662" name="Text">
    </p:cNvPr>
          <p:cNvSpPr>
            <a:spLocks noGrp="1"/>
          </p:cNvSpPr>
          <p:nvPr/>
        </p:nvSpPr>
        <p:spPr>
          <a:xfrm rot="0">
            <a:off x="97028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</a:p>
        </p:txBody>
      </p:sp>
      <p:sp>
        <p:nvSpPr>
          <p:cNvPr id="588927531" name="Text">
    </p:cNvPr>
          <p:cNvSpPr>
            <a:spLocks noGrp="1"/>
          </p:cNvSpPr>
          <p:nvPr/>
        </p:nvSpPr>
        <p:spPr>
          <a:xfrm rot="0">
            <a:off x="93345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</a:p>
        </p:txBody>
      </p:sp>
      <p:sp>
        <p:nvSpPr>
          <p:cNvPr id="773176672" name="Text">
    </p:cNvPr>
          <p:cNvSpPr>
            <a:spLocks noGrp="1"/>
          </p:cNvSpPr>
          <p:nvPr/>
        </p:nvSpPr>
        <p:spPr>
          <a:xfrm rot="0">
            <a:off x="5930900" y="3771900"/>
            <a:ext cx="3403600" cy="2273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[ITSM-112248] 생산직평가 시스템 변경</a:t>
            </a:r>
          </a:p>
        </p:txBody>
      </p:sp>
      <p:sp>
        <p:nvSpPr>
          <p:cNvPr id="1853010649" name="Text">
    </p:cNvPr>
          <p:cNvSpPr>
            <a:spLocks noGrp="1"/>
          </p:cNvSpPr>
          <p:nvPr/>
        </p:nvSpPr>
        <p:spPr>
          <a:xfrm rot="0">
            <a:off x="5308600" y="37719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1237210667" name="Text">
    </p:cNvPr>
          <p:cNvSpPr>
            <a:spLocks noGrp="1"/>
          </p:cNvSpPr>
          <p:nvPr/>
        </p:nvSpPr>
        <p:spPr>
          <a:xfrm rot="0">
            <a:off x="88900" y="37719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952421949" name="Text">
    </p:cNvPr>
          <p:cNvSpPr>
            <a:spLocks noGrp="1"/>
          </p:cNvSpPr>
          <p:nvPr/>
        </p:nvSpPr>
        <p:spPr>
          <a:xfrm rot="0">
            <a:off x="711200" y="3771900"/>
            <a:ext cx="3403600" cy="2273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[ITSM-113035] 2024년 휴양소 신청사용을 위한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및 세팅- 채용발령 오입력으로 사번 삭제 후, 재발령 방법 안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내- 신규조직 cp조회순서 변경관련 문의 대응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[ITSM-112950] 자격/면허 등록신청 승인/반려시 알림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메일발송기능 추가- 휴양소 신청자 당첨관리 문의 대응(2024년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도 당첨기준 점검 등)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[ITSM-113193] 해외출장비신청서 수정- [ITSM-1122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48] 생산직평가 시스템 : 상반기용 종합평가 결과관리 신규개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발(30%)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[ITSM-113227] 국민연금 상/하한액 변경- [ITSM-112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248] 생산직평가 시스템 : 상반기용 종합평가 결과관리 신규개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발(50%) - HCM 직원사진등록 문의 대응 및 테스트- 특근명령신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청현황 화면에 결재자 정보 추가관련 검토</a:t>
            </a:r>
          </a:p>
        </p:txBody>
      </p:sp>
      <p:sp>
        <p:nvSpPr>
          <p:cNvPr id="1002015480" name="Text">
    </p:cNvPr>
          <p:cNvSpPr>
            <a:spLocks noGrp="1"/>
          </p:cNvSpPr>
          <p:nvPr/>
        </p:nvSpPr>
        <p:spPr>
          <a:xfrm rot="0">
            <a:off x="44831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06/26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  <a:br/>
            <a:br/>
          </a:p>
        </p:txBody>
      </p:sp>
      <p:sp>
        <p:nvSpPr>
          <p:cNvPr id="1084621612" name="Text">
    </p:cNvPr>
          <p:cNvSpPr>
            <a:spLocks noGrp="1"/>
          </p:cNvSpPr>
          <p:nvPr/>
        </p:nvSpPr>
        <p:spPr>
          <a:xfrm rot="0">
            <a:off x="48514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06/26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  <a:br/>
            <a:br/>
          </a:p>
        </p:txBody>
      </p:sp>
      <p:sp>
        <p:nvSpPr>
          <p:cNvPr id="2073168413" name="Text">
    </p:cNvPr>
          <p:cNvSpPr>
            <a:spLocks noGrp="1"/>
          </p:cNvSpPr>
          <p:nvPr/>
        </p:nvSpPr>
        <p:spPr>
          <a:xfrm rot="0">
            <a:off x="41148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06/26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  <a:br/>
            <a:br/>
          </a:p>
        </p:txBody>
      </p:sp>
      <p:sp>
        <p:nvSpPr>
          <p:cNvPr id="1698272884" name="Text">
    </p:cNvPr>
          <p:cNvSpPr>
            <a:spLocks noGrp="1"/>
          </p:cNvSpPr>
          <p:nvPr/>
        </p:nvSpPr>
        <p:spPr>
          <a:xfrm rot="0">
            <a:off x="660400" y="37719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12491617" name="Text">
    </p:cNvPr>
          <p:cNvSpPr>
            <a:spLocks noGrp="1"/>
          </p:cNvSpPr>
          <p:nvPr/>
        </p:nvSpPr>
        <p:spPr>
          <a:xfrm rot="0">
            <a:off x="5880100" y="37719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1499130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55634888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43515042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85806309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777280215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298578777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447281331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628040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28553168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24080129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14854834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88377098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640089807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584193764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015103635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</a:p>
        </p:txBody>
      </p:sp>
      <p:sp>
        <p:nvSpPr>
          <p:cNvPr id="449928051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06/19</a:t>
            </a:r>
            <a:br/>
          </a:p>
        </p:txBody>
      </p:sp>
      <p:sp>
        <p:nvSpPr>
          <p:cNvPr id="1975091030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DC 퇴직연금 계산 관련 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생산직평가 시스템 변경 요청 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교대근무 대근자 정보 Interface Table Attribute로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평균임금 조회 화면 개발 20%</a:t>
            </a:r>
          </a:p>
        </p:txBody>
      </p:sp>
      <p:sp>
        <p:nvSpPr>
          <p:cNvPr id="1198400051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1901946773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1632083982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 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DC 퇴직연금 계산 관련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생산직평가 시스템 변경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평균임금 조회 화면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교대근무 대근자 정보 Interface Table Attribute로 추가</a:t>
            </a:r>
          </a:p>
        </p:txBody>
      </p:sp>
      <p:sp>
        <p:nvSpPr>
          <p:cNvPr id="1606033599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</a:p>
        </p:txBody>
      </p:sp>
      <p:sp>
        <p:nvSpPr>
          <p:cNvPr id="1769209537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6/27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</a:p>
        </p:txBody>
      </p:sp>
      <p:sp>
        <p:nvSpPr>
          <p:cNvPr id="1938316725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</a:p>
        </p:txBody>
      </p:sp>
      <p:sp>
        <p:nvSpPr>
          <p:cNvPr id="798217242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55918991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64975772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</a:p>
        </p:txBody>
      </p:sp>
      <p:sp>
        <p:nvSpPr>
          <p:cNvPr id="1720015670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</a:p>
        </p:txBody>
      </p:sp>
      <p:sp>
        <p:nvSpPr>
          <p:cNvPr id="1468494072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ITSM-107407자영대리점 거래처 관리업무 간소화 추진(1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</a:p>
        </p:txBody>
      </p:sp>
      <p:sp>
        <p:nvSpPr>
          <p:cNvPr id="1663410777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983683712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1982951945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ITSM-107407자영대리점 거래처 관리업무 간소화 추진(1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ITSM-109418자가수송 실거리 내용 입력/수정 시 조회 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용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ITSM-111438 포뮬라 계산식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ITSM-111624수출신고 관련 T-CODE 에러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ITSM-112761소매가격지원제도 개선에 따른 시스템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ITSM-112024ZTDR5130 수송비 정산 화면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ITSM-112075자영대리점 거래처 관리업무 간소화 추진(2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</a:p>
        </p:txBody>
      </p:sp>
      <p:sp>
        <p:nvSpPr>
          <p:cNvPr id="450743431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</a:p>
        </p:txBody>
      </p:sp>
      <p:sp>
        <p:nvSpPr>
          <p:cNvPr id="1420067567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</a:p>
        </p:txBody>
      </p:sp>
      <p:sp>
        <p:nvSpPr>
          <p:cNvPr id="1613070121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</a:p>
        </p:txBody>
      </p:sp>
      <p:sp>
        <p:nvSpPr>
          <p:cNvPr id="494528542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73450946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