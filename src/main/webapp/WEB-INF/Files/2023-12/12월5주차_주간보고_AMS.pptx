
<file path=[Content_Types].xml><?xml version="1.0" encoding="utf-8"?>
<Types xmlns="http://schemas.openxmlformats.org/package/2006/content-types">
  <Default ContentType="image/x-emf" Extension="emf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22.xml"/>
  <Override ContentType="application/vnd.openxmlformats-officedocument.presentationml.slide+xml" PartName="/ppt/slides/slide23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no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"/>
  </p:notesMasterIdLst>
  <p:sldIdLst>
    <p:sldId id="256" r:id="rId6"/>
    <p:sldId id="257" r:id="rId10"/>
    <p:sldId id="258" r:id="rId12"/>
    <p:sldId id="259" r:id="rId13"/>
    <p:sldId id="260" r:id="rId14"/>
    <p:sldId id="261" r:id="rId15"/>
    <p:sldId id="262" r:id="rId17"/>
    <p:sldId id="263" r:id="rId19"/>
    <p:sldId id="264" r:id="rId20"/>
    <p:sldId id="265" r:id="rId21"/>
    <p:sldId id="266" r:id="rId22"/>
    <p:sldId id="267" r:id="rId23"/>
    <p:sldId id="268" r:id="rId24"/>
    <p:sldId id="269" r:id="rId25"/>
    <p:sldId id="270" r:id="rId26"/>
    <p:sldId id="271" r:id="rId27"/>
    <p:sldId id="272" r:id="rId28"/>
    <p:sldId id="273" r:id="rId29"/>
    <p:sldId id="274" r:id="rId30"/>
    <p:sldId id="275" r:id="rId31"/>
    <p:sldId id="276" r:id="rId33"/>
    <p:sldId id="277" r:id="rId35"/>
    <p:sldId id="278" r:id="rId37"/>
  </p:sldIdLst>
  <p:sldSz cx="10160000" cy="69215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no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2.xml" Type="http://schemas.openxmlformats.org/officeDocument/2006/relationships/slide"/><Relationship Id="rId11" Target="notesSlides/notesSlide2.xml" Type="http://schemas.openxmlformats.org/officeDocument/2006/relationships/notesSlide"/><Relationship Id="rId12" Target="slides/slide3.xml" Type="http://schemas.openxmlformats.org/officeDocument/2006/relationships/slide"/><Relationship Id="rId13" Target="slides/slide4.xml" Type="http://schemas.openxmlformats.org/officeDocument/2006/relationships/slide"/><Relationship Id="rId14" Target="slides/slide5.xml" Type="http://schemas.openxmlformats.org/officeDocument/2006/relationships/slide"/><Relationship Id="rId15" Target="slides/slide6.xml" Type="http://schemas.openxmlformats.org/officeDocument/2006/relationships/slide"/><Relationship Id="rId16" Target="notesSlides/notesSlide3.xml" Type="http://schemas.openxmlformats.org/officeDocument/2006/relationships/notesSlide"/><Relationship Id="rId17" Target="slides/slide7.xml" Type="http://schemas.openxmlformats.org/officeDocument/2006/relationships/slide"/><Relationship Id="rId18" Target="notesSlides/notesSlide4.xml" Type="http://schemas.openxmlformats.org/officeDocument/2006/relationships/notesSlide"/><Relationship Id="rId19" Target="slides/slide8.xml" Type="http://schemas.openxmlformats.org/officeDocument/2006/relationships/slide"/><Relationship Id="rId2" Target="presProps.xml" Type="http://schemas.openxmlformats.org/officeDocument/2006/relationships/presProps"/><Relationship Id="rId20" Target="slides/slide9.xml" Type="http://schemas.openxmlformats.org/officeDocument/2006/relationships/slide"/><Relationship Id="rId21" Target="slides/slide10.xml" Type="http://schemas.openxmlformats.org/officeDocument/2006/relationships/slide"/><Relationship Id="rId22" Target="slides/slide11.xml" Type="http://schemas.openxmlformats.org/officeDocument/2006/relationships/slide"/><Relationship Id="rId23" Target="slides/slide12.xml" Type="http://schemas.openxmlformats.org/officeDocument/2006/relationships/slide"/><Relationship Id="rId24" Target="slides/slide13.xml" Type="http://schemas.openxmlformats.org/officeDocument/2006/relationships/slide"/><Relationship Id="rId25" Target="slides/slide14.xml" Type="http://schemas.openxmlformats.org/officeDocument/2006/relationships/slide"/><Relationship Id="rId26" Target="slides/slide15.xml" Type="http://schemas.openxmlformats.org/officeDocument/2006/relationships/slide"/><Relationship Id="rId27" Target="slides/slide16.xml" Type="http://schemas.openxmlformats.org/officeDocument/2006/relationships/slide"/><Relationship Id="rId28" Target="slides/slide17.xml" Type="http://schemas.openxmlformats.org/officeDocument/2006/relationships/slide"/><Relationship Id="rId29" Target="slides/slide18.xml" Type="http://schemas.openxmlformats.org/officeDocument/2006/relationships/slide"/><Relationship Id="rId3" Target="viewProps.xml" Type="http://schemas.openxmlformats.org/officeDocument/2006/relationships/viewProps"/><Relationship Id="rId30" Target="slides/slide19.xml" Type="http://schemas.openxmlformats.org/officeDocument/2006/relationships/slide"/><Relationship Id="rId31" Target="slides/slide20.xml" Type="http://schemas.openxmlformats.org/officeDocument/2006/relationships/slide"/><Relationship Id="rId32" Target="notesSlides/notesSlide5.xml" Type="http://schemas.openxmlformats.org/officeDocument/2006/relationships/notesSlide"/><Relationship Id="rId33" Target="slides/slide21.xml" Type="http://schemas.openxmlformats.org/officeDocument/2006/relationships/slide"/><Relationship Id="rId34" Target="notesSlides/notesSlide6.xml" Type="http://schemas.openxmlformats.org/officeDocument/2006/relationships/notesSlide"/><Relationship Id="rId35" Target="slides/slide22.xml" Type="http://schemas.openxmlformats.org/officeDocument/2006/relationships/slide"/><Relationship Id="rId36" Target="notesSlides/notesSlide7.xml" Type="http://schemas.openxmlformats.org/officeDocument/2006/relationships/notesSlide"/><Relationship Id="rId37" Target="slides/slide23.xml" Type="http://schemas.openxmlformats.org/officeDocument/2006/relationships/slide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notesMasters/notesMaster1.xml" Type="http://schemas.openxmlformats.org/officeDocument/2006/relationships/notesMaster"/><Relationship Id="rId8" Target="theme/theme2.xml" Type="http://schemas.openxmlformats.org/officeDocument/2006/relationships/theme"/><Relationship Id="rId9" Target="notesSlides/notesSlide1.xml" Type="http://schemas.openxmlformats.org/officeDocument/2006/relationships/notesSlide"/></Relationships>
</file>

<file path=ppt/notesMasters/_rels/notesMaster1.xml.rels><?xml version="1.0" encoding="UTF-8" standalone="no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no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no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no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4.xml.rels><?xml version="1.0" encoding="UTF-8" standalone="no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_rels/notesSlide5.xml.rels><?xml version="1.0" encoding="UTF-8" standalone="no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0.xml" Type="http://schemas.openxmlformats.org/officeDocument/2006/relationships/slide"/></Relationships>
</file>

<file path=ppt/notesSlides/_rels/notesSlide6.xml.rels><?xml version="1.0" encoding="UTF-8" standalone="no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1.xml" Type="http://schemas.openxmlformats.org/officeDocument/2006/relationships/slide"/></Relationships>
</file>

<file path=ppt/notesSlides/_rels/notesSlide7.xml.rels><?xml version="1.0" encoding="UTF-8" standalone="no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2.xml" Type="http://schemas.openxmlformats.org/officeDocument/2006/relationships/slide"/></Relationships>
</file>

<file path=ppt/notesSlides/notesSlide1.xml><?xml version="1.0" encoding="utf-8"?>
<p:notes xmlns:p="http://schemas.openxmlformats.org/presentationml/2006/main">
  <p:cSld>
    <p:spTree xmlns:a="http://schemas.openxmlformats.org/drawingml/2006/main"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</p:spPr>
        <p:txBody>
          <a:bodyPr/>
          <a:lstStyle>
            <a:lvl1pPr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1pPr>
            <a:lvl2pPr marL="747713" indent="-28733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2pPr>
            <a:lvl3pPr marL="1150938" indent="-23018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3pPr>
            <a:lvl4pPr marL="1611313" indent="-23018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4pPr>
            <a:lvl5pPr marL="2071688" indent="-23018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5pPr>
            <a:lvl6pPr marL="25288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6pPr>
            <a:lvl7pPr marL="29860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7pPr>
            <a:lvl8pPr marL="34432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8pPr>
            <a:lvl9pPr marL="39004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9pPr>
          </a:lstStyle>
          <a:p>
            <a:pPr lvl="0">
              <a:spcBef>
                <a:spcPct val="30000"/>
              </a:spcBef>
              <a:spcAft>
                <a:spcPct val="0"/>
              </a:spcAft>
              <a:defRPr/>
            </a:pPr>
            <a:fld id="{AF56D908-C2A0-4594-8043-7B2A2764A612}" type="datetime1">
              <a:rPr lang="ko-KR" altLang="en-US" sz="1200" b="0">
                <a:solidFill>
                  <a:schemeClr val="tx1"/>
                </a:solidFill>
                <a:latin typeface="Times New Roman"/>
                <a:ea typeface="굴림"/>
              </a:rPr>
              <a:pPr lvl="0">
                <a:defRPr/>
              </a:pPr>
              <a:t>2023-04-11</a:t>
            </a:fld>
            <a:endParaRPr lang="en-US" altLang="ko-KR" sz="1200" b="0">
              <a:solidFill>
                <a:schemeClr val="tx1"/>
              </a:solidFill>
              <a:latin typeface="Times New Roman"/>
              <a:ea typeface="굴림"/>
            </a:endParaRPr>
          </a:p>
        </p:txBody>
      </p:sp>
      <p:sp>
        <p:nvSpPr>
          <p:cNvPr id="11267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</p:spPr>
        <p:txBody>
          <a:bodyPr/>
          <a:lstStyle>
            <a:lvl1pPr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1pPr>
            <a:lvl2pPr marL="747713" indent="-28733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2pPr>
            <a:lvl3pPr marL="1150938" indent="-23018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3pPr>
            <a:lvl4pPr marL="1611313" indent="-23018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4pPr>
            <a:lvl5pPr marL="2071688" indent="-23018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5pPr>
            <a:lvl6pPr marL="25288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6pPr>
            <a:lvl7pPr marL="29860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7pPr>
            <a:lvl8pPr marL="34432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8pPr>
            <a:lvl9pPr marL="39004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9pPr>
          </a:lstStyle>
          <a:p>
            <a:pPr lvl="0">
              <a:spcBef>
                <a:spcPct val="30000"/>
              </a:spcBef>
              <a:spcAft>
                <a:spcPct val="0"/>
              </a:spcAft>
              <a:defRPr/>
            </a:pPr>
            <a:r>
              <a:rPr lang="ko-KR" altLang="en-US" sz="1200" b="0">
                <a:solidFill>
                  <a:schemeClr val="tx1"/>
                </a:solidFill>
                <a:latin typeface="Times New Roman"/>
                <a:ea typeface="굴림"/>
              </a:rPr>
              <a:t>ITS GSR Proposed Layout 4Q</a:t>
            </a:r>
            <a:endParaRPr lang="en-US" altLang="ko-KR" sz="1200" b="0">
              <a:solidFill>
                <a:schemeClr val="tx1"/>
              </a:solidFill>
              <a:latin typeface="Times New Roman"/>
              <a:ea typeface="굴림"/>
            </a:endParaRPr>
          </a:p>
        </p:txBody>
      </p:sp>
      <p:sp>
        <p:nvSpPr>
          <p:cNvPr id="1126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</p:spPr>
        <p:txBody>
          <a:bodyPr/>
          <a:lstStyle>
            <a:lvl1pPr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1pPr>
            <a:lvl2pPr marL="747713" indent="-28733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2pPr>
            <a:lvl3pPr marL="1150938" indent="-23018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3pPr>
            <a:lvl4pPr marL="1611313" indent="-23018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4pPr>
            <a:lvl5pPr marL="2071688" indent="-23018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5pPr>
            <a:lvl6pPr marL="25288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6pPr>
            <a:lvl7pPr marL="29860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7pPr>
            <a:lvl8pPr marL="34432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8pPr>
            <a:lvl9pPr marL="39004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9pPr>
          </a:lstStyle>
          <a:p>
            <a:pPr lvl="0">
              <a:spcBef>
                <a:spcPct val="30000"/>
              </a:spcBef>
              <a:spcAft>
                <a:spcPct val="0"/>
              </a:spcAft>
              <a:defRPr/>
            </a:pPr>
            <a:fld id="{65D332B1-6798-497D-875F-C7FAE08D878A}" type="slidenum">
              <a:rPr lang="en-US" altLang="en-US" sz="1200" b="0">
                <a:solidFill>
                  <a:schemeClr val="tx1"/>
                </a:solidFill>
                <a:latin typeface="Times New Roman"/>
                <a:ea typeface="굴림"/>
              </a:rPr>
              <a:pPr lvl="0">
                <a:defRPr/>
              </a:pPr>
              <a:t>1</a:t>
            </a:fld>
            <a:endParaRPr lang="en-US" altLang="en-US" sz="1200" b="0">
              <a:solidFill>
                <a:schemeClr val="tx1"/>
              </a:solidFill>
              <a:latin typeface="Times New Roman"/>
              <a:ea typeface="굴림"/>
            </a:endParaRPr>
          </a:p>
        </p:txBody>
      </p:sp>
      <p:sp>
        <p:nvSpPr>
          <p:cNvPr id="1126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712788" y="746125"/>
            <a:ext cx="5373687" cy="3721100"/>
          </a:xfrm>
          <a:ln/>
        </p:spPr>
      </p:sp>
      <p:sp>
        <p:nvSpPr>
          <p:cNvPr id="1127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>
              <a:spcBef>
                <a:spcPct val="30000"/>
              </a:spcBef>
              <a:spcAft>
                <a:spcPct val="0"/>
              </a:spcAft>
              <a:defRPr/>
            </a:pPr>
            <a:endParaRPr lang="ko-KR" altLang="en-US"/>
          </a:p>
        </p:txBody>
      </p:sp>
    </p:spTree>
  </p:cSld>
</p:notes>
</file>

<file path=ppt/notesSlides/notesSlide2.xml><?xml version="1.0" encoding="utf-8"?>
<p:notes xmlns:p="http://schemas.openxmlformats.org/presentationml/2006/main">
  <p:cSld>
    <p:spTree xmlns:a="http://schemas.openxmlformats.org/drawingml/2006/main"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952500" y="685800"/>
            <a:ext cx="4953000" cy="342900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09F4262C-968C-4EE9-8164-CE16364706B3}" type="slidenum">
              <a:rPr lang="ko-KR" altLang="en-US" smtClean="0"/>
              <a:pPr lvl="0">
                <a:defRPr/>
              </a:pPr>
              <a:t>1</a:t>
            </a:fld>
            <a:endParaRPr lang="ko-KR" altLang="en-US"/>
          </a:p>
        </p:txBody>
      </p:sp>
    </p:spTree>
  </p:cSld>
</p:notes>
</file>

<file path=ppt/notesSlides/notesSlide3.xml><?xml version="1.0" encoding="utf-8"?>
<p:notes xmlns:p="http://schemas.openxmlformats.org/presentationml/2006/main">
  <p:cSld>
    <p:spTree xmlns:a="http://schemas.openxmlformats.org/drawingml/2006/main"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698500" y="741363"/>
            <a:ext cx="5340350" cy="3697287"/>
          </a:xfrm>
          <a:ln/>
        </p:spPr>
      </p:sp>
      <p:sp>
        <p:nvSpPr>
          <p:cNvPr id="1331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spcBef>
                <a:spcPct val="30000"/>
              </a:spcBef>
              <a:spcAft>
                <a:spcPct val="0"/>
              </a:spcAft>
            </a:pPr>
            <a:endParaRPr lang="en-NZ" altLang="ko-KR" smtClean="0"/>
          </a:p>
        </p:txBody>
      </p:sp>
    </p:spTree>
  </p:cSld>
</p:notes>
</file>

<file path=ppt/notesSlides/notesSlide4.xml><?xml version="1.0" encoding="utf-8"?>
<p:notes xmlns:p="http://schemas.openxmlformats.org/presentationml/2006/main">
  <p:cSld>
    <p:spTree xmlns:dsp="http://schemas.microsoft.com/office/drawing/2008/diagram" xmlns:a="http://schemas.openxmlformats.org/drawingml/2006/main" xmlns:r="http://schemas.openxmlformats.org/officeDocument/2006/relationships" xmlns:c="http://schemas.openxmlformats.org/drawingml/2006/chart" xmlns:dgm="http://schemas.openxmlformats.org/drawingml/2006/diagram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Rot="1" noChangeAspect="1" noChangeArrowheads="1" noTextEdit="1"/>
          </p:cNvSpPr>
          <p:nvPr>
            <p:ph type="sldImg" idx="0"/>
          </p:nvPr>
        </p:nvSpPr>
        <p:spPr>
          <a:xfrm>
            <a:off x="714375" y="746125"/>
            <a:ext cx="5370513" cy="3719513"/>
          </a:xfrm>
          <a:ln/>
        </p:spPr>
      </p:sp>
      <p:sp>
        <p:nvSpPr>
          <p:cNvPr id="819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lvl="0">
              <a:spcBef>
                <a:spcPct val="30000"/>
              </a:spcBef>
              <a:spcAft>
                <a:spcPct val="0"/>
              </a:spcAft>
              <a:defRPr/>
            </a:pPr>
            <a:r>
              <a:rPr lang="ko-KR" altLang="en-US"/>
              <a:t/>
            </a:r>
            <a:endParaRPr lang="ko-KR" altLang="en-US"/>
          </a:p>
        </p:txBody>
      </p:sp>
    </p:spTree>
  </p:cSld>
</p:notes>
</file>

<file path=ppt/notesSlides/notesSlide5.xml><?xml version="1.0" encoding="utf-8"?>
<p:notes xmlns:p="http://schemas.openxmlformats.org/presentationml/2006/main">
  <p:cSld>
    <p:spTree xmlns:dsp="http://schemas.microsoft.com/office/drawing/2008/diagram" xmlns:a="http://schemas.openxmlformats.org/drawingml/2006/main" xmlns:r="http://schemas.openxmlformats.org/officeDocument/2006/relationships" xmlns:c="http://schemas.openxmlformats.org/drawingml/2006/chart" xmlns:dgm="http://schemas.openxmlformats.org/drawingml/2006/diagram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Rot="1" noChangeAspect="1" noChangeArrowheads="1" noTextEdit="1"/>
          </p:cNvSpPr>
          <p:nvPr>
            <p:ph type="sldImg" idx="0"/>
          </p:nvPr>
        </p:nvSpPr>
        <p:spPr>
          <a:xfrm>
            <a:off x="698500" y="741363"/>
            <a:ext cx="5340350" cy="3697287"/>
          </a:xfrm>
          <a:ln/>
        </p:spPr>
      </p:sp>
      <p:sp>
        <p:nvSpPr>
          <p:cNvPr id="1433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lvl="0">
              <a:spcBef>
                <a:spcPct val="30000"/>
              </a:spcBef>
              <a:spcAft>
                <a:spcPct val="0"/>
              </a:spcAft>
              <a:defRPr/>
            </a:pPr>
            <a:r>
              <a:rPr lang="ko-KR" altLang="en-US"/>
              <a:t/>
            </a:r>
            <a:endParaRPr lang="ko-KR" altLang="en-US"/>
          </a:p>
        </p:txBody>
      </p:sp>
    </p:spTree>
  </p:cSld>
</p:notes>
</file>

<file path=ppt/notesSlides/notesSlide6.xml><?xml version="1.0" encoding="utf-8"?>
<p:notes xmlns:p="http://schemas.openxmlformats.org/presentationml/2006/main">
  <p:cSld>
    <p:spTree xmlns:dsp="http://schemas.microsoft.com/office/drawing/2008/diagram" xmlns:a="http://schemas.openxmlformats.org/drawingml/2006/main" xmlns:r="http://schemas.openxmlformats.org/officeDocument/2006/relationships" xmlns:c="http://schemas.openxmlformats.org/drawingml/2006/chart" xmlns:dgm="http://schemas.openxmlformats.org/drawingml/2006/diagram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Rot="1" noChangeAspect="1" noChangeArrowheads="1" noTextEdit="1"/>
          </p:cNvSpPr>
          <p:nvPr>
            <p:ph type="sldImg" idx="0"/>
          </p:nvPr>
        </p:nvSpPr>
        <p:spPr>
          <a:xfrm>
            <a:off x="698500" y="741363"/>
            <a:ext cx="5340350" cy="3697287"/>
          </a:xfrm>
          <a:ln/>
        </p:spPr>
      </p:sp>
      <p:sp>
        <p:nvSpPr>
          <p:cNvPr id="1536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lvl="0">
              <a:spcBef>
                <a:spcPct val="30000"/>
              </a:spcBef>
              <a:spcAft>
                <a:spcPct val="0"/>
              </a:spcAft>
              <a:defRPr/>
            </a:pPr>
            <a:r>
              <a:rPr lang="ko-KR" altLang="en-US"/>
              <a:t/>
            </a:r>
            <a:endParaRPr lang="ko-KR" altLang="en-US"/>
          </a:p>
        </p:txBody>
      </p:sp>
    </p:spTree>
  </p:cSld>
</p:notes>
</file>

<file path=ppt/notesSlides/notesSlide7.xml><?xml version="1.0" encoding="utf-8"?>
<p:notes xmlns:p="http://schemas.openxmlformats.org/presentationml/2006/main">
  <p:cSld>
    <p:spTree xmlns:a="http://schemas.openxmlformats.org/drawingml/2006/main"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952500" y="685800"/>
            <a:ext cx="4953000" cy="342900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09F4262C-968C-4EE9-8164-CE16364706B3}" type="slidenum">
              <a:rPr lang="ko-KR" altLang="en-US" smtClean="0"/>
              <a:pPr lvl="0">
                <a:defRPr/>
              </a:pPr>
              <a:t>1</a:t>
            </a:fld>
            <a:endParaRPr lang="ko-KR" altLang="en-US"/>
          </a:p>
        </p:txBody>
      </p:sp>
    </p:spTree>
  </p:cSld>
</p:notes>
</file>

<file path=ppt/slideLayouts/_rels/slideLayout1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 lIns="0" rIns="0" anchor="b"/>
          <a:lstStyle/>
          <a:p>
            <a:pPr lvl="0" algn="l" marL="372596" indent="-372596">
              <a:spcAft>
                <a:spcPct val="0"/>
              </a:spcAft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95050" y="1599162"/>
            <a:ext cx="4372951" cy="2194576"/>
          </a:xfrm>
        </p:spPr>
        <p:txBody>
          <a:bodyPr lIns="45720" rIns="45720"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marL="175431" indent="-175431">
              <a:spcBef>
                <a:spcPct val="0"/>
              </a:spcBef>
              <a:spcAft>
                <a:spcPct val="0"/>
              </a:spcAft>
              <a:defRPr/>
            </a:pPr>
            <a:r>
              <a:rPr lang="ko-KR" altLang="en-US"/>
              <a:t>마스터 텍스트 스타일을 편집합니다</a:t>
            </a:r>
          </a:p>
          <a:p>
            <a:pPr lvl="1" marL="526292" indent="-175431">
              <a:spcAft>
                <a:spcPct val="0"/>
              </a:spcAft>
              <a:defRPr/>
            </a:pPr>
            <a:r>
              <a:rPr lang="ko-KR" altLang="en-US"/>
              <a:t>둘째 수준</a:t>
            </a:r>
          </a:p>
          <a:p>
            <a:pPr lvl="2" marL="875601" indent="-173878">
              <a:spcAft>
                <a:spcPct val="0"/>
              </a:spcAft>
              <a:defRPr/>
            </a:pPr>
            <a:r>
              <a:rPr lang="ko-KR" altLang="en-US"/>
              <a:t>셋째 수준</a:t>
            </a:r>
          </a:p>
          <a:p>
            <a:pPr lvl="3" marL="1235776" indent="-184746">
              <a:spcAft>
                <a:spcPct val="0"/>
              </a:spcAft>
              <a:defRPr/>
            </a:pPr>
            <a:r>
              <a:rPr lang="ko-KR" altLang="en-US"/>
              <a:t>넷째 수준</a:t>
            </a:r>
          </a:p>
          <a:p>
            <a:pPr lvl="4" marL="1586638" indent="-175431">
              <a:spcAft>
                <a:spcPct val="0"/>
              </a:spcAft>
              <a:defRPr/>
            </a:pPr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5033019" y="1599162"/>
            <a:ext cx="4372951" cy="2194576"/>
          </a:xfrm>
        </p:spPr>
        <p:txBody>
          <a:bodyPr lIns="45720" rIns="45720"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marL="175431" indent="-175431">
              <a:spcBef>
                <a:spcPct val="0"/>
              </a:spcBef>
              <a:spcAft>
                <a:spcPct val="0"/>
              </a:spcAft>
              <a:defRPr/>
            </a:pPr>
            <a:r>
              <a:rPr lang="ko-KR" altLang="en-US"/>
              <a:t>마스터 텍스트 스타일을 편집합니다</a:t>
            </a:r>
          </a:p>
          <a:p>
            <a:pPr lvl="1" marL="526292" indent="-175431">
              <a:spcAft>
                <a:spcPct val="0"/>
              </a:spcAft>
              <a:defRPr/>
            </a:pPr>
            <a:r>
              <a:rPr lang="ko-KR" altLang="en-US"/>
              <a:t>둘째 수준</a:t>
            </a:r>
          </a:p>
          <a:p>
            <a:pPr lvl="2" marL="875601" indent="-173878">
              <a:spcAft>
                <a:spcPct val="0"/>
              </a:spcAft>
              <a:defRPr/>
            </a:pPr>
            <a:r>
              <a:rPr lang="ko-KR" altLang="en-US"/>
              <a:t>셋째 수준</a:t>
            </a:r>
          </a:p>
          <a:p>
            <a:pPr lvl="3" marL="1235776" indent="-184746">
              <a:spcAft>
                <a:spcPct val="0"/>
              </a:spcAft>
              <a:defRPr/>
            </a:pPr>
            <a:r>
              <a:rPr lang="ko-KR" altLang="en-US"/>
              <a:t>넷째 수준</a:t>
            </a:r>
          </a:p>
          <a:p>
            <a:pPr lvl="4" marL="1586638" indent="-175431">
              <a:spcAft>
                <a:spcPct val="0"/>
              </a:spcAft>
              <a:defRPr/>
            </a:pPr>
            <a:r>
              <a:rPr lang="ko-KR" altLang="en-US"/>
              <a:t>다섯째 수준</a:t>
            </a:r>
          </a:p>
        </p:txBody>
      </p:sp>
      <p:sp>
        <p:nvSpPr>
          <p:cNvPr id="5" name="내용 개체 틀 4"/>
          <p:cNvSpPr>
            <a:spLocks noGrp="1"/>
          </p:cNvSpPr>
          <p:nvPr>
            <p:ph sz="half" idx="3"/>
          </p:nvPr>
        </p:nvSpPr>
        <p:spPr>
          <a:xfrm>
            <a:off x="493781" y="3981637"/>
            <a:ext cx="4372951" cy="2194576"/>
          </a:xfrm>
        </p:spPr>
        <p:txBody>
          <a:bodyPr lIns="45720" rIns="45720"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marL="175431" indent="-175431">
              <a:spcBef>
                <a:spcPct val="0"/>
              </a:spcBef>
              <a:spcAft>
                <a:spcPct val="0"/>
              </a:spcAft>
              <a:defRPr/>
            </a:pPr>
            <a:r>
              <a:rPr lang="ko-KR" altLang="en-US"/>
              <a:t>마스터 텍스트 스타일을 편집합니다</a:t>
            </a:r>
          </a:p>
          <a:p>
            <a:pPr lvl="1" marL="526292" indent="-175431">
              <a:spcAft>
                <a:spcPct val="0"/>
              </a:spcAft>
              <a:defRPr/>
            </a:pPr>
            <a:r>
              <a:rPr lang="ko-KR" altLang="en-US"/>
              <a:t>둘째 수준</a:t>
            </a:r>
          </a:p>
          <a:p>
            <a:pPr lvl="2" marL="875601" indent="-173878">
              <a:spcAft>
                <a:spcPct val="0"/>
              </a:spcAft>
              <a:defRPr/>
            </a:pPr>
            <a:r>
              <a:rPr lang="ko-KR" altLang="en-US"/>
              <a:t>셋째 수준</a:t>
            </a:r>
          </a:p>
          <a:p>
            <a:pPr lvl="3" marL="1235776" indent="-184746">
              <a:spcAft>
                <a:spcPct val="0"/>
              </a:spcAft>
              <a:defRPr/>
            </a:pPr>
            <a:r>
              <a:rPr lang="ko-KR" altLang="en-US"/>
              <a:t>넷째 수준</a:t>
            </a:r>
          </a:p>
          <a:p>
            <a:pPr lvl="4" marL="1586638" indent="-175431">
              <a:spcAft>
                <a:spcPct val="0"/>
              </a:spcAft>
              <a:defRPr/>
            </a:pPr>
            <a:r>
              <a:rPr lang="ko-KR" altLang="en-US"/>
              <a:t>다섯째 수준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half" idx="4"/>
          </p:nvPr>
        </p:nvSpPr>
        <p:spPr>
          <a:xfrm>
            <a:off x="5031750" y="3981637"/>
            <a:ext cx="4372951" cy="2194576"/>
          </a:xfrm>
        </p:spPr>
        <p:txBody>
          <a:bodyPr lIns="45720" rIns="45720"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marL="175431" indent="-175431">
              <a:spcBef>
                <a:spcPct val="0"/>
              </a:spcBef>
              <a:spcAft>
                <a:spcPct val="0"/>
              </a:spcAft>
              <a:defRPr/>
            </a:pPr>
            <a:r>
              <a:rPr lang="ko-KR" altLang="en-US"/>
              <a:t>마스터 텍스트 스타일을 편집합니다</a:t>
            </a:r>
          </a:p>
          <a:p>
            <a:pPr lvl="1" marL="526292" indent="-175431">
              <a:spcAft>
                <a:spcPct val="0"/>
              </a:spcAft>
              <a:defRPr/>
            </a:pPr>
            <a:r>
              <a:rPr lang="ko-KR" altLang="en-US"/>
              <a:t>둘째 수준</a:t>
            </a:r>
          </a:p>
          <a:p>
            <a:pPr lvl="2" marL="875601" indent="-173878">
              <a:spcAft>
                <a:spcPct val="0"/>
              </a:spcAft>
              <a:defRPr/>
            </a:pPr>
            <a:r>
              <a:rPr lang="ko-KR" altLang="en-US"/>
              <a:t>셋째 수준</a:t>
            </a:r>
          </a:p>
          <a:p>
            <a:pPr lvl="3" marL="1235776" indent="-184746">
              <a:spcAft>
                <a:spcPct val="0"/>
              </a:spcAft>
              <a:defRPr/>
            </a:pPr>
            <a:r>
              <a:rPr lang="ko-KR" altLang="en-US"/>
              <a:t>넷째 수준</a:t>
            </a:r>
          </a:p>
          <a:p>
            <a:pPr lvl="4" marL="1586638" indent="-175431">
              <a:spcAft>
                <a:spcPct val="0"/>
              </a:spcAft>
              <a:defRPr/>
            </a:pPr>
            <a:r>
              <a:rPr lang="ko-KR" altLang="en-US"/>
              <a:t>다섯째 수준</a:t>
            </a:r>
          </a:p>
        </p:txBody>
      </p:sp>
      <p:sp>
        <p:nvSpPr>
          <p:cNvPr id="10" name="날짜 개체 틀 3"/>
          <p:cNvSpPr>
            <a:spLocks noGrp="1"/>
          </p:cNvSpPr>
          <p:nvPr>
            <p:ph type="dt" sz="half" idx="10"/>
          </p:nvPr>
        </p:nvSpPr>
        <p:spPr>
          <a:xfrm>
            <a:off x="493650" y="6352034"/>
            <a:ext cx="2310957" cy="365046"/>
          </a:xfrm>
          <a:noFill/>
          <a:ln w="9525" cap="flat" cmpd="sng" algn="ctr">
            <a:noFill/>
            <a:prstDash val="solid"/>
            <a:round/>
          </a:ln>
        </p:spPr>
        <p:txBody>
          <a:bodyPr vert="horz" wrap="square" lIns="91440" tIns="45720" rIns="91440" bIns="45720" anchor="t">
            <a:noAutofit/>
          </a:bodyPr>
          <a:lstStyle>
            <a:lvl1pPr marL="0" lvl="0" indent="0" algn="l" rtl="0" eaLnBrk="1" latinLnBrk="1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None/>
              <a:defRPr kumimoji="1" lang="ko-KR" altLang="en-US" sz="1200" b="0" i="0" baseline="0">
                <a:solidFill>
                  <a:schemeClr val="tx1"/>
                </a:solidFill>
                <a:ea typeface="바탕"/>
              </a:defRPr>
            </a:lvl1pPr>
          </a:lstStyle>
          <a:p>
            <a:pPr marL="0" lvl="0" indent="0" algn="l" rtl="0" eaLnBrk="1" latinLnBrk="1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None/>
              <a:defRPr/>
            </a:pPr>
            <a:fld id="{D8D7A7C4-C82A-4D21-9AB0-F0C5A1D3EF09}" type="datetime1">
              <a:rPr kumimoji="1" lang="ko-KR" altLang="en-US" sz="1200" b="0" i="0" baseline="0">
                <a:solidFill>
                  <a:schemeClr val="tx1"/>
                </a:solidFill>
                <a:latin typeface="+mn-lt"/>
                <a:ea typeface="바탕"/>
                <a:cs typeface="+mn-cs"/>
              </a:rPr>
              <a:pPr marL="0" lvl="0" indent="0" algn="l" rtl="0" eaLnBrk="1" latinLnBrk="1" hangingPunct="1">
                <a:lnSpc>
                  <a:spcPct val="100000"/>
                </a:lnSpc>
                <a:spcBef>
                  <a:spcPct val="30000"/>
                </a:spcBef>
                <a:spcAft>
                  <a:spcPct val="0"/>
                </a:spcAft>
                <a:buNone/>
                <a:defRPr/>
              </a:pPr>
              <a:t>2023-11-30</a:t>
            </a:fld>
            <a:endParaRPr kumimoji="1" lang="ko-KR" altLang="en-US" sz="1200" b="0" i="0" baseline="0">
              <a:solidFill>
                <a:schemeClr val="tx1"/>
              </a:solidFill>
              <a:latin typeface="+mn-lt"/>
              <a:ea typeface="바탕"/>
              <a:cs typeface="+mn-cs"/>
            </a:endParaRPr>
          </a:p>
        </p:txBody>
      </p:sp>
      <p:sp>
        <p:nvSpPr>
          <p:cNvPr id="11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3382318" y="6352034"/>
            <a:ext cx="3134767" cy="365046"/>
          </a:xfrm>
          <a:noFill/>
          <a:ln w="9525" cap="flat" cmpd="sng" algn="ctr">
            <a:noFill/>
            <a:prstDash val="solid"/>
            <a:round/>
          </a:ln>
        </p:spPr>
        <p:txBody>
          <a:bodyPr vert="horz" wrap="square" lIns="91440" tIns="45720" rIns="91440" bIns="45720" anchor="t">
            <a:noAutofit/>
          </a:bodyPr>
          <a:lstStyle>
            <a:lvl1pPr marL="0" lvl="0" indent="0" algn="l" rtl="0" eaLnBrk="1" latinLnBrk="1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None/>
              <a:defRPr kumimoji="1" lang="ko-KR" altLang="en-US" sz="1200" b="0" i="0" baseline="0">
                <a:solidFill>
                  <a:schemeClr val="tx1"/>
                </a:solidFill>
                <a:ea typeface="바탕"/>
              </a:defRPr>
            </a:lvl1pPr>
          </a:lstStyle>
          <a:p>
            <a:pPr marL="0" lvl="0" indent="0" algn="l" rtl="0" eaLnBrk="1" latinLnBrk="1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None/>
              <a:defRPr/>
            </a:pPr>
            <a:endParaRPr kumimoji="1" lang="ko-KR" altLang="en-US" sz="1200" b="0" i="0" baseline="0">
              <a:solidFill>
                <a:schemeClr val="tx1"/>
              </a:solidFill>
              <a:ea typeface="바탕"/>
            </a:endParaRPr>
          </a:p>
        </p:txBody>
      </p:sp>
      <p:sp>
        <p:nvSpPr>
          <p:cNvPr id="12" name="슬라이드 번호 개체 틀 5"/>
          <p:cNvSpPr>
            <a:spLocks noGrp="1"/>
          </p:cNvSpPr>
          <p:nvPr>
            <p:ph type="sldNum" sz="quarter" idx="12"/>
          </p:nvPr>
        </p:nvSpPr>
        <p:spPr>
          <a:xfrm>
            <a:off x="7094854" y="6352034"/>
            <a:ext cx="2310957" cy="365046"/>
          </a:xfrm>
          <a:noFill/>
          <a:ln w="9525" cap="flat" cmpd="sng" algn="ctr">
            <a:noFill/>
            <a:prstDash val="solid"/>
            <a:round/>
          </a:ln>
        </p:spPr>
        <p:txBody>
          <a:bodyPr vert="horz" wrap="square" lIns="91440" tIns="45720" rIns="91440" bIns="45720" anchor="t">
            <a:noAutofit/>
          </a:bodyPr>
          <a:lstStyle>
            <a:lvl1pPr marL="0" lvl="0" indent="0" algn="l" rtl="0" eaLnBrk="1" latinLnBrk="1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None/>
              <a:defRPr kumimoji="1" lang="ko-KR" altLang="en-US" sz="1200" b="0" i="0" baseline="0">
                <a:solidFill>
                  <a:schemeClr val="tx1"/>
                </a:solidFill>
                <a:latin typeface="Arial"/>
                <a:ea typeface="Arial"/>
              </a:defRPr>
            </a:lvl1pPr>
          </a:lstStyle>
          <a:p>
            <a:pPr marL="0" lvl="0" indent="0" algn="l" rtl="0" eaLnBrk="1" latinLnBrk="1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None/>
              <a:defRPr/>
            </a:pPr>
            <a:fld id="{9327EF7B-8B08-4053-A0CD-9D52558E44A8}" type="slidenum">
              <a:rPr kumimoji="1" lang="ko-KR" altLang="en-US" sz="1200" b="0" i="0" baseline="0">
                <a:solidFill>
                  <a:schemeClr val="tx1"/>
                </a:solidFill>
                <a:latin typeface="Arial"/>
                <a:ea typeface="Arial"/>
              </a:rPr>
              <a:pPr marL="0" lvl="0" indent="0" algn="l" rtl="0" eaLnBrk="1" latinLnBrk="1" hangingPunct="1">
                <a:lnSpc>
                  <a:spcPct val="100000"/>
                </a:lnSpc>
                <a:spcBef>
                  <a:spcPct val="30000"/>
                </a:spcBef>
                <a:spcAft>
                  <a:spcPct val="0"/>
                </a:spcAft>
                <a:buNone/>
                <a:defRPr/>
              </a:pPr>
              <a:t>‹#›</a:t>
            </a:fld>
            <a:endParaRPr kumimoji="1" lang="ko-KR" altLang="en-US" sz="1200" b="0" i="0" baseline="0">
              <a:solidFill>
                <a:schemeClr val="tx1"/>
              </a:solidFill>
              <a:latin typeface="Arial"/>
              <a:ea typeface="Arial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no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13" Target="../media/image3.emf" Type="http://schemas.openxmlformats.org/officeDocument/2006/relationships/imag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4"/>
          <p:cNvSpPr>
            <a:spLocks noGrp="1" noChangeArrowheads="1"/>
          </p:cNvSpPr>
          <p:nvPr>
            <p:ph type="title"/>
          </p:nvPr>
        </p:nvSpPr>
        <p:spPr bwMode="auto">
          <a:xfrm>
            <a:off x="223730" y="101530"/>
            <a:ext cx="9055507" cy="431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45720" rIns="0" bIns="45720" numCol="1" anchor="b" anchorCtr="0" compatLnSpc="1">
            <a:prstTxWarp prst="textNoShape">
              <a:avLst/>
            </a:prstTxWarp>
          </a:bodyPr>
          <a:lstStyle/>
          <a:p>
            <a:pPr lvl="0" algn="l" marL="372596" indent="-372596">
              <a:spcAft>
                <a:spcPct val="0"/>
              </a:spcAft>
            </a:pPr>
            <a:r>
              <a:rPr lang="en-US" altLang="ko-KR"/>
              <a:t>Header text</a:t>
            </a:r>
          </a:p>
        </p:txBody>
      </p:sp>
      <p:sp>
        <p:nvSpPr>
          <p:cNvPr id="1027" name="Rectangle 5"/>
          <p:cNvSpPr>
            <a:spLocks noGrp="1" noChangeArrowheads="1"/>
          </p:cNvSpPr>
          <p:nvPr>
            <p:ph type="body" idx="1"/>
          </p:nvPr>
        </p:nvSpPr>
        <p:spPr bwMode="auto">
          <a:xfrm>
            <a:off x="495062" y="836032"/>
            <a:ext cx="8911114" cy="52858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45720" tIns="45720" rIns="45720" bIns="45720" numCol="1" anchor="t" anchorCtr="0" compatLnSpc="1">
            <a:prstTxWarp prst="textNoShape">
              <a:avLst/>
            </a:prstTxWarp>
          </a:bodyPr>
          <a:lstStyle/>
          <a:p>
            <a:pPr lvl="0" marL="175431" indent="-175431">
              <a:spcBef>
                <a:spcPct val="0"/>
              </a:spcBef>
              <a:spcAft>
                <a:spcPct val="0"/>
              </a:spcAft>
            </a:pPr>
            <a:r>
              <a:rPr lang="en-US" altLang="ko-KR"/>
              <a:t>Level One Text</a:t>
            </a:r>
          </a:p>
          <a:p>
            <a:pPr lvl="1" marL="526292" indent="-175431">
              <a:spcAft>
                <a:spcPct val="0"/>
              </a:spcAft>
            </a:pPr>
            <a:r>
              <a:rPr lang="en-US" altLang="ko-KR"/>
              <a:t>Level Two Text</a:t>
            </a:r>
          </a:p>
          <a:p>
            <a:pPr lvl="2" marL="875601" indent="-173878">
              <a:spcAft>
                <a:spcPct val="0"/>
              </a:spcAft>
            </a:pPr>
            <a:r>
              <a:rPr lang="en-US" altLang="ko-KR"/>
              <a:t>Level Three Text</a:t>
            </a:r>
          </a:p>
          <a:p>
            <a:pPr lvl="3" marL="1235776" indent="-184746">
              <a:spcAft>
                <a:spcPct val="0"/>
              </a:spcAft>
            </a:pPr>
            <a:r>
              <a:rPr lang="en-US" altLang="ko-KR"/>
              <a:t>Level Four Text</a:t>
            </a:r>
          </a:p>
          <a:p>
            <a:pPr lvl="4" marL="1586638" indent="-175431">
              <a:spcAft>
                <a:spcPct val="0"/>
              </a:spcAft>
            </a:pPr>
            <a:r>
              <a:rPr lang="en-US" altLang="ko-KR"/>
              <a:t>Level Five Text</a:t>
            </a:r>
          </a:p>
        </p:txBody>
      </p:sp>
      <p:sp>
        <p:nvSpPr>
          <p:cNvPr id="1028" name="Line 10"/>
          <p:cNvSpPr>
            <a:spLocks noChangeShapeType="1"/>
          </p:cNvSpPr>
          <p:nvPr/>
        </p:nvSpPr>
        <p:spPr bwMode="auto">
          <a:xfrm>
            <a:off x="152327" y="609177"/>
            <a:ext cx="9406176" cy="0"/>
          </a:xfrm>
          <a:prstGeom prst="line">
            <a:avLst/>
          </a:prstGeom>
          <a:noFill/>
          <a:ln w="1905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ko-KR" altLang="en-US" sz="2714"/>
          </a:p>
        </p:txBody>
      </p:sp>
      <p:sp>
        <p:nvSpPr>
          <p:cNvPr id="1029" name="Line 27"/>
          <p:cNvSpPr>
            <a:spLocks noChangeShapeType="1"/>
          </p:cNvSpPr>
          <p:nvPr/>
        </p:nvSpPr>
        <p:spPr bwMode="auto">
          <a:xfrm flipV="1">
            <a:off x="598200" y="6610520"/>
            <a:ext cx="0" cy="215750"/>
          </a:xfrm>
          <a:prstGeom prst="line">
            <a:avLst/>
          </a:prstGeom>
          <a:noFill/>
          <a:ln w="9525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 sz="2714"/>
          </a:p>
        </p:txBody>
      </p:sp>
      <p:pic>
        <p:nvPicPr>
          <p:cNvPr id="1030" name="Picture 6"/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8049" y="6512166"/>
            <a:ext cx="852077" cy="3188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34" name="Rectangle 10"/>
          <p:cNvSpPr>
            <a:spLocks noChangeArrowheads="1"/>
          </p:cNvSpPr>
          <p:nvPr/>
        </p:nvSpPr>
        <p:spPr bwMode="auto">
          <a:xfrm>
            <a:off x="4687223" y="6558168"/>
            <a:ext cx="493476" cy="287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>
            <a:lvl1pPr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 eaLnBrk="1" latinLnBrk="1" hangingPunct="1">
              <a:defRPr/>
            </a:pPr>
            <a:fld id="{A8DA2539-2289-4BBF-8B15-ACBAB22FB2D8}" type="slidenum">
              <a:rPr kumimoji="1" lang="en-US" altLang="ko-KR" sz="978" smtClean="0">
                <a:solidFill>
                  <a:srgbClr val="000000"/>
                </a:solidFill>
                <a:latin typeface="Arial" panose="020B0604020202020204" pitchFamily="34" charset="0"/>
                <a:ea typeface="아리따M"/>
                <a:cs typeface="아리따M"/>
              </a:rPr>
              <a:pPr algn="ctr" eaLnBrk="1" latinLnBrk="1" hangingPunct="1">
                <a:defRPr/>
              </a:pPr>
              <a:t>‹#›</a:t>
            </a:fld>
            <a:endParaRPr kumimoji="1" lang="en-US" altLang="ko-KR" sz="978">
              <a:solidFill>
                <a:srgbClr val="000000"/>
              </a:solidFill>
              <a:latin typeface="Arial" panose="020B0604020202020204" pitchFamily="34" charset="0"/>
              <a:ea typeface="아리따M"/>
              <a:cs typeface="아리따M"/>
            </a:endParaRPr>
          </a:p>
        </p:txBody>
      </p:sp>
      <p:sp>
        <p:nvSpPr>
          <p:cNvPr id="2" name="MSIPCMContentMarking" descr="{&quot;HashCode&quot;:1183346205,&quot;Placement&quot;:&quot;Footer&quot;,&quot;Top&quot;:517.622253,&quot;Left&quot;:0.0,&quot;SlideWidth&quot;:779,&quot;SlideHeight&quot;:539}">
            <a:extLst>
              <a:ext uri="{FF2B5EF4-FFF2-40B4-BE49-F238E27FC236}">
                <a16:creationId xmlns:a16="http://schemas.microsoft.com/office/drawing/2014/main" id="{06CD49F0-D643-4002-B42C-3477312F1EA3}"/>
              </a:ext>
            </a:extLst>
          </p:cNvPr>
          <p:cNvSpPr txBox="1"/>
          <p:nvPr userDrawn="1"/>
        </p:nvSpPr>
        <p:spPr>
          <a:xfrm>
            <a:off x="0" y="6573803"/>
            <a:ext cx="1757926" cy="279435"/>
          </a:xfrm>
          <a:prstGeom prst="rect">
            <a:avLst/>
          </a:prstGeom>
        </p:spPr>
        <p:txBody>
          <a:bodyPr vert="horz" wrap="square" lIns="0" tIns="0" rIns="0" bIns="0" rtlCol="0" anchor="ctr" anchorCtr="1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altLang="ko-KR" sz="1100">
                <a:solidFill>
                  <a:srgbClr val="5F5F5F"/>
                </a:solidFill>
                <a:latin typeface="Calibri" panose="020F0502020204030204" pitchFamily="34" charset="0"/>
              </a:rPr>
              <a:t>S-OIL: Company Use Only</a:t>
            </a:r>
            <a:endParaRPr lang="ko-KR" altLang="en-US" sz="1100">
              <a:solidFill>
                <a:srgbClr val="5F5F5F"/>
              </a:solidFill>
              <a:latin typeface="Calibri" panose="020F050202020403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notesSlides/notesSlide1.xml" Type="http://schemas.openxmlformats.org/officeDocument/2006/relationships/notesSlide"/></Relationships>
</file>

<file path=ppt/slides/_rels/slide2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.xml" Type="http://schemas.openxmlformats.org/officeDocument/2006/relationships/notesSlide"/></Relationships>
</file>

<file path=ppt/slides/_rels/slide3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5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6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.xml" Type="http://schemas.openxmlformats.org/officeDocument/2006/relationships/notesSlide"/></Relationships>
</file>

<file path=ppt/slides/_rels/slide7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4.xml" Type="http://schemas.openxmlformats.org/officeDocument/2006/relationships/notesSlide"/></Relationships>
</file>

<file path=ppt/slides/_rels/slide8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9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0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1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2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3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4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5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6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7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8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9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0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5.xml" Type="http://schemas.openxmlformats.org/officeDocument/2006/relationships/notesSlide"/></Relationships>
</file>

<file path=ppt/slides/_rels/slide21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6.xml" Type="http://schemas.openxmlformats.org/officeDocument/2006/relationships/notesSlide"/></Relationships>
</file>

<file path=ppt/slides/_rels/slide22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7.xml" Type="http://schemas.openxmlformats.org/officeDocument/2006/relationships/notesSlide"/></Relationships>
</file>

<file path=ppt/slides/_rels/slide23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 showMasterSp="false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TextBox 7"/>
          <p:cNvSpPr txBox="1">
            <a:spLocks noChangeArrowheads="1"/>
          </p:cNvSpPr>
          <p:nvPr/>
        </p:nvSpPr>
        <p:spPr>
          <a:xfrm>
            <a:off x="2054393" y="2265519"/>
            <a:ext cx="5763041" cy="504351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1pPr>
            <a:lvl2pPr indent="-285750" marL="742950"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2pPr>
            <a:lvl3pPr indent="-228600" marL="1143000"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3pPr>
            <a:lvl4pPr indent="-228600" marL="1600200"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4pPr>
            <a:lvl5pPr indent="-228600" marL="2057400"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5pPr>
            <a:lvl6pPr eaLnBrk="0" fontAlgn="base" hangingPunct="0" indent="-228600" marL="25146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6pPr>
            <a:lvl7pPr eaLnBrk="0" fontAlgn="base" hangingPunct="0" indent="-228600" marL="29718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7pPr>
            <a:lvl8pPr eaLnBrk="0" fontAlgn="base" hangingPunct="0" indent="-228600" marL="34290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8pPr>
            <a:lvl9pPr eaLnBrk="0" fontAlgn="base" hangingPunct="0" indent="-228600" marL="38862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9pPr>
          </a:lstStyle>
          <a:p>
            <a:pPr algn="ctr" eaLnBrk="1" hangingPunct="1">
              <a:spcBef>
                <a:spcPct val="0"/>
              </a:spcBef>
              <a:spcAft>
                <a:spcPct val="0"/>
              </a:spcAft>
              <a:defRPr/>
            </a:pPr>
            <a:r>
              <a:rPr altLang="ko-KR" b="0" kumimoji="1" lang="en-US" sz="2740">
                <a:solidFill>
                  <a:srgbClr val="000000"/>
                </a:solidFill>
                <a:latin typeface="HY견고딕"/>
                <a:ea typeface="HY견고딕"/>
              </a:rPr>
              <a:t>ITO </a:t>
            </a:r>
            <a:r>
              <a:rPr altLang="en-US" b="0" kumimoji="1" lang="ko-KR" sz="2740">
                <a:solidFill>
                  <a:srgbClr val="000000"/>
                </a:solidFill>
                <a:latin typeface="HY견고딕"/>
                <a:ea typeface="HY견고딕"/>
              </a:rPr>
              <a:t>운영 주간보고서 </a:t>
            </a:r>
            <a:r>
              <a:rPr altLang="ko-KR" b="0" kumimoji="1" lang="en-US" sz="2740">
                <a:solidFill>
                  <a:srgbClr val="000000"/>
                </a:solidFill>
                <a:latin typeface="HY견고딕"/>
                <a:ea typeface="HY견고딕"/>
              </a:rPr>
              <a:t>(AMS)</a:t>
            </a:r>
            <a:endParaRPr altLang="en-US" b="0" kumimoji="1" lang="ko-KR" sz="2740">
              <a:solidFill>
                <a:srgbClr val="000000"/>
              </a:solidFill>
              <a:latin typeface="HY견고딕"/>
              <a:ea typeface="HY견고딕"/>
            </a:endParaRPr>
          </a:p>
        </p:txBody>
      </p:sp>
      <p:pic>
        <p:nvPicPr>
          <p:cNvPr id="10243" name="Picture 2"/>
          <p:cNvPicPr>
            <a:picLocks noChangeArrowheads="1" noChangeAspect="1"/>
          </p:cNvPicPr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499459" y="521072"/>
            <a:ext cx="1542506" cy="517276"/>
          </a:xfrm>
          <a:prstGeom prst="rect">
            <a:avLst/>
          </a:prstGeom>
          <a:noFill/>
          <a:ln>
            <a:noFill/>
          </a:ln>
          <a:effectLst/>
        </p:spPr>
      </p:pic>
      <p:pic>
        <p:nvPicPr>
          <p:cNvPr descr="BD15156_" id="10244" name="Picture 4"/>
          <p:cNvPicPr>
            <a:picLocks noChangeArrowheads="1" noChangeAspect="1"/>
          </p:cNvPicPr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1285470" y="2832502"/>
            <a:ext cx="7322635" cy="86989"/>
          </a:xfrm>
          <a:prstGeom prst="rect">
            <a:avLst/>
          </a:prstGeom>
          <a:noFill/>
          <a:ln>
            <a:noFill/>
          </a:ln>
        </p:spPr>
      </p:pic>
      <p:sp>
        <p:nvSpPr>
          <p:cNvPr id="10245" name="Rectangle 3"/>
          <p:cNvSpPr txBox="1">
            <a:spLocks noChangeArrowheads="1"/>
          </p:cNvSpPr>
          <p:nvPr/>
        </p:nvSpPr>
        <p:spPr>
          <a:xfrm>
            <a:off x="3034575" y="4685685"/>
            <a:ext cx="3808889" cy="372811"/>
          </a:xfrm>
          <a:prstGeom prst="rect">
            <a:avLst/>
          </a:prstGeom>
          <a:noFill/>
          <a:ln>
            <a:noFill/>
          </a:ln>
        </p:spPr>
        <p:txBody>
          <a:bodyPr bIns="46758" lIns="93521" rIns="93521" tIns="18410"/>
          <a:lstStyle>
            <a:lvl1pPr defTabSz="860425" indent="-342900" marL="342900">
              <a:buChar char="•"/>
              <a:defRPr kumimoji="1" sz="1400">
                <a:solidFill>
                  <a:schemeClr val="tx1"/>
                </a:solidFill>
                <a:latin typeface="Arial"/>
                <a:ea typeface="굴림체"/>
                <a:cs typeface="Arial"/>
              </a:defRPr>
            </a:lvl1pPr>
            <a:lvl2pPr defTabSz="860425" indent="-285750" marL="742950">
              <a:spcBef>
                <a:spcPct val="20000"/>
              </a:spcBef>
              <a:buChar char="–"/>
              <a:defRPr kumimoji="1" sz="1400">
                <a:solidFill>
                  <a:schemeClr val="tx1"/>
                </a:solidFill>
                <a:latin typeface="Arial"/>
                <a:ea typeface="굴림체"/>
                <a:cs typeface="Arial"/>
              </a:defRPr>
            </a:lvl2pPr>
            <a:lvl3pPr defTabSz="860425" indent="-228600" marL="1143000">
              <a:spcBef>
                <a:spcPct val="20000"/>
              </a:spcBef>
              <a:buChar char="•"/>
              <a:defRPr kumimoji="1" sz="1400">
                <a:solidFill>
                  <a:schemeClr val="tx1"/>
                </a:solidFill>
                <a:latin typeface="Arial"/>
                <a:ea typeface="굴림체"/>
                <a:cs typeface="Arial"/>
              </a:defRPr>
            </a:lvl3pPr>
            <a:lvl4pPr defTabSz="860425" indent="-228600" marL="1600200">
              <a:spcBef>
                <a:spcPct val="20000"/>
              </a:spcBef>
              <a:buChar char="–"/>
              <a:defRPr kumimoji="1" sz="1400">
                <a:solidFill>
                  <a:schemeClr val="tx1"/>
                </a:solidFill>
                <a:latin typeface="Arial"/>
                <a:ea typeface="굴림체"/>
                <a:cs typeface="Arial"/>
              </a:defRPr>
            </a:lvl4pPr>
            <a:lvl5pPr defTabSz="860425" indent="-228600" marL="2057400">
              <a:spcBef>
                <a:spcPct val="20000"/>
              </a:spcBef>
              <a:buChar char="»"/>
              <a:defRPr kumimoji="1" sz="1400">
                <a:solidFill>
                  <a:schemeClr val="tx1"/>
                </a:solidFill>
                <a:latin typeface="Arial"/>
                <a:ea typeface="굴림체"/>
                <a:cs typeface="Arial"/>
              </a:defRPr>
            </a:lvl5pPr>
            <a:lvl6pPr defTabSz="860425" eaLnBrk="0" fontAlgn="base" hangingPunct="0" indent="-228600" marL="2514600">
              <a:spcBef>
                <a:spcPct val="20000"/>
              </a:spcBef>
              <a:spcAft>
                <a:spcPct val="0"/>
              </a:spcAft>
              <a:buChar char="»"/>
              <a:defRPr kumimoji="1" sz="1400">
                <a:solidFill>
                  <a:schemeClr val="tx1"/>
                </a:solidFill>
                <a:latin typeface="Arial"/>
                <a:ea typeface="굴림체"/>
                <a:cs typeface="Arial"/>
              </a:defRPr>
            </a:lvl6pPr>
            <a:lvl7pPr defTabSz="860425" eaLnBrk="0" fontAlgn="base" hangingPunct="0" indent="-228600" marL="2971800">
              <a:spcBef>
                <a:spcPct val="20000"/>
              </a:spcBef>
              <a:spcAft>
                <a:spcPct val="0"/>
              </a:spcAft>
              <a:buChar char="»"/>
              <a:defRPr kumimoji="1" sz="1400">
                <a:solidFill>
                  <a:schemeClr val="tx1"/>
                </a:solidFill>
                <a:latin typeface="Arial"/>
                <a:ea typeface="굴림체"/>
                <a:cs typeface="Arial"/>
              </a:defRPr>
            </a:lvl7pPr>
            <a:lvl8pPr defTabSz="860425" eaLnBrk="0" fontAlgn="base" hangingPunct="0" indent="-228600" marL="3429000">
              <a:spcBef>
                <a:spcPct val="20000"/>
              </a:spcBef>
              <a:spcAft>
                <a:spcPct val="0"/>
              </a:spcAft>
              <a:buChar char="»"/>
              <a:defRPr kumimoji="1" sz="1400">
                <a:solidFill>
                  <a:schemeClr val="tx1"/>
                </a:solidFill>
                <a:latin typeface="Arial"/>
                <a:ea typeface="굴림체"/>
                <a:cs typeface="Arial"/>
              </a:defRPr>
            </a:lvl8pPr>
            <a:lvl9pPr defTabSz="860425" eaLnBrk="0" fontAlgn="base" hangingPunct="0" indent="-228600" marL="3886200">
              <a:spcBef>
                <a:spcPct val="20000"/>
              </a:spcBef>
              <a:spcAft>
                <a:spcPct val="0"/>
              </a:spcAft>
              <a:buChar char="»"/>
              <a:defRPr kumimoji="1" sz="1400">
                <a:solidFill>
                  <a:schemeClr val="tx1"/>
                </a:solidFill>
                <a:latin typeface="Arial"/>
                <a:ea typeface="굴림체"/>
                <a:cs typeface="Arial"/>
              </a:defRPr>
            </a:lvl9pPr>
          </a:lstStyle>
          <a:p>
            <a:pPr algn="ctr" eaLnBrk="1" hangingPunct="1" latinLnBrk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FontTx/>
              <a:buNone/>
              <a:defRPr/>
            </a:pPr>
            <a:r>
              <a:rPr b="true" lang="en-US" sz="1960">
                <a:latin typeface="맑은 고딕"/>
              </a:rPr>
              <a:t>[2023.12.12 ~ 2023.12.18]</a:t>
            </a:r>
            <a:endParaRPr altLang="ko-KR" kumimoji="0" lang="en-US" sz="1957">
              <a:latin typeface="맑은 고딕"/>
              <a:ea typeface="맑은 고딕"/>
              <a:cs typeface="+mn-cs"/>
            </a:endParaRPr>
          </a:p>
        </p:txBody>
      </p:sp>
      <p:sp>
        <p:nvSpPr>
          <p:cNvPr id="10246" name="TextBox 10"/>
          <p:cNvSpPr txBox="1">
            <a:spLocks noChangeArrowheads="1"/>
          </p:cNvSpPr>
          <p:nvPr/>
        </p:nvSpPr>
        <p:spPr>
          <a:xfrm>
            <a:off x="4171651" y="3559484"/>
            <a:ext cx="1530014" cy="453842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1pPr>
            <a:lvl2pPr indent="-285750" marL="742950"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2pPr>
            <a:lvl3pPr indent="-228600" marL="1143000"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3pPr>
            <a:lvl4pPr indent="-228600" marL="1600200"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4pPr>
            <a:lvl5pPr indent="-228600" marL="2057400"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5pPr>
            <a:lvl6pPr eaLnBrk="0" fontAlgn="base" hangingPunct="0" indent="-228600" marL="25146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6pPr>
            <a:lvl7pPr eaLnBrk="0" fontAlgn="base" hangingPunct="0" indent="-228600" marL="29718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7pPr>
            <a:lvl8pPr eaLnBrk="0" fontAlgn="base" hangingPunct="0" indent="-228600" marL="34290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8pPr>
            <a:lvl9pPr eaLnBrk="0" fontAlgn="base" hangingPunct="0" indent="-228600" marL="38862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9pPr>
          </a:lstStyle>
          <a:p>
            <a:pPr eaLnBrk="1" hangingPunct="1">
              <a:spcBef>
                <a:spcPct val="0"/>
              </a:spcBef>
              <a:spcAft>
                <a:spcPct val="0"/>
              </a:spcAft>
              <a:defRPr/>
            </a:pPr>
            <a:r>
              <a:rPr b="true" lang="en-US" sz="1960">
                <a:solidFill>
                  <a:srgbClr val="000000"/>
                </a:solidFill>
                <a:latin typeface="맑은 고딕"/>
              </a:rPr>
              <a:t>12월 5주차</a:t>
            </a:r>
            <a:endParaRPr altLang="en-US" kumimoji="1" lang="ko-KR" sz="2349">
              <a:solidFill>
                <a:srgbClr val="000000"/>
              </a:solidFill>
            </a:endParaRPr>
          </a:p>
        </p:txBody>
      </p:sp>
      <p:sp>
        <p:nvSpPr>
          <p:cNvPr id="9" name="Line 18"/>
          <p:cNvSpPr>
            <a:spLocks noChangeShapeType="1"/>
          </p:cNvSpPr>
          <p:nvPr/>
        </p:nvSpPr>
        <p:spPr bwMode="auto">
          <a:xfrm>
            <a:off x="0" y="1600200"/>
            <a:ext cx="9906000" cy="0"/>
          </a:xfrm>
          <a:prstGeom prst="line">
            <a:avLst/>
          </a:prstGeom>
          <a:noFill/>
          <a:ln w="9525">
            <a:solidFill>
              <a:srgbClr val="BBE0E3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pPr>
              <a:spcBef>
                <a:spcPct val="0"/>
              </a:spcBef>
              <a:spcAft>
                <a:spcPct val="0"/>
              </a:spcAft>
            </a:pPr>
            <a:endParaRPr altLang="en-US" lang="ko-KR" sz="2716"/>
          </a:p>
        </p:txBody>
      </p:sp>
      <p:sp>
        <p:nvSpPr>
          <p:cNvPr id="10" name="Line 18"/>
          <p:cNvSpPr>
            <a:spLocks noChangeShapeType="1"/>
          </p:cNvSpPr>
          <p:nvPr/>
        </p:nvSpPr>
        <p:spPr bwMode="auto">
          <a:xfrm>
            <a:off x="0" y="5257800"/>
            <a:ext cx="9906000" cy="0"/>
          </a:xfrm>
          <a:prstGeom prst="line">
            <a:avLst/>
          </a:prstGeom>
          <a:noFill/>
          <a:ln w="9525">
            <a:solidFill>
              <a:srgbClr val="BBE0E3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pPr>
              <a:spcBef>
                <a:spcPct val="0"/>
              </a:spcBef>
              <a:spcAft>
                <a:spcPct val="0"/>
              </a:spcAft>
            </a:pPr>
            <a:endParaRPr altLang="en-US" lang="ko-KR" sz="2716"/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076" name="표 3075"/>
          <p:cNvGraphicFramePr/>
          <p:nvPr>
            <p:extLst>
              <p:ext uri="{D42A27DB-BD31-4B8C-83A1-F6EECF244321}">
                <p14:modId xmlns:p14="http://schemas.microsoft.com/office/powerpoint/2010/main" val="3560969926"/>
              </p:ext>
            </p:extLst>
          </p:nvPr>
        </p:nvGraphicFramePr>
        <p:xfrm>
          <a:off x="271440" y="1141189"/>
          <a:ext cx="9318451" cy="5164874"/>
        </p:xfrm>
        <a:graphic>
          <a:graphicData uri="http://schemas.openxmlformats.org/drawingml/2006/table">
            <a:tbl>
              <a:tblPr bandRow="1" firstRow="1"/>
              <a:tblGrid>
                <a:gridCol w="13205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205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2053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2533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6501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7132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29518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28572">
                <a:tc>
                  <a:txBody>
                    <a:bodyPr/>
                    <a:lstStyle/>
                    <a:p>
                      <a:pPr algn="ctr" defTabSz="58846888" eaLnBrk="0" hangingPunct="0" indent="0" latinLnBrk="0" lvl="0" marL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altLang="en-US" b="0" baseline="0" dirty="0" i="0" kumimoji="1" lang="ko-KR" sz="900">
                          <a:solidFill>
                            <a:srgbClr val="FF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</a:rPr>
                        <a:t>일</a:t>
                      </a:r>
                      <a:endParaRPr altLang="en-US" b="0" dirty="0" i="0" kumimoji="1" lang="ko-KR" sz="900">
                        <a:solidFill>
                          <a:srgbClr val="FF0000">
                            <a:alpha val="100000"/>
                          </a:srgbClr>
                        </a:solidFill>
                        <a:latin typeface="맑은 고딕"/>
                        <a:ea typeface="맑은 고딕"/>
                      </a:endParaRPr>
                    </a:p>
                  </a:txBody>
                  <a:tcPr anchor="ctr" marB="45719" marT="45719">
                    <a:lnL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solidFill>
                      <a:srgbClr val="EAEA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58846888" eaLnBrk="0" hangingPunct="0" indent="0" latinLnBrk="0" lvl="0" marL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altLang="en-US" b="0" baseline="0" i="0" kumimoji="1" lang="ko-KR" sz="90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</a:rPr>
                        <a:t>월</a:t>
                      </a:r>
                      <a:endParaRPr altLang="en-US" b="0" i="0" kumimoji="1" lang="ko-KR" sz="90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  <a:ea typeface="맑은 고딕"/>
                      </a:endParaRPr>
                    </a:p>
                  </a:txBody>
                  <a:tcPr anchor="ctr"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solidFill>
                      <a:srgbClr val="EAEA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58846888" eaLnBrk="0" hangingPunct="0" indent="0" latinLnBrk="0" lvl="0" marL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altLang="en-US" b="0" baseline="0" i="0" kumimoji="1" lang="ko-KR" sz="90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</a:rPr>
                        <a:t>화</a:t>
                      </a:r>
                      <a:endParaRPr altLang="en-US" b="0" i="0" kumimoji="1" lang="ko-KR" sz="90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  <a:ea typeface="맑은 고딕"/>
                      </a:endParaRPr>
                    </a:p>
                  </a:txBody>
                  <a:tcPr anchor="ctr"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solidFill>
                      <a:srgbClr val="EAEA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58846888" eaLnBrk="0" hangingPunct="0" indent="0" latinLnBrk="0" lvl="0" marL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altLang="en-US" b="0" baseline="0" i="0" kumimoji="1" lang="ko-KR" sz="90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</a:rPr>
                        <a:t>수</a:t>
                      </a:r>
                      <a:endParaRPr altLang="en-US" b="0" i="0" kumimoji="1" lang="ko-KR" sz="90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  <a:ea typeface="맑은 고딕"/>
                      </a:endParaRPr>
                    </a:p>
                  </a:txBody>
                  <a:tcPr anchor="ctr"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solidFill>
                      <a:srgbClr val="EAEA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58846888" eaLnBrk="0" hangingPunct="0" indent="0" latinLnBrk="0" lvl="0" marL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altLang="en-US" b="0" baseline="0" i="0" kumimoji="1" lang="ko-KR" sz="90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</a:rPr>
                        <a:t>목</a:t>
                      </a:r>
                      <a:endParaRPr altLang="en-US" b="0" i="0" kumimoji="1" lang="ko-KR" sz="90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  <a:ea typeface="맑은 고딕"/>
                      </a:endParaRPr>
                    </a:p>
                  </a:txBody>
                  <a:tcPr anchor="ctr"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solidFill>
                      <a:srgbClr val="EAEA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58846888" eaLnBrk="0" hangingPunct="0" indent="0" latinLnBrk="0" lvl="0" marL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altLang="en-US" b="0" baseline="0" i="0" kumimoji="1" lang="ko-KR" sz="90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</a:rPr>
                        <a:t>금</a:t>
                      </a:r>
                      <a:endParaRPr altLang="en-US" b="0" i="0" kumimoji="1" lang="ko-KR" sz="90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  <a:ea typeface="맑은 고딕"/>
                      </a:endParaRPr>
                    </a:p>
                  </a:txBody>
                  <a:tcPr anchor="ctr"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solidFill>
                      <a:srgbClr val="EAEA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58846888" eaLnBrk="0" hangingPunct="0" indent="0" latinLnBrk="0" lvl="0" marL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altLang="en-US" b="0" baseline="0" dirty="0" i="0" kumimoji="1" lang="ko-KR" sz="900">
                          <a:solidFill>
                            <a:srgbClr val="0000FF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</a:rPr>
                        <a:t>토</a:t>
                      </a:r>
                      <a:endParaRPr altLang="en-US" b="0" dirty="0" i="0" kumimoji="1" lang="ko-KR" sz="900">
                        <a:solidFill>
                          <a:srgbClr val="0000FF">
                            <a:alpha val="100000"/>
                          </a:srgbClr>
                        </a:solidFill>
                        <a:latin typeface="맑은 고딕"/>
                        <a:ea typeface="맑은 고딕"/>
                      </a:endParaRPr>
                    </a:p>
                  </a:txBody>
                  <a:tcPr anchor="ctr"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solidFill>
                      <a:srgbClr val="EAEAEA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71392">
                <a:tc>
                  <a:txBody>
                    <a:bodyPr/>
                    <a:lstStyle/>
                    <a:p>
                      <a:endParaRPr altLang="en-US" dirty="0" lang="ko-KR" sz="9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>
                    <a:lnL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dirty="0" lang="ko-KR" sz="9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lang="ko-KR" sz="9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dirty="0" lang="ko-KR" sz="9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dirty="0" lang="ko-KR" sz="9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</a:t>
                      </a:r>
                      <a:endParaRPr altLang="en-US" dirty="0" lang="ko-KR" sz="900">
                        <a:solidFill>
                          <a:schemeClr val="tx1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6" marT="45716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0070C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</a:t>
                      </a:r>
                      <a:endParaRPr altLang="en-US" dirty="0" lang="ko-KR" sz="900">
                        <a:solidFill>
                          <a:srgbClr val="0070C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49176"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FF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3</a:t>
                      </a:r>
                      <a:endParaRPr altLang="en-US" dirty="0" lang="ko-KR" sz="900">
                        <a:solidFill>
                          <a:srgbClr val="FF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4</a:t>
                      </a:r>
                      <a:endParaRPr altLang="en-US" dirty="0" lang="ko-KR" sz="9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5</a:t>
                      </a:r>
                      <a:endParaRPr altLang="en-US" dirty="0" lang="ko-KR" sz="9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6</a:t>
                      </a:r>
                      <a:endParaRPr altLang="en-US" dirty="0" lang="ko-KR" sz="9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7</a:t>
                      </a:r>
                      <a:endParaRPr altLang="en-US" dirty="0" lang="ko-KR" sz="9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8</a:t>
                      </a:r>
                      <a:endParaRPr altLang="en-US" dirty="0" lang="ko-KR" sz="9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0070C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9</a:t>
                      </a:r>
                      <a:endParaRPr altLang="en-US" dirty="0" lang="ko-KR" sz="900">
                        <a:solidFill>
                          <a:srgbClr val="0070C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52327"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FF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10</a:t>
                      </a:r>
                      <a:endParaRPr altLang="en-US" dirty="0" lang="ko-KR" sz="900">
                        <a:solidFill>
                          <a:srgbClr val="FF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03" marT="45703">
                    <a:lnL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11</a:t>
                      </a:r>
                      <a:endParaRPr altLang="en-US" dirty="0" lang="ko-KR" sz="9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03" marT="45703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12</a:t>
                      </a:r>
                      <a:endParaRPr altLang="en-US" dirty="0" lang="ko-KR" sz="9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03" marT="45703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13</a:t>
                      </a:r>
                      <a:endParaRPr altLang="en-US" dirty="0" lang="ko-KR" sz="9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14</a:t>
                      </a:r>
                      <a:endParaRPr altLang="en-US" dirty="0" lang="ko-KR" sz="9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15</a:t>
                      </a:r>
                      <a:endParaRPr altLang="en-US" dirty="0" lang="ko-KR" sz="9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0070C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16</a:t>
                      </a:r>
                      <a:endParaRPr altLang="en-US" dirty="0" lang="ko-KR" sz="900">
                        <a:solidFill>
                          <a:srgbClr val="0070C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049146"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FF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17</a:t>
                      </a:r>
                      <a:endParaRPr altLang="en-US" dirty="0" lang="ko-KR" sz="900">
                        <a:solidFill>
                          <a:srgbClr val="FF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03" marT="45703">
                    <a:lnL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18</a:t>
                      </a:r>
                      <a:endParaRPr altLang="en-US" dirty="0" lang="ko-KR" sz="9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03" marT="45703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19</a:t>
                      </a:r>
                      <a:endParaRPr altLang="en-US" dirty="0" lang="ko-KR" sz="9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03" marT="45703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20</a:t>
                      </a:r>
                      <a:endParaRPr altLang="en-US" dirty="0" lang="ko-KR" sz="9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21</a:t>
                      </a:r>
                      <a:endParaRPr altLang="en-US" dirty="0" lang="ko-KR" sz="9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22</a:t>
                      </a:r>
                      <a:endParaRPr altLang="en-US" dirty="0" lang="ko-KR" sz="9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0070C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23</a:t>
                      </a:r>
                      <a:endParaRPr altLang="en-US" dirty="0" lang="ko-KR" sz="900">
                        <a:solidFill>
                          <a:srgbClr val="0070C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914235"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FF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24/31</a:t>
                      </a:r>
                      <a:endParaRPr altLang="en-US" dirty="0" lang="ko-KR" sz="900">
                        <a:solidFill>
                          <a:srgbClr val="FF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03" marT="45703">
                    <a:lnL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FF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25</a:t>
                      </a:r>
                      <a:endParaRPr altLang="en-US" dirty="0" lang="ko-KR" sz="900">
                        <a:solidFill>
                          <a:srgbClr val="FF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26</a:t>
                      </a:r>
                      <a:endParaRPr altLang="en-US" dirty="0" lang="ko-KR" sz="9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27</a:t>
                      </a:r>
                      <a:endParaRPr altLang="en-US" dirty="0" lang="ko-KR" sz="9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FF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28</a:t>
                      </a:r>
                      <a:endParaRPr altLang="en-US" dirty="0" lang="ko-KR" sz="900">
                        <a:solidFill>
                          <a:srgbClr val="FF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FF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29</a:t>
                      </a:r>
                      <a:endParaRPr altLang="en-US" dirty="0" lang="ko-KR" sz="900">
                        <a:solidFill>
                          <a:srgbClr val="FF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0070C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30</a:t>
                      </a:r>
                      <a:endParaRPr altLang="en-US" dirty="0" lang="ko-KR" sz="900">
                        <a:solidFill>
                          <a:srgbClr val="0070C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3246" name="TextBox 3245"/>
          <p:cNvSpPr txBox="1"/>
          <p:nvPr/>
        </p:nvSpPr>
        <p:spPr>
          <a:xfrm>
            <a:off x="5639356" y="661884"/>
            <a:ext cx="661884" cy="363427"/>
          </a:xfrm>
          <a:prstGeom prst="rect">
            <a:avLst/>
          </a:prstGeom>
          <a:noFill/>
          <a:ln algn="ctr" cap="flat" cmpd="sng" w="9525">
            <a:noFill/>
            <a:prstDash val="solid"/>
            <a:round/>
          </a:ln>
        </p:spPr>
        <p:txBody>
          <a:bodyPr anchor="t" bIns="45720" lIns="91440" rIns="91440" tIns="45720" vert="horz" wrap="none">
            <a:noAutofit/>
          </a:bodyPr>
          <a:lstStyle/>
          <a:p>
            <a:pPr algn="r" defTabSz="75524200" eaLnBrk="0" hangingPunct="0" indent="-188937" latinLnBrk="0" lvl="0" marL="188937" rtl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3333CC">
                  <a:alpha val="100000"/>
                </a:srgbClr>
              </a:buClr>
              <a:buSzPct val="100000"/>
              <a:buFont typeface="Arial"/>
              <a:buChar char="◑"/>
              <a:defRPr/>
            </a:pPr>
            <a:r>
              <a:rPr altLang="en-US" b="0" baseline="0" i="0" kumimoji="1" lang="ko-KR" sz="900">
                <a:solidFill>
                  <a:srgbClr val="3333CC">
                    <a:alpha val="100000"/>
                  </a:srgbClr>
                </a:solidFill>
                <a:latin typeface="맑은 고딕"/>
                <a:ea typeface="맑은 고딕"/>
              </a:rPr>
              <a:t>반 차</a:t>
            </a:r>
          </a:p>
          <a:p>
            <a:pPr algn="r" defTabSz="75524200" eaLnBrk="0" hangingPunct="0" indent="-188937" latinLnBrk="0" lvl="0" marL="188937" rtl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3333CC">
                  <a:alpha val="100000"/>
                </a:srgbClr>
              </a:buClr>
              <a:buSzPct val="150000"/>
              <a:buFont typeface="Wingdings"/>
              <a:buChar char="l"/>
              <a:defRPr/>
            </a:pPr>
            <a:r>
              <a:rPr altLang="en-US" b="0" baseline="0" i="0" kumimoji="1" lang="ko-KR" sz="900">
                <a:solidFill>
                  <a:srgbClr val="3333CC">
                    <a:alpha val="100000"/>
                  </a:srgbClr>
                </a:solidFill>
                <a:latin typeface="맑은 고딕"/>
                <a:ea typeface="맑은 고딕"/>
              </a:rPr>
              <a:t> 1day</a:t>
            </a:r>
            <a:endParaRPr altLang="en-US" b="0" i="0" kumimoji="1" lang="ko-KR" sz="900">
              <a:solidFill>
                <a:srgbClr val="3333CC">
                  <a:alpha val="100000"/>
                </a:srgbClr>
              </a:solidFill>
              <a:latin typeface="맑은 고딕"/>
              <a:ea typeface="맑은 고딕"/>
            </a:endParaRPr>
          </a:p>
        </p:txBody>
      </p:sp>
      <p:sp>
        <p:nvSpPr>
          <p:cNvPr id="3247" name="TextBox 3246"/>
          <p:cNvSpPr txBox="1"/>
          <p:nvPr/>
        </p:nvSpPr>
        <p:spPr>
          <a:xfrm>
            <a:off x="226954" y="199994"/>
            <a:ext cx="9056616" cy="336468"/>
          </a:xfrm>
          <a:prstGeom prst="rect">
            <a:avLst/>
          </a:prstGeom>
          <a:noFill/>
          <a:ln algn="ctr" cap="flat" cmpd="sng" w="9525">
            <a:noFill/>
            <a:prstDash val="solid"/>
            <a:round/>
          </a:ln>
        </p:spPr>
        <p:txBody>
          <a:bodyPr anchor="ctr" bIns="45789" lIns="91577" rIns="91577" tIns="45789" vert="horz" wrap="square">
            <a:noAutofit/>
          </a:bodyPr>
          <a:lstStyle/>
          <a:p>
            <a:pPr algn="l" defTabSz="58846888" eaLnBrk="0" hangingPunct="0" indent="-385813" latinLnBrk="0" lvl="0" marL="385813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/>
            </a:pPr>
            <a:r>
              <a:rPr altLang="en-US" b="1" baseline="0" dirty="0" i="0" kumimoji="1" lang="ko-KR" sz="16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별첨</a:t>
            </a:r>
            <a:r>
              <a:rPr altLang="en-US" b="1" baseline="0" dirty="0" i="0" kumimoji="1" lang="ko-KR" sz="16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-</a:t>
            </a:r>
            <a:r>
              <a:rPr altLang="en-US" b="1" baseline="0" dirty="0" i="0" kumimoji="1" lang="ko-KR" sz="16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2</a:t>
            </a:r>
            <a:r>
              <a:rPr altLang="en-US" b="1" baseline="0" dirty="0" i="0" kumimoji="1" lang="ko-KR" sz="16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.</a:t>
            </a:r>
            <a:r>
              <a:rPr altLang="en-US" b="1" baseline="0" dirty="0" i="0" kumimoji="1" lang="ko-KR" sz="16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 2023</a:t>
            </a:r>
            <a:r>
              <a:rPr altLang="en-US" b="1" baseline="0" dirty="0" i="0" kumimoji="1" lang="ko-KR" sz="16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. </a:t>
            </a:r>
            <a:r>
              <a:rPr altLang="ko-KR" b="1" dirty="0" kumimoji="1" lang="en-US" sz="16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12</a:t>
            </a:r>
            <a:r>
              <a:rPr altLang="en-US" b="1" baseline="0" dirty="0" i="0" kumimoji="1" lang="ko-KR" sz="16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월 휴가계획서</a:t>
            </a:r>
            <a:endParaRPr altLang="en-US" b="1" dirty="0" i="0" kumimoji="1" lang="ko-KR" sz="1600">
              <a:solidFill>
                <a:srgbClr val="000000">
                  <a:alpha val="100000"/>
                </a:srgbClr>
              </a:solidFill>
              <a:latin typeface="맑은 고딕"/>
              <a:ea typeface="맑은 고딕"/>
            </a:endParaRPr>
          </a:p>
        </p:txBody>
      </p:sp>
      <p:sp>
        <p:nvSpPr>
          <p:cNvPr id="3248" name="TextBox 3247"/>
          <p:cNvSpPr txBox="1"/>
          <p:nvPr/>
        </p:nvSpPr>
        <p:spPr>
          <a:xfrm>
            <a:off x="6777363" y="666628"/>
            <a:ext cx="1447571" cy="355557"/>
          </a:xfrm>
          <a:prstGeom prst="rect">
            <a:avLst/>
          </a:prstGeom>
          <a:noFill/>
          <a:ln algn="ctr" cap="flat" cmpd="sng" w="9525">
            <a:noFill/>
            <a:prstDash val="solid"/>
            <a:round/>
          </a:ln>
        </p:spPr>
        <p:txBody>
          <a:bodyPr anchor="t" bIns="45720" lIns="91440" rIns="91440" tIns="45720" vert="horz" wrap="square">
            <a:noAutofit/>
          </a:bodyPr>
          <a:lstStyle/>
          <a:p>
            <a:pPr algn="r" defTabSz="75524200" eaLnBrk="1" hangingPunct="1" indent="-188937" latinLnBrk="0" lvl="0" marL="188937" rtl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333399">
                  <a:alpha val="100000"/>
                </a:srgbClr>
              </a:buClr>
              <a:buSzPct val="100000"/>
              <a:buFont typeface="Wingdings"/>
              <a:buChar char="Ø"/>
              <a:defRPr/>
            </a:pPr>
            <a:r>
              <a:rPr altLang="en-US" b="0" baseline="0" dirty="0" i="0" kumimoji="1" lang="ko-KR" sz="900">
                <a:solidFill>
                  <a:srgbClr val="333399">
                    <a:alpha val="100000"/>
                  </a:srgbClr>
                </a:solidFill>
                <a:latin typeface="맑은 고딕"/>
                <a:ea typeface="맑은 고딕"/>
              </a:rPr>
              <a:t>예비군</a:t>
            </a:r>
            <a:r>
              <a:rPr altLang="en-US" b="0" baseline="0" dirty="0" i="0" kumimoji="1" lang="ko-KR" sz="900">
                <a:solidFill>
                  <a:srgbClr val="333399">
                    <a:alpha val="100000"/>
                  </a:srgbClr>
                </a:solidFill>
                <a:latin typeface="바탕"/>
                <a:ea typeface="맑은 고딕"/>
              </a:rPr>
              <a:t>/</a:t>
            </a:r>
            <a:r>
              <a:rPr altLang="en-US" b="0" baseline="0" dirty="0" i="0" kumimoji="1" lang="ko-KR" sz="900">
                <a:solidFill>
                  <a:srgbClr val="333399">
                    <a:alpha val="100000"/>
                  </a:srgbClr>
                </a:solidFill>
                <a:latin typeface="맑은 고딕"/>
                <a:ea typeface="맑은 고딕"/>
              </a:rPr>
              <a:t>민방위 훈련 </a:t>
            </a:r>
          </a:p>
          <a:p>
            <a:pPr algn="r" defTabSz="75524200" eaLnBrk="1" hangingPunct="1" indent="-188937" latinLnBrk="0" lvl="0" marL="188937" rtl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333399">
                  <a:alpha val="100000"/>
                </a:srgbClr>
              </a:buClr>
              <a:buSzPct val="100000"/>
              <a:buFont typeface="Wingdings"/>
              <a:buChar char="ü"/>
              <a:defRPr/>
            </a:pPr>
            <a:r>
              <a:rPr altLang="en-US" b="0" baseline="0" dirty="0" i="0" kumimoji="1" lang="ko-KR" sz="900">
                <a:solidFill>
                  <a:srgbClr val="333399">
                    <a:alpha val="100000"/>
                  </a:srgbClr>
                </a:solidFill>
                <a:latin typeface="맑은 고딕"/>
                <a:ea typeface="맑은 고딕"/>
              </a:rPr>
              <a:t>교육</a:t>
            </a:r>
            <a:r>
              <a:rPr altLang="en-US" b="0" baseline="0" dirty="0" i="0" kumimoji="1" lang="ko-KR" sz="900">
                <a:solidFill>
                  <a:srgbClr val="333399">
                    <a:alpha val="100000"/>
                  </a:srgbClr>
                </a:solidFill>
                <a:latin typeface="바탕"/>
                <a:ea typeface="맑은 고딕"/>
              </a:rPr>
              <a:t>,</a:t>
            </a:r>
            <a:r>
              <a:rPr altLang="en-US" b="0" baseline="0" dirty="0" i="0" kumimoji="1" lang="ko-KR" sz="900">
                <a:solidFill>
                  <a:srgbClr val="333399">
                    <a:alpha val="100000"/>
                  </a:srgbClr>
                </a:solidFill>
                <a:latin typeface="맑은 고딕"/>
                <a:ea typeface="맑은 고딕"/>
              </a:rPr>
              <a:t> 내부회의 </a:t>
            </a:r>
            <a:endParaRPr altLang="en-US" b="0" dirty="0" i="0" kumimoji="1" lang="ko-KR" sz="900">
              <a:solidFill>
                <a:srgbClr val="333399">
                  <a:alpha val="100000"/>
                </a:srgbClr>
              </a:solidFill>
              <a:latin typeface="맑은 고딕"/>
              <a:ea typeface="맑은 고딕"/>
            </a:endParaRPr>
          </a:p>
        </p:txBody>
      </p:sp>
      <p:sp>
        <p:nvSpPr>
          <p:cNvPr id="3252" name="TextBox 3251"/>
          <p:cNvSpPr txBox="1"/>
          <p:nvPr/>
        </p:nvSpPr>
        <p:spPr>
          <a:xfrm>
            <a:off x="7853525" y="661884"/>
            <a:ext cx="1676088" cy="355501"/>
          </a:xfrm>
          <a:prstGeom prst="rect">
            <a:avLst/>
          </a:prstGeom>
          <a:noFill/>
          <a:ln algn="ctr" cap="flat" cmpd="sng" w="9525">
            <a:noFill/>
            <a:prstDash val="solid"/>
            <a:round/>
          </a:ln>
        </p:spPr>
        <p:txBody>
          <a:bodyPr anchor="t" bIns="45720" lIns="91440" rIns="91440" tIns="45720" vert="horz" wrap="square">
            <a:noAutofit/>
          </a:bodyPr>
          <a:lstStyle/>
          <a:p>
            <a:pPr algn="r" defTabSz="75524200" eaLnBrk="1" hangingPunct="1" indent="-188937" latinLnBrk="0" lvl="0" marL="188937" rtl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333399">
                  <a:alpha val="100000"/>
                </a:srgbClr>
              </a:buClr>
              <a:buSzPct val="100000"/>
              <a:buFont typeface="Wingdings"/>
              <a:buChar char="v"/>
              <a:defRPr/>
            </a:pPr>
            <a:r>
              <a:rPr altLang="en-US" b="0" baseline="0" i="0" kumimoji="1" lang="ko-KR" sz="900">
                <a:solidFill>
                  <a:srgbClr val="333399">
                    <a:alpha val="100000"/>
                  </a:srgbClr>
                </a:solidFill>
                <a:latin typeface="맑은 고딕"/>
                <a:ea typeface="맑은 고딕"/>
              </a:rPr>
              <a:t>경조휴가</a:t>
            </a:r>
          </a:p>
          <a:p>
            <a:pPr algn="r" defTabSz="75524200" eaLnBrk="1" hangingPunct="1" indent="-188937" latinLnBrk="0" lvl="0" marL="188937" rtl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333399">
                  <a:alpha val="100000"/>
                </a:srgbClr>
              </a:buClr>
              <a:buSzPct val="100000"/>
              <a:buFont typeface="Arial"/>
              <a:buChar char="◇"/>
              <a:defRPr/>
            </a:pPr>
            <a:r>
              <a:rPr altLang="en-US" b="0" baseline="0" i="0" kumimoji="1" lang="ko-KR" sz="900">
                <a:solidFill>
                  <a:srgbClr val="333399">
                    <a:alpha val="100000"/>
                  </a:srgbClr>
                </a:solidFill>
                <a:latin typeface="맑은 고딕"/>
                <a:ea typeface="맑은 고딕"/>
              </a:rPr>
              <a:t>건강검진</a:t>
            </a:r>
            <a:endParaRPr altLang="en-US" b="0" i="0" kumimoji="1" lang="ko-KR" sz="900">
              <a:solidFill>
                <a:srgbClr val="333399">
                  <a:alpha val="100000"/>
                </a:srgbClr>
              </a:solidFill>
              <a:latin typeface="맑은 고딕"/>
              <a:ea typeface="맑은 고딕"/>
            </a:endParaRPr>
          </a:p>
        </p:txBody>
      </p:sp>
      <p:sp>
        <p:nvSpPr>
          <p:cNvPr id="3253" name="TextBox 3252"/>
          <p:cNvSpPr txBox="1"/>
          <p:nvPr/>
        </p:nvSpPr>
        <p:spPr>
          <a:xfrm>
            <a:off x="722167" y="6401209"/>
            <a:ext cx="3085536" cy="223828"/>
          </a:xfrm>
          <a:prstGeom prst="rect">
            <a:avLst/>
          </a:prstGeom>
          <a:noFill/>
          <a:ln algn="ctr" cap="flat" cmpd="sng" w="9525">
            <a:noFill/>
            <a:prstDash val="solid"/>
            <a:round/>
          </a:ln>
        </p:spPr>
        <p:txBody>
          <a:bodyPr anchor="ctr" bIns="45720" lIns="91440" rIns="91440" tIns="45720" vert="horz" wrap="none">
            <a:noAutofit/>
          </a:bodyPr>
          <a:lstStyle/>
          <a:p>
            <a:pPr algn="r" defTabSz="75524200" eaLnBrk="0" hangingPunct="0" indent="0" latinLnBrk="0" lvl="0" marL="0" rtl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None/>
              <a:defRPr/>
            </a:pP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(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H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)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 IT운영팀  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(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R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)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 생산IT지원팀  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(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B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)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 Baynex   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(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Q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)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 Quintet</a:t>
            </a:r>
            <a:endParaRPr altLang="en-US" b="0" i="0" kumimoji="1" lang="ko-KR" sz="900">
              <a:solidFill>
                <a:srgbClr val="000000">
                  <a:alpha val="100000"/>
                </a:srgbClr>
              </a:solidFill>
              <a:latin typeface="맑은 고딕"/>
              <a:ea typeface="맑은 고딕"/>
            </a:endParaRP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AutoShape 125"/>
          <p:cNvSpPr>
            <a:spLocks noChangeArrowheads="1"/>
          </p:cNvSpPr>
          <p:nvPr/>
        </p:nvSpPr>
        <p:spPr bwMode="auto">
          <a:xfrm>
            <a:off x="2486232" y="2518720"/>
            <a:ext cx="5711781" cy="391452"/>
          </a:xfrm>
          <a:prstGeom prst="roundRect">
            <a:avLst>
              <a:gd fmla="val 16667" name="adj"/>
            </a:avLst>
          </a:prstGeom>
          <a:solidFill>
            <a:schemeClr val="bg1"/>
          </a:solidFill>
          <a:ln>
            <a:noFill/>
          </a:ln>
          <a:effectLst>
            <a:outerShdw algn="ctr" dir="2700000" dist="35921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algn="ctr" w="6350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anchor="ctr" lIns="176131" wrap="none"/>
          <a:lstStyle>
            <a:lvl1pPr defTabSz="762000" indent="-342900" marL="3429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1pPr>
            <a:lvl2pPr defTabSz="762000" indent="-385763" marL="5651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2pPr>
            <a:lvl3pPr defTabSz="762000" indent="-228600" marL="11430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3pPr>
            <a:lvl4pPr defTabSz="762000" indent="-228600" marL="16002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4pPr>
            <a:lvl5pPr defTabSz="762000" indent="-228600" marL="20574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5pPr>
            <a:lvl6pPr defTabSz="762000" eaLnBrk="0" fontAlgn="base" hangingPunct="0" indent="-228600" marL="25146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6pPr>
            <a:lvl7pPr defTabSz="762000" eaLnBrk="0" fontAlgn="base" hangingPunct="0" indent="-228600" marL="29718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7pPr>
            <a:lvl8pPr defTabSz="762000" eaLnBrk="0" fontAlgn="base" hangingPunct="0" indent="-228600" marL="34290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8pPr>
            <a:lvl9pPr defTabSz="762000" eaLnBrk="0" fontAlgn="base" hangingPunct="0" indent="-228600" marL="38862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9pPr>
          </a:lstStyle>
          <a:p>
            <a:pPr lvl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altLang="en-US" lang="ko-KR" sz="1566">
                <a:solidFill>
                  <a:schemeClr val="tx1"/>
                </a:solidFill>
              </a:rPr>
              <a:t>주간업무 실적 및 계획</a:t>
            </a:r>
          </a:p>
        </p:txBody>
      </p:sp>
      <p:sp>
        <p:nvSpPr>
          <p:cNvPr id="12291" name="Rectangle 3"/>
          <p:cNvSpPr>
            <a:spLocks noChangeArrowheads="1" noGrp="1"/>
          </p:cNvSpPr>
          <p:nvPr>
            <p:ph idx="4294967295" type="subTitle"/>
          </p:nvPr>
        </p:nvSpPr>
        <p:spPr>
          <a:xfrm>
            <a:off x="255577" y="297385"/>
            <a:ext cx="4927323" cy="372811"/>
          </a:xfrm>
        </p:spPr>
        <p:txBody>
          <a:bodyPr anchor="t" anchorCtr="0" bIns="46759" compatLnSpc="1" lIns="93521" numCol="1" rIns="93521" tIns="18410" vert="horz" wrap="square">
            <a:prstTxWarp prst="textNoShape">
              <a:avLst/>
            </a:prstTxWarp>
          </a:bodyPr>
          <a:lstStyle/>
          <a:p>
            <a:pPr defTabSz="894857" eaLnBrk="1" hangingPunct="1" indent="0" marL="0">
              <a:spcBef>
                <a:spcPct val="0"/>
              </a:spcBef>
              <a:spcAft>
                <a:spcPct val="0"/>
              </a:spcAft>
              <a:buNone/>
            </a:pPr>
            <a:r>
              <a:rPr altLang="en-US" b="1" lang="ko-KR" sz="1566">
                <a:latin charset="-127" panose="020B0503020000020004" pitchFamily="50" typeface="맑은 고딕"/>
                <a:ea charset="-127" panose="020B0503020000020004" pitchFamily="50" typeface="맑은 고딕"/>
              </a:rPr>
              <a:t>목차 </a:t>
            </a:r>
          </a:p>
        </p:txBody>
      </p:sp>
      <p:sp>
        <p:nvSpPr>
          <p:cNvPr id="12292" name="AutoShape 88"/>
          <p:cNvSpPr>
            <a:spLocks noChangeArrowheads="1"/>
          </p:cNvSpPr>
          <p:nvPr/>
        </p:nvSpPr>
        <p:spPr bwMode="auto">
          <a:xfrm>
            <a:off x="2487786" y="1943968"/>
            <a:ext cx="5711780" cy="391452"/>
          </a:xfrm>
          <a:prstGeom prst="roundRect">
            <a:avLst>
              <a:gd fmla="val 16667" name="adj"/>
            </a:avLst>
          </a:prstGeom>
          <a:solidFill>
            <a:schemeClr val="bg1"/>
          </a:solidFill>
          <a:ln>
            <a:noFill/>
          </a:ln>
          <a:effectLst>
            <a:outerShdw algn="ctr" dir="2700000" dist="35921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algn="ctr" w="6350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anchor="ctr" lIns="176131" wrap="none"/>
          <a:lstStyle>
            <a:lvl1pPr defTabSz="762000" indent="-342900" marL="3429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1pPr>
            <a:lvl2pPr defTabSz="762000" indent="-385763" marL="5651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2pPr>
            <a:lvl3pPr defTabSz="762000" indent="-228600" marL="11430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3pPr>
            <a:lvl4pPr defTabSz="762000" indent="-228600" marL="16002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4pPr>
            <a:lvl5pPr defTabSz="762000" indent="-228600" marL="20574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5pPr>
            <a:lvl6pPr defTabSz="762000" eaLnBrk="0" fontAlgn="base" hangingPunct="0" indent="-228600" marL="25146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6pPr>
            <a:lvl7pPr defTabSz="762000" eaLnBrk="0" fontAlgn="base" hangingPunct="0" indent="-228600" marL="29718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7pPr>
            <a:lvl8pPr defTabSz="762000" eaLnBrk="0" fontAlgn="base" hangingPunct="0" indent="-228600" marL="34290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8pPr>
            <a:lvl9pPr defTabSz="762000" eaLnBrk="0" fontAlgn="base" hangingPunct="0" indent="-228600" marL="38862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9pPr>
          </a:lstStyle>
          <a:p>
            <a:pPr lvl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altLang="ko-KR" lang="en-US" sz="1566">
                <a:solidFill>
                  <a:schemeClr val="tx1"/>
                </a:solidFill>
              </a:rPr>
              <a:t>Summary</a:t>
            </a:r>
            <a:endParaRPr altLang="en-US" lang="ko-KR" sz="1566">
              <a:solidFill>
                <a:schemeClr val="tx1"/>
              </a:solidFill>
            </a:endParaRPr>
          </a:p>
        </p:txBody>
      </p:sp>
      <p:grpSp>
        <p:nvGrpSpPr>
          <p:cNvPr id="12293" name="Group 89"/>
          <p:cNvGrpSpPr>
            <a:grpSpLocks/>
          </p:cNvGrpSpPr>
          <p:nvPr/>
        </p:nvGrpSpPr>
        <p:grpSpPr bwMode="auto">
          <a:xfrm>
            <a:off x="2046626" y="2487652"/>
            <a:ext cx="539023" cy="487761"/>
            <a:chOff x="2225" y="1060"/>
            <a:chExt cx="294" cy="292"/>
          </a:xfrm>
        </p:grpSpPr>
        <p:grpSp>
          <p:nvGrpSpPr>
            <p:cNvPr id="12303" name="Group 90"/>
            <p:cNvGrpSpPr>
              <a:grpSpLocks/>
            </p:cNvGrpSpPr>
            <p:nvPr/>
          </p:nvGrpSpPr>
          <p:grpSpPr bwMode="auto">
            <a:xfrm>
              <a:off x="2225" y="1060"/>
              <a:ext cx="294" cy="292"/>
              <a:chOff x="-233" y="400"/>
              <a:chExt cx="669" cy="669"/>
            </a:xfrm>
          </p:grpSpPr>
          <p:grpSp>
            <p:nvGrpSpPr>
              <p:cNvPr id="12305" name="Group 91"/>
              <p:cNvGrpSpPr>
                <a:grpSpLocks/>
              </p:cNvGrpSpPr>
              <p:nvPr/>
            </p:nvGrpSpPr>
            <p:grpSpPr bwMode="auto">
              <a:xfrm>
                <a:off x="-233" y="400"/>
                <a:ext cx="669" cy="669"/>
                <a:chOff x="5297" y="1592"/>
                <a:chExt cx="669" cy="669"/>
              </a:xfrm>
            </p:grpSpPr>
            <p:sp>
              <p:nvSpPr>
                <p:cNvPr id="12307" name="Oval 92"/>
                <p:cNvSpPr>
                  <a:spLocks noChangeArrowheads="1"/>
                </p:cNvSpPr>
                <p:nvPr/>
              </p:nvSpPr>
              <p:spPr bwMode="auto">
                <a:xfrm>
                  <a:off x="5297" y="1592"/>
                  <a:ext cx="669" cy="669"/>
                </a:xfrm>
                <a:prstGeom prst="ellipse">
                  <a:avLst/>
                </a:prstGeom>
                <a:solidFill>
                  <a:srgbClr val="EAEEF6"/>
                </a:solidFill>
                <a:ln algn="ctr" w="6350">
                  <a:solidFill>
                    <a:srgbClr val="95AAD3"/>
                  </a:solidFill>
                  <a:round/>
                  <a:headEnd/>
                  <a:tailEnd/>
                </a:ln>
                <a:effectLst>
                  <a:outerShdw algn="ctr" dir="2700000" dist="35921" rotWithShape="0">
                    <a:schemeClr val="bg2"/>
                  </a:outerShdw>
                </a:effectLst>
              </p:spPr>
              <p:txBody>
                <a:bodyPr anchor="ctr" wrap="none"/>
                <a:lstStyle>
                  <a:lvl1pPr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1pPr>
                  <a:lvl2pPr indent="-285750" marL="742950"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2pPr>
                  <a:lvl3pPr indent="-228600" marL="1143000"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3pPr>
                  <a:lvl4pPr indent="-228600" marL="1600200"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4pPr>
                  <a:lvl5pPr indent="-228600" marL="2057400"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5pPr>
                  <a:lvl6pPr eaLnBrk="0" fontAlgn="base" hangingPunct="0" indent="-228600" marL="2514600">
                    <a:spcBef>
                      <a:spcPct val="0"/>
                    </a:spcBef>
                    <a:spcAft>
                      <a:spcPct val="0"/>
                    </a:spcAft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6pPr>
                  <a:lvl7pPr eaLnBrk="0" fontAlgn="base" hangingPunct="0" indent="-228600" marL="2971800">
                    <a:spcBef>
                      <a:spcPct val="0"/>
                    </a:spcBef>
                    <a:spcAft>
                      <a:spcPct val="0"/>
                    </a:spcAft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7pPr>
                  <a:lvl8pPr eaLnBrk="0" fontAlgn="base" hangingPunct="0" indent="-228600" marL="3429000">
                    <a:spcBef>
                      <a:spcPct val="0"/>
                    </a:spcBef>
                    <a:spcAft>
                      <a:spcPct val="0"/>
                    </a:spcAft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8pPr>
                  <a:lvl9pPr eaLnBrk="0" fontAlgn="base" hangingPunct="0" indent="-228600" marL="3886200">
                    <a:spcBef>
                      <a:spcPct val="0"/>
                    </a:spcBef>
                    <a:spcAft>
                      <a:spcPct val="0"/>
                    </a:spcAft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9pPr>
                </a:lstStyle>
                <a:p>
                  <a:pPr algn="r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0"/>
                    </a:spcAft>
                  </a:pPr>
                  <a:endParaRPr altLang="en-US" lang="ko-KR" sz="1566">
                    <a:latin charset="-127" panose="02030600000101010101" pitchFamily="18" typeface="새굴림"/>
                    <a:ea charset="-127" panose="02030600000101010101" pitchFamily="18" typeface="새굴림"/>
                  </a:endParaRPr>
                </a:p>
              </p:txBody>
            </p:sp>
            <p:sp>
              <p:nvSpPr>
                <p:cNvPr id="12308" name="Oval 93"/>
                <p:cNvSpPr>
                  <a:spLocks noChangeArrowheads="1"/>
                </p:cNvSpPr>
                <p:nvPr/>
              </p:nvSpPr>
              <p:spPr bwMode="auto">
                <a:xfrm>
                  <a:off x="5343" y="1615"/>
                  <a:ext cx="578" cy="580"/>
                </a:xfrm>
                <a:prstGeom prst="ellipse">
                  <a:avLst/>
                </a:prstGeom>
                <a:gradFill rotWithShape="1">
                  <a:gsLst>
                    <a:gs pos="0">
                      <a:srgbClr val="95AAD3"/>
                    </a:gs>
                    <a:gs pos="100000">
                      <a:srgbClr val="405F9E"/>
                    </a:gs>
                  </a:gsLst>
                  <a:lin ang="5400000" scaled="1"/>
                </a:gradFill>
                <a:ln>
                  <a:noFill/>
                </a:ln>
                <a:effectLst>
                  <a:outerShdw algn="ctr" dir="2700000" dist="35921" rotWithShape="0">
                    <a:schemeClr val="bg2"/>
                  </a:outerShdw>
                </a:effectLst>
                <a:extLst>
                  <a:ext uri="{91240B29-F687-4F45-9708-019B960494DF}">
                    <a14:hiddenLine xmlns:a14="http://schemas.microsoft.com/office/drawing/2010/main" algn="ctr" w="6350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anchor="ctr" wrap="none"/>
                <a:lstStyle>
                  <a:lvl1pPr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1pPr>
                  <a:lvl2pPr indent="-285750" marL="742950"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2pPr>
                  <a:lvl3pPr indent="-228600" marL="1143000"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3pPr>
                  <a:lvl4pPr indent="-228600" marL="1600200"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4pPr>
                  <a:lvl5pPr indent="-228600" marL="2057400"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5pPr>
                  <a:lvl6pPr eaLnBrk="0" fontAlgn="base" hangingPunct="0" indent="-228600" marL="2514600">
                    <a:spcBef>
                      <a:spcPct val="0"/>
                    </a:spcBef>
                    <a:spcAft>
                      <a:spcPct val="0"/>
                    </a:spcAft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6pPr>
                  <a:lvl7pPr eaLnBrk="0" fontAlgn="base" hangingPunct="0" indent="-228600" marL="2971800">
                    <a:spcBef>
                      <a:spcPct val="0"/>
                    </a:spcBef>
                    <a:spcAft>
                      <a:spcPct val="0"/>
                    </a:spcAft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7pPr>
                  <a:lvl8pPr eaLnBrk="0" fontAlgn="base" hangingPunct="0" indent="-228600" marL="3429000">
                    <a:spcBef>
                      <a:spcPct val="0"/>
                    </a:spcBef>
                    <a:spcAft>
                      <a:spcPct val="0"/>
                    </a:spcAft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8pPr>
                  <a:lvl9pPr eaLnBrk="0" fontAlgn="base" hangingPunct="0" indent="-228600" marL="3886200">
                    <a:spcBef>
                      <a:spcPct val="0"/>
                    </a:spcBef>
                    <a:spcAft>
                      <a:spcPct val="0"/>
                    </a:spcAft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9pPr>
                </a:lstStyle>
                <a:p>
                  <a:pPr algn="r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0"/>
                    </a:spcAft>
                  </a:pPr>
                  <a:endParaRPr altLang="en-US" lang="ko-KR" sz="1566">
                    <a:latin charset="-127" panose="02030600000101010101" pitchFamily="18" typeface="새굴림"/>
                    <a:ea charset="-127" panose="02030600000101010101" pitchFamily="18" typeface="새굴림"/>
                  </a:endParaRPr>
                </a:p>
              </p:txBody>
            </p:sp>
          </p:grpSp>
          <p:sp>
            <p:nvSpPr>
              <p:cNvPr id="12306" name="Oval 94"/>
              <p:cNvSpPr>
                <a:spLocks noChangeArrowheads="1"/>
              </p:cNvSpPr>
              <p:nvPr/>
            </p:nvSpPr>
            <p:spPr bwMode="auto">
              <a:xfrm rot="-1800000">
                <a:off x="-142" y="464"/>
                <a:ext cx="307" cy="194"/>
              </a:xfrm>
              <a:prstGeom prst="ellipse">
                <a:avLst/>
              </a:prstGeom>
              <a:gradFill rotWithShape="1">
                <a:gsLst>
                  <a:gs pos="0">
                    <a:srgbClr val="EAEEF6"/>
                  </a:gs>
                  <a:gs pos="100000">
                    <a:srgbClr val="8299C8"/>
                  </a:gs>
                </a:gsLst>
                <a:lin ang="5400000" scaled="1"/>
              </a:gradFill>
              <a:ln>
                <a:noFill/>
              </a:ln>
              <a:effectLst>
                <a:outerShdw algn="ctr" dir="2700000" dist="35921" rotWithShape="0">
                  <a:schemeClr val="bg2"/>
                </a:outerShdw>
              </a:effectLst>
              <a:extLst>
                <a:ext uri="{91240B29-F687-4F45-9708-019B960494DF}">
                  <a14:hiddenLine xmlns:a14="http://schemas.microsoft.com/office/drawing/2010/main" algn="ctr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 wrap="none"/>
              <a:lstStyle>
                <a:lvl1pPr>
                  <a:defRPr b="1" sz="900">
                    <a:solidFill>
                      <a:schemeClr val="bg1"/>
                    </a:solidFill>
                    <a:latin charset="-127" panose="020B0503020000020004" pitchFamily="50" typeface="맑은 고딕"/>
                    <a:ea charset="-127" panose="020B0503020000020004" pitchFamily="50" typeface="맑은 고딕"/>
                  </a:defRPr>
                </a:lvl1pPr>
                <a:lvl2pPr indent="-285750" marL="742950">
                  <a:defRPr b="1" sz="900">
                    <a:solidFill>
                      <a:schemeClr val="bg1"/>
                    </a:solidFill>
                    <a:latin charset="-127" panose="020B0503020000020004" pitchFamily="50" typeface="맑은 고딕"/>
                    <a:ea charset="-127" panose="020B0503020000020004" pitchFamily="50" typeface="맑은 고딕"/>
                  </a:defRPr>
                </a:lvl2pPr>
                <a:lvl3pPr indent="-228600" marL="1143000">
                  <a:defRPr b="1" sz="900">
                    <a:solidFill>
                      <a:schemeClr val="bg1"/>
                    </a:solidFill>
                    <a:latin charset="-127" panose="020B0503020000020004" pitchFamily="50" typeface="맑은 고딕"/>
                    <a:ea charset="-127" panose="020B0503020000020004" pitchFamily="50" typeface="맑은 고딕"/>
                  </a:defRPr>
                </a:lvl3pPr>
                <a:lvl4pPr indent="-228600" marL="1600200">
                  <a:defRPr b="1" sz="900">
                    <a:solidFill>
                      <a:schemeClr val="bg1"/>
                    </a:solidFill>
                    <a:latin charset="-127" panose="020B0503020000020004" pitchFamily="50" typeface="맑은 고딕"/>
                    <a:ea charset="-127" panose="020B0503020000020004" pitchFamily="50" typeface="맑은 고딕"/>
                  </a:defRPr>
                </a:lvl4pPr>
                <a:lvl5pPr indent="-228600" marL="2057400">
                  <a:defRPr b="1" sz="900">
                    <a:solidFill>
                      <a:schemeClr val="bg1"/>
                    </a:solidFill>
                    <a:latin charset="-127" panose="020B0503020000020004" pitchFamily="50" typeface="맑은 고딕"/>
                    <a:ea charset="-127" panose="020B0503020000020004" pitchFamily="50" typeface="맑은 고딕"/>
                  </a:defRPr>
                </a:lvl5pPr>
                <a:lvl6pPr eaLnBrk="0" fontAlgn="base" hangingPunct="0" indent="-228600" marL="2514600">
                  <a:spcBef>
                    <a:spcPct val="0"/>
                  </a:spcBef>
                  <a:spcAft>
                    <a:spcPct val="0"/>
                  </a:spcAft>
                  <a:defRPr b="1" sz="900">
                    <a:solidFill>
                      <a:schemeClr val="bg1"/>
                    </a:solidFill>
                    <a:latin charset="-127" panose="020B0503020000020004" pitchFamily="50" typeface="맑은 고딕"/>
                    <a:ea charset="-127" panose="020B0503020000020004" pitchFamily="50" typeface="맑은 고딕"/>
                  </a:defRPr>
                </a:lvl6pPr>
                <a:lvl7pPr eaLnBrk="0" fontAlgn="base" hangingPunct="0" indent="-228600" marL="2971800">
                  <a:spcBef>
                    <a:spcPct val="0"/>
                  </a:spcBef>
                  <a:spcAft>
                    <a:spcPct val="0"/>
                  </a:spcAft>
                  <a:defRPr b="1" sz="900">
                    <a:solidFill>
                      <a:schemeClr val="bg1"/>
                    </a:solidFill>
                    <a:latin charset="-127" panose="020B0503020000020004" pitchFamily="50" typeface="맑은 고딕"/>
                    <a:ea charset="-127" panose="020B0503020000020004" pitchFamily="50" typeface="맑은 고딕"/>
                  </a:defRPr>
                </a:lvl7pPr>
                <a:lvl8pPr eaLnBrk="0" fontAlgn="base" hangingPunct="0" indent="-228600" marL="3429000">
                  <a:spcBef>
                    <a:spcPct val="0"/>
                  </a:spcBef>
                  <a:spcAft>
                    <a:spcPct val="0"/>
                  </a:spcAft>
                  <a:defRPr b="1" sz="900">
                    <a:solidFill>
                      <a:schemeClr val="bg1"/>
                    </a:solidFill>
                    <a:latin charset="-127" panose="020B0503020000020004" pitchFamily="50" typeface="맑은 고딕"/>
                    <a:ea charset="-127" panose="020B0503020000020004" pitchFamily="50" typeface="맑은 고딕"/>
                  </a:defRPr>
                </a:lvl8pPr>
                <a:lvl9pPr eaLnBrk="0" fontAlgn="base" hangingPunct="0" indent="-228600" marL="3886200">
                  <a:spcBef>
                    <a:spcPct val="0"/>
                  </a:spcBef>
                  <a:spcAft>
                    <a:spcPct val="0"/>
                  </a:spcAft>
                  <a:defRPr b="1" sz="900">
                    <a:solidFill>
                      <a:schemeClr val="bg1"/>
                    </a:solidFill>
                    <a:latin charset="-127" panose="020B0503020000020004" pitchFamily="50" typeface="맑은 고딕"/>
                    <a:ea charset="-127" panose="020B0503020000020004" pitchFamily="50" typeface="맑은 고딕"/>
                  </a:defRPr>
                </a:lvl9pPr>
              </a:lstStyle>
              <a:p>
                <a:pPr algn="r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</a:pPr>
                <a:endParaRPr altLang="en-US" lang="ko-KR" sz="1566">
                  <a:latin charset="-127" panose="02030600000101010101" pitchFamily="18" typeface="새굴림"/>
                  <a:ea charset="-127" panose="02030600000101010101" pitchFamily="18" typeface="새굴림"/>
                </a:endParaRPr>
              </a:p>
            </p:txBody>
          </p:sp>
        </p:grpSp>
        <p:sp>
          <p:nvSpPr>
            <p:cNvPr id="12304" name="Text Box 95"/>
            <p:cNvSpPr txBox="1">
              <a:spLocks noChangeArrowheads="1"/>
            </p:cNvSpPr>
            <p:nvPr/>
          </p:nvSpPr>
          <p:spPr bwMode="auto">
            <a:xfrm>
              <a:off x="2293" y="1105"/>
              <a:ext cx="163" cy="185"/>
            </a:xfrm>
            <a:prstGeom prst="rect">
              <a:avLst/>
            </a:prstGeom>
            <a:noFill/>
            <a:ln>
              <a:noFill/>
            </a:ln>
            <a:effectLst>
              <a:outerShdw algn="ctr" dir="2700000" dist="35921" rotWithShape="0">
                <a:schemeClr val="bg2"/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 wrap="none">
              <a:spAutoFit/>
            </a:bodyPr>
            <a:lstStyle>
              <a:lvl1pPr defTabSz="762000" indent="-187325" marL="187325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1pPr>
              <a:lvl2pPr defTabSz="762000" indent="-285750" marL="742950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2pPr>
              <a:lvl3pPr defTabSz="762000" indent="-228600" marL="1143000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3pPr>
              <a:lvl4pPr defTabSz="762000" indent="-228600" marL="1600200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4pPr>
              <a:lvl5pPr defTabSz="762000" indent="-228600" marL="2057400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5pPr>
              <a:lvl6pPr defTabSz="762000" eaLnBrk="0" fontAlgn="base" hangingPunct="0" indent="-228600" marL="2514600">
                <a:spcBef>
                  <a:spcPct val="0"/>
                </a:spcBef>
                <a:spcAft>
                  <a:spcPct val="0"/>
                </a:spcAft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6pPr>
              <a:lvl7pPr defTabSz="762000" eaLnBrk="0" fontAlgn="base" hangingPunct="0" indent="-228600" marL="2971800">
                <a:spcBef>
                  <a:spcPct val="0"/>
                </a:spcBef>
                <a:spcAft>
                  <a:spcPct val="0"/>
                </a:spcAft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7pPr>
              <a:lvl8pPr defTabSz="762000" eaLnBrk="0" fontAlgn="base" hangingPunct="0" indent="-228600" marL="3429000">
                <a:spcBef>
                  <a:spcPct val="0"/>
                </a:spcBef>
                <a:spcAft>
                  <a:spcPct val="0"/>
                </a:spcAft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8pPr>
              <a:lvl9pPr defTabSz="762000" eaLnBrk="0" fontAlgn="base" hangingPunct="0" indent="-228600" marL="3886200">
                <a:spcBef>
                  <a:spcPct val="0"/>
                </a:spcBef>
                <a:spcAft>
                  <a:spcPct val="0"/>
                </a:spcAft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9pPr>
            </a:lstStyle>
            <a:p>
              <a:pPr algn="ctr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altLang="ko-KR" lang="en-US" sz="1566">
                  <a:latin charset="-127" panose="02030600000101010101" pitchFamily="18" typeface="새굴림"/>
                  <a:ea charset="-127" panose="02030600000101010101" pitchFamily="18" typeface="새굴림"/>
                </a:rPr>
                <a:t>2</a:t>
              </a:r>
            </a:p>
          </p:txBody>
        </p:sp>
      </p:grpSp>
      <p:grpSp>
        <p:nvGrpSpPr>
          <p:cNvPr id="12294" name="Group 116"/>
          <p:cNvGrpSpPr>
            <a:grpSpLocks/>
          </p:cNvGrpSpPr>
          <p:nvPr/>
        </p:nvGrpSpPr>
        <p:grpSpPr bwMode="auto">
          <a:xfrm>
            <a:off x="2034199" y="1928435"/>
            <a:ext cx="563877" cy="487761"/>
            <a:chOff x="2225" y="1060"/>
            <a:chExt cx="294" cy="292"/>
          </a:xfrm>
        </p:grpSpPr>
        <p:grpSp>
          <p:nvGrpSpPr>
            <p:cNvPr id="12297" name="Group 117"/>
            <p:cNvGrpSpPr>
              <a:grpSpLocks/>
            </p:cNvGrpSpPr>
            <p:nvPr/>
          </p:nvGrpSpPr>
          <p:grpSpPr bwMode="auto">
            <a:xfrm>
              <a:off x="2225" y="1060"/>
              <a:ext cx="294" cy="292"/>
              <a:chOff x="-233" y="400"/>
              <a:chExt cx="669" cy="669"/>
            </a:xfrm>
          </p:grpSpPr>
          <p:grpSp>
            <p:nvGrpSpPr>
              <p:cNvPr id="12299" name="Group 118"/>
              <p:cNvGrpSpPr>
                <a:grpSpLocks/>
              </p:cNvGrpSpPr>
              <p:nvPr/>
            </p:nvGrpSpPr>
            <p:grpSpPr bwMode="auto">
              <a:xfrm>
                <a:off x="-233" y="400"/>
                <a:ext cx="669" cy="669"/>
                <a:chOff x="5297" y="1592"/>
                <a:chExt cx="669" cy="669"/>
              </a:xfrm>
            </p:grpSpPr>
            <p:sp>
              <p:nvSpPr>
                <p:cNvPr id="12301" name="Oval 119"/>
                <p:cNvSpPr>
                  <a:spLocks noChangeArrowheads="1"/>
                </p:cNvSpPr>
                <p:nvPr/>
              </p:nvSpPr>
              <p:spPr bwMode="auto">
                <a:xfrm>
                  <a:off x="5297" y="1592"/>
                  <a:ext cx="669" cy="669"/>
                </a:xfrm>
                <a:prstGeom prst="ellipse">
                  <a:avLst/>
                </a:prstGeom>
                <a:solidFill>
                  <a:srgbClr val="EAEEF6"/>
                </a:solidFill>
                <a:ln algn="ctr" w="6350">
                  <a:solidFill>
                    <a:srgbClr val="95AAD3"/>
                  </a:solidFill>
                  <a:round/>
                  <a:headEnd/>
                  <a:tailEnd/>
                </a:ln>
                <a:effectLst>
                  <a:outerShdw algn="ctr" dir="2700000" dist="35921" rotWithShape="0">
                    <a:schemeClr val="bg2"/>
                  </a:outerShdw>
                </a:effectLst>
              </p:spPr>
              <p:txBody>
                <a:bodyPr anchor="ctr" wrap="none"/>
                <a:lstStyle>
                  <a:lvl1pPr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1pPr>
                  <a:lvl2pPr indent="-285750" marL="742950"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2pPr>
                  <a:lvl3pPr indent="-228600" marL="1143000"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3pPr>
                  <a:lvl4pPr indent="-228600" marL="1600200"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4pPr>
                  <a:lvl5pPr indent="-228600" marL="2057400"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5pPr>
                  <a:lvl6pPr eaLnBrk="0" fontAlgn="base" hangingPunct="0" indent="-228600" marL="2514600">
                    <a:spcBef>
                      <a:spcPct val="0"/>
                    </a:spcBef>
                    <a:spcAft>
                      <a:spcPct val="0"/>
                    </a:spcAft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6pPr>
                  <a:lvl7pPr eaLnBrk="0" fontAlgn="base" hangingPunct="0" indent="-228600" marL="2971800">
                    <a:spcBef>
                      <a:spcPct val="0"/>
                    </a:spcBef>
                    <a:spcAft>
                      <a:spcPct val="0"/>
                    </a:spcAft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7pPr>
                  <a:lvl8pPr eaLnBrk="0" fontAlgn="base" hangingPunct="0" indent="-228600" marL="3429000">
                    <a:spcBef>
                      <a:spcPct val="0"/>
                    </a:spcBef>
                    <a:spcAft>
                      <a:spcPct val="0"/>
                    </a:spcAft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8pPr>
                  <a:lvl9pPr eaLnBrk="0" fontAlgn="base" hangingPunct="0" indent="-228600" marL="3886200">
                    <a:spcBef>
                      <a:spcPct val="0"/>
                    </a:spcBef>
                    <a:spcAft>
                      <a:spcPct val="0"/>
                    </a:spcAft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9pPr>
                </a:lstStyle>
                <a:p>
                  <a:pPr algn="r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0"/>
                    </a:spcAft>
                  </a:pPr>
                  <a:endParaRPr altLang="en-US" lang="ko-KR" sz="1566">
                    <a:latin charset="-127" panose="02030600000101010101" pitchFamily="18" typeface="새굴림"/>
                    <a:ea charset="-127" panose="02030600000101010101" pitchFamily="18" typeface="새굴림"/>
                  </a:endParaRPr>
                </a:p>
              </p:txBody>
            </p:sp>
            <p:sp>
              <p:nvSpPr>
                <p:cNvPr id="12302" name="Oval 120"/>
                <p:cNvSpPr>
                  <a:spLocks noChangeArrowheads="1"/>
                </p:cNvSpPr>
                <p:nvPr/>
              </p:nvSpPr>
              <p:spPr bwMode="auto">
                <a:xfrm>
                  <a:off x="5343" y="1615"/>
                  <a:ext cx="579" cy="580"/>
                </a:xfrm>
                <a:prstGeom prst="ellipse">
                  <a:avLst/>
                </a:prstGeom>
                <a:gradFill rotWithShape="1">
                  <a:gsLst>
                    <a:gs pos="0">
                      <a:srgbClr val="95AAD3"/>
                    </a:gs>
                    <a:gs pos="100000">
                      <a:srgbClr val="405F9E"/>
                    </a:gs>
                  </a:gsLst>
                  <a:lin ang="5400000" scaled="1"/>
                </a:gradFill>
                <a:ln>
                  <a:noFill/>
                </a:ln>
                <a:effectLst>
                  <a:outerShdw algn="ctr" dir="2700000" dist="35921" rotWithShape="0">
                    <a:schemeClr val="bg2"/>
                  </a:outerShdw>
                </a:effectLst>
                <a:extLst>
                  <a:ext uri="{91240B29-F687-4F45-9708-019B960494DF}">
                    <a14:hiddenLine xmlns:a14="http://schemas.microsoft.com/office/drawing/2010/main" algn="ctr" w="6350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anchor="ctr" wrap="none"/>
                <a:lstStyle>
                  <a:lvl1pPr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1pPr>
                  <a:lvl2pPr indent="-285750" marL="742950"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2pPr>
                  <a:lvl3pPr indent="-228600" marL="1143000"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3pPr>
                  <a:lvl4pPr indent="-228600" marL="1600200"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4pPr>
                  <a:lvl5pPr indent="-228600" marL="2057400"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5pPr>
                  <a:lvl6pPr eaLnBrk="0" fontAlgn="base" hangingPunct="0" indent="-228600" marL="2514600">
                    <a:spcBef>
                      <a:spcPct val="0"/>
                    </a:spcBef>
                    <a:spcAft>
                      <a:spcPct val="0"/>
                    </a:spcAft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6pPr>
                  <a:lvl7pPr eaLnBrk="0" fontAlgn="base" hangingPunct="0" indent="-228600" marL="2971800">
                    <a:spcBef>
                      <a:spcPct val="0"/>
                    </a:spcBef>
                    <a:spcAft>
                      <a:spcPct val="0"/>
                    </a:spcAft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7pPr>
                  <a:lvl8pPr eaLnBrk="0" fontAlgn="base" hangingPunct="0" indent="-228600" marL="3429000">
                    <a:spcBef>
                      <a:spcPct val="0"/>
                    </a:spcBef>
                    <a:spcAft>
                      <a:spcPct val="0"/>
                    </a:spcAft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8pPr>
                  <a:lvl9pPr eaLnBrk="0" fontAlgn="base" hangingPunct="0" indent="-228600" marL="3886200">
                    <a:spcBef>
                      <a:spcPct val="0"/>
                    </a:spcBef>
                    <a:spcAft>
                      <a:spcPct val="0"/>
                    </a:spcAft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9pPr>
                </a:lstStyle>
                <a:p>
                  <a:pPr algn="r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0"/>
                    </a:spcAft>
                  </a:pPr>
                  <a:endParaRPr altLang="en-US" lang="ko-KR" sz="1566">
                    <a:latin charset="-127" panose="02030600000101010101" pitchFamily="18" typeface="새굴림"/>
                    <a:ea charset="-127" panose="02030600000101010101" pitchFamily="18" typeface="새굴림"/>
                  </a:endParaRPr>
                </a:p>
              </p:txBody>
            </p:sp>
          </p:grpSp>
          <p:sp>
            <p:nvSpPr>
              <p:cNvPr id="12300" name="Oval 121"/>
              <p:cNvSpPr>
                <a:spLocks noChangeArrowheads="1"/>
              </p:cNvSpPr>
              <p:nvPr/>
            </p:nvSpPr>
            <p:spPr bwMode="auto">
              <a:xfrm rot="-1800000">
                <a:off x="-143" y="464"/>
                <a:ext cx="308" cy="194"/>
              </a:xfrm>
              <a:prstGeom prst="ellipse">
                <a:avLst/>
              </a:prstGeom>
              <a:gradFill rotWithShape="1">
                <a:gsLst>
                  <a:gs pos="0">
                    <a:srgbClr val="EAEEF6"/>
                  </a:gs>
                  <a:gs pos="100000">
                    <a:srgbClr val="8299C8"/>
                  </a:gs>
                </a:gsLst>
                <a:lin ang="5400000" scaled="1"/>
              </a:gradFill>
              <a:ln>
                <a:noFill/>
              </a:ln>
              <a:effectLst>
                <a:outerShdw algn="ctr" dir="2700000" dist="35921" rotWithShape="0">
                  <a:schemeClr val="bg2"/>
                </a:outerShdw>
              </a:effectLst>
              <a:extLst>
                <a:ext uri="{91240B29-F687-4F45-9708-019B960494DF}">
                  <a14:hiddenLine xmlns:a14="http://schemas.microsoft.com/office/drawing/2010/main" algn="ctr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 wrap="none"/>
              <a:lstStyle>
                <a:lvl1pPr>
                  <a:defRPr b="1" sz="900">
                    <a:solidFill>
                      <a:schemeClr val="bg1"/>
                    </a:solidFill>
                    <a:latin charset="-127" panose="020B0503020000020004" pitchFamily="50" typeface="맑은 고딕"/>
                    <a:ea charset="-127" panose="020B0503020000020004" pitchFamily="50" typeface="맑은 고딕"/>
                  </a:defRPr>
                </a:lvl1pPr>
                <a:lvl2pPr indent="-285750" marL="742950">
                  <a:defRPr b="1" sz="900">
                    <a:solidFill>
                      <a:schemeClr val="bg1"/>
                    </a:solidFill>
                    <a:latin charset="-127" panose="020B0503020000020004" pitchFamily="50" typeface="맑은 고딕"/>
                    <a:ea charset="-127" panose="020B0503020000020004" pitchFamily="50" typeface="맑은 고딕"/>
                  </a:defRPr>
                </a:lvl2pPr>
                <a:lvl3pPr indent="-228600" marL="1143000">
                  <a:defRPr b="1" sz="900">
                    <a:solidFill>
                      <a:schemeClr val="bg1"/>
                    </a:solidFill>
                    <a:latin charset="-127" panose="020B0503020000020004" pitchFamily="50" typeface="맑은 고딕"/>
                    <a:ea charset="-127" panose="020B0503020000020004" pitchFamily="50" typeface="맑은 고딕"/>
                  </a:defRPr>
                </a:lvl3pPr>
                <a:lvl4pPr indent="-228600" marL="1600200">
                  <a:defRPr b="1" sz="900">
                    <a:solidFill>
                      <a:schemeClr val="bg1"/>
                    </a:solidFill>
                    <a:latin charset="-127" panose="020B0503020000020004" pitchFamily="50" typeface="맑은 고딕"/>
                    <a:ea charset="-127" panose="020B0503020000020004" pitchFamily="50" typeface="맑은 고딕"/>
                  </a:defRPr>
                </a:lvl4pPr>
                <a:lvl5pPr indent="-228600" marL="2057400">
                  <a:defRPr b="1" sz="900">
                    <a:solidFill>
                      <a:schemeClr val="bg1"/>
                    </a:solidFill>
                    <a:latin charset="-127" panose="020B0503020000020004" pitchFamily="50" typeface="맑은 고딕"/>
                    <a:ea charset="-127" panose="020B0503020000020004" pitchFamily="50" typeface="맑은 고딕"/>
                  </a:defRPr>
                </a:lvl5pPr>
                <a:lvl6pPr eaLnBrk="0" fontAlgn="base" hangingPunct="0" indent="-228600" marL="2514600">
                  <a:spcBef>
                    <a:spcPct val="0"/>
                  </a:spcBef>
                  <a:spcAft>
                    <a:spcPct val="0"/>
                  </a:spcAft>
                  <a:defRPr b="1" sz="900">
                    <a:solidFill>
                      <a:schemeClr val="bg1"/>
                    </a:solidFill>
                    <a:latin charset="-127" panose="020B0503020000020004" pitchFamily="50" typeface="맑은 고딕"/>
                    <a:ea charset="-127" panose="020B0503020000020004" pitchFamily="50" typeface="맑은 고딕"/>
                  </a:defRPr>
                </a:lvl6pPr>
                <a:lvl7pPr eaLnBrk="0" fontAlgn="base" hangingPunct="0" indent="-228600" marL="2971800">
                  <a:spcBef>
                    <a:spcPct val="0"/>
                  </a:spcBef>
                  <a:spcAft>
                    <a:spcPct val="0"/>
                  </a:spcAft>
                  <a:defRPr b="1" sz="900">
                    <a:solidFill>
                      <a:schemeClr val="bg1"/>
                    </a:solidFill>
                    <a:latin charset="-127" panose="020B0503020000020004" pitchFamily="50" typeface="맑은 고딕"/>
                    <a:ea charset="-127" panose="020B0503020000020004" pitchFamily="50" typeface="맑은 고딕"/>
                  </a:defRPr>
                </a:lvl7pPr>
                <a:lvl8pPr eaLnBrk="0" fontAlgn="base" hangingPunct="0" indent="-228600" marL="3429000">
                  <a:spcBef>
                    <a:spcPct val="0"/>
                  </a:spcBef>
                  <a:spcAft>
                    <a:spcPct val="0"/>
                  </a:spcAft>
                  <a:defRPr b="1" sz="900">
                    <a:solidFill>
                      <a:schemeClr val="bg1"/>
                    </a:solidFill>
                    <a:latin charset="-127" panose="020B0503020000020004" pitchFamily="50" typeface="맑은 고딕"/>
                    <a:ea charset="-127" panose="020B0503020000020004" pitchFamily="50" typeface="맑은 고딕"/>
                  </a:defRPr>
                </a:lvl8pPr>
                <a:lvl9pPr eaLnBrk="0" fontAlgn="base" hangingPunct="0" indent="-228600" marL="3886200">
                  <a:spcBef>
                    <a:spcPct val="0"/>
                  </a:spcBef>
                  <a:spcAft>
                    <a:spcPct val="0"/>
                  </a:spcAft>
                  <a:defRPr b="1" sz="900">
                    <a:solidFill>
                      <a:schemeClr val="bg1"/>
                    </a:solidFill>
                    <a:latin charset="-127" panose="020B0503020000020004" pitchFamily="50" typeface="맑은 고딕"/>
                    <a:ea charset="-127" panose="020B0503020000020004" pitchFamily="50" typeface="맑은 고딕"/>
                  </a:defRPr>
                </a:lvl9pPr>
              </a:lstStyle>
              <a:p>
                <a:pPr algn="r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</a:pPr>
                <a:endParaRPr altLang="en-US" lang="ko-KR" sz="1566">
                  <a:latin charset="-127" panose="02030600000101010101" pitchFamily="18" typeface="새굴림"/>
                  <a:ea charset="-127" panose="02030600000101010101" pitchFamily="18" typeface="새굴림"/>
                </a:endParaRPr>
              </a:p>
            </p:txBody>
          </p:sp>
        </p:grpSp>
        <p:sp>
          <p:nvSpPr>
            <p:cNvPr id="12298" name="Text Box 122"/>
            <p:cNvSpPr txBox="1">
              <a:spLocks noChangeArrowheads="1"/>
            </p:cNvSpPr>
            <p:nvPr/>
          </p:nvSpPr>
          <p:spPr bwMode="auto">
            <a:xfrm>
              <a:off x="2295" y="1105"/>
              <a:ext cx="156" cy="185"/>
            </a:xfrm>
            <a:prstGeom prst="rect">
              <a:avLst/>
            </a:prstGeom>
            <a:noFill/>
            <a:ln>
              <a:noFill/>
            </a:ln>
            <a:effectLst>
              <a:outerShdw algn="ctr" dir="2700000" dist="35921" rotWithShape="0">
                <a:schemeClr val="bg2"/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 wrap="none">
              <a:spAutoFit/>
            </a:bodyPr>
            <a:lstStyle>
              <a:lvl1pPr defTabSz="762000" indent="-187325" marL="187325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1pPr>
              <a:lvl2pPr defTabSz="762000" indent="-285750" marL="742950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2pPr>
              <a:lvl3pPr defTabSz="762000" indent="-228600" marL="1143000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3pPr>
              <a:lvl4pPr defTabSz="762000" indent="-228600" marL="1600200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4pPr>
              <a:lvl5pPr defTabSz="762000" indent="-228600" marL="2057400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5pPr>
              <a:lvl6pPr defTabSz="762000" eaLnBrk="0" fontAlgn="base" hangingPunct="0" indent="-228600" marL="2514600">
                <a:spcBef>
                  <a:spcPct val="0"/>
                </a:spcBef>
                <a:spcAft>
                  <a:spcPct val="0"/>
                </a:spcAft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6pPr>
              <a:lvl7pPr defTabSz="762000" eaLnBrk="0" fontAlgn="base" hangingPunct="0" indent="-228600" marL="2971800">
                <a:spcBef>
                  <a:spcPct val="0"/>
                </a:spcBef>
                <a:spcAft>
                  <a:spcPct val="0"/>
                </a:spcAft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7pPr>
              <a:lvl8pPr defTabSz="762000" eaLnBrk="0" fontAlgn="base" hangingPunct="0" indent="-228600" marL="3429000">
                <a:spcBef>
                  <a:spcPct val="0"/>
                </a:spcBef>
                <a:spcAft>
                  <a:spcPct val="0"/>
                </a:spcAft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8pPr>
              <a:lvl9pPr defTabSz="762000" eaLnBrk="0" fontAlgn="base" hangingPunct="0" indent="-228600" marL="3886200">
                <a:spcBef>
                  <a:spcPct val="0"/>
                </a:spcBef>
                <a:spcAft>
                  <a:spcPct val="0"/>
                </a:spcAft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9pPr>
            </a:lstStyle>
            <a:p>
              <a:pPr algn="ctr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altLang="ko-KR" lang="en-US" sz="1566">
                  <a:latin charset="-127" panose="02030600000101010101" pitchFamily="18" typeface="새굴림"/>
                  <a:ea charset="-127" panose="02030600000101010101" pitchFamily="18" typeface="새굴림"/>
                </a:rPr>
                <a:t>1</a:t>
              </a:r>
            </a:p>
          </p:txBody>
        </p:sp>
      </p:grpSp>
      <p:sp>
        <p:nvSpPr>
          <p:cNvPr id="12295" name="AutoShape 125"/>
          <p:cNvSpPr>
            <a:spLocks noChangeArrowheads="1"/>
          </p:cNvSpPr>
          <p:nvPr/>
        </p:nvSpPr>
        <p:spPr bwMode="auto">
          <a:xfrm>
            <a:off x="2492446" y="3130752"/>
            <a:ext cx="5711781" cy="391452"/>
          </a:xfrm>
          <a:prstGeom prst="roundRect">
            <a:avLst>
              <a:gd fmla="val 16667" name="adj"/>
            </a:avLst>
          </a:prstGeom>
          <a:solidFill>
            <a:schemeClr val="bg1"/>
          </a:solidFill>
          <a:ln>
            <a:noFill/>
          </a:ln>
          <a:effectLst>
            <a:outerShdw algn="ctr" dir="2700000" dist="35921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algn="ctr" w="6350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anchor="ctr" lIns="176131" wrap="none"/>
          <a:lstStyle>
            <a:lvl1pPr defTabSz="762000" indent="-342900" marL="3429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1pPr>
            <a:lvl2pPr defTabSz="762000" indent="-385763" marL="5651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2pPr>
            <a:lvl3pPr defTabSz="762000" indent="-228600" marL="11430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3pPr>
            <a:lvl4pPr defTabSz="762000" indent="-228600" marL="16002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4pPr>
            <a:lvl5pPr defTabSz="762000" indent="-228600" marL="20574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5pPr>
            <a:lvl6pPr defTabSz="762000" eaLnBrk="0" fontAlgn="base" hangingPunct="0" indent="-228600" marL="25146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6pPr>
            <a:lvl7pPr defTabSz="762000" eaLnBrk="0" fontAlgn="base" hangingPunct="0" indent="-228600" marL="29718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7pPr>
            <a:lvl8pPr defTabSz="762000" eaLnBrk="0" fontAlgn="base" hangingPunct="0" indent="-228600" marL="34290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8pPr>
            <a:lvl9pPr defTabSz="762000" eaLnBrk="0" fontAlgn="base" hangingPunct="0" indent="-228600" marL="38862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9pPr>
          </a:lstStyle>
          <a:p>
            <a:pPr lvl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Font charset="2" panose="05000000000000000000" pitchFamily="2" typeface="Wingdings"/>
              <a:buChar char="v"/>
            </a:pPr>
            <a:r>
              <a:rPr altLang="en-US" kumimoji="1" lang="ko-KR" sz="1370">
                <a:solidFill>
                  <a:srgbClr val="000000"/>
                </a:solidFill>
              </a:rPr>
              <a:t>별첨 </a:t>
            </a:r>
            <a:r>
              <a:rPr altLang="ko-KR" kumimoji="1" lang="en-US" sz="1370">
                <a:solidFill>
                  <a:srgbClr val="000000"/>
                </a:solidFill>
              </a:rPr>
              <a:t>1] ERP </a:t>
            </a:r>
            <a:r>
              <a:rPr altLang="en-US" kumimoji="1" lang="ko-KR" sz="1370">
                <a:solidFill>
                  <a:srgbClr val="000000"/>
                </a:solidFill>
              </a:rPr>
              <a:t>사용자 계정 및 보안관리</a:t>
            </a:r>
          </a:p>
        </p:txBody>
      </p:sp>
      <p:sp>
        <p:nvSpPr>
          <p:cNvPr id="12296" name="AutoShape 125"/>
          <p:cNvSpPr>
            <a:spLocks noChangeArrowheads="1"/>
          </p:cNvSpPr>
          <p:nvPr/>
        </p:nvSpPr>
        <p:spPr bwMode="auto">
          <a:xfrm>
            <a:off x="2492446" y="3578125"/>
            <a:ext cx="5711781" cy="391452"/>
          </a:xfrm>
          <a:prstGeom prst="roundRect">
            <a:avLst>
              <a:gd fmla="val 16667" name="adj"/>
            </a:avLst>
          </a:prstGeom>
          <a:solidFill>
            <a:schemeClr val="bg1"/>
          </a:solidFill>
          <a:ln>
            <a:noFill/>
          </a:ln>
          <a:effectLst>
            <a:outerShdw algn="ctr" dir="2700000" dist="35921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algn="ctr" w="6350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anchor="ctr" lIns="176131" wrap="none"/>
          <a:lstStyle>
            <a:lvl1pPr defTabSz="762000" indent="-342900" marL="3429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1pPr>
            <a:lvl2pPr defTabSz="762000" indent="-385763" marL="5651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2pPr>
            <a:lvl3pPr defTabSz="762000" indent="-228600" marL="11430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3pPr>
            <a:lvl4pPr defTabSz="762000" indent="-228600" marL="16002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4pPr>
            <a:lvl5pPr defTabSz="762000" indent="-228600" marL="20574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5pPr>
            <a:lvl6pPr defTabSz="762000" eaLnBrk="0" fontAlgn="base" hangingPunct="0" indent="-228600" marL="25146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6pPr>
            <a:lvl7pPr defTabSz="762000" eaLnBrk="0" fontAlgn="base" hangingPunct="0" indent="-228600" marL="29718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7pPr>
            <a:lvl8pPr defTabSz="762000" eaLnBrk="0" fontAlgn="base" hangingPunct="0" indent="-228600" marL="34290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8pPr>
            <a:lvl9pPr defTabSz="762000" eaLnBrk="0" fontAlgn="base" hangingPunct="0" indent="-228600" marL="38862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9pPr>
          </a:lstStyle>
          <a:p>
            <a:pPr lvl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Font charset="2" panose="05000000000000000000" pitchFamily="2" typeface="Wingdings"/>
              <a:buChar char="v"/>
            </a:pPr>
            <a:r>
              <a:rPr altLang="en-US" kumimoji="1" lang="ko-KR" sz="1370">
                <a:solidFill>
                  <a:srgbClr val="000000"/>
                </a:solidFill>
              </a:rPr>
              <a:t>별첨 </a:t>
            </a:r>
            <a:r>
              <a:rPr altLang="ko-KR" kumimoji="1" lang="en-US" sz="1370">
                <a:solidFill>
                  <a:srgbClr val="000000"/>
                </a:solidFill>
              </a:rPr>
              <a:t>2] </a:t>
            </a:r>
            <a:r>
              <a:rPr altLang="en-US" kumimoji="1" lang="ko-KR" sz="1370">
                <a:solidFill>
                  <a:srgbClr val="000000"/>
                </a:solidFill>
              </a:rPr>
              <a:t>휴가계획서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177207" name="Text">
    </p:cNvPr>
          <p:cNvSpPr>
            <a:spLocks noGrp="1"/>
          </p:cNvSpPr>
          <p:nvPr/>
        </p:nvSpPr>
        <p:spPr>
          <a:xfrm rot="0">
            <a:off x="8674100" y="76200"/>
            <a:ext cx="762000" cy="5080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8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80">
                <a:latin typeface="맑은 고딕"/>
                <a:ea typeface="맑은 고딕"/>
                <a:cs typeface="맑은 고딕"/>
              </a:rPr>
              <a:t>: 완료</a:t>
            </a:r>
            <a:br/>
            <a:r>
              <a:rPr lang="ko" sz="980">
                <a:latin typeface="맑은 고딕"/>
                <a:ea typeface="맑은 고딕"/>
                <a:cs typeface="맑은 고딕"/>
              </a:rPr>
              <a:t>:진행중</a:t>
            </a:r>
            <a:br/>
            <a:r>
              <a:rPr lang="ko" sz="980">
                <a:latin typeface="맑은 고딕"/>
                <a:ea typeface="맑은 고딕"/>
                <a:cs typeface="맑은 고딕"/>
              </a:rPr>
              <a:t>:미완료(문제)</a:t>
            </a:r>
          </a:p>
        </p:txBody>
      </p:sp>
      <p:sp>
        <p:nvSpPr>
          <p:cNvPr id="501078244" name="Rectangle"/>
          <p:cNvSpPr>
            <a:spLocks noGrp="1"/>
          </p:cNvSpPr>
          <p:nvPr/>
        </p:nvSpPr>
        <p:spPr>
          <a:xfrm>
            <a:off x="8420100" y="50800"/>
            <a:ext cx="254000" cy="139700"/>
          </a:xfrm>
          <a:prstGeom prst="rect">
            <a:avLst/>
          </a:prstGeom>
          <a:solidFill>
            <a:srgbClr val="00FF00"/>
          </a:solidFill>
          <a:ln w="12700">
            <a:solidFill>
              <a:srgbClr val="FFFFFF"/>
            </a:solidFill>
            <a:prstDash val="solid"/>
          </a:ln>
        </p:spPr>
        <p:txBody>
          <a:bodyPr anchor="ctr" rtlCol="0"/>
          <a:lstStyle/>
          <a:p>
            <a:pPr algn="ctr"/>
          </a:p>
        </p:txBody>
      </p:sp>
      <p:sp>
        <p:nvSpPr>
          <p:cNvPr id="1091771926" name="Rectangle"/>
          <p:cNvSpPr>
            <a:spLocks noGrp="1"/>
          </p:cNvSpPr>
          <p:nvPr/>
        </p:nvSpPr>
        <p:spPr>
          <a:xfrm>
            <a:off x="8420100" y="228600"/>
            <a:ext cx="254000" cy="139700"/>
          </a:xfrm>
          <a:prstGeom prst="rect">
            <a:avLst/>
          </a:prstGeom>
          <a:solidFill>
            <a:srgbClr val="FFFF00"/>
          </a:solidFill>
          <a:ln w="12700">
            <a:solidFill>
              <a:srgbClr val="FFFFFF"/>
            </a:solidFill>
            <a:prstDash val="solid"/>
          </a:ln>
        </p:spPr>
        <p:txBody>
          <a:bodyPr anchor="ctr" rtlCol="0"/>
          <a:lstStyle/>
          <a:p>
            <a:pPr algn="ctr"/>
          </a:p>
        </p:txBody>
      </p:sp>
      <p:sp>
        <p:nvSpPr>
          <p:cNvPr id="246873893" name="Rectangle"/>
          <p:cNvSpPr>
            <a:spLocks noGrp="1"/>
          </p:cNvSpPr>
          <p:nvPr/>
        </p:nvSpPr>
        <p:spPr>
          <a:xfrm>
            <a:off x="8420100" y="406400"/>
            <a:ext cx="254000" cy="139700"/>
          </a:xfrm>
          <a:prstGeom prst="rect">
            <a:avLst/>
          </a:prstGeom>
          <a:solidFill>
            <a:srgbClr val="FF0000"/>
          </a:solidFill>
          <a:ln w="12700">
            <a:solidFill>
              <a:srgbClr val="FFFFFF"/>
            </a:solidFill>
            <a:prstDash val="solid"/>
          </a:ln>
        </p:spPr>
        <p:txBody>
          <a:bodyPr anchor="ctr" rtlCol="0"/>
          <a:lstStyle/>
          <a:p>
            <a:pPr algn="ctr"/>
          </a:p>
        </p:txBody>
      </p:sp>
      <p:sp>
        <p:nvSpPr>
          <p:cNvPr id="1959376601" name="Text">
    </p:cNvPr>
          <p:cNvSpPr>
            <a:spLocks noGrp="1"/>
          </p:cNvSpPr>
          <p:nvPr/>
        </p:nvSpPr>
        <p:spPr>
          <a:xfrm rot="0">
            <a:off x="127000" y="190500"/>
            <a:ext cx="5181600" cy="381000"/>
          </a:xfrm>
          <a:prstGeom prst="rect">
            <a:avLst/>
          </a:prstGeom>
        </p:spPr>
        <p:txBody>
          <a:bodyPr anchor="b" bIns="0" lIns="0" rIns="0" rtlCol="0" tIns="0" wrap="square"/>
          <a:lstStyle/>
          <a:p>
            <a:pPr algn="l">
              <a:lnSpc>
                <a:spcPct val="100%"/>
              </a:lnSpc>
              <a:defRPr b="1" sz="15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570">
                <a:latin typeface="맑은 고딕"/>
                <a:ea typeface="맑은 고딕"/>
                <a:cs typeface="맑은 고딕"/>
              </a:rPr>
              <a:t>2. Summary - ①Baynex</a:t>
            </a:r>
          </a:p>
        </p:txBody>
      </p:sp>
      <p:sp>
        <p:nvSpPr>
          <p:cNvPr id="127945308" name="Text">
    </p:cNvPr>
          <p:cNvSpPr>
            <a:spLocks noGrp="1"/>
          </p:cNvSpPr>
          <p:nvPr/>
        </p:nvSpPr>
        <p:spPr>
          <a:xfrm rot="0">
            <a:off x="190500" y="749300"/>
            <a:ext cx="2108200" cy="2159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l">
              <a:lnSpc>
                <a:spcPct val="100%"/>
              </a:lnSpc>
              <a:defRPr b="1"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00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578768144" name="Text">
    </p:cNvPr>
          <p:cNvSpPr>
            <a:spLocks noGrp="1"/>
          </p:cNvSpPr>
          <p:nvPr/>
        </p:nvSpPr>
        <p:spPr>
          <a:xfrm rot="0">
            <a:off x="165100" y="723900"/>
            <a:ext cx="2108200" cy="2159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l">
              <a:lnSpc>
                <a:spcPct val="100%"/>
              </a:lnSpc>
              <a:defRPr b="1"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000">
                <a:latin typeface="맑은 고딕"/>
                <a:ea typeface="맑은 고딕"/>
                <a:cs typeface="맑은 고딕"/>
              </a:rPr>
              <a:t> 금주 업무 실적</a:t>
            </a:r>
          </a:p>
        </p:txBody>
      </p:sp>
      <p:sp>
        <p:nvSpPr>
          <p:cNvPr id="1735169057" name="Text">
    </p:cNvPr>
          <p:cNvSpPr>
            <a:spLocks noGrp="1"/>
          </p:cNvSpPr>
          <p:nvPr/>
        </p:nvSpPr>
        <p:spPr>
          <a:xfrm rot="0">
            <a:off x="152400" y="977900"/>
            <a:ext cx="736600" cy="3937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구분</a:t>
            </a:r>
          </a:p>
        </p:txBody>
      </p:sp>
      <p:sp>
        <p:nvSpPr>
          <p:cNvPr id="1588234603" name="Text">
    </p:cNvPr>
          <p:cNvSpPr>
            <a:spLocks noGrp="1"/>
          </p:cNvSpPr>
          <p:nvPr/>
        </p:nvSpPr>
        <p:spPr>
          <a:xfrm rot="0">
            <a:off x="889000" y="977900"/>
            <a:ext cx="4648200" cy="3937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541265992" name="Text">
    </p:cNvPr>
          <p:cNvSpPr>
            <a:spLocks noGrp="1"/>
          </p:cNvSpPr>
          <p:nvPr/>
        </p:nvSpPr>
        <p:spPr>
          <a:xfrm rot="0">
            <a:off x="6108700" y="977900"/>
            <a:ext cx="762000" cy="3937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진행율</a:t>
            </a:r>
          </a:p>
        </p:txBody>
      </p:sp>
      <p:sp>
        <p:nvSpPr>
          <p:cNvPr id="1433531572" name="Text">
    </p:cNvPr>
          <p:cNvSpPr>
            <a:spLocks noGrp="1"/>
          </p:cNvSpPr>
          <p:nvPr/>
        </p:nvSpPr>
        <p:spPr>
          <a:xfrm rot="0">
            <a:off x="6870700" y="977900"/>
            <a:ext cx="254000" cy="3937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상</a:t>
            </a:r>
            <a:br/>
            <a:r>
              <a:rPr lang="ko" sz="1000">
                <a:latin typeface="맑은 고딕"/>
                <a:ea typeface="맑은 고딕"/>
                <a:cs typeface="맑은 고딕"/>
              </a:rPr>
              <a:t>태</a:t>
            </a:r>
          </a:p>
        </p:txBody>
      </p:sp>
      <p:sp>
        <p:nvSpPr>
          <p:cNvPr id="1447018407" name="Text">
    </p:cNvPr>
          <p:cNvSpPr>
            <a:spLocks noGrp="1"/>
          </p:cNvSpPr>
          <p:nvPr/>
        </p:nvSpPr>
        <p:spPr>
          <a:xfrm rot="0">
            <a:off x="7124700" y="977900"/>
            <a:ext cx="2654300" cy="3937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비고</a:t>
            </a:r>
          </a:p>
        </p:txBody>
      </p:sp>
      <p:sp>
        <p:nvSpPr>
          <p:cNvPr id="1557431770" name="Text">
    </p:cNvPr>
          <p:cNvSpPr>
            <a:spLocks noGrp="1"/>
          </p:cNvSpPr>
          <p:nvPr/>
        </p:nvSpPr>
        <p:spPr>
          <a:xfrm rot="0">
            <a:off x="5537200" y="977900"/>
            <a:ext cx="571500" cy="3937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1777212306" name="Frame"/>
          <p:cNvSpPr>
            <a:spLocks noGrp="1"/>
          </p:cNvSpPr>
          <p:nvPr/>
        </p:nvSpPr>
        <p:spPr>
          <a:xfrm>
            <a:off x="25400" y="6007100"/>
            <a:ext cx="9855200" cy="1143000"/>
          </a:xfrm>
          <a:prstGeom prst="rect">
            <a:avLst/>
          </a:prstGeom>
        </p:spPr>
        <p:txBody>
          <a:bodyPr anchor="ctr" rtlCol="0"/>
          <a:lstStyle/>
          <a:p>
            <a:pPr algn="ctr"/>
          </a:p>
        </p:txBody>
      </p:sp>
      <p:sp>
        <p:nvSpPr>
          <p:cNvPr id="861967951" name="Text">
    </p:cNvPr>
          <p:cNvSpPr>
            <a:spLocks noGrp="1"/>
          </p:cNvSpPr>
          <p:nvPr/>
        </p:nvSpPr>
        <p:spPr>
          <a:xfrm rot="0">
            <a:off x="152400" y="6032500"/>
            <a:ext cx="2476500" cy="228600"/>
          </a:xfrm>
          <a:prstGeom prst="rect">
            <a:avLst/>
          </a:prstGeom>
          <a:solidFill>
            <a:srgbClr val="CCFFCC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000">
                <a:latin typeface="맑은 고딕"/>
                <a:ea typeface="맑은 고딕"/>
                <a:cs typeface="맑은 고딕"/>
              </a:rPr>
              <a:t>ERP 디버깅 권한신청 처리현황</a:t>
            </a:r>
          </a:p>
        </p:txBody>
      </p:sp>
      <p:sp>
        <p:nvSpPr>
          <p:cNvPr id="403297539" name="Text">
    </p:cNvPr>
          <p:cNvSpPr>
            <a:spLocks noGrp="1"/>
          </p:cNvSpPr>
          <p:nvPr/>
        </p:nvSpPr>
        <p:spPr>
          <a:xfrm rot="0">
            <a:off x="6451600" y="6565900"/>
            <a:ext cx="16510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611360653" name="Text">
    </p:cNvPr>
          <p:cNvSpPr>
            <a:spLocks noGrp="1"/>
          </p:cNvSpPr>
          <p:nvPr/>
        </p:nvSpPr>
        <p:spPr>
          <a:xfrm rot="0">
            <a:off x="2057400" y="6565900"/>
            <a:ext cx="43942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2032196757" name="Text">
    </p:cNvPr>
          <p:cNvSpPr>
            <a:spLocks noGrp="1"/>
          </p:cNvSpPr>
          <p:nvPr/>
        </p:nvSpPr>
        <p:spPr>
          <a:xfrm rot="0">
            <a:off x="101600" y="6565900"/>
            <a:ext cx="11430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321594640" name="Text">
    </p:cNvPr>
          <p:cNvSpPr>
            <a:spLocks noGrp="1"/>
          </p:cNvSpPr>
          <p:nvPr/>
        </p:nvSpPr>
        <p:spPr>
          <a:xfrm rot="0">
            <a:off x="101600" y="6324600"/>
            <a:ext cx="1143000" cy="241300"/>
          </a:xfrm>
          <a:prstGeom prst="rect">
            <a:avLst/>
          </a:prstGeom>
          <a:solidFill>
            <a:srgbClr val="FF9933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Date</a:t>
            </a:r>
          </a:p>
        </p:txBody>
      </p:sp>
      <p:sp>
        <p:nvSpPr>
          <p:cNvPr id="414353926" name="Text">
    </p:cNvPr>
          <p:cNvSpPr>
            <a:spLocks noGrp="1"/>
          </p:cNvSpPr>
          <p:nvPr/>
        </p:nvSpPr>
        <p:spPr>
          <a:xfrm rot="0">
            <a:off x="2057400" y="6324600"/>
            <a:ext cx="4394200" cy="241300"/>
          </a:xfrm>
          <a:prstGeom prst="rect">
            <a:avLst/>
          </a:prstGeom>
          <a:solidFill>
            <a:srgbClr val="FF9933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Text (변경값)</a:t>
            </a:r>
          </a:p>
        </p:txBody>
      </p:sp>
      <p:sp>
        <p:nvSpPr>
          <p:cNvPr id="600760220" name="Text">
    </p:cNvPr>
          <p:cNvSpPr>
            <a:spLocks noGrp="1"/>
          </p:cNvSpPr>
          <p:nvPr/>
        </p:nvSpPr>
        <p:spPr>
          <a:xfrm rot="0">
            <a:off x="6451600" y="6324600"/>
            <a:ext cx="1651000" cy="241300"/>
          </a:xfrm>
          <a:prstGeom prst="rect">
            <a:avLst/>
          </a:prstGeom>
          <a:solidFill>
            <a:srgbClr val="FF9933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ERP 권한신청서번호</a:t>
            </a:r>
          </a:p>
        </p:txBody>
      </p:sp>
      <p:sp>
        <p:nvSpPr>
          <p:cNvPr id="1551203076" name="Text">
    </p:cNvPr>
          <p:cNvSpPr>
            <a:spLocks noGrp="1"/>
          </p:cNvSpPr>
          <p:nvPr/>
        </p:nvSpPr>
        <p:spPr>
          <a:xfrm rot="0">
            <a:off x="101600" y="6858000"/>
            <a:ext cx="11430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034531573" name="Text">
    </p:cNvPr>
          <p:cNvSpPr>
            <a:spLocks noGrp="1"/>
          </p:cNvSpPr>
          <p:nvPr/>
        </p:nvSpPr>
        <p:spPr>
          <a:xfrm rot="0">
            <a:off x="6451600" y="6858000"/>
            <a:ext cx="16510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826801660" name="Text">
    </p:cNvPr>
          <p:cNvSpPr>
            <a:spLocks noGrp="1"/>
          </p:cNvSpPr>
          <p:nvPr/>
        </p:nvSpPr>
        <p:spPr>
          <a:xfrm rot="0">
            <a:off x="2057400" y="6858000"/>
            <a:ext cx="43942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688266359" name="Text">
    </p:cNvPr>
          <p:cNvSpPr>
            <a:spLocks noGrp="1"/>
          </p:cNvSpPr>
          <p:nvPr/>
        </p:nvSpPr>
        <p:spPr>
          <a:xfrm rot="0">
            <a:off x="1244600" y="6858000"/>
            <a:ext cx="8128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326769852" name="Text">
    </p:cNvPr>
          <p:cNvSpPr>
            <a:spLocks noGrp="1"/>
          </p:cNvSpPr>
          <p:nvPr/>
        </p:nvSpPr>
        <p:spPr>
          <a:xfrm rot="0">
            <a:off x="1244600" y="6565900"/>
            <a:ext cx="8128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672755772" name="Text">
    </p:cNvPr>
          <p:cNvSpPr>
            <a:spLocks noGrp="1"/>
          </p:cNvSpPr>
          <p:nvPr/>
        </p:nvSpPr>
        <p:spPr>
          <a:xfrm rot="0">
            <a:off x="1244600" y="6324600"/>
            <a:ext cx="812800" cy="241300"/>
          </a:xfrm>
          <a:prstGeom prst="rect">
            <a:avLst/>
          </a:prstGeom>
          <a:solidFill>
            <a:srgbClr val="FF9933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User</a:t>
            </a:r>
          </a:p>
        </p:txBody>
      </p:sp>
      <p:sp>
        <p:nvSpPr>
          <p:cNvPr id="1838322603" name="Text">
    </p:cNvPr>
          <p:cNvSpPr>
            <a:spLocks noGrp="1"/>
          </p:cNvSpPr>
          <p:nvPr/>
        </p:nvSpPr>
        <p:spPr>
          <a:xfrm rot="0">
            <a:off x="8102600" y="6858000"/>
            <a:ext cx="17018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241324848" name="Text">
    </p:cNvPr>
          <p:cNvSpPr>
            <a:spLocks noGrp="1"/>
          </p:cNvSpPr>
          <p:nvPr/>
        </p:nvSpPr>
        <p:spPr>
          <a:xfrm rot="0">
            <a:off x="8102600" y="6324600"/>
            <a:ext cx="1701800" cy="241300"/>
          </a:xfrm>
          <a:prstGeom prst="rect">
            <a:avLst/>
          </a:prstGeom>
          <a:solidFill>
            <a:srgbClr val="FF9933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구분(일반/긴급)</a:t>
            </a:r>
          </a:p>
        </p:txBody>
      </p:sp>
      <p:sp>
        <p:nvSpPr>
          <p:cNvPr id="1295921596" name="Text">
    </p:cNvPr>
          <p:cNvSpPr>
            <a:spLocks noGrp="1"/>
          </p:cNvSpPr>
          <p:nvPr/>
        </p:nvSpPr>
        <p:spPr>
          <a:xfrm rot="0">
            <a:off x="8102600" y="6565900"/>
            <a:ext cx="17018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253335549" name="Frame"/>
          <p:cNvSpPr>
            <a:spLocks noGrp="1"/>
          </p:cNvSpPr>
          <p:nvPr/>
        </p:nvSpPr>
        <p:spPr>
          <a:xfrm>
            <a:off x="101600" y="3136900"/>
            <a:ext cx="9779000" cy="2705100"/>
          </a:xfrm>
          <a:prstGeom prst="rect">
            <a:avLst/>
          </a:prstGeom>
        </p:spPr>
        <p:txBody>
          <a:bodyPr anchor="ctr" rtlCol="0"/>
          <a:lstStyle/>
          <a:p>
            <a:pPr algn="ctr"/>
          </a:p>
        </p:txBody>
      </p:sp>
      <p:sp>
        <p:nvSpPr>
          <p:cNvPr id="1995391614" name="Text">
    </p:cNvPr>
          <p:cNvSpPr>
            <a:spLocks noGrp="1"/>
          </p:cNvSpPr>
          <p:nvPr/>
        </p:nvSpPr>
        <p:spPr>
          <a:xfrm rot="0">
            <a:off x="165100" y="3200400"/>
            <a:ext cx="2108200" cy="2159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l">
              <a:lnSpc>
                <a:spcPct val="100%"/>
              </a:lnSpc>
              <a:defRPr b="1"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00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778934848" name="Text">
    </p:cNvPr>
          <p:cNvSpPr>
            <a:spLocks noGrp="1"/>
          </p:cNvSpPr>
          <p:nvPr/>
        </p:nvSpPr>
        <p:spPr>
          <a:xfrm rot="0">
            <a:off x="152400" y="3162300"/>
            <a:ext cx="2095500" cy="228600"/>
          </a:xfrm>
          <a:prstGeom prst="rect">
            <a:avLst/>
          </a:prstGeom>
          <a:solidFill>
            <a:srgbClr val="FF9900"/>
          </a:solidFill>
        </p:spPr>
        <p:txBody>
          <a:bodyPr anchor="ctr" bIns="0" lIns="0" rIns="0" rtlCol="0" tIns="0" wrap="square"/>
          <a:lstStyle/>
          <a:p>
            <a:pPr algn="l">
              <a:lnSpc>
                <a:spcPct val="100%"/>
              </a:lnSpc>
              <a:defRPr b="1"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000">
                <a:latin typeface="맑은 고딕"/>
                <a:ea typeface="맑은 고딕"/>
                <a:cs typeface="맑은 고딕"/>
              </a:rPr>
              <a:t> 차주 업무 계획</a:t>
            </a:r>
          </a:p>
        </p:txBody>
      </p:sp>
      <p:sp>
        <p:nvSpPr>
          <p:cNvPr id="1451690860" name="Text">
    </p:cNvPr>
          <p:cNvSpPr>
            <a:spLocks noGrp="1"/>
          </p:cNvSpPr>
          <p:nvPr/>
        </p:nvSpPr>
        <p:spPr>
          <a:xfrm rot="0">
            <a:off x="165100" y="3416300"/>
            <a:ext cx="736600" cy="3429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구분</a:t>
            </a:r>
          </a:p>
        </p:txBody>
      </p:sp>
      <p:sp>
        <p:nvSpPr>
          <p:cNvPr id="358799422" name="Text">
    </p:cNvPr>
          <p:cNvSpPr>
            <a:spLocks noGrp="1"/>
          </p:cNvSpPr>
          <p:nvPr/>
        </p:nvSpPr>
        <p:spPr>
          <a:xfrm rot="0">
            <a:off x="901700" y="3416300"/>
            <a:ext cx="4648200" cy="3429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429036638" name="Text">
    </p:cNvPr>
          <p:cNvSpPr>
            <a:spLocks noGrp="1"/>
          </p:cNvSpPr>
          <p:nvPr/>
        </p:nvSpPr>
        <p:spPr>
          <a:xfrm rot="0">
            <a:off x="5549900" y="3416300"/>
            <a:ext cx="571500" cy="3429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완료예정</a:t>
            </a:r>
          </a:p>
        </p:txBody>
      </p:sp>
      <p:sp>
        <p:nvSpPr>
          <p:cNvPr id="814864712" name="Text">
    </p:cNvPr>
          <p:cNvSpPr>
            <a:spLocks noGrp="1"/>
          </p:cNvSpPr>
          <p:nvPr/>
        </p:nvSpPr>
        <p:spPr>
          <a:xfrm rot="0">
            <a:off x="6121400" y="3416300"/>
            <a:ext cx="3644900" cy="3429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비고</a:t>
            </a:r>
          </a:p>
        </p:txBody>
      </p:sp>
      <p:sp>
        <p:nvSpPr>
          <p:cNvPr id="1579378781" name="Frame"/>
          <p:cNvSpPr>
            <a:spLocks noGrp="1"/>
          </p:cNvSpPr>
          <p:nvPr/>
        </p:nvSpPr>
        <p:spPr>
          <a:xfrm>
            <a:off x="165100" y="4610100"/>
            <a:ext cx="9664700" cy="1231900"/>
          </a:xfrm>
          <a:prstGeom prst="rect">
            <a:avLst/>
          </a:prstGeom>
        </p:spPr>
        <p:txBody>
          <a:bodyPr anchor="ctr" rtlCol="0"/>
          <a:lstStyle/>
          <a:p>
            <a:pPr algn="ctr"/>
          </a:p>
        </p:txBody>
      </p:sp>
      <p:sp>
        <p:nvSpPr>
          <p:cNvPr id="1568925839" name="Text">
    </p:cNvPr>
          <p:cNvSpPr>
            <a:spLocks noGrp="1"/>
          </p:cNvSpPr>
          <p:nvPr/>
        </p:nvSpPr>
        <p:spPr>
          <a:xfrm rot="0">
            <a:off x="165100" y="4584700"/>
            <a:ext cx="736600" cy="1257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WEB</a:t>
            </a:r>
          </a:p>
        </p:txBody>
      </p:sp>
      <p:sp>
        <p:nvSpPr>
          <p:cNvPr id="1346287365" name="Text">
    </p:cNvPr>
          <p:cNvSpPr>
            <a:spLocks noGrp="1"/>
          </p:cNvSpPr>
          <p:nvPr/>
        </p:nvSpPr>
        <p:spPr>
          <a:xfrm rot="0">
            <a:off x="965200" y="4635500"/>
            <a:ext cx="4584700" cy="12065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[PRM] 주유소/충전소 PRM 거래처 마스터 신규 등록시 필수 계약 자동 체결요청 시스템 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[E-Approval] Defect Elimination Dashboard Renewal(신규 Portal 구축) 관련 전자결재 연동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작업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[LMS] Soft Skill 인증제도(Skillset) 시행에 따른 LMS 개발 요청의 건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[EAI] EAI DB TSDEAI 테이블스페이스 증설 검토</a:t>
            </a:r>
          </a:p>
        </p:txBody>
      </p:sp>
      <p:sp>
        <p:nvSpPr>
          <p:cNvPr id="1859874771" name="Text">
    </p:cNvPr>
          <p:cNvSpPr>
            <a:spLocks noGrp="1"/>
          </p:cNvSpPr>
          <p:nvPr/>
        </p:nvSpPr>
        <p:spPr>
          <a:xfrm rot="0">
            <a:off x="7239000" y="4635500"/>
            <a:ext cx="2552700" cy="12065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</a:p>
        </p:txBody>
      </p:sp>
      <p:sp>
        <p:nvSpPr>
          <p:cNvPr id="738165717" name="Text">
    </p:cNvPr>
          <p:cNvSpPr>
            <a:spLocks noGrp="1"/>
          </p:cNvSpPr>
          <p:nvPr/>
        </p:nvSpPr>
        <p:spPr>
          <a:xfrm rot="0">
            <a:off x="5549900" y="4635500"/>
            <a:ext cx="571500" cy="12065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12/31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12/29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12/28</a:t>
            </a:r>
          </a:p>
        </p:txBody>
      </p:sp>
      <p:sp>
        <p:nvSpPr>
          <p:cNvPr id="1769656757" name="Text">
    </p:cNvPr>
          <p:cNvSpPr>
            <a:spLocks noGrp="1"/>
          </p:cNvSpPr>
          <p:nvPr/>
        </p:nvSpPr>
        <p:spPr>
          <a:xfrm rot="0">
            <a:off x="901700" y="4584700"/>
            <a:ext cx="4648200" cy="1257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289340160" name="Text">
    </p:cNvPr>
          <p:cNvSpPr>
            <a:spLocks noGrp="1"/>
          </p:cNvSpPr>
          <p:nvPr/>
        </p:nvSpPr>
        <p:spPr>
          <a:xfrm rot="0">
            <a:off x="6121400" y="4584700"/>
            <a:ext cx="3644900" cy="1257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2043256511" name="Text">
    </p:cNvPr>
          <p:cNvSpPr>
            <a:spLocks noGrp="1"/>
          </p:cNvSpPr>
          <p:nvPr/>
        </p:nvSpPr>
        <p:spPr>
          <a:xfrm rot="0">
            <a:off x="5549900" y="4584700"/>
            <a:ext cx="571500" cy="1257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788482936" name="Frame"/>
          <p:cNvSpPr>
            <a:spLocks noGrp="1"/>
          </p:cNvSpPr>
          <p:nvPr/>
        </p:nvSpPr>
        <p:spPr>
          <a:xfrm>
            <a:off x="165100" y="3759200"/>
            <a:ext cx="9639300" cy="825500"/>
          </a:xfrm>
          <a:prstGeom prst="rect">
            <a:avLst/>
          </a:prstGeom>
        </p:spPr>
        <p:txBody>
          <a:bodyPr anchor="ctr" rtlCol="0"/>
          <a:lstStyle/>
          <a:p>
            <a:pPr algn="ctr"/>
          </a:p>
        </p:txBody>
      </p:sp>
      <p:sp>
        <p:nvSpPr>
          <p:cNvPr id="297255019" name="Text">
    </p:cNvPr>
          <p:cNvSpPr>
            <a:spLocks noGrp="1"/>
          </p:cNvSpPr>
          <p:nvPr/>
        </p:nvSpPr>
        <p:spPr>
          <a:xfrm rot="0">
            <a:off x="165100" y="3759200"/>
            <a:ext cx="736600" cy="8255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ERP</a:t>
            </a:r>
          </a:p>
        </p:txBody>
      </p:sp>
      <p:sp>
        <p:nvSpPr>
          <p:cNvPr id="331671192" name="Text">
    </p:cNvPr>
          <p:cNvSpPr>
            <a:spLocks noGrp="1"/>
          </p:cNvSpPr>
          <p:nvPr/>
        </p:nvSpPr>
        <p:spPr>
          <a:xfrm rot="0">
            <a:off x="965200" y="3835400"/>
            <a:ext cx="4584700" cy="7493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[CO] 구분회계기준 비용의 1차원가요소 data 산출 프로그램 생성(ZCPR1050)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[FI] 대주주 감사자료 생성-MRO 자재계정의 상대계정 리스트 테이블 저장(ZFIR7035,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ZFIT7035)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[MM] 산업안전보건관리비 계상 관련 시스템 보완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[SABIC] SABIC 시스템 연동 구축</a:t>
            </a:r>
          </a:p>
        </p:txBody>
      </p:sp>
      <p:sp>
        <p:nvSpPr>
          <p:cNvPr id="642629177" name="Text">
    </p:cNvPr>
          <p:cNvSpPr>
            <a:spLocks noGrp="1"/>
          </p:cNvSpPr>
          <p:nvPr/>
        </p:nvSpPr>
        <p:spPr>
          <a:xfrm rot="0">
            <a:off x="7239000" y="3835400"/>
            <a:ext cx="2552700" cy="7493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</a:p>
        </p:txBody>
      </p:sp>
      <p:sp>
        <p:nvSpPr>
          <p:cNvPr id="1916634371" name="Text">
    </p:cNvPr>
          <p:cNvSpPr>
            <a:spLocks noGrp="1"/>
          </p:cNvSpPr>
          <p:nvPr/>
        </p:nvSpPr>
        <p:spPr>
          <a:xfrm rot="0">
            <a:off x="5549900" y="3835400"/>
            <a:ext cx="571500" cy="7493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12/31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12/31</a:t>
            </a:r>
          </a:p>
        </p:txBody>
      </p:sp>
      <p:sp>
        <p:nvSpPr>
          <p:cNvPr id="1571202999" name="Text">
    </p:cNvPr>
          <p:cNvSpPr>
            <a:spLocks noGrp="1"/>
          </p:cNvSpPr>
          <p:nvPr/>
        </p:nvSpPr>
        <p:spPr>
          <a:xfrm rot="0">
            <a:off x="901700" y="3759200"/>
            <a:ext cx="4648200" cy="8255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768061629" name="Text">
    </p:cNvPr>
          <p:cNvSpPr>
            <a:spLocks noGrp="1"/>
          </p:cNvSpPr>
          <p:nvPr/>
        </p:nvSpPr>
        <p:spPr>
          <a:xfrm rot="0">
            <a:off x="6121400" y="3759200"/>
            <a:ext cx="3644900" cy="8255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571850206" name="Text">
    </p:cNvPr>
          <p:cNvSpPr>
            <a:spLocks noGrp="1"/>
          </p:cNvSpPr>
          <p:nvPr/>
        </p:nvSpPr>
        <p:spPr>
          <a:xfrm rot="0">
            <a:off x="5549900" y="3759200"/>
            <a:ext cx="571500" cy="8255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016996098" name="Frame"/>
          <p:cNvSpPr>
            <a:spLocks noGrp="1"/>
          </p:cNvSpPr>
          <p:nvPr/>
        </p:nvSpPr>
        <p:spPr>
          <a:xfrm>
            <a:off x="127000" y="1384300"/>
            <a:ext cx="9779000" cy="1612900"/>
          </a:xfrm>
          <a:prstGeom prst="rect">
            <a:avLst/>
          </a:prstGeom>
        </p:spPr>
        <p:txBody>
          <a:bodyPr anchor="ctr" rtlCol="0"/>
          <a:lstStyle/>
          <a:p>
            <a:pPr algn="ctr"/>
          </a:p>
        </p:txBody>
      </p:sp>
      <p:sp>
        <p:nvSpPr>
          <p:cNvPr id="1416471097" name="Frame"/>
          <p:cNvSpPr>
            <a:spLocks noGrp="1"/>
          </p:cNvSpPr>
          <p:nvPr/>
        </p:nvSpPr>
        <p:spPr>
          <a:xfrm>
            <a:off x="152400" y="2070100"/>
            <a:ext cx="9664700" cy="927100"/>
          </a:xfrm>
          <a:prstGeom prst="rect">
            <a:avLst/>
          </a:prstGeom>
        </p:spPr>
        <p:txBody>
          <a:bodyPr anchor="ctr" rtlCol="0"/>
          <a:lstStyle/>
          <a:p>
            <a:pPr algn="ctr"/>
          </a:p>
        </p:txBody>
      </p:sp>
      <p:sp>
        <p:nvSpPr>
          <p:cNvPr id="782273947" name="Text">
    </p:cNvPr>
          <p:cNvSpPr>
            <a:spLocks noGrp="1"/>
          </p:cNvSpPr>
          <p:nvPr/>
        </p:nvSpPr>
        <p:spPr>
          <a:xfrm rot="0">
            <a:off x="152400" y="2044700"/>
            <a:ext cx="736600" cy="9525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WEB</a:t>
            </a:r>
          </a:p>
        </p:txBody>
      </p:sp>
      <p:sp>
        <p:nvSpPr>
          <p:cNvPr id="559169244" name="Text">
    </p:cNvPr>
          <p:cNvSpPr>
            <a:spLocks noGrp="1"/>
          </p:cNvSpPr>
          <p:nvPr/>
        </p:nvSpPr>
        <p:spPr>
          <a:xfrm rot="0">
            <a:off x="952500" y="2095500"/>
            <a:ext cx="4597400" cy="9017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[PRM] 수송비 ERP 거리와 API 측정거리 차이 기능 추가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[RPA] A11 '#1 회계지급전표' 작업 데이터정리 및 재수행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[ERS] 올레핀송유/동력팀 2023년 전사 운전지침서 Master Plan 계획에 따른 문서 표준화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및 통합 관련 신규 제정 문서들의 목차 수정 재반영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[LMS] 신설 부서 생성으로 기존 부서정보 업데이트 배치 오류발생 확인 예외처리( Ulsan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Complex Head )</a:t>
            </a:r>
          </a:p>
        </p:txBody>
      </p:sp>
      <p:sp>
        <p:nvSpPr>
          <p:cNvPr id="1812962757" name="Text">
    </p:cNvPr>
          <p:cNvSpPr>
            <a:spLocks noGrp="1"/>
          </p:cNvSpPr>
          <p:nvPr/>
        </p:nvSpPr>
        <p:spPr>
          <a:xfrm rot="0">
            <a:off x="7226300" y="2095500"/>
            <a:ext cx="2552700" cy="9017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</a:p>
        </p:txBody>
      </p:sp>
      <p:sp>
        <p:nvSpPr>
          <p:cNvPr id="1430951447" name="Text">
    </p:cNvPr>
          <p:cNvSpPr>
            <a:spLocks noGrp="1"/>
          </p:cNvSpPr>
          <p:nvPr/>
        </p:nvSpPr>
        <p:spPr>
          <a:xfrm rot="0">
            <a:off x="6108700" y="2044700"/>
            <a:ext cx="762000" cy="9525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완료</a:t>
            </a:r>
          </a:p>
        </p:txBody>
      </p:sp>
      <p:sp>
        <p:nvSpPr>
          <p:cNvPr id="2141984112" name="Text">
    </p:cNvPr>
          <p:cNvSpPr>
            <a:spLocks noGrp="1"/>
          </p:cNvSpPr>
          <p:nvPr/>
        </p:nvSpPr>
        <p:spPr>
          <a:xfrm rot="0">
            <a:off x="5537200" y="2095500"/>
            <a:ext cx="571500" cy="9017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12/15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12/15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12/15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12/12</a:t>
            </a:r>
          </a:p>
        </p:txBody>
      </p:sp>
      <p:sp>
        <p:nvSpPr>
          <p:cNvPr id="2140042887" name="Text">
    </p:cNvPr>
          <p:cNvSpPr>
            <a:spLocks noGrp="1"/>
          </p:cNvSpPr>
          <p:nvPr/>
        </p:nvSpPr>
        <p:spPr>
          <a:xfrm rot="0">
            <a:off x="889000" y="2044700"/>
            <a:ext cx="4648200" cy="9525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878994182" name="Text">
    </p:cNvPr>
          <p:cNvSpPr>
            <a:spLocks noGrp="1"/>
          </p:cNvSpPr>
          <p:nvPr/>
        </p:nvSpPr>
        <p:spPr>
          <a:xfrm rot="0">
            <a:off x="7124700" y="2044700"/>
            <a:ext cx="2654300" cy="9525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854203072" name="Text">
    </p:cNvPr>
          <p:cNvSpPr>
            <a:spLocks noGrp="1"/>
          </p:cNvSpPr>
          <p:nvPr/>
        </p:nvSpPr>
        <p:spPr>
          <a:xfrm rot="0">
            <a:off x="5537200" y="2044700"/>
            <a:ext cx="571500" cy="9525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897692149" name="Rectangle"/>
          <p:cNvSpPr>
            <a:spLocks noGrp="1"/>
          </p:cNvSpPr>
          <p:nvPr/>
        </p:nvSpPr>
        <p:spPr>
          <a:xfrm>
            <a:off x="6870700" y="2044700"/>
            <a:ext cx="254000" cy="952500"/>
          </a:xfrm>
          <a:prstGeom prst="rect">
            <a:avLst/>
          </a:prstGeom>
          <a:solidFill>
            <a:srgbClr val="00FF00"/>
          </a:solidFill>
          <a:ln w="12700">
            <a:solidFill>
              <a:srgbClr val="000000"/>
            </a:solidFill>
            <a:prstDash val="solid"/>
          </a:ln>
        </p:spPr>
        <p:txBody>
          <a:bodyPr anchor="ctr" rtlCol="0"/>
          <a:lstStyle/>
          <a:p>
            <a:pPr algn="ctr"/>
          </a:p>
        </p:txBody>
      </p:sp>
      <p:sp>
        <p:nvSpPr>
          <p:cNvPr id="2099908895" name="Frame"/>
          <p:cNvSpPr>
            <a:spLocks noGrp="1"/>
          </p:cNvSpPr>
          <p:nvPr/>
        </p:nvSpPr>
        <p:spPr>
          <a:xfrm>
            <a:off x="152400" y="1371600"/>
            <a:ext cx="9639300" cy="673100"/>
          </a:xfrm>
          <a:prstGeom prst="rect">
            <a:avLst/>
          </a:prstGeom>
        </p:spPr>
        <p:txBody>
          <a:bodyPr anchor="ctr" rtlCol="0"/>
          <a:lstStyle/>
          <a:p>
            <a:pPr algn="ctr"/>
          </a:p>
        </p:txBody>
      </p:sp>
      <p:sp>
        <p:nvSpPr>
          <p:cNvPr id="1806402721" name="Text">
    </p:cNvPr>
          <p:cNvSpPr>
            <a:spLocks noGrp="1"/>
          </p:cNvSpPr>
          <p:nvPr/>
        </p:nvSpPr>
        <p:spPr>
          <a:xfrm rot="0">
            <a:off x="152400" y="1371600"/>
            <a:ext cx="736600" cy="673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ERP</a:t>
            </a:r>
          </a:p>
        </p:txBody>
      </p:sp>
      <p:sp>
        <p:nvSpPr>
          <p:cNvPr id="574676976" name="Text">
    </p:cNvPr>
          <p:cNvSpPr>
            <a:spLocks noGrp="1"/>
          </p:cNvSpPr>
          <p:nvPr/>
        </p:nvSpPr>
        <p:spPr>
          <a:xfrm rot="0">
            <a:off x="939800" y="1422400"/>
            <a:ext cx="4610100" cy="6223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[FI] 총계정원장 정보 추출 요청 프로그램 생성(ZFIR5175_1)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[MM] PO PROGRESS상 '구매단가' 열 추가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[TD] ZPLER0010 선적관련일 필드 추가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[BC] 2023년 하반기 DR 재해복구 모의훈련</a:t>
            </a:r>
          </a:p>
        </p:txBody>
      </p:sp>
      <p:sp>
        <p:nvSpPr>
          <p:cNvPr id="814865310" name="Text">
    </p:cNvPr>
          <p:cNvSpPr>
            <a:spLocks noGrp="1"/>
          </p:cNvSpPr>
          <p:nvPr/>
        </p:nvSpPr>
        <p:spPr>
          <a:xfrm rot="0">
            <a:off x="7226300" y="1447800"/>
            <a:ext cx="2552700" cy="5969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</a:p>
        </p:txBody>
      </p:sp>
      <p:sp>
        <p:nvSpPr>
          <p:cNvPr id="496928378" name="Text">
    </p:cNvPr>
          <p:cNvSpPr>
            <a:spLocks noGrp="1"/>
          </p:cNvSpPr>
          <p:nvPr/>
        </p:nvSpPr>
        <p:spPr>
          <a:xfrm rot="0">
            <a:off x="6108700" y="1371600"/>
            <a:ext cx="762000" cy="673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완료</a:t>
            </a:r>
          </a:p>
        </p:txBody>
      </p:sp>
      <p:sp>
        <p:nvSpPr>
          <p:cNvPr id="715622372" name="Text">
    </p:cNvPr>
          <p:cNvSpPr>
            <a:spLocks noGrp="1"/>
          </p:cNvSpPr>
          <p:nvPr/>
        </p:nvSpPr>
        <p:spPr>
          <a:xfrm rot="0">
            <a:off x="5537200" y="1447800"/>
            <a:ext cx="571500" cy="5969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12/14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12/13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12/14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12/12</a:t>
            </a:r>
          </a:p>
        </p:txBody>
      </p:sp>
      <p:sp>
        <p:nvSpPr>
          <p:cNvPr id="247231007" name="Text">
    </p:cNvPr>
          <p:cNvSpPr>
            <a:spLocks noGrp="1"/>
          </p:cNvSpPr>
          <p:nvPr/>
        </p:nvSpPr>
        <p:spPr>
          <a:xfrm rot="0">
            <a:off x="889000" y="1371600"/>
            <a:ext cx="4648200" cy="673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818877821" name="Text">
    </p:cNvPr>
          <p:cNvSpPr>
            <a:spLocks noGrp="1"/>
          </p:cNvSpPr>
          <p:nvPr/>
        </p:nvSpPr>
        <p:spPr>
          <a:xfrm rot="0">
            <a:off x="7124700" y="1371600"/>
            <a:ext cx="2654300" cy="673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502341192" name="Text">
    </p:cNvPr>
          <p:cNvSpPr>
            <a:spLocks noGrp="1"/>
          </p:cNvSpPr>
          <p:nvPr/>
        </p:nvSpPr>
        <p:spPr>
          <a:xfrm rot="0">
            <a:off x="5537200" y="1371600"/>
            <a:ext cx="571500" cy="673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334168634" name="Rectangle"/>
          <p:cNvSpPr>
            <a:spLocks noGrp="1"/>
          </p:cNvSpPr>
          <p:nvPr/>
        </p:nvSpPr>
        <p:spPr>
          <a:xfrm>
            <a:off x="6870700" y="1371600"/>
            <a:ext cx="254000" cy="673100"/>
          </a:xfrm>
          <a:prstGeom prst="rect">
            <a:avLst/>
          </a:prstGeom>
          <a:solidFill>
            <a:srgbClr val="00FF00"/>
          </a:solidFill>
          <a:ln w="12700">
            <a:solidFill>
              <a:srgbClr val="000000"/>
            </a:solidFill>
            <a:prstDash val="solid"/>
          </a:ln>
        </p:spPr>
        <p:txBody>
          <a:bodyPr anchor="ctr" rtlCol="0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4907231" name="Text">
    </p:cNvPr>
          <p:cNvSpPr>
            <a:spLocks noGrp="1"/>
          </p:cNvSpPr>
          <p:nvPr/>
        </p:nvSpPr>
        <p:spPr>
          <a:xfrm rot="0">
            <a:off x="8674100" y="76200"/>
            <a:ext cx="762000" cy="5080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8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80">
                <a:latin typeface="맑은 고딕"/>
                <a:ea typeface="맑은 고딕"/>
                <a:cs typeface="맑은 고딕"/>
              </a:rPr>
              <a:t>: 완료</a:t>
            </a:r>
            <a:br/>
            <a:r>
              <a:rPr lang="ko" sz="980">
                <a:latin typeface="맑은 고딕"/>
                <a:ea typeface="맑은 고딕"/>
                <a:cs typeface="맑은 고딕"/>
              </a:rPr>
              <a:t>:진행중</a:t>
            </a:r>
            <a:br/>
            <a:r>
              <a:rPr lang="ko" sz="980">
                <a:latin typeface="맑은 고딕"/>
                <a:ea typeface="맑은 고딕"/>
                <a:cs typeface="맑은 고딕"/>
              </a:rPr>
              <a:t>:미완료(문제)</a:t>
            </a:r>
          </a:p>
        </p:txBody>
      </p:sp>
      <p:sp>
        <p:nvSpPr>
          <p:cNvPr id="1785261719" name="Rectangle"/>
          <p:cNvSpPr>
            <a:spLocks noGrp="1"/>
          </p:cNvSpPr>
          <p:nvPr/>
        </p:nvSpPr>
        <p:spPr>
          <a:xfrm>
            <a:off x="8420100" y="50800"/>
            <a:ext cx="254000" cy="139700"/>
          </a:xfrm>
          <a:prstGeom prst="rect">
            <a:avLst/>
          </a:prstGeom>
          <a:solidFill>
            <a:srgbClr val="00FF00"/>
          </a:solidFill>
          <a:ln w="12700">
            <a:solidFill>
              <a:srgbClr val="FFFFFF"/>
            </a:solidFill>
            <a:prstDash val="solid"/>
          </a:ln>
        </p:spPr>
        <p:txBody>
          <a:bodyPr anchor="ctr" rtlCol="0"/>
          <a:lstStyle/>
          <a:p>
            <a:pPr algn="ctr"/>
          </a:p>
        </p:txBody>
      </p:sp>
      <p:sp>
        <p:nvSpPr>
          <p:cNvPr id="1814532666" name="Rectangle"/>
          <p:cNvSpPr>
            <a:spLocks noGrp="1"/>
          </p:cNvSpPr>
          <p:nvPr/>
        </p:nvSpPr>
        <p:spPr>
          <a:xfrm>
            <a:off x="8420100" y="228600"/>
            <a:ext cx="254000" cy="139700"/>
          </a:xfrm>
          <a:prstGeom prst="rect">
            <a:avLst/>
          </a:prstGeom>
          <a:solidFill>
            <a:srgbClr val="FFFF00"/>
          </a:solidFill>
          <a:ln w="12700">
            <a:solidFill>
              <a:srgbClr val="FFFFFF"/>
            </a:solidFill>
            <a:prstDash val="solid"/>
          </a:ln>
        </p:spPr>
        <p:txBody>
          <a:bodyPr anchor="ctr" rtlCol="0"/>
          <a:lstStyle/>
          <a:p>
            <a:pPr algn="ctr"/>
          </a:p>
        </p:txBody>
      </p:sp>
      <p:sp>
        <p:nvSpPr>
          <p:cNvPr id="228747160" name="Rectangle"/>
          <p:cNvSpPr>
            <a:spLocks noGrp="1"/>
          </p:cNvSpPr>
          <p:nvPr/>
        </p:nvSpPr>
        <p:spPr>
          <a:xfrm>
            <a:off x="8420100" y="406400"/>
            <a:ext cx="254000" cy="139700"/>
          </a:xfrm>
          <a:prstGeom prst="rect">
            <a:avLst/>
          </a:prstGeom>
          <a:solidFill>
            <a:srgbClr val="FF0000"/>
          </a:solidFill>
          <a:ln w="12700">
            <a:solidFill>
              <a:srgbClr val="FFFFFF"/>
            </a:solidFill>
            <a:prstDash val="solid"/>
          </a:ln>
        </p:spPr>
        <p:txBody>
          <a:bodyPr anchor="ctr" rtlCol="0"/>
          <a:lstStyle/>
          <a:p>
            <a:pPr algn="ctr"/>
          </a:p>
        </p:txBody>
      </p:sp>
      <p:sp>
        <p:nvSpPr>
          <p:cNvPr id="209560552" name="Text">
    </p:cNvPr>
          <p:cNvSpPr>
            <a:spLocks noGrp="1"/>
          </p:cNvSpPr>
          <p:nvPr/>
        </p:nvSpPr>
        <p:spPr>
          <a:xfrm rot="0">
            <a:off x="127000" y="190500"/>
            <a:ext cx="5181600" cy="381000"/>
          </a:xfrm>
          <a:prstGeom prst="rect">
            <a:avLst/>
          </a:prstGeom>
        </p:spPr>
        <p:txBody>
          <a:bodyPr anchor="b" bIns="0" lIns="0" rIns="0" rtlCol="0" tIns="0" wrap="square"/>
          <a:lstStyle/>
          <a:p>
            <a:pPr algn="l">
              <a:lnSpc>
                <a:spcPct val="100%"/>
              </a:lnSpc>
              <a:defRPr b="1" sz="15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570">
                <a:latin typeface="맑은 고딕"/>
                <a:ea typeface="맑은 고딕"/>
                <a:cs typeface="맑은 고딕"/>
              </a:rPr>
              <a:t>2. Summary - ①Baynex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97"/>
          <p:cNvSpPr>
            <a:spLocks noChangeArrowheads="1"/>
          </p:cNvSpPr>
          <p:nvPr/>
        </p:nvSpPr>
        <p:spPr bwMode="auto">
          <a:xfrm>
            <a:off x="330140" y="744758"/>
            <a:ext cx="2288130" cy="212814"/>
          </a:xfrm>
          <a:prstGeom prst="rect">
            <a:avLst/>
          </a:prstGeom>
          <a:solidFill>
            <a:srgbClr val="C7CDFD"/>
          </a:solidFill>
          <a:ln>
            <a:noFill/>
          </a:ln>
          <a:effectLst>
            <a:outerShdw algn="ctr" dir="2700000" dist="35921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algn="ctr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defTabSz="806450" indent="-247650" marL="2476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1pPr>
            <a:lvl2pPr defTabSz="806450" indent="-285750" marL="7429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2pPr>
            <a:lvl3pPr defTabSz="806450" indent="-228600" marL="11430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3pPr>
            <a:lvl4pPr defTabSz="806450" indent="-228600" marL="16002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4pPr>
            <a:lvl5pPr defTabSz="806450" indent="-228600" marL="20574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5pPr>
            <a:lvl6pPr defTabSz="806450" eaLnBrk="0" fontAlgn="base" hangingPunct="0" indent="-228600" marL="25146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6pPr>
            <a:lvl7pPr defTabSz="806450" eaLnBrk="0" fontAlgn="base" hangingPunct="0" indent="-228600" marL="29718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7pPr>
            <a:lvl8pPr defTabSz="806450" eaLnBrk="0" fontAlgn="base" hangingPunct="0" indent="-228600" marL="34290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8pPr>
            <a:lvl9pPr defTabSz="806450" eaLnBrk="0" fontAlgn="base" hangingPunct="0" indent="-228600" marL="38862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9pPr>
          </a:lstStyle>
          <a:p>
            <a:pPr eaLnBrk="1" hangingPunct="1">
              <a:spcBef>
                <a:spcPct val="0"/>
              </a:spcBef>
              <a:spcAft>
                <a:spcPct val="0"/>
              </a:spcAft>
            </a:pPr>
            <a:r>
              <a:rPr altLang="en-US" kumimoji="1" lang="ko-KR" sz="1174">
                <a:solidFill>
                  <a:srgbClr val="000000"/>
                </a:solidFill>
              </a:rPr>
              <a:t>금주 업무 실적</a:t>
            </a:r>
            <a:endParaRPr altLang="ko-KR" kumimoji="1" lang="en-US" sz="1174">
              <a:solidFill>
                <a:srgbClr val="000000"/>
              </a:solidFill>
            </a:endParaRPr>
          </a:p>
        </p:txBody>
      </p:sp>
      <p:sp>
        <p:nvSpPr>
          <p:cNvPr id="7171" name="Rectangle 755"/>
          <p:cNvSpPr>
            <a:spLocks noChangeArrowheads="1"/>
          </p:cNvSpPr>
          <p:nvPr/>
        </p:nvSpPr>
        <p:spPr bwMode="auto">
          <a:xfrm>
            <a:off x="268005" y="296321"/>
            <a:ext cx="7667486" cy="3314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algn="ctr" dir="2700000" dist="35921" rotWithShape="0">
                    <a:schemeClr val="bg2"/>
                  </a:outerShdw>
                </a:effectLst>
              </a14:hiddenEffects>
            </a:ext>
          </a:extLst>
        </p:spPr>
        <p:txBody>
          <a:bodyPr anchor="ctr" bIns="44805" lIns="89609" rIns="89609" tIns="44805">
            <a:spAutoFit/>
          </a:bodyPr>
          <a:lstStyle>
            <a:lvl1pPr defTabSz="957263" indent="-381000" marL="381000">
              <a:buChar char="•"/>
              <a:defRPr kumimoji="1" sz="1400">
                <a:solidFill>
                  <a:schemeClr val="tx1"/>
                </a:solidFill>
                <a:latin charset="0" panose="020B0604020202020204" pitchFamily="34" typeface="Arial"/>
                <a:ea charset="-127" panose="020B0609000101010101" pitchFamily="49" typeface="굴림체"/>
                <a:cs charset="0" panose="020B0604020202020204" pitchFamily="34" typeface="Arial"/>
              </a:defRPr>
            </a:lvl1pPr>
            <a:lvl2pPr defTabSz="957263" indent="-285750" marL="742950">
              <a:spcBef>
                <a:spcPct val="20000"/>
              </a:spcBef>
              <a:buChar char="–"/>
              <a:defRPr kumimoji="1" sz="1400">
                <a:solidFill>
                  <a:schemeClr val="tx1"/>
                </a:solidFill>
                <a:latin charset="0" panose="020B0604020202020204" pitchFamily="34" typeface="Arial"/>
                <a:ea charset="-127" panose="020B0609000101010101" pitchFamily="49" typeface="굴림체"/>
                <a:cs charset="0" panose="020B0604020202020204" pitchFamily="34" typeface="Arial"/>
              </a:defRPr>
            </a:lvl2pPr>
            <a:lvl3pPr defTabSz="957263" indent="-228600" marL="1143000">
              <a:spcBef>
                <a:spcPct val="20000"/>
              </a:spcBef>
              <a:buChar char="•"/>
              <a:defRPr kumimoji="1" sz="1400">
                <a:solidFill>
                  <a:schemeClr val="tx1"/>
                </a:solidFill>
                <a:latin charset="0" panose="020B0604020202020204" pitchFamily="34" typeface="Arial"/>
                <a:ea charset="-127" panose="020B0609000101010101" pitchFamily="49" typeface="굴림체"/>
                <a:cs charset="0" panose="020B0604020202020204" pitchFamily="34" typeface="Arial"/>
              </a:defRPr>
            </a:lvl3pPr>
            <a:lvl4pPr defTabSz="957263" indent="-228600" marL="1600200">
              <a:spcBef>
                <a:spcPct val="20000"/>
              </a:spcBef>
              <a:buChar char="–"/>
              <a:defRPr kumimoji="1" sz="1400">
                <a:solidFill>
                  <a:schemeClr val="tx1"/>
                </a:solidFill>
                <a:latin charset="0" panose="020B0604020202020204" pitchFamily="34" typeface="Arial"/>
                <a:ea charset="-127" panose="020B0609000101010101" pitchFamily="49" typeface="굴림체"/>
                <a:cs charset="0" panose="020B0604020202020204" pitchFamily="34" typeface="Arial"/>
              </a:defRPr>
            </a:lvl4pPr>
            <a:lvl5pPr defTabSz="957263" indent="-228600" marL="2057400">
              <a:spcBef>
                <a:spcPct val="20000"/>
              </a:spcBef>
              <a:buChar char="»"/>
              <a:defRPr kumimoji="1" sz="1400">
                <a:solidFill>
                  <a:schemeClr val="tx1"/>
                </a:solidFill>
                <a:latin charset="0" panose="020B0604020202020204" pitchFamily="34" typeface="Arial"/>
                <a:ea charset="-127" panose="020B0609000101010101" pitchFamily="49" typeface="굴림체"/>
                <a:cs charset="0" panose="020B0604020202020204" pitchFamily="34" typeface="Arial"/>
              </a:defRPr>
            </a:lvl5pPr>
            <a:lvl6pPr defTabSz="957263" eaLnBrk="0" fontAlgn="base" hangingPunct="0" indent="-228600" marL="2514600">
              <a:spcBef>
                <a:spcPct val="20000"/>
              </a:spcBef>
              <a:spcAft>
                <a:spcPct val="0"/>
              </a:spcAft>
              <a:buChar char="»"/>
              <a:defRPr kumimoji="1" sz="1400">
                <a:solidFill>
                  <a:schemeClr val="tx1"/>
                </a:solidFill>
                <a:latin charset="0" panose="020B0604020202020204" pitchFamily="34" typeface="Arial"/>
                <a:ea charset="-127" panose="020B0609000101010101" pitchFamily="49" typeface="굴림체"/>
                <a:cs charset="0" panose="020B0604020202020204" pitchFamily="34" typeface="Arial"/>
              </a:defRPr>
            </a:lvl6pPr>
            <a:lvl7pPr defTabSz="957263" eaLnBrk="0" fontAlgn="base" hangingPunct="0" indent="-228600" marL="2971800">
              <a:spcBef>
                <a:spcPct val="20000"/>
              </a:spcBef>
              <a:spcAft>
                <a:spcPct val="0"/>
              </a:spcAft>
              <a:buChar char="»"/>
              <a:defRPr kumimoji="1" sz="1400">
                <a:solidFill>
                  <a:schemeClr val="tx1"/>
                </a:solidFill>
                <a:latin charset="0" panose="020B0604020202020204" pitchFamily="34" typeface="Arial"/>
                <a:ea charset="-127" panose="020B0609000101010101" pitchFamily="49" typeface="굴림체"/>
                <a:cs charset="0" panose="020B0604020202020204" pitchFamily="34" typeface="Arial"/>
              </a:defRPr>
            </a:lvl7pPr>
            <a:lvl8pPr defTabSz="957263" eaLnBrk="0" fontAlgn="base" hangingPunct="0" indent="-228600" marL="3429000">
              <a:spcBef>
                <a:spcPct val="20000"/>
              </a:spcBef>
              <a:spcAft>
                <a:spcPct val="0"/>
              </a:spcAft>
              <a:buChar char="»"/>
              <a:defRPr kumimoji="1" sz="1400">
                <a:solidFill>
                  <a:schemeClr val="tx1"/>
                </a:solidFill>
                <a:latin charset="0" panose="020B0604020202020204" pitchFamily="34" typeface="Arial"/>
                <a:ea charset="-127" panose="020B0609000101010101" pitchFamily="49" typeface="굴림체"/>
                <a:cs charset="0" panose="020B0604020202020204" pitchFamily="34" typeface="Arial"/>
              </a:defRPr>
            </a:lvl8pPr>
            <a:lvl9pPr defTabSz="957263" eaLnBrk="0" fontAlgn="base" hangingPunct="0" indent="-228600" marL="3886200">
              <a:spcBef>
                <a:spcPct val="20000"/>
              </a:spcBef>
              <a:spcAft>
                <a:spcPct val="0"/>
              </a:spcAft>
              <a:buChar char="»"/>
              <a:defRPr kumimoji="1" sz="1400">
                <a:solidFill>
                  <a:schemeClr val="tx1"/>
                </a:solidFill>
                <a:latin charset="0" panose="020B0604020202020204" pitchFamily="34" typeface="Arial"/>
                <a:ea charset="-127" panose="020B0609000101010101" pitchFamily="49" typeface="굴림체"/>
                <a:cs charset="0" panose="020B0604020202020204" pitchFamily="34" typeface="Arial"/>
              </a:defRPr>
            </a:lvl9pPr>
          </a:lstStyle>
          <a:p>
            <a:pPr eaLnBrk="1" hangingPunct="1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altLang="ko-KR" lang="en-US" sz="1566">
                <a:solidFill>
                  <a:srgbClr val="000000"/>
                </a:solidFill>
                <a:latin charset="-127" panose="020B0503020000020004" pitchFamily="50" typeface="맑은 고딕"/>
                <a:ea charset="-127" panose="020B0503020000020004" pitchFamily="50" typeface="맑은 고딕"/>
              </a:rPr>
              <a:t>2. Summary – </a:t>
            </a:r>
            <a:r>
              <a:rPr altLang="en-US" lang="ko-KR" sz="1566">
                <a:solidFill>
                  <a:srgbClr val="000000"/>
                </a:solidFill>
                <a:latin charset="-127" panose="020B0503020000020004" pitchFamily="50" typeface="맑은 고딕"/>
                <a:ea charset="-127" panose="020B0503020000020004" pitchFamily="50" typeface="맑은 고딕"/>
              </a:rPr>
              <a:t>②</a:t>
            </a:r>
            <a:r>
              <a:rPr altLang="ko-KR" lang="en-US" sz="1566">
                <a:latin charset="-127" panose="020B0503020000020004" pitchFamily="50" typeface="맑은 고딕"/>
                <a:ea charset="-127" panose="020B0503020000020004" pitchFamily="50" typeface="맑은 고딕"/>
              </a:rPr>
              <a:t>Quintet</a:t>
            </a:r>
            <a:endParaRPr altLang="en-US" lang="ko-KR" sz="1566">
              <a:latin charset="-127" panose="020B0503020000020004" pitchFamily="50" typeface="맑은 고딕"/>
              <a:ea charset="-127" panose="020B0503020000020004" pitchFamily="50" typeface="맑은 고딕"/>
            </a:endParaRPr>
          </a:p>
        </p:txBody>
      </p:sp>
      <p:sp>
        <p:nvSpPr>
          <p:cNvPr id="7172" name="Rectangle 1382"/>
          <p:cNvSpPr>
            <a:spLocks noChangeArrowheads="1"/>
          </p:cNvSpPr>
          <p:nvPr/>
        </p:nvSpPr>
        <p:spPr bwMode="auto">
          <a:xfrm>
            <a:off x="330140" y="5740430"/>
            <a:ext cx="2311430" cy="223687"/>
          </a:xfrm>
          <a:prstGeom prst="rect">
            <a:avLst/>
          </a:prstGeom>
          <a:solidFill>
            <a:srgbClr val="CCFFCC"/>
          </a:solidFill>
          <a:ln>
            <a:noFill/>
          </a:ln>
          <a:effectLst>
            <a:outerShdw algn="ctr" dir="2700000" dist="35921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algn="ctr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defTabSz="806450" indent="-247650" marL="2476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1pPr>
            <a:lvl2pPr defTabSz="806450" indent="-285750" marL="7429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2pPr>
            <a:lvl3pPr defTabSz="806450" indent="-228600" marL="11430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3pPr>
            <a:lvl4pPr defTabSz="806450" indent="-228600" marL="16002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4pPr>
            <a:lvl5pPr defTabSz="806450" indent="-228600" marL="20574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5pPr>
            <a:lvl6pPr defTabSz="806450" eaLnBrk="0" fontAlgn="base" hangingPunct="0" indent="-228600" marL="25146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6pPr>
            <a:lvl7pPr defTabSz="806450" eaLnBrk="0" fontAlgn="base" hangingPunct="0" indent="-228600" marL="29718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7pPr>
            <a:lvl8pPr defTabSz="806450" eaLnBrk="0" fontAlgn="base" hangingPunct="0" indent="-228600" marL="34290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8pPr>
            <a:lvl9pPr defTabSz="806450" eaLnBrk="0" fontAlgn="base" hangingPunct="0" indent="-228600" marL="38862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9pPr>
          </a:lstStyle>
          <a:p>
            <a:pPr eaLnBrk="1" hangingPunct="1">
              <a:spcBef>
                <a:spcPct val="0"/>
              </a:spcBef>
              <a:spcAft>
                <a:spcPct val="0"/>
              </a:spcAft>
            </a:pPr>
            <a:r>
              <a:rPr altLang="ko-KR" kumimoji="1" lang="en-US" sz="1174">
                <a:solidFill>
                  <a:srgbClr val="000000"/>
                </a:solidFill>
              </a:rPr>
              <a:t>ISSUE</a:t>
            </a:r>
            <a:r>
              <a:rPr altLang="en-US" kumimoji="1" lang="ko-KR" sz="1174">
                <a:solidFill>
                  <a:srgbClr val="000000"/>
                </a:solidFill>
              </a:rPr>
              <a:t> 및 공지사항</a:t>
            </a:r>
            <a:endParaRPr altLang="ko-KR" kumimoji="1" lang="en-US" sz="1174">
              <a:solidFill>
                <a:srgbClr val="000000"/>
              </a:solidFill>
            </a:endParaRPr>
          </a:p>
        </p:txBody>
      </p:sp>
      <p:graphicFrame>
        <p:nvGraphicFramePr>
          <p:cNvPr id="20" name="Group 3691"/>
          <p:cNvGraphicFramePr>
            <a:graphicFrameLocks noGrp="1"/>
          </p:cNvGraphicFramePr>
          <p:nvPr/>
        </p:nvGraphicFramePr>
        <p:xfrm>
          <a:off x="468391" y="5964118"/>
          <a:ext cx="8809220" cy="568537"/>
        </p:xfrm>
        <a:graphic>
          <a:graphicData uri="http://schemas.openxmlformats.org/drawingml/2006/table">
            <a:tbl>
              <a:tblPr/>
              <a:tblGrid>
                <a:gridCol w="88092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568537">
                <a:tc>
                  <a:txBody>
                    <a:bodyPr/>
                    <a:lstStyle/>
                    <a:p>
                      <a:pPr algn="l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charset="0" panose="020B0604020202020204" pitchFamily="34" typeface="Arial"/>
                        <a:buNone/>
                        <a:tabLst/>
                      </a:pPr>
                      <a:endParaRPr altLang="ko-KR" b="0" baseline="0" cap="none" dirty="0" i="0" kumimoji="1" lang="en-US" normalizeH="0" smtClean="0" strike="noStrike" sz="10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typeface="Arial"/>
                      </a:endParaRPr>
                    </a:p>
                  </a:txBody>
                  <a:tcPr anchor="ctr" horzOverflow="overflow" marB="45823" marL="88066" marR="88066" marT="45823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pSp>
        <p:nvGrpSpPr>
          <p:cNvPr id="7179" name="Group 240"/>
          <p:cNvGrpSpPr>
            <a:grpSpLocks/>
          </p:cNvGrpSpPr>
          <p:nvPr/>
        </p:nvGrpSpPr>
        <p:grpSpPr bwMode="auto">
          <a:xfrm>
            <a:off x="8218216" y="73699"/>
            <a:ext cx="1059407" cy="591838"/>
            <a:chOff x="5222" y="377"/>
            <a:chExt cx="682" cy="381"/>
          </a:xfrm>
        </p:grpSpPr>
        <p:sp>
          <p:nvSpPr>
            <p:cNvPr id="7236" name="Rectangle 94"/>
            <p:cNvSpPr>
              <a:spLocks noChangeArrowheads="1"/>
            </p:cNvSpPr>
            <p:nvPr/>
          </p:nvSpPr>
          <p:spPr bwMode="auto">
            <a:xfrm>
              <a:off x="5222" y="406"/>
              <a:ext cx="144" cy="96"/>
            </a:xfrm>
            <a:prstGeom prst="rect">
              <a:avLst/>
            </a:prstGeom>
            <a:solidFill>
              <a:srgbClr val="00FF00"/>
            </a:solidFill>
            <a:ln>
              <a:noFill/>
            </a:ln>
            <a:effectLst>
              <a:prstShdw dir="2700000" dist="17961" prst="shdw17">
                <a:srgbClr val="009900"/>
              </a:prstShdw>
            </a:effectLst>
            <a:extLst>
              <a:ext uri="{91240B29-F687-4F45-9708-019B960494DF}">
                <a14:hiddenLine xmlns:a14="http://schemas.microsoft.com/office/drawing/2010/main" algn="ctr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 lIns="0" rIns="0" wrap="none"/>
            <a:lstStyle>
              <a:lvl1pPr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1pPr>
              <a:lvl2pPr indent="-285750" marL="742950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2pPr>
              <a:lvl3pPr indent="-228600" marL="1143000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3pPr>
              <a:lvl4pPr indent="-228600" marL="1600200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4pPr>
              <a:lvl5pPr indent="-228600" marL="2057400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5pPr>
              <a:lvl6pPr eaLnBrk="0" fontAlgn="base" hangingPunct="0" indent="-228600" marL="2514600">
                <a:spcBef>
                  <a:spcPct val="0"/>
                </a:spcBef>
                <a:spcAft>
                  <a:spcPct val="0"/>
                </a:spcAft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6pPr>
              <a:lvl7pPr eaLnBrk="0" fontAlgn="base" hangingPunct="0" indent="-228600" marL="2971800">
                <a:spcBef>
                  <a:spcPct val="0"/>
                </a:spcBef>
                <a:spcAft>
                  <a:spcPct val="0"/>
                </a:spcAft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7pPr>
              <a:lvl8pPr eaLnBrk="0" fontAlgn="base" hangingPunct="0" indent="-228600" marL="3429000">
                <a:spcBef>
                  <a:spcPct val="0"/>
                </a:spcBef>
                <a:spcAft>
                  <a:spcPct val="0"/>
                </a:spcAft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8pPr>
              <a:lvl9pPr eaLnBrk="0" fontAlgn="base" hangingPunct="0" indent="-228600" marL="3886200">
                <a:spcBef>
                  <a:spcPct val="0"/>
                </a:spcBef>
                <a:spcAft>
                  <a:spcPct val="0"/>
                </a:spcAft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9pPr>
            </a:lstStyle>
            <a:p>
              <a:pPr algn="r">
                <a:spcBef>
                  <a:spcPct val="0"/>
                </a:spcBef>
                <a:spcAft>
                  <a:spcPct val="0"/>
                </a:spcAft>
              </a:pPr>
              <a:endParaRPr altLang="en-US" b="0" lang="ko-KR" sz="783">
                <a:solidFill>
                  <a:srgbClr val="FF6600"/>
                </a:solidFill>
              </a:endParaRPr>
            </a:p>
          </p:txBody>
        </p:sp>
        <p:sp>
          <p:nvSpPr>
            <p:cNvPr id="7237" name="Rectangle 95"/>
            <p:cNvSpPr>
              <a:spLocks noChangeArrowheads="1"/>
            </p:cNvSpPr>
            <p:nvPr/>
          </p:nvSpPr>
          <p:spPr bwMode="auto">
            <a:xfrm>
              <a:off x="5222" y="518"/>
              <a:ext cx="144" cy="96"/>
            </a:xfrm>
            <a:prstGeom prst="rect">
              <a:avLst/>
            </a:prstGeom>
            <a:solidFill>
              <a:srgbClr val="FFFF00"/>
            </a:solidFill>
            <a:ln>
              <a:noFill/>
            </a:ln>
            <a:effectLst>
              <a:prstShdw dir="2700000" dist="17961" prst="shdw17">
                <a:srgbClr val="999900"/>
              </a:prstShdw>
            </a:effectLst>
            <a:extLst>
              <a:ext uri="{91240B29-F687-4F45-9708-019B960494DF}">
                <a14:hiddenLine xmlns:a14="http://schemas.microsoft.com/office/drawing/2010/main" algn="ctr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 lIns="0" rIns="0" wrap="none"/>
            <a:lstStyle>
              <a:lvl1pPr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1pPr>
              <a:lvl2pPr indent="-285750" marL="742950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2pPr>
              <a:lvl3pPr indent="-228600" marL="1143000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3pPr>
              <a:lvl4pPr indent="-228600" marL="1600200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4pPr>
              <a:lvl5pPr indent="-228600" marL="2057400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5pPr>
              <a:lvl6pPr eaLnBrk="0" fontAlgn="base" hangingPunct="0" indent="-228600" marL="2514600">
                <a:spcBef>
                  <a:spcPct val="0"/>
                </a:spcBef>
                <a:spcAft>
                  <a:spcPct val="0"/>
                </a:spcAft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6pPr>
              <a:lvl7pPr eaLnBrk="0" fontAlgn="base" hangingPunct="0" indent="-228600" marL="2971800">
                <a:spcBef>
                  <a:spcPct val="0"/>
                </a:spcBef>
                <a:spcAft>
                  <a:spcPct val="0"/>
                </a:spcAft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7pPr>
              <a:lvl8pPr eaLnBrk="0" fontAlgn="base" hangingPunct="0" indent="-228600" marL="3429000">
                <a:spcBef>
                  <a:spcPct val="0"/>
                </a:spcBef>
                <a:spcAft>
                  <a:spcPct val="0"/>
                </a:spcAft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8pPr>
              <a:lvl9pPr eaLnBrk="0" fontAlgn="base" hangingPunct="0" indent="-228600" marL="3886200">
                <a:spcBef>
                  <a:spcPct val="0"/>
                </a:spcBef>
                <a:spcAft>
                  <a:spcPct val="0"/>
                </a:spcAft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9pPr>
            </a:lstStyle>
            <a:p>
              <a:pPr algn="r">
                <a:spcBef>
                  <a:spcPct val="0"/>
                </a:spcBef>
                <a:spcAft>
                  <a:spcPct val="0"/>
                </a:spcAft>
              </a:pPr>
              <a:endParaRPr altLang="en-US" b="0" lang="ko-KR" sz="783">
                <a:solidFill>
                  <a:srgbClr val="FF6600"/>
                </a:solidFill>
              </a:endParaRPr>
            </a:p>
          </p:txBody>
        </p:sp>
        <p:sp>
          <p:nvSpPr>
            <p:cNvPr id="7238" name="Rectangle 96"/>
            <p:cNvSpPr>
              <a:spLocks noChangeArrowheads="1"/>
            </p:cNvSpPr>
            <p:nvPr/>
          </p:nvSpPr>
          <p:spPr bwMode="auto">
            <a:xfrm>
              <a:off x="5222" y="622"/>
              <a:ext cx="144" cy="96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>
              <a:prstShdw dir="2700000" dist="17961" prst="shdw17">
                <a:srgbClr val="990000"/>
              </a:prstShdw>
            </a:effectLst>
            <a:extLst>
              <a:ext uri="{91240B29-F687-4F45-9708-019B960494DF}">
                <a14:hiddenLine xmlns:a14="http://schemas.microsoft.com/office/drawing/2010/main" algn="ctr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 lIns="0" rIns="0" wrap="none"/>
            <a:lstStyle>
              <a:lvl1pPr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1pPr>
              <a:lvl2pPr indent="-285750" marL="742950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2pPr>
              <a:lvl3pPr indent="-228600" marL="1143000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3pPr>
              <a:lvl4pPr indent="-228600" marL="1600200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4pPr>
              <a:lvl5pPr indent="-228600" marL="2057400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5pPr>
              <a:lvl6pPr eaLnBrk="0" fontAlgn="base" hangingPunct="0" indent="-228600" marL="2514600">
                <a:spcBef>
                  <a:spcPct val="0"/>
                </a:spcBef>
                <a:spcAft>
                  <a:spcPct val="0"/>
                </a:spcAft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6pPr>
              <a:lvl7pPr eaLnBrk="0" fontAlgn="base" hangingPunct="0" indent="-228600" marL="2971800">
                <a:spcBef>
                  <a:spcPct val="0"/>
                </a:spcBef>
                <a:spcAft>
                  <a:spcPct val="0"/>
                </a:spcAft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7pPr>
              <a:lvl8pPr eaLnBrk="0" fontAlgn="base" hangingPunct="0" indent="-228600" marL="3429000">
                <a:spcBef>
                  <a:spcPct val="0"/>
                </a:spcBef>
                <a:spcAft>
                  <a:spcPct val="0"/>
                </a:spcAft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8pPr>
              <a:lvl9pPr eaLnBrk="0" fontAlgn="base" hangingPunct="0" indent="-228600" marL="3886200">
                <a:spcBef>
                  <a:spcPct val="0"/>
                </a:spcBef>
                <a:spcAft>
                  <a:spcPct val="0"/>
                </a:spcAft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9pPr>
            </a:lstStyle>
            <a:p>
              <a:pPr algn="r">
                <a:spcBef>
                  <a:spcPct val="0"/>
                </a:spcBef>
                <a:spcAft>
                  <a:spcPct val="0"/>
                </a:spcAft>
              </a:pPr>
              <a:endParaRPr altLang="en-US" b="0" lang="ko-KR" sz="783">
                <a:solidFill>
                  <a:srgbClr val="FF6600"/>
                </a:solidFill>
              </a:endParaRPr>
            </a:p>
          </p:txBody>
        </p:sp>
        <p:sp>
          <p:nvSpPr>
            <p:cNvPr id="29" name="Text Box 97"/>
            <p:cNvSpPr txBox="1">
              <a:spLocks noChangeArrowheads="1"/>
            </p:cNvSpPr>
            <p:nvPr/>
          </p:nvSpPr>
          <p:spPr bwMode="auto">
            <a:xfrm>
              <a:off x="5395" y="377"/>
              <a:ext cx="207" cy="156"/>
            </a:xfrm>
            <a:prstGeom prst="rect">
              <a:avLst/>
            </a:prstGeom>
            <a:noFill/>
            <a:ln algn="ctr" w="9525">
              <a:noFill/>
              <a:miter lim="800000"/>
              <a:headEnd/>
              <a:tailEnd/>
            </a:ln>
            <a:effectLst>
              <a:prstShdw dir="2700000" dist="17961" prst="shdw17">
                <a:schemeClr val="accent1">
                  <a:gamma/>
                  <a:shade val="60000"/>
                  <a:invGamma/>
                </a:schemeClr>
              </a:prstShdw>
            </a:effectLst>
          </p:spPr>
          <p:txBody>
            <a:bodyPr lIns="0" rIns="0" wrap="none">
              <a:spAutoFit/>
            </a:bodyPr>
            <a:lstStyle/>
            <a:p>
              <a:pPr algn="ctr" defTabSz="842035" eaLnBrk="1" hangingPunct="1" indent="-177107" marL="177107">
                <a:spcBef>
                  <a:spcPct val="40000"/>
                </a:spcBef>
                <a:spcAft>
                  <a:spcPct val="0"/>
                </a:spcAft>
                <a:defRPr/>
              </a:pPr>
              <a:r>
                <a:rPr altLang="ko-KR" b="0" lang="en-US" sz="979">
                  <a:solidFill>
                    <a:srgbClr val="000000"/>
                  </a:solidFill>
                </a:rPr>
                <a:t>: </a:t>
              </a:r>
              <a:r>
                <a:rPr altLang="en-US" b="0" lang="ko-KR" sz="979">
                  <a:solidFill>
                    <a:srgbClr val="000000"/>
                  </a:solidFill>
                </a:rPr>
                <a:t>완료</a:t>
              </a:r>
              <a:endParaRPr altLang="ko-KR" b="0" lang="en-US" sz="979">
                <a:solidFill>
                  <a:srgbClr val="000000"/>
                </a:solidFill>
              </a:endParaRPr>
            </a:p>
          </p:txBody>
        </p:sp>
        <p:sp>
          <p:nvSpPr>
            <p:cNvPr id="30" name="Text Box 98"/>
            <p:cNvSpPr txBox="1">
              <a:spLocks noChangeArrowheads="1"/>
            </p:cNvSpPr>
            <p:nvPr/>
          </p:nvSpPr>
          <p:spPr bwMode="auto">
            <a:xfrm>
              <a:off x="5397" y="489"/>
              <a:ext cx="288" cy="156"/>
            </a:xfrm>
            <a:prstGeom prst="rect">
              <a:avLst/>
            </a:prstGeom>
            <a:noFill/>
            <a:ln algn="ctr" w="9525">
              <a:noFill/>
              <a:miter lim="800000"/>
              <a:headEnd/>
              <a:tailEnd/>
            </a:ln>
            <a:effectLst>
              <a:prstShdw dir="2700000" dist="17961" prst="shdw17">
                <a:schemeClr val="accent1">
                  <a:gamma/>
                  <a:shade val="60000"/>
                  <a:invGamma/>
                </a:schemeClr>
              </a:prstShdw>
            </a:effectLst>
          </p:spPr>
          <p:txBody>
            <a:bodyPr lIns="0" rIns="0" wrap="none">
              <a:spAutoFit/>
            </a:bodyPr>
            <a:lstStyle/>
            <a:p>
              <a:pPr algn="ctr" defTabSz="842035" eaLnBrk="1" hangingPunct="1" indent="-177107" marL="177107">
                <a:spcBef>
                  <a:spcPct val="40000"/>
                </a:spcBef>
                <a:spcAft>
                  <a:spcPct val="0"/>
                </a:spcAft>
                <a:defRPr/>
              </a:pPr>
              <a:r>
                <a:rPr altLang="ko-KR" b="0" lang="en-US" sz="979">
                  <a:solidFill>
                    <a:srgbClr val="000000"/>
                  </a:solidFill>
                </a:rPr>
                <a:t>: </a:t>
              </a:r>
              <a:r>
                <a:rPr altLang="en-US" b="0" lang="ko-KR" sz="979">
                  <a:solidFill>
                    <a:srgbClr val="000000"/>
                  </a:solidFill>
                </a:rPr>
                <a:t>진행중</a:t>
              </a:r>
              <a:endParaRPr altLang="ko-KR" b="0" lang="en-US" sz="979">
                <a:solidFill>
                  <a:srgbClr val="000000"/>
                </a:solidFill>
              </a:endParaRPr>
            </a:p>
          </p:txBody>
        </p:sp>
        <p:sp>
          <p:nvSpPr>
            <p:cNvPr id="31" name="Text Box 99"/>
            <p:cNvSpPr txBox="1">
              <a:spLocks noChangeArrowheads="1"/>
            </p:cNvSpPr>
            <p:nvPr/>
          </p:nvSpPr>
          <p:spPr bwMode="auto">
            <a:xfrm>
              <a:off x="5406" y="602"/>
              <a:ext cx="498" cy="156"/>
            </a:xfrm>
            <a:prstGeom prst="rect">
              <a:avLst/>
            </a:prstGeom>
            <a:noFill/>
            <a:ln algn="ctr" w="9525">
              <a:noFill/>
              <a:miter lim="800000"/>
              <a:headEnd/>
              <a:tailEnd/>
            </a:ln>
            <a:effectLst>
              <a:prstShdw dir="2700000" dist="17961" prst="shdw17">
                <a:schemeClr val="accent1">
                  <a:gamma/>
                  <a:shade val="60000"/>
                  <a:invGamma/>
                </a:schemeClr>
              </a:prstShdw>
            </a:effectLst>
          </p:spPr>
          <p:txBody>
            <a:bodyPr lIns="0" rIns="0" wrap="none">
              <a:spAutoFit/>
            </a:bodyPr>
            <a:lstStyle/>
            <a:p>
              <a:pPr algn="ctr" defTabSz="842035" eaLnBrk="1" hangingPunct="1" indent="-177107" marL="177107">
                <a:spcBef>
                  <a:spcPct val="40000"/>
                </a:spcBef>
                <a:spcAft>
                  <a:spcPct val="0"/>
                </a:spcAft>
                <a:defRPr/>
              </a:pPr>
              <a:r>
                <a:rPr altLang="ko-KR" b="0" lang="en-US" sz="979">
                  <a:solidFill>
                    <a:srgbClr val="000000"/>
                  </a:solidFill>
                </a:rPr>
                <a:t>: </a:t>
              </a:r>
              <a:r>
                <a:rPr altLang="en-US" b="0" lang="ko-KR" sz="979">
                  <a:solidFill>
                    <a:srgbClr val="000000"/>
                  </a:solidFill>
                </a:rPr>
                <a:t>미완료</a:t>
              </a:r>
              <a:r>
                <a:rPr altLang="ko-KR" b="0" lang="en-US" sz="979">
                  <a:solidFill>
                    <a:srgbClr val="000000"/>
                  </a:solidFill>
                </a:rPr>
                <a:t>(</a:t>
              </a:r>
              <a:r>
                <a:rPr altLang="en-US" b="0" lang="ko-KR" sz="979">
                  <a:solidFill>
                    <a:srgbClr val="000000"/>
                  </a:solidFill>
                </a:rPr>
                <a:t>문제</a:t>
              </a:r>
              <a:r>
                <a:rPr altLang="ko-KR" b="0" lang="en-US" sz="979">
                  <a:solidFill>
                    <a:srgbClr val="000000"/>
                  </a:solidFill>
                </a:rPr>
                <a:t>)</a:t>
              </a:r>
            </a:p>
          </p:txBody>
        </p:sp>
      </p:grpSp>
      <p:graphicFrame>
        <p:nvGraphicFramePr>
          <p:cNvPr id="15" name="Group 3690"/>
          <p:cNvGraphicFramePr>
            <a:graphicFrameLocks noGrp="1"/>
          </p:cNvGraphicFramePr>
          <p:nvPr/>
        </p:nvGraphicFramePr>
        <p:xfrm>
          <a:off x="479264" y="1043008"/>
          <a:ext cx="8798347" cy="2816279"/>
        </p:xfrm>
        <a:graphic>
          <a:graphicData uri="http://schemas.openxmlformats.org/drawingml/2006/table">
            <a:tbl>
              <a:tblPr/>
              <a:tblGrid>
                <a:gridCol w="82329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4694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710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9649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193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93861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619605">
                <a:tc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11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구분 </a:t>
                      </a:r>
                    </a:p>
                  </a:txBody>
                  <a:tcPr anchor="ctr" horzOverflow="overflow" marB="45817" marL="88066" marR="88066" marT="45817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11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업무 내용</a:t>
                      </a:r>
                    </a:p>
                  </a:txBody>
                  <a:tcPr anchor="ctr" horzOverflow="overflow" marB="45817" marL="88066" marR="88066" marT="45817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11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완료일</a:t>
                      </a:r>
                    </a:p>
                  </a:txBody>
                  <a:tcPr anchor="ctr" horzOverflow="overflow" marB="45817" marL="88066" marR="88066" marT="4581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err="1" i="0" kumimoji="1" lang="ko-KR" normalizeH="0" smtClean="0" strike="noStrike" sz="11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진행율</a:t>
                      </a:r>
                      <a:r>
                        <a:rPr altLang="en-US" b="0" baseline="0" cap="none" dirty="0" i="0" kumimoji="1" lang="ko-KR" normalizeH="0" smtClean="0" strike="noStrike" sz="11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</a:t>
                      </a:r>
                    </a:p>
                  </a:txBody>
                  <a:tcPr anchor="ctr" horzOverflow="overflow" marB="45817" marL="88066" marR="88066" marT="45817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11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상태</a:t>
                      </a:r>
                    </a:p>
                  </a:txBody>
                  <a:tcPr anchor="ctr" horzOverflow="overflow" marB="45817" marL="88066" marR="88066" marT="45817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11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비고</a:t>
                      </a:r>
                      <a:endParaRPr altLang="ko-KR" b="0" baseline="0" cap="none" dirty="0" i="0" kumimoji="1" lang="en-US" normalizeH="0" smtClean="0" strike="noStrike" sz="11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817" marL="88066" marR="88066" marT="45817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33753">
                <a:tc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10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CRM/BI</a:t>
                      </a:r>
                    </a:p>
                  </a:txBody>
                  <a:tcPr anchor="ctr" horzOverflow="overflow" marB="45817" marL="88066" marR="88066" marT="45817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en-US" b="0" baseline="0" dirty="0" err="1" lang="ko-KR" smtClean="0" sz="10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키오스크</a:t>
                      </a:r>
                      <a:r>
                        <a:rPr altLang="en-US" b="0" baseline="0" dirty="0" lang="ko-KR" smtClean="0" sz="10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즉발카드 등록 연동</a:t>
                      </a:r>
                      <a:endParaRPr altLang="ko-KR" b="0" baseline="0" dirty="0" lang="en-US" smtClean="0" sz="10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  <a:p>
                      <a:pPr algn="l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en-US" b="0" baseline="0" dirty="0" lang="ko-KR" smtClean="0" sz="10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홈페이지 중복로그인 제한 개발</a:t>
                      </a:r>
                      <a:endParaRPr altLang="ko-KR" b="0" baseline="0" dirty="0" lang="en-US" smtClean="0" sz="10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  <a:p>
                      <a:pPr algn="l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en-US" b="0" baseline="0" dirty="0" err="1" lang="ko-KR" smtClean="0" sz="10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현대차</a:t>
                      </a:r>
                      <a:r>
                        <a:rPr altLang="en-US" b="0" baseline="0" dirty="0" lang="ko-KR" smtClean="0" sz="10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</a:t>
                      </a:r>
                      <a:r>
                        <a:rPr altLang="en-US" b="0" baseline="0" dirty="0" err="1" lang="ko-KR" smtClean="0" sz="10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인카페이</a:t>
                      </a:r>
                      <a:r>
                        <a:rPr altLang="en-US" b="0" baseline="0" dirty="0" lang="ko-KR" smtClean="0" sz="10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연동</a:t>
                      </a:r>
                      <a:r>
                        <a:rPr altLang="ko-KR" b="0" baseline="0" dirty="0" lang="en-US" smtClean="0" sz="10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_</a:t>
                      </a:r>
                      <a:r>
                        <a:rPr altLang="en-US" b="0" baseline="0" dirty="0" lang="ko-KR" smtClean="0" sz="10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테스트</a:t>
                      </a:r>
                      <a:endParaRPr altLang="ko-KR" b="0" baseline="0" dirty="0" lang="en-US" smtClean="0" sz="10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  <a:p>
                      <a:pPr algn="l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en-US" b="0" baseline="0" dirty="0" lang="ko-KR" smtClean="0" sz="10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마케팅 플랫폼 필드테스트 지원</a:t>
                      </a:r>
                      <a:endParaRPr altLang="ko-KR" b="0" baseline="0" dirty="0" lang="en-US" smtClean="0" sz="10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  <a:p>
                      <a:pPr algn="l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en-US" b="0" baseline="0" dirty="0" err="1" lang="ko-KR" smtClean="0" sz="10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모바일</a:t>
                      </a:r>
                      <a:r>
                        <a:rPr altLang="en-US" b="0" baseline="0" dirty="0" lang="ko-KR" smtClean="0" sz="10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상품권 제휴관련 성능저하 개선</a:t>
                      </a:r>
                      <a:endParaRPr altLang="ko-KR" b="0" baseline="0" dirty="0" lang="en-US" smtClean="0" sz="10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anchor="ctr" horzOverflow="overflow" marB="45786" marL="88066" marR="88066" marT="45786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ko-KR" b="0" baseline="0" cap="none" dirty="0" i="0" kumimoji="1" lang="en-US" normalizeH="0" smtClean="0" strike="noStrike" sz="10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ko-KR" b="0" baseline="0" cap="none" dirty="0" i="0" kumimoji="1" lang="en-US" normalizeH="0" smtClean="0" strike="noStrike" sz="10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ko-KR" b="0" baseline="0" cap="none" dirty="0" i="0" kumimoji="1" lang="en-US" normalizeH="0" smtClean="0" strike="noStrike" sz="10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ko-KR" b="0" baseline="0" cap="none" dirty="0" i="0" kumimoji="1" lang="en-US" normalizeH="0" smtClean="0" strike="noStrike" sz="10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anchor="ctr" horzOverflow="overflow" marB="45786" marL="88066" marR="88066" marT="45786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cap="none" dirty="0" i="0" kumimoji="1" lang="en-US" normalizeH="0" smtClean="0" strike="noStrike" sz="10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50%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cap="none" dirty="0" i="0" kumimoji="1" lang="en-US" normalizeH="0" smtClean="0" strike="noStrike" sz="10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100%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cap="none" dirty="0" i="0" kumimoji="1" lang="en-US" normalizeH="0" smtClean="0" strike="noStrike" sz="10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90%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cap="none" dirty="0" i="0" kumimoji="1" lang="en-US" normalizeH="0" smtClean="0" strike="noStrike" sz="10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100%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cap="none" dirty="0" i="0" kumimoji="1" lang="en-US" normalizeH="0" smtClean="0" strike="noStrike" sz="10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70%</a:t>
                      </a:r>
                    </a:p>
                  </a:txBody>
                  <a:tcPr anchor="ctr" horzOverflow="overflow" marB="45786" marL="88066" marR="88066" marT="45786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mtClean="0" strike="noStrike" sz="1000" u="none">
                        <a:ln>
                          <a:noFill/>
                        </a:ln>
                        <a:solidFill>
                          <a:srgbClr val="FFFF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</a:txBody>
                  <a:tcPr anchor="ctr" horzOverflow="overflow" marB="45817" marL="88066" marR="88066" marT="45817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ko-KR" b="0" baseline="0" cap="none" dirty="0" i="0" kumimoji="1" lang="en-US" normalizeH="0" smtClean="0" strike="noStrike" sz="10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  <a:p>
                      <a:pPr algn="l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ko-KR" b="0" baseline="0" cap="none" dirty="0" i="0" kumimoji="1" lang="en-US" normalizeH="0" smtClean="0" strike="noStrike" sz="10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  <a:p>
                      <a:pPr algn="l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ko-KR" b="0" baseline="0" cap="none" dirty="0" i="0" kumimoji="1" lang="en-US" normalizeH="0" smtClean="0" strike="noStrike" sz="10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  <a:p>
                      <a:pPr algn="l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ko-KR" b="0" baseline="0" cap="none" dirty="0" i="0" kumimoji="1" lang="en-US" normalizeH="0" smtClean="0" strike="noStrike" sz="10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anchor="ctr" horzOverflow="overflow" marB="45817" marL="88066" marR="88066" marT="45817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62921">
                <a:tc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10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VOC/PRM</a:t>
                      </a:r>
                    </a:p>
                  </a:txBody>
                  <a:tcPr anchor="ctr" horzOverflow="overflow" marB="45817" marL="88066" marR="88066" marT="45817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cap="none" dirty="0" i="0" kern="1200" kumimoji="1" lang="en-US" normalizeH="0" smtClean="0" strike="noStrike" sz="10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VOC Summary </a:t>
                      </a:r>
                      <a:r>
                        <a:rPr altLang="en-US" b="0" baseline="0" cap="none" dirty="0" i="0" kern="1200" kumimoji="1" lang="ko-KR" normalizeH="0" smtClean="0" strike="noStrike" sz="10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발송 </a:t>
                      </a:r>
                      <a:r>
                        <a:rPr altLang="en-US" b="0" baseline="0" cap="none" dirty="0" err="1" i="0" kern="1200" kumimoji="1" lang="ko-KR" normalizeH="0" smtClean="0" strike="noStrike" sz="10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로직</a:t>
                      </a:r>
                      <a:r>
                        <a:rPr altLang="en-US" b="0" baseline="0" cap="none" dirty="0" i="0" kern="1200" kumimoji="1" lang="ko-KR" normalizeH="0" smtClean="0" strike="noStrike" sz="10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 변경</a:t>
                      </a:r>
                    </a:p>
                  </a:txBody>
                  <a:tcPr anchor="ctr" horzOverflow="overflow" marB="45783" marL="88066" marR="88066" marT="45783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10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1/15</a:t>
                      </a:r>
                    </a:p>
                  </a:txBody>
                  <a:tcPr anchor="ctr" horzOverflow="overflow" marB="45783" marL="88066" marR="88066" marT="45783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10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100%</a:t>
                      </a:r>
                    </a:p>
                  </a:txBody>
                  <a:tcPr anchor="ctr" horzOverflow="overflow" marB="45786" marL="88066" marR="88066" marT="45786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mtClean="0" strike="noStrike" sz="1000" u="none">
                        <a:ln>
                          <a:noFill/>
                        </a:ln>
                        <a:solidFill>
                          <a:srgbClr val="FFFF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</a:txBody>
                  <a:tcPr anchor="ctr" horzOverflow="overflow" marB="45817" marL="88066" marR="88066" marT="45817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ko-KR" b="0" baseline="0" cap="none" dirty="0" i="0" kumimoji="1" lang="en-US" normalizeH="0" smtClean="0" strike="noStrike" sz="10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anchor="ctr" horzOverflow="overflow" marB="45817" marL="88066" marR="88066" marT="45817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7211" name="Rectangle 3082"/>
          <p:cNvSpPr>
            <a:spLocks noChangeArrowheads="1"/>
          </p:cNvSpPr>
          <p:nvPr/>
        </p:nvSpPr>
        <p:spPr bwMode="auto">
          <a:xfrm>
            <a:off x="330140" y="3950936"/>
            <a:ext cx="2311430" cy="245434"/>
          </a:xfrm>
          <a:prstGeom prst="rect">
            <a:avLst/>
          </a:prstGeom>
          <a:solidFill>
            <a:srgbClr val="FF9900"/>
          </a:solidFill>
          <a:ln>
            <a:noFill/>
          </a:ln>
          <a:effectLst>
            <a:outerShdw algn="ctr" dir="2700000" dist="35921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algn="ctr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defTabSz="806450" indent="-247650" marL="2476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1pPr>
            <a:lvl2pPr defTabSz="806450" indent="-285750" marL="7429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2pPr>
            <a:lvl3pPr defTabSz="806450" indent="-228600" marL="11430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3pPr>
            <a:lvl4pPr defTabSz="806450" indent="-228600" marL="16002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4pPr>
            <a:lvl5pPr defTabSz="806450" indent="-228600" marL="20574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5pPr>
            <a:lvl6pPr defTabSz="806450" eaLnBrk="0" fontAlgn="base" hangingPunct="0" indent="-228600" marL="25146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6pPr>
            <a:lvl7pPr defTabSz="806450" eaLnBrk="0" fontAlgn="base" hangingPunct="0" indent="-228600" marL="29718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7pPr>
            <a:lvl8pPr defTabSz="806450" eaLnBrk="0" fontAlgn="base" hangingPunct="0" indent="-228600" marL="34290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8pPr>
            <a:lvl9pPr defTabSz="806450" eaLnBrk="0" fontAlgn="base" hangingPunct="0" indent="-228600" marL="38862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9pPr>
          </a:lstStyle>
          <a:p>
            <a:pPr eaLnBrk="1" hangingPunct="1">
              <a:spcBef>
                <a:spcPct val="0"/>
              </a:spcBef>
              <a:spcAft>
                <a:spcPct val="0"/>
              </a:spcAft>
            </a:pPr>
            <a:r>
              <a:rPr altLang="en-US" kumimoji="1" lang="ko-KR" sz="1174">
                <a:solidFill>
                  <a:srgbClr val="000000"/>
                </a:solidFill>
              </a:rPr>
              <a:t>차주 업무 계획</a:t>
            </a:r>
            <a:endParaRPr altLang="ko-KR" kumimoji="1" lang="en-US" sz="1174">
              <a:solidFill>
                <a:srgbClr val="000000"/>
              </a:solidFill>
            </a:endParaRPr>
          </a:p>
        </p:txBody>
      </p:sp>
      <p:graphicFrame>
        <p:nvGraphicFramePr>
          <p:cNvPr id="16" name="Group 3690"/>
          <p:cNvGraphicFramePr>
            <a:graphicFrameLocks noGrp="1"/>
          </p:cNvGraphicFramePr>
          <p:nvPr/>
        </p:nvGraphicFramePr>
        <p:xfrm>
          <a:off x="479264" y="4249185"/>
          <a:ext cx="8798347" cy="1143651"/>
        </p:xfrm>
        <a:graphic>
          <a:graphicData uri="http://schemas.openxmlformats.org/drawingml/2006/table">
            <a:tbl>
              <a:tblPr/>
              <a:tblGrid>
                <a:gridCol w="82018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263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710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2807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57202">
                <a:tc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11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구분</a:t>
                      </a:r>
                    </a:p>
                  </a:txBody>
                  <a:tcPr anchor="ctr" horzOverflow="overflow" marB="45652" marL="88066" marR="88066" marT="45652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11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업무 내용</a:t>
                      </a:r>
                    </a:p>
                  </a:txBody>
                  <a:tcPr anchor="ctr" horzOverflow="overflow" marB="45652" marL="88066" marR="88066" marT="45652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11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완료일</a:t>
                      </a:r>
                    </a:p>
                  </a:txBody>
                  <a:tcPr anchor="ctr" horzOverflow="overflow" marB="45652" marL="88066" marR="88066" marT="4565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11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비고</a:t>
                      </a:r>
                      <a:endParaRPr altLang="ko-KR" b="0" baseline="0" cap="none" dirty="0" i="0" kumimoji="1" lang="en-US" normalizeH="0" smtClean="0" strike="noStrike" sz="11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52" marL="88066" marR="88066" marT="45652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8703">
                <a:tc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10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CRM</a:t>
                      </a:r>
                    </a:p>
                  </a:txBody>
                  <a:tcPr anchor="ctr" horzOverflow="overflow" marB="45652" marL="88066" marR="88066" marT="45652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ko-KR" b="0" baseline="0" dirty="0" lang="en-US" smtClean="0" sz="10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anchor="ctr" horzOverflow="overflow" marB="45652" marL="88066" marR="88066" marT="4565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ko-KR" b="0" baseline="0" cap="none" dirty="0" i="0" kumimoji="1" lang="en-US" normalizeH="0" smtClean="0" strike="noStrike" sz="10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anchor="ctr" horzOverflow="overflow" marB="45652" marL="88066" marR="88066" marT="4565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ko-KR" b="0" baseline="0" cap="none" dirty="0" i="0" kumimoji="1" lang="en-US" normalizeH="0" smtClean="0" strike="noStrike" sz="10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anchor="ctr" horzOverflow="overflow" marB="45652" marL="88066" marR="88066" marT="45652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6004">
                <a:tc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10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VOC/PRM</a:t>
                      </a:r>
                    </a:p>
                  </a:txBody>
                  <a:tcPr anchor="ctr" horzOverflow="overflow" marB="45652" marL="88066" marR="88066" marT="45652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ko-KR" b="0" baseline="0" cap="none" dirty="0" i="0" kern="1200" kumimoji="0" lang="en-US" normalizeH="0" smtClean="0" strike="noStrike" sz="10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</a:txBody>
                  <a:tcPr anchor="ctr" horzOverflow="overflow" marB="45652" marL="88066" marR="88066" marT="4565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ko-KR" b="0" baseline="0" cap="none" dirty="0" i="0" kumimoji="1" lang="en-US" normalizeH="0" smtClean="0" strike="noStrike" sz="10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anchor="ctr" horzOverflow="overflow" marB="45652" marL="88066" marR="88066" marT="4565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ko-KR" b="0" baseline="0" cap="none" dirty="0" i="0" kumimoji="1" lang="en-US" normalizeH="0" smtClean="0" strike="noStrike" sz="10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anchor="ctr" horzOverflow="overflow" marB="45652" marL="88066" marR="88066" marT="45652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137">
            <a:extLst>
              <a:ext uri="{FF2B5EF4-FFF2-40B4-BE49-F238E27FC236}">
                <a16:creationId xmlns:a16="http://schemas.microsoft.com/office/drawing/2014/main" id="{95DBC0E4-3FED-4168-A811-F22F73E27A2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2179" y="296320"/>
            <a:ext cx="8761066" cy="3314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 bIns="44805" lIns="89609" rIns="89609" tIns="44805">
            <a:spAutoFit/>
          </a:bodyPr>
          <a:lstStyle>
            <a:lvl1pPr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1pPr>
            <a:lvl2pPr indent="-285750" marL="7429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2pPr>
            <a:lvl3pPr indent="-228600" marL="11430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3pPr>
            <a:lvl4pPr indent="-228600" marL="16002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4pPr>
            <a:lvl5pPr indent="-228600" marL="20574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5pPr>
            <a:lvl6pPr eaLnBrk="0" fontAlgn="base" hangingPunct="0" indent="-228600" marL="25146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6pPr>
            <a:lvl7pPr eaLnBrk="0" fontAlgn="base" hangingPunct="0" indent="-228600" marL="29718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7pPr>
            <a:lvl8pPr eaLnBrk="0" fontAlgn="base" hangingPunct="0" indent="-228600" marL="34290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8pPr>
            <a:lvl9pPr eaLnBrk="0" fontAlgn="base" hangingPunct="0" indent="-228600" marL="38862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9pPr>
          </a:lstStyle>
          <a:p>
            <a:pPr eaLnBrk="1" hangingPunct="1">
              <a:spcBef>
                <a:spcPct val="0"/>
              </a:spcBef>
              <a:spcAft>
                <a:spcPct val="0"/>
              </a:spcAft>
            </a:pPr>
            <a:r>
              <a:rPr altLang="ko-KR" kumimoji="1" lang="en-US" sz="1566">
                <a:solidFill>
                  <a:srgbClr val="000000"/>
                </a:solidFill>
              </a:rPr>
              <a:t>3. </a:t>
            </a:r>
            <a:r>
              <a:rPr altLang="en-US" kumimoji="1" lang="ko-KR" sz="1566">
                <a:solidFill>
                  <a:srgbClr val="000000"/>
                </a:solidFill>
              </a:rPr>
              <a:t>주간업무 실적 및 계획</a:t>
            </a:r>
            <a:r>
              <a:rPr altLang="ko-KR" kumimoji="1" lang="en-US" sz="1566">
                <a:solidFill>
                  <a:srgbClr val="000000"/>
                </a:solidFill>
              </a:rPr>
              <a:t>(CP(IT Winner))</a:t>
            </a:r>
          </a:p>
        </p:txBody>
      </p:sp>
      <p:graphicFrame>
        <p:nvGraphicFramePr>
          <p:cNvPr id="7" name="Group 108">
            <a:extLst>
              <a:ext uri="{FF2B5EF4-FFF2-40B4-BE49-F238E27FC236}">
                <a16:creationId xmlns:a16="http://schemas.microsoft.com/office/drawing/2014/main" id="{D1918DE1-D523-480A-B775-91AD5D4C84B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71939277"/>
              </p:ext>
            </p:extLst>
          </p:nvPr>
        </p:nvGraphicFramePr>
        <p:xfrm>
          <a:off x="255578" y="1117570"/>
          <a:ext cx="4846547" cy="2400406"/>
        </p:xfrm>
        <a:graphic>
          <a:graphicData uri="http://schemas.openxmlformats.org/drawingml/2006/table">
            <a:tbl>
              <a:tblPr/>
              <a:tblGrid>
                <a:gridCol w="59649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3511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2193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9649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9649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64684"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구분</a:t>
                      </a:r>
                      <a:r>
                        <a:rPr altLang="ko-KR" b="1" baseline="0" cap="none" dirty="0" i="0" kumimoji="1" lang="en-US" normalizeH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/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담당자</a:t>
                      </a:r>
                      <a:endParaRPr altLang="ko-KR" b="1" baseline="0" cap="none" dirty="0" i="0" kumimoji="1" lang="en-US" normalizeH="0" strike="noStrike" sz="9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anchor="ctr" horzOverflow="overflow" marB="45721" marL="88066" marR="88066" marT="45721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업무 내용</a:t>
                      </a:r>
                    </a:p>
                  </a:txBody>
                  <a:tcPr anchor="ctr" horzOverflow="overflow" marB="45721" marL="88066" marR="88066" marT="45721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i="0" kumimoji="1" lang="ko-KR" normalizeH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접수일</a:t>
                      </a:r>
                      <a:endParaRPr altLang="ko-KR" b="1" baseline="0" cap="none" i="0" kumimoji="1" lang="en-US" normalizeH="0" strike="noStrike" sz="9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1" baseline="0" cap="none" i="0" kumimoji="1" lang="ko-KR" normalizeH="0" strike="noStrike" sz="9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anchor="ctr" horzOverflow="overflow" marB="45721" marL="88066" marR="88066" marT="4572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i="0" kumimoji="1" lang="ko-KR" normalizeH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완료 목표일</a:t>
                      </a:r>
                    </a:p>
                  </a:txBody>
                  <a:tcPr anchor="ctr" horzOverflow="overflow" marB="45721" marL="88066" marR="88066" marT="45721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i="0" kumimoji="1" lang="ko-KR" normalizeH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진행율</a:t>
                      </a:r>
                      <a:endParaRPr altLang="ko-KR" b="1" baseline="0" cap="none" i="0" kumimoji="1" lang="en-US" normalizeH="0" strike="noStrike" sz="9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i="0" kumimoji="1" lang="ko-KR" normalizeH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완료일</a:t>
                      </a:r>
                      <a:endParaRPr altLang="ko-KR" b="1" baseline="0" cap="none" i="0" kumimoji="1" lang="en-US" normalizeH="0" strike="noStrike" sz="9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anchor="ctr" horzOverflow="overflow" marB="45721" marL="88066" marR="88066" marT="45721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92881"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CP/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이영주</a:t>
                      </a:r>
                      <a:endParaRPr altLang="ko-KR" b="0" baseline="0" cap="none" dirty="0" i="0" kumimoji="1" lang="en-US" normalizeH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56" marL="88066" marR="88066" marT="45756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indent="-169863" marL="169863">
                        <a:buFont charset="0" panose="020B0604020202020204" pitchFamily="34" typeface="Arial"/>
                        <a:tabLst>
                          <a:tab algn="l" pos="171450"/>
                          <a:tab algn="l" pos="1085850"/>
                          <a:tab algn="l" pos="2000250"/>
                          <a:tab algn="l" pos="2914650"/>
                          <a:tab algn="l" pos="3829050"/>
                          <a:tab algn="l" pos="4743450"/>
                          <a:tab algn="l" pos="5657850"/>
                          <a:tab algn="l" pos="6572250"/>
                          <a:tab algn="l" pos="7486650"/>
                          <a:tab algn="l" pos="8401050"/>
                          <a:tab algn="l" pos="9315450"/>
                          <a:tab algn="l" pos="1022985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1pPr>
                      <a:lvl2pPr indent="-177800" marL="536575">
                        <a:spcBef>
                          <a:spcPts val="350"/>
                        </a:spcBef>
                        <a:buFont charset="0" panose="020B0604020202020204" pitchFamily="34" typeface="Arial"/>
                        <a:tabLst>
                          <a:tab algn="l" pos="171450"/>
                          <a:tab algn="l" pos="1085850"/>
                          <a:tab algn="l" pos="2000250"/>
                          <a:tab algn="l" pos="2914650"/>
                          <a:tab algn="l" pos="3829050"/>
                          <a:tab algn="l" pos="4743450"/>
                          <a:tab algn="l" pos="5657850"/>
                          <a:tab algn="l" pos="6572250"/>
                          <a:tab algn="l" pos="7486650"/>
                          <a:tab algn="l" pos="8401050"/>
                          <a:tab algn="l" pos="9315450"/>
                          <a:tab algn="l" pos="1022985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2pPr>
                      <a:lvl3pPr indent="-177800" marL="893763">
                        <a:spcBef>
                          <a:spcPts val="350"/>
                        </a:spcBef>
                        <a:buFont charset="0" panose="020B0604020202020204" pitchFamily="34" typeface="Arial"/>
                        <a:tabLst>
                          <a:tab algn="l" pos="171450"/>
                          <a:tab algn="l" pos="1085850"/>
                          <a:tab algn="l" pos="2000250"/>
                          <a:tab algn="l" pos="2914650"/>
                          <a:tab algn="l" pos="3829050"/>
                          <a:tab algn="l" pos="4743450"/>
                          <a:tab algn="l" pos="5657850"/>
                          <a:tab algn="l" pos="6572250"/>
                          <a:tab algn="l" pos="7486650"/>
                          <a:tab algn="l" pos="8401050"/>
                          <a:tab algn="l" pos="9315450"/>
                          <a:tab algn="l" pos="1022985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3pPr>
                      <a:lvl4pPr indent="-188913" marL="1262063">
                        <a:spcBef>
                          <a:spcPts val="350"/>
                        </a:spcBef>
                        <a:buFont charset="0" panose="020B0604020202020204" pitchFamily="34" typeface="Arial"/>
                        <a:tabLst>
                          <a:tab algn="l" pos="171450"/>
                          <a:tab algn="l" pos="1085850"/>
                          <a:tab algn="l" pos="2000250"/>
                          <a:tab algn="l" pos="2914650"/>
                          <a:tab algn="l" pos="3829050"/>
                          <a:tab algn="l" pos="4743450"/>
                          <a:tab algn="l" pos="5657850"/>
                          <a:tab algn="l" pos="6572250"/>
                          <a:tab algn="l" pos="7486650"/>
                          <a:tab algn="l" pos="8401050"/>
                          <a:tab algn="l" pos="9315450"/>
                          <a:tab algn="l" pos="1022985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4pPr>
                      <a:lvl5pPr indent="-177800" marL="1620838">
                        <a:spcBef>
                          <a:spcPts val="350"/>
                        </a:spcBef>
                        <a:buFont charset="0" panose="020B0604020202020204" pitchFamily="34" typeface="Arial"/>
                        <a:tabLst>
                          <a:tab algn="l" pos="171450"/>
                          <a:tab algn="l" pos="1085850"/>
                          <a:tab algn="l" pos="2000250"/>
                          <a:tab algn="l" pos="2914650"/>
                          <a:tab algn="l" pos="3829050"/>
                          <a:tab algn="l" pos="4743450"/>
                          <a:tab algn="l" pos="5657850"/>
                          <a:tab algn="l" pos="6572250"/>
                          <a:tab algn="l" pos="7486650"/>
                          <a:tab algn="l" pos="8401050"/>
                          <a:tab algn="l" pos="9315450"/>
                          <a:tab algn="l" pos="1022985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5pPr>
                      <a:lvl6pPr defTabSz="449263" eaLnBrk="0" fontAlgn="base" hangingPunct="0" indent="-177800" marL="2078038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charset="0" panose="020B0604020202020204" pitchFamily="34" typeface="Arial"/>
                        <a:tabLst>
                          <a:tab algn="l" pos="171450"/>
                          <a:tab algn="l" pos="1085850"/>
                          <a:tab algn="l" pos="2000250"/>
                          <a:tab algn="l" pos="2914650"/>
                          <a:tab algn="l" pos="3829050"/>
                          <a:tab algn="l" pos="4743450"/>
                          <a:tab algn="l" pos="5657850"/>
                          <a:tab algn="l" pos="6572250"/>
                          <a:tab algn="l" pos="7486650"/>
                          <a:tab algn="l" pos="8401050"/>
                          <a:tab algn="l" pos="9315450"/>
                          <a:tab algn="l" pos="1022985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6pPr>
                      <a:lvl7pPr defTabSz="449263" eaLnBrk="0" fontAlgn="base" hangingPunct="0" indent="-177800" marL="2535238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charset="0" panose="020B0604020202020204" pitchFamily="34" typeface="Arial"/>
                        <a:tabLst>
                          <a:tab algn="l" pos="171450"/>
                          <a:tab algn="l" pos="1085850"/>
                          <a:tab algn="l" pos="2000250"/>
                          <a:tab algn="l" pos="2914650"/>
                          <a:tab algn="l" pos="3829050"/>
                          <a:tab algn="l" pos="4743450"/>
                          <a:tab algn="l" pos="5657850"/>
                          <a:tab algn="l" pos="6572250"/>
                          <a:tab algn="l" pos="7486650"/>
                          <a:tab algn="l" pos="8401050"/>
                          <a:tab algn="l" pos="9315450"/>
                          <a:tab algn="l" pos="1022985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7pPr>
                      <a:lvl8pPr defTabSz="449263" eaLnBrk="0" fontAlgn="base" hangingPunct="0" indent="-177800" marL="2992438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charset="0" panose="020B0604020202020204" pitchFamily="34" typeface="Arial"/>
                        <a:tabLst>
                          <a:tab algn="l" pos="171450"/>
                          <a:tab algn="l" pos="1085850"/>
                          <a:tab algn="l" pos="2000250"/>
                          <a:tab algn="l" pos="2914650"/>
                          <a:tab algn="l" pos="3829050"/>
                          <a:tab algn="l" pos="4743450"/>
                          <a:tab algn="l" pos="5657850"/>
                          <a:tab algn="l" pos="6572250"/>
                          <a:tab algn="l" pos="7486650"/>
                          <a:tab algn="l" pos="8401050"/>
                          <a:tab algn="l" pos="9315450"/>
                          <a:tab algn="l" pos="1022985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8pPr>
                      <a:lvl9pPr defTabSz="449263" eaLnBrk="0" fontAlgn="base" hangingPunct="0" indent="-177800" marL="3449638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charset="0" panose="020B0604020202020204" pitchFamily="34" typeface="Arial"/>
                        <a:tabLst>
                          <a:tab algn="l" pos="171450"/>
                          <a:tab algn="l" pos="1085850"/>
                          <a:tab algn="l" pos="2000250"/>
                          <a:tab algn="l" pos="2914650"/>
                          <a:tab algn="l" pos="3829050"/>
                          <a:tab algn="l" pos="4743450"/>
                          <a:tab algn="l" pos="5657850"/>
                          <a:tab algn="l" pos="6572250"/>
                          <a:tab algn="l" pos="7486650"/>
                          <a:tab algn="l" pos="8401050"/>
                          <a:tab algn="l" pos="9315450"/>
                          <a:tab algn="l" pos="1022985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9pPr>
                    </a:lstStyle>
                    <a:p>
                      <a:pPr algn="l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b="0" baseline="0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- </a:t>
                      </a:r>
                      <a:r>
                        <a:rPr altLang="en-US" b="0" baseline="0" dirty="0" err="1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더보기</a:t>
                      </a:r>
                      <a:r>
                        <a:rPr altLang="en-US" b="0" baseline="0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 메뉴 권한 중복 조회 이슈 수정</a:t>
                      </a:r>
                      <a:endParaRPr altLang="ko-KR" b="0" baseline="0" dirty="0" kern="1200" kumimoji="1" lang="en-US" smtClean="0" sz="9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  <a:p>
                      <a:pPr algn="l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b="0" baseline="0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- ERS </a:t>
                      </a:r>
                      <a:r>
                        <a:rPr altLang="en-US" b="0" baseline="0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규정관리지안지 누락 배치 재 실행 </a:t>
                      </a:r>
                      <a:endParaRPr altLang="ko-KR" b="0" baseline="0" dirty="0" kern="1200" kumimoji="1" lang="en-US" smtClean="0" sz="9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  <a:p>
                      <a:pPr algn="l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b="0" baseline="0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- </a:t>
                      </a: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ADOBE FLASH </a:t>
                      </a:r>
                      <a:r>
                        <a:rPr altLang="en-US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종료에</a:t>
                      </a: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 </a:t>
                      </a:r>
                      <a:r>
                        <a:rPr altLang="en-US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따른 운영 반영 작업</a:t>
                      </a:r>
                      <a:endParaRPr altLang="ko-KR" dirty="0" kern="1200" kumimoji="1" lang="en-US" smtClean="0" sz="9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  <a:p>
                      <a:pPr algn="l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b="0" baseline="0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- </a:t>
                      </a:r>
                      <a:r>
                        <a:rPr altLang="en-US" b="0" baseline="0" dirty="0" err="1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자원예약</a:t>
                      </a:r>
                      <a:r>
                        <a:rPr altLang="en-US" b="0" baseline="0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 본사 </a:t>
                      </a:r>
                      <a:r>
                        <a:rPr altLang="ko-KR" b="0" baseline="0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20</a:t>
                      </a:r>
                      <a:r>
                        <a:rPr altLang="en-US" b="0" baseline="0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년도 화상 전체 자료 작성</a:t>
                      </a:r>
                      <a:endParaRPr altLang="ko-KR" b="0" baseline="0" dirty="0" kern="1200" kumimoji="1" lang="en-US" smtClean="0" sz="9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  <a:p>
                      <a:pPr algn="l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b="0" baseline="0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- </a:t>
                      </a:r>
                      <a:r>
                        <a:rPr altLang="en-US" b="0" baseline="0" dirty="0" err="1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전직원</a:t>
                      </a:r>
                      <a:r>
                        <a:rPr altLang="en-US" b="0" baseline="0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 품질 만족도 조사 설문 생성 </a:t>
                      </a:r>
                      <a:endParaRPr altLang="ko-KR" b="0" baseline="0" dirty="0" kern="1200" kumimoji="1" lang="en-US" smtClean="0" sz="9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  <a:p>
                      <a:pPr algn="l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b="0" baseline="0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- </a:t>
                      </a:r>
                      <a:r>
                        <a:rPr altLang="en-US" b="0" baseline="0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유가 조회 권한 기능 변경 및 권한 추가</a:t>
                      </a:r>
                      <a:endParaRPr altLang="ko-KR" b="0" baseline="0" dirty="0" kern="1200" kumimoji="1" lang="en-US" smtClean="0" sz="9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  <a:p>
                      <a:pPr algn="l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b="0" baseline="0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- </a:t>
                      </a:r>
                      <a:r>
                        <a:rPr altLang="en-US" b="0" baseline="0" dirty="0" err="1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정유제품</a:t>
                      </a:r>
                      <a:r>
                        <a:rPr altLang="ko-KR" b="0" baseline="0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Spread HSK </a:t>
                      </a:r>
                      <a:r>
                        <a:rPr altLang="en-US" b="0" baseline="0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누락 데이터 등록</a:t>
                      </a:r>
                      <a:endParaRPr altLang="ko-KR" b="0" baseline="0" dirty="0" kern="1200" kumimoji="1" lang="en-US" smtClean="0" sz="9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  <a:p>
                      <a:pPr algn="l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b="0" baseline="0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- </a:t>
                      </a:r>
                      <a:r>
                        <a:rPr altLang="en-US" b="0" baseline="0" dirty="0" err="1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안전수업</a:t>
                      </a:r>
                      <a:r>
                        <a:rPr altLang="ko-KR" b="0" baseline="0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/</a:t>
                      </a:r>
                      <a:r>
                        <a:rPr altLang="en-US" b="0" baseline="0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안전지킴이가이드북 메뉴 전환</a:t>
                      </a:r>
                      <a:endParaRPr altLang="ko-KR" b="0" baseline="0" dirty="0" kern="1200" kumimoji="1" lang="en-US" smtClean="0" sz="9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  <a:p>
                      <a:pPr algn="l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b="0" baseline="0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- </a:t>
                      </a:r>
                      <a:r>
                        <a:rPr altLang="en-US" b="0" baseline="0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유가 연동 배치 변경</a:t>
                      </a:r>
                      <a:r>
                        <a:rPr altLang="ko-KR" b="0" baseline="0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(</a:t>
                      </a:r>
                      <a:r>
                        <a:rPr altLang="en-US" b="0" baseline="0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범위</a:t>
                      </a:r>
                      <a:r>
                        <a:rPr altLang="ko-KR" b="0" baseline="0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:3</a:t>
                      </a:r>
                      <a:r>
                        <a:rPr altLang="en-US" b="0" baseline="0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일</a:t>
                      </a:r>
                      <a:r>
                        <a:rPr altLang="ko-KR" b="0" baseline="0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-&gt;15</a:t>
                      </a:r>
                      <a:r>
                        <a:rPr altLang="en-US" b="0" baseline="0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일로 변경</a:t>
                      </a:r>
                      <a:r>
                        <a:rPr altLang="ko-KR" b="0" baseline="0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)</a:t>
                      </a:r>
                    </a:p>
                  </a:txBody>
                  <a:tcPr horzOverflow="overflow" marB="45772" marL="88066" marR="88066" marT="45772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1pPr>
                      <a:lvl2pPr indent="-177800" marL="536575">
                        <a:spcBef>
                          <a:spcPts val="350"/>
                        </a:spcBef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2pPr>
                      <a:lvl3pPr indent="-177800" marL="893763">
                        <a:spcBef>
                          <a:spcPts val="350"/>
                        </a:spcBef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3pPr>
                      <a:lvl4pPr indent="-188913" marL="1262063">
                        <a:spcBef>
                          <a:spcPts val="350"/>
                        </a:spcBef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4pPr>
                      <a:lvl5pPr indent="-177800" marL="1620838">
                        <a:spcBef>
                          <a:spcPts val="350"/>
                        </a:spcBef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5pPr>
                      <a:lvl6pPr defTabSz="449263" eaLnBrk="0" fontAlgn="base" hangingPunct="0" indent="-177800" marL="2078038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6pPr>
                      <a:lvl7pPr defTabSz="449263" eaLnBrk="0" fontAlgn="base" hangingPunct="0" indent="-177800" marL="2535238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7pPr>
                      <a:lvl8pPr defTabSz="449263" eaLnBrk="0" fontAlgn="base" hangingPunct="0" indent="-177800" marL="2992438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8pPr>
                      <a:lvl9pPr defTabSz="449263" eaLnBrk="0" fontAlgn="base" hangingPunct="0" indent="-177800" marL="3449638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9pPr>
                    </a:lstStyle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01/12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01/12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01/12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01/12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01/13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01/14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01/14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01/14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01/15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endParaRPr altLang="ko-KR" dirty="0" kern="1200" kumimoji="1" lang="en-US" smtClean="0" sz="9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</a:txBody>
                  <a:tcPr horzOverflow="overflow" marB="45772" marL="88066" marR="88066" marT="4577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1pPr>
                      <a:lvl2pPr indent="-177800" marL="536575">
                        <a:spcBef>
                          <a:spcPts val="350"/>
                        </a:spcBef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2pPr>
                      <a:lvl3pPr indent="-177800" marL="893763">
                        <a:spcBef>
                          <a:spcPts val="350"/>
                        </a:spcBef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3pPr>
                      <a:lvl4pPr indent="-188913" marL="1262063">
                        <a:spcBef>
                          <a:spcPts val="350"/>
                        </a:spcBef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4pPr>
                      <a:lvl5pPr indent="-177800" marL="1620838">
                        <a:spcBef>
                          <a:spcPts val="350"/>
                        </a:spcBef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5pPr>
                      <a:lvl6pPr defTabSz="449263" eaLnBrk="0" fontAlgn="base" hangingPunct="0" indent="-177800" marL="2078038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6pPr>
                      <a:lvl7pPr defTabSz="449263" eaLnBrk="0" fontAlgn="base" hangingPunct="0" indent="-177800" marL="2535238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7pPr>
                      <a:lvl8pPr defTabSz="449263" eaLnBrk="0" fontAlgn="base" hangingPunct="0" indent="-177800" marL="2992438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8pPr>
                      <a:lvl9pPr defTabSz="449263" eaLnBrk="0" fontAlgn="base" hangingPunct="0" indent="-177800" marL="3449638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9pPr>
                    </a:lstStyle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01/12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01/12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01/12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01/12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01/13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01/14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01/14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01/14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01/15</a:t>
                      </a:r>
                    </a:p>
                  </a:txBody>
                  <a:tcPr horzOverflow="overflow" marB="45772" marL="88066" marR="88066" marT="45772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1pPr>
                      <a:lvl2pPr indent="-177800" marL="536575">
                        <a:spcBef>
                          <a:spcPts val="350"/>
                        </a:spcBef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2pPr>
                      <a:lvl3pPr indent="-177800" marL="893763">
                        <a:spcBef>
                          <a:spcPts val="350"/>
                        </a:spcBef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3pPr>
                      <a:lvl4pPr indent="-188913" marL="1262063">
                        <a:spcBef>
                          <a:spcPts val="350"/>
                        </a:spcBef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4pPr>
                      <a:lvl5pPr indent="-177800" marL="1620838">
                        <a:spcBef>
                          <a:spcPts val="350"/>
                        </a:spcBef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5pPr>
                      <a:lvl6pPr defTabSz="449263" eaLnBrk="0" fontAlgn="base" hangingPunct="0" indent="-177800" marL="2078038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6pPr>
                      <a:lvl7pPr defTabSz="449263" eaLnBrk="0" fontAlgn="base" hangingPunct="0" indent="-177800" marL="2535238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7pPr>
                      <a:lvl8pPr defTabSz="449263" eaLnBrk="0" fontAlgn="base" hangingPunct="0" indent="-177800" marL="2992438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8pPr>
                      <a:lvl9pPr defTabSz="449263" eaLnBrk="0" fontAlgn="base" hangingPunct="0" indent="-177800" marL="3449638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9pPr>
                    </a:lstStyle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100%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100%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100%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100%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100%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100%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100%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100%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100%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endParaRPr altLang="ko-KR" dirty="0" kern="1200" kumimoji="1" lang="en-US" smtClean="0" sz="9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</a:txBody>
                  <a:tcPr horzOverflow="overflow" marB="45772" marL="88066" marR="88066" marT="45772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8" name="Group 109">
            <a:extLst>
              <a:ext uri="{FF2B5EF4-FFF2-40B4-BE49-F238E27FC236}">
                <a16:creationId xmlns:a16="http://schemas.microsoft.com/office/drawing/2014/main" id="{7721BB07-7B10-4642-8619-4B25D434FCB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96118837"/>
              </p:ext>
            </p:extLst>
          </p:nvPr>
        </p:nvGraphicFramePr>
        <p:xfrm>
          <a:off x="5176687" y="1117570"/>
          <a:ext cx="4399173" cy="1944545"/>
        </p:xfrm>
        <a:graphic>
          <a:graphicData uri="http://schemas.openxmlformats.org/drawingml/2006/table">
            <a:tbl>
              <a:tblPr/>
              <a:tblGrid>
                <a:gridCol w="66018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4599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0581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8717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93976"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trike="noStrike" sz="10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구분</a:t>
                      </a:r>
                      <a:r>
                        <a:rPr altLang="ko-KR" b="1" baseline="0" cap="none" dirty="0" i="0" kumimoji="1" lang="en-US" normalizeH="0" strike="noStrike" sz="10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/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trike="noStrike" sz="10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담당자</a:t>
                      </a:r>
                    </a:p>
                  </a:txBody>
                  <a:tcPr anchor="ctr" horzOverflow="overflow" marB="45729" marL="88066" marR="88066" marT="45729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i="0" kumimoji="1" lang="ko-KR" normalizeH="0" strike="noStrike" sz="10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업무 내용</a:t>
                      </a:r>
                    </a:p>
                  </a:txBody>
                  <a:tcPr anchor="ctr" horzOverflow="overflow" marB="45729" marL="88066" marR="88066" marT="45729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trike="noStrike" sz="10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접수일</a:t>
                      </a:r>
                    </a:p>
                  </a:txBody>
                  <a:tcPr anchor="ctr" horzOverflow="overflow" marB="45729" marL="88066" marR="88066" marT="45729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i="0" kumimoji="1" lang="ko-KR" normalizeH="0" strike="noStrike" sz="10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완료 목표일</a:t>
                      </a:r>
                    </a:p>
                  </a:txBody>
                  <a:tcPr anchor="ctr" horzOverflow="overflow" marB="45729" marL="88066" marR="88066" marT="45729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48287"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i="0" kumimoji="1" lang="en-US" normalizeH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CP/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i="0" kumimoji="1" lang="ko-KR" normalizeH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이영주</a:t>
                      </a:r>
                      <a:endParaRPr altLang="ko-KR" b="0" baseline="0" cap="none" i="0" kumimoji="1" lang="en-US" normalizeH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L="88066" marR="88066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1pPr>
                      <a:lvl2pPr>
                        <a:spcBef>
                          <a:spcPts val="350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2pPr>
                      <a:lvl3pPr>
                        <a:spcBef>
                          <a:spcPts val="350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3pPr>
                      <a:lvl4pPr>
                        <a:spcBef>
                          <a:spcPts val="350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4pPr>
                      <a:lvl5pPr>
                        <a:spcBef>
                          <a:spcPts val="350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5pPr>
                      <a:lvl6pPr defTabSz="449263" eaLnBrk="0" fontAlgn="base" hangingPunct="0" indent="-228600" marL="251460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charset="0" panose="02020603050405020304" pitchFamily="18" typeface="Times New Roman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6pPr>
                      <a:lvl7pPr defTabSz="449263" eaLnBrk="0" fontAlgn="base" hangingPunct="0" indent="-228600" marL="297180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charset="0" panose="02020603050405020304" pitchFamily="18" typeface="Times New Roman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7pPr>
                      <a:lvl8pPr defTabSz="449263" eaLnBrk="0" fontAlgn="base" hangingPunct="0" indent="-228600" marL="342900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charset="0" panose="02020603050405020304" pitchFamily="18" typeface="Times New Roman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8pPr>
                      <a:lvl9pPr defTabSz="449263" eaLnBrk="0" fontAlgn="base" hangingPunct="0" indent="-228600" marL="388620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charset="0" panose="02020603050405020304" pitchFamily="18" typeface="Times New Roman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9pPr>
                    </a:lstStyle>
                    <a:p>
                      <a:pPr algn="l" defTabSz="914400" eaLnBrk="1" fontAlgn="auto" hangingPunct="1" indent="0" latinLnBrk="1" lvl="0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- </a:t>
                      </a:r>
                      <a:r>
                        <a:rPr altLang="ko-KR" b="0" baseline="0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CP 1</a:t>
                      </a:r>
                      <a:r>
                        <a:rPr altLang="en-US" b="0" baseline="0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월 </a:t>
                      </a:r>
                      <a:r>
                        <a:rPr altLang="ko-KR" b="0" baseline="0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2</a:t>
                      </a:r>
                      <a:r>
                        <a:rPr altLang="en-US" b="0" baseline="0" dirty="0" err="1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회차</a:t>
                      </a:r>
                      <a:r>
                        <a:rPr altLang="en-US" b="0" baseline="0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 정기점검</a:t>
                      </a:r>
                      <a:r>
                        <a:rPr altLang="ko-KR" b="0" baseline="0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(WAS/</a:t>
                      </a:r>
                      <a:r>
                        <a:rPr altLang="en-US" b="0" baseline="0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배치 </a:t>
                      </a:r>
                      <a:r>
                        <a:rPr altLang="en-US" b="0" baseline="0" dirty="0" err="1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재기동</a:t>
                      </a:r>
                      <a:r>
                        <a:rPr altLang="ko-KR" b="0" baseline="0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)</a:t>
                      </a:r>
                      <a:endParaRPr altLang="ko-KR" dirty="0" kern="1200" kumimoji="1" lang="en-US" smtClean="0" sz="9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  <a:p>
                      <a:pPr rtl="0"/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- ADOBE FLASH </a:t>
                      </a:r>
                      <a:r>
                        <a:rPr altLang="en-US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종료에 따른 </a:t>
                      </a: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HTML5 </a:t>
                      </a:r>
                      <a:r>
                        <a:rPr altLang="en-US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전환 </a:t>
                      </a:r>
                      <a:endParaRPr altLang="ko-KR" dirty="0" kern="1200" kumimoji="1" lang="en-US" smtClean="0" sz="9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  <a:p>
                      <a:pPr rtl="0"/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   ( * 1</a:t>
                      </a:r>
                      <a:r>
                        <a:rPr altLang="en-US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차 개발 완료</a:t>
                      </a: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, </a:t>
                      </a:r>
                      <a:r>
                        <a:rPr altLang="en-US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테스트 및 보완 예정</a:t>
                      </a: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)</a:t>
                      </a:r>
                      <a:endParaRPr altLang="en-US" dirty="0" kern="1200" kumimoji="1" lang="ko-KR" smtClean="0" sz="9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</a:txBody>
                  <a:tcPr horzOverflow="overflow" marB="45817" marL="88066" marR="88066" marT="53585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endParaRPr altLang="ko-KR" b="0" baseline="0" cap="none" dirty="0" i="0" kern="1200" kumimoji="1" lang="en-US" noProof="0" normalizeH="0" smtClean="0" spc="0" strike="noStrike" sz="9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</a:txBody>
                  <a:tcPr horzOverflow="overflow" marB="45817" marL="88066" marR="88066" marT="53585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01/20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01/29</a:t>
                      </a:r>
                    </a:p>
                  </a:txBody>
                  <a:tcPr horzOverflow="overflow" marB="45817" marL="88066" marR="88066" marT="53585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6184" name="Rectangle 136">
            <a:extLst>
              <a:ext uri="{FF2B5EF4-FFF2-40B4-BE49-F238E27FC236}">
                <a16:creationId xmlns:a16="http://schemas.microsoft.com/office/drawing/2014/main" id="{546AF6F6-150A-4F5D-B79C-9EC68A793CA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76687" y="760293"/>
            <a:ext cx="4399174" cy="310676"/>
          </a:xfrm>
          <a:prstGeom prst="rect">
            <a:avLst/>
          </a:prstGeom>
          <a:solidFill>
            <a:srgbClr val="C7CDFD"/>
          </a:solidFill>
          <a:ln algn="ctr" w="9525">
            <a:noFill/>
            <a:miter lim="800000"/>
            <a:headEnd/>
            <a:tailEnd/>
          </a:ln>
          <a:effectLst>
            <a:outerShdw algn="ctr" dir="2700000" dist="35921" rotWithShape="0">
              <a:schemeClr val="bg2"/>
            </a:outerShdw>
          </a:effectLst>
        </p:spPr>
        <p:txBody>
          <a:bodyPr anchor="ctr"/>
          <a:lstStyle/>
          <a:p>
            <a:pPr algn="ctr" defTabSz="789214" eaLnBrk="1" hangingPunct="1" indent="-242357" marL="242357">
              <a:spcBef>
                <a:spcPct val="0"/>
              </a:spcBef>
              <a:spcAft>
                <a:spcPct val="0"/>
              </a:spcAft>
              <a:defRPr/>
            </a:pPr>
            <a:r>
              <a:rPr altLang="en-US" kumimoji="1" lang="ko-KR" sz="1370">
                <a:solidFill>
                  <a:srgbClr val="000000"/>
                </a:solidFill>
              </a:rPr>
              <a:t>차주 업무 계획</a:t>
            </a:r>
            <a:endParaRPr altLang="ko-KR" kumimoji="1" lang="en-US" sz="1370">
              <a:solidFill>
                <a:srgbClr val="000000"/>
              </a:solidFill>
            </a:endParaRPr>
          </a:p>
        </p:txBody>
      </p:sp>
      <p:sp>
        <p:nvSpPr>
          <p:cNvPr id="6185" name="Rectangle 136">
            <a:extLst>
              <a:ext uri="{FF2B5EF4-FFF2-40B4-BE49-F238E27FC236}">
                <a16:creationId xmlns:a16="http://schemas.microsoft.com/office/drawing/2014/main" id="{227A3DDD-F02B-4FC8-A75A-DDE02A45CE9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5577" y="744759"/>
            <a:ext cx="4846547" cy="310676"/>
          </a:xfrm>
          <a:prstGeom prst="rect">
            <a:avLst/>
          </a:prstGeom>
          <a:solidFill>
            <a:srgbClr val="C7CDFD"/>
          </a:solidFill>
          <a:ln algn="ctr" w="9525">
            <a:noFill/>
            <a:miter lim="800000"/>
            <a:headEnd/>
            <a:tailEnd/>
          </a:ln>
          <a:effectLst>
            <a:outerShdw algn="ctr" dir="2700000" dist="35921" rotWithShape="0">
              <a:schemeClr val="bg2"/>
            </a:outerShdw>
          </a:effectLst>
        </p:spPr>
        <p:txBody>
          <a:bodyPr anchor="ctr"/>
          <a:lstStyle/>
          <a:p>
            <a:pPr algn="ctr" defTabSz="789214" eaLnBrk="1" hangingPunct="1" indent="-242357" marL="242357">
              <a:spcBef>
                <a:spcPct val="0"/>
              </a:spcBef>
              <a:spcAft>
                <a:spcPct val="0"/>
              </a:spcAft>
              <a:defRPr/>
            </a:pPr>
            <a:r>
              <a:rPr altLang="en-US" kumimoji="1" lang="ko-KR" sz="1370">
                <a:solidFill>
                  <a:srgbClr val="000000"/>
                </a:solidFill>
              </a:rPr>
              <a:t>금주 업무 실적</a:t>
            </a:r>
            <a:endParaRPr altLang="ko-KR" kumimoji="1" lang="en-US" sz="137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790021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725000040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290648003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1610243534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1778486263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b="1" sz="15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570">
                <a:latin typeface="맑은 고딕"/>
                <a:ea typeface="맑은 고딕"/>
                <a:cs typeface="맑은 고딕"/>
              </a:rPr>
              <a:t>3. 주간업무 실적 및 계획(①Baynex - ERP)</a:t>
            </a:r>
          </a:p>
        </p:txBody>
      </p:sp>
      <p:sp>
        <p:nvSpPr>
          <p:cNvPr id="125187574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645179258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728599127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297478398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2075834151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2029424733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057915430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571702075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1938014758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069269107" name="Text">
    </p:cNvPr>
          <p:cNvSpPr>
            <a:spLocks noGrp="1"/>
          </p:cNvSpPr>
          <p:nvPr/>
        </p:nvSpPr>
        <p:spPr>
          <a:xfrm rot="0">
            <a:off x="9702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12/31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12/31</a:t>
            </a:r>
            <a:br/>
            <a:br/>
          </a:p>
        </p:txBody>
      </p:sp>
      <p:sp>
        <p:nvSpPr>
          <p:cNvPr id="1961847312" name="Text">
    </p:cNvPr>
          <p:cNvSpPr>
            <a:spLocks noGrp="1"/>
          </p:cNvSpPr>
          <p:nvPr/>
        </p:nvSpPr>
        <p:spPr>
          <a:xfrm rot="0">
            <a:off x="93345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05/31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10/06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10/17</a:t>
            </a:r>
            <a:br/>
            <a:br/>
          </a:p>
        </p:txBody>
      </p:sp>
      <p:sp>
        <p:nvSpPr>
          <p:cNvPr id="1531412011" name="Text">
    </p:cNvPr>
          <p:cNvSpPr>
            <a:spLocks noGrp="1"/>
          </p:cNvSpPr>
          <p:nvPr/>
        </p:nvSpPr>
        <p:spPr>
          <a:xfrm rot="0">
            <a:off x="5930900" y="15113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[CO] 구분회계기준 비용의 1차원가요소 data 산출 프로그램 생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성 (ZCPR1050)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[CO] PP(Polypropylene) 제품별 원가내역 조회 Report 개발 요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청(ZPCOR2030)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[FI] 대주주 감사자료 생성-MRO 자재계정의 상대계정 리스트 테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이블 저장 (ZFIR7035, ZFIT7035)</a:t>
            </a:r>
          </a:p>
        </p:txBody>
      </p:sp>
      <p:sp>
        <p:nvSpPr>
          <p:cNvPr id="918033815" name="Text">
    </p:cNvPr>
          <p:cNvSpPr>
            <a:spLocks noGrp="1"/>
          </p:cNvSpPr>
          <p:nvPr/>
        </p:nvSpPr>
        <p:spPr>
          <a:xfrm rot="0">
            <a:off x="53086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FI/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CO/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TR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강민경</a:t>
            </a:r>
          </a:p>
        </p:txBody>
      </p:sp>
      <p:sp>
        <p:nvSpPr>
          <p:cNvPr id="1474425707" name="Text">
    </p:cNvPr>
          <p:cNvSpPr>
            <a:spLocks noGrp="1"/>
          </p:cNvSpPr>
          <p:nvPr/>
        </p:nvSpPr>
        <p:spPr>
          <a:xfrm rot="0">
            <a:off x="889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FI/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CO/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TR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강민경</a:t>
            </a:r>
          </a:p>
        </p:txBody>
      </p:sp>
      <p:sp>
        <p:nvSpPr>
          <p:cNvPr id="1481751661" name="Text">
    </p:cNvPr>
          <p:cNvSpPr>
            <a:spLocks noGrp="1"/>
          </p:cNvSpPr>
          <p:nvPr/>
        </p:nvSpPr>
        <p:spPr>
          <a:xfrm rot="0">
            <a:off x="711200" y="15113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[FI] 전표 역분개 실행 유저 제어 추가 수정(ZFIR7050)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[FI] 거래유형 생성 기능 추가 / 승인버튼 권한 별 관리 기능 추가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(ZEAM1111, ZEAM1112)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[FI] 결재선 변경 요청 승인 완료 후 재 요청 프로세스 추가(ZEA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M1111, ZEAM1112)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[FI] 총계정원장 정보 추출 요청 프로그램 생성(ZFIR5175_1)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[CO] 자산취득 장기 미정산 누락 방지를 위한 시스템 개선 관련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프로세스 분석(ZCOR7111)</a:t>
            </a:r>
          </a:p>
        </p:txBody>
      </p:sp>
      <p:sp>
        <p:nvSpPr>
          <p:cNvPr id="948385642" name="Text">
    </p:cNvPr>
          <p:cNvSpPr>
            <a:spLocks noGrp="1"/>
          </p:cNvSpPr>
          <p:nvPr/>
        </p:nvSpPr>
        <p:spPr>
          <a:xfrm rot="0">
            <a:off x="44831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12/11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12/12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12/13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12/14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12/15</a:t>
            </a:r>
            <a:br/>
            <a:br/>
          </a:p>
        </p:txBody>
      </p:sp>
      <p:sp>
        <p:nvSpPr>
          <p:cNvPr id="1315281216" name="Text">
    </p:cNvPr>
          <p:cNvSpPr>
            <a:spLocks noGrp="1"/>
          </p:cNvSpPr>
          <p:nvPr/>
        </p:nvSpPr>
        <p:spPr>
          <a:xfrm rot="0">
            <a:off x="48514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12/11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12/12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12/13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12/14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12/15</a:t>
            </a:r>
            <a:br/>
            <a:br/>
          </a:p>
        </p:txBody>
      </p:sp>
      <p:sp>
        <p:nvSpPr>
          <p:cNvPr id="382157132" name="Text">
    </p:cNvPr>
          <p:cNvSpPr>
            <a:spLocks noGrp="1"/>
          </p:cNvSpPr>
          <p:nvPr/>
        </p:nvSpPr>
        <p:spPr>
          <a:xfrm rot="0">
            <a:off x="4114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12/11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12/12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12/13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12/14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12/15</a:t>
            </a:r>
            <a:br/>
            <a:br/>
          </a:p>
        </p:txBody>
      </p:sp>
      <p:sp>
        <p:nvSpPr>
          <p:cNvPr id="1126184237" name="Text">
    </p:cNvPr>
          <p:cNvSpPr>
            <a:spLocks noGrp="1"/>
          </p:cNvSpPr>
          <p:nvPr/>
        </p:nvSpPr>
        <p:spPr>
          <a:xfrm rot="0">
            <a:off x="6604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117615684" name="Text">
    </p:cNvPr>
          <p:cNvSpPr>
            <a:spLocks noGrp="1"/>
          </p:cNvSpPr>
          <p:nvPr/>
        </p:nvSpPr>
        <p:spPr>
          <a:xfrm rot="0">
            <a:off x="58801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542132430" name="Text">
    </p:cNvPr>
          <p:cNvSpPr>
            <a:spLocks noGrp="1"/>
          </p:cNvSpPr>
          <p:nvPr/>
        </p:nvSpPr>
        <p:spPr>
          <a:xfrm rot="0">
            <a:off x="9702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01/15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12/27</a:t>
            </a:r>
            <a:br/>
          </a:p>
        </p:txBody>
      </p:sp>
      <p:sp>
        <p:nvSpPr>
          <p:cNvPr id="204578985" name="Text">
    </p:cNvPr>
          <p:cNvSpPr>
            <a:spLocks noGrp="1"/>
          </p:cNvSpPr>
          <p:nvPr/>
        </p:nvSpPr>
        <p:spPr>
          <a:xfrm rot="0">
            <a:off x="93345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12/14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11/23</a:t>
            </a:r>
            <a:br/>
          </a:p>
        </p:txBody>
      </p:sp>
      <p:sp>
        <p:nvSpPr>
          <p:cNvPr id="1316644191" name="Text">
    </p:cNvPr>
          <p:cNvSpPr>
            <a:spLocks noGrp="1"/>
          </p:cNvSpPr>
          <p:nvPr/>
        </p:nvSpPr>
        <p:spPr>
          <a:xfrm rot="0">
            <a:off x="5930900" y="37719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외근신청현황(ZHRR2780) 수정 및 삭제 기능 추가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휴가사용조회(HCM)의 종류별 휴가 표기</a:t>
            </a:r>
          </a:p>
        </p:txBody>
      </p:sp>
      <p:sp>
        <p:nvSpPr>
          <p:cNvPr id="1744573826" name="Text">
    </p:cNvPr>
          <p:cNvSpPr>
            <a:spLocks noGrp="1"/>
          </p:cNvSpPr>
          <p:nvPr/>
        </p:nvSpPr>
        <p:spPr>
          <a:xfrm rot="0">
            <a:off x="53086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HR/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HCM/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Fiori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김예린</a:t>
            </a:r>
          </a:p>
        </p:txBody>
      </p:sp>
      <p:sp>
        <p:nvSpPr>
          <p:cNvPr id="1162356619" name="Text">
    </p:cNvPr>
          <p:cNvSpPr>
            <a:spLocks noGrp="1"/>
          </p:cNvSpPr>
          <p:nvPr/>
        </p:nvSpPr>
        <p:spPr>
          <a:xfrm rot="0">
            <a:off x="889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HR/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HCM/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Fiori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김예린</a:t>
            </a:r>
          </a:p>
        </p:txBody>
      </p:sp>
      <p:sp>
        <p:nvSpPr>
          <p:cNvPr id="1149104995" name="Text">
    </p:cNvPr>
          <p:cNvSpPr>
            <a:spLocks noGrp="1"/>
          </p:cNvSpPr>
          <p:nvPr/>
        </p:nvSpPr>
        <p:spPr>
          <a:xfrm rot="0">
            <a:off x="711200" y="37719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반반차(2시간) 연차휴가 신청 및 관리를 위한 시스템 변경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요청(메뉴 별 개선)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HCM - CCS 연동 기능 개선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외국어 학습비 결재 완료문서 원복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법정 선임자 선임/해임 처리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법적선임자 선임/해임 관련 선임 면허등급 추가 요청</a:t>
            </a:r>
          </a:p>
        </p:txBody>
      </p:sp>
      <p:sp>
        <p:nvSpPr>
          <p:cNvPr id="1504720430" name="Text">
    </p:cNvPr>
          <p:cNvSpPr>
            <a:spLocks noGrp="1"/>
          </p:cNvSpPr>
          <p:nvPr/>
        </p:nvSpPr>
        <p:spPr>
          <a:xfrm rot="0">
            <a:off x="44831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12/26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12/15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12/13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12/13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12/12</a:t>
            </a:r>
            <a:br/>
          </a:p>
        </p:txBody>
      </p:sp>
      <p:sp>
        <p:nvSpPr>
          <p:cNvPr id="1592227999" name="Text">
    </p:cNvPr>
          <p:cNvSpPr>
            <a:spLocks noGrp="1"/>
          </p:cNvSpPr>
          <p:nvPr/>
        </p:nvSpPr>
        <p:spPr>
          <a:xfrm rot="0">
            <a:off x="48514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1226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1215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1213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1213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1212</a:t>
            </a:r>
            <a:br/>
          </a:p>
        </p:txBody>
      </p:sp>
      <p:sp>
        <p:nvSpPr>
          <p:cNvPr id="1519872183" name="Text">
    </p:cNvPr>
          <p:cNvSpPr>
            <a:spLocks noGrp="1"/>
          </p:cNvSpPr>
          <p:nvPr/>
        </p:nvSpPr>
        <p:spPr>
          <a:xfrm rot="0">
            <a:off x="4114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09/27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12/14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12/13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12/13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12/12</a:t>
            </a:r>
            <a:br/>
          </a:p>
        </p:txBody>
      </p:sp>
      <p:sp>
        <p:nvSpPr>
          <p:cNvPr id="1910144621" name="Text">
    </p:cNvPr>
          <p:cNvSpPr>
            <a:spLocks noGrp="1"/>
          </p:cNvSpPr>
          <p:nvPr/>
        </p:nvSpPr>
        <p:spPr>
          <a:xfrm rot="0">
            <a:off x="6604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696465214" name="Text">
    </p:cNvPr>
          <p:cNvSpPr>
            <a:spLocks noGrp="1"/>
          </p:cNvSpPr>
          <p:nvPr/>
        </p:nvSpPr>
        <p:spPr>
          <a:xfrm rot="0">
            <a:off x="58801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9627537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771132158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259891259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1064786989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1599770571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b="1" sz="15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570">
                <a:latin typeface="맑은 고딕"/>
                <a:ea typeface="맑은 고딕"/>
                <a:cs typeface="맑은 고딕"/>
              </a:rPr>
              <a:t>3. 주간업무 실적 및 계획(①Baynex - ERP)</a:t>
            </a:r>
          </a:p>
        </p:txBody>
      </p:sp>
      <p:sp>
        <p:nvSpPr>
          <p:cNvPr id="1189236644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612127547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560985517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708842140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2114713375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942184046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714740827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279980787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1842893162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297742681" name="Text">
    </p:cNvPr>
          <p:cNvSpPr>
            <a:spLocks noGrp="1"/>
          </p:cNvSpPr>
          <p:nvPr/>
        </p:nvSpPr>
        <p:spPr>
          <a:xfrm rot="0">
            <a:off x="9702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12/29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12/22</a:t>
            </a:r>
            <a:br/>
          </a:p>
        </p:txBody>
      </p:sp>
      <p:sp>
        <p:nvSpPr>
          <p:cNvPr id="1371140915" name="Text">
    </p:cNvPr>
          <p:cNvSpPr>
            <a:spLocks noGrp="1"/>
          </p:cNvSpPr>
          <p:nvPr/>
        </p:nvSpPr>
        <p:spPr>
          <a:xfrm rot="0">
            <a:off x="93345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07/03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09/07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10/06</a:t>
            </a:r>
            <a:br/>
          </a:p>
        </p:txBody>
      </p:sp>
      <p:sp>
        <p:nvSpPr>
          <p:cNvPr id="1255106715" name="Text">
    </p:cNvPr>
          <p:cNvSpPr>
            <a:spLocks noGrp="1"/>
          </p:cNvSpPr>
          <p:nvPr/>
        </p:nvSpPr>
        <p:spPr>
          <a:xfrm rot="0">
            <a:off x="5930900" y="15113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SABIC 시스템 연동 구축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산업안전보건관리비 계상 관련 시스템 보완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ZIMHCD 티코드에 전표기준 AP반제 기능추가</a:t>
            </a:r>
          </a:p>
        </p:txBody>
      </p:sp>
      <p:sp>
        <p:nvSpPr>
          <p:cNvPr id="1706242985" name="Text">
    </p:cNvPr>
          <p:cNvSpPr>
            <a:spLocks noGrp="1"/>
          </p:cNvSpPr>
          <p:nvPr/>
        </p:nvSpPr>
        <p:spPr>
          <a:xfrm rot="0">
            <a:off x="53086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MM/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TD/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FI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김원기</a:t>
            </a:r>
          </a:p>
        </p:txBody>
      </p:sp>
      <p:sp>
        <p:nvSpPr>
          <p:cNvPr id="225375167" name="Text">
    </p:cNvPr>
          <p:cNvSpPr>
            <a:spLocks noGrp="1"/>
          </p:cNvSpPr>
          <p:nvPr/>
        </p:nvSpPr>
        <p:spPr>
          <a:xfrm rot="0">
            <a:off x="889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MM/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TD/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FI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김원기</a:t>
            </a:r>
          </a:p>
        </p:txBody>
      </p:sp>
      <p:sp>
        <p:nvSpPr>
          <p:cNvPr id="324053322" name="Text">
    </p:cNvPr>
          <p:cNvSpPr>
            <a:spLocks noGrp="1"/>
          </p:cNvSpPr>
          <p:nvPr/>
        </p:nvSpPr>
        <p:spPr>
          <a:xfrm rot="0">
            <a:off x="711200" y="15113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SABIC 시스템 연동 구축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산업안전보건관리비 계상 관련 시스템 보완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ZIMHCD 티코드에 전표기준 AP반제 기능추가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ERP 규제 화학물질 승인(ZIMR3020) 담당자 변경에 따른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후속조치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PO PROGRESS상 '구매단가' 열 추가 요청</a:t>
            </a:r>
          </a:p>
        </p:txBody>
      </p:sp>
      <p:sp>
        <p:nvSpPr>
          <p:cNvPr id="585793547" name="Text">
    </p:cNvPr>
          <p:cNvSpPr>
            <a:spLocks noGrp="1"/>
          </p:cNvSpPr>
          <p:nvPr/>
        </p:nvSpPr>
        <p:spPr>
          <a:xfrm rot="0">
            <a:off x="44831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12/29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12/22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12/22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01/05</a:t>
            </a:r>
            <a:br/>
          </a:p>
        </p:txBody>
      </p:sp>
      <p:sp>
        <p:nvSpPr>
          <p:cNvPr id="1580777860" name="Text">
    </p:cNvPr>
          <p:cNvSpPr>
            <a:spLocks noGrp="1"/>
          </p:cNvSpPr>
          <p:nvPr/>
        </p:nvSpPr>
        <p:spPr>
          <a:xfrm rot="0">
            <a:off x="48514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[보류]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50%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70%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12/11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12/13</a:t>
            </a:r>
            <a:br/>
          </a:p>
        </p:txBody>
      </p:sp>
      <p:sp>
        <p:nvSpPr>
          <p:cNvPr id="607204087" name="Text">
    </p:cNvPr>
          <p:cNvSpPr>
            <a:spLocks noGrp="1"/>
          </p:cNvSpPr>
          <p:nvPr/>
        </p:nvSpPr>
        <p:spPr>
          <a:xfrm rot="0">
            <a:off x="4114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07/03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09/07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10/06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12/08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12/13</a:t>
            </a:r>
            <a:br/>
          </a:p>
        </p:txBody>
      </p:sp>
      <p:sp>
        <p:nvSpPr>
          <p:cNvPr id="842909122" name="Text">
    </p:cNvPr>
          <p:cNvSpPr>
            <a:spLocks noGrp="1"/>
          </p:cNvSpPr>
          <p:nvPr/>
        </p:nvSpPr>
        <p:spPr>
          <a:xfrm rot="0">
            <a:off x="6604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143071062" name="Text">
    </p:cNvPr>
          <p:cNvSpPr>
            <a:spLocks noGrp="1"/>
          </p:cNvSpPr>
          <p:nvPr/>
        </p:nvSpPr>
        <p:spPr>
          <a:xfrm rot="0">
            <a:off x="58801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552759991" name="Text">
    </p:cNvPr>
          <p:cNvSpPr>
            <a:spLocks noGrp="1"/>
          </p:cNvSpPr>
          <p:nvPr/>
        </p:nvSpPr>
        <p:spPr>
          <a:xfrm rot="0">
            <a:off x="9702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12/25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12/25</a:t>
            </a:r>
            <a:br/>
          </a:p>
        </p:txBody>
      </p:sp>
      <p:sp>
        <p:nvSpPr>
          <p:cNvPr id="1896221531" name="Text">
    </p:cNvPr>
          <p:cNvSpPr>
            <a:spLocks noGrp="1"/>
          </p:cNvSpPr>
          <p:nvPr/>
        </p:nvSpPr>
        <p:spPr>
          <a:xfrm rot="0">
            <a:off x="93345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12/19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12/19</a:t>
            </a:r>
            <a:br/>
          </a:p>
        </p:txBody>
      </p:sp>
      <p:sp>
        <p:nvSpPr>
          <p:cNvPr id="759812972" name="Text">
    </p:cNvPr>
          <p:cNvSpPr>
            <a:spLocks noGrp="1"/>
          </p:cNvSpPr>
          <p:nvPr/>
        </p:nvSpPr>
        <p:spPr>
          <a:xfrm rot="0">
            <a:off x="5930900" y="37719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[BC] SAP 시스템 정기 모니터링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[BC] SAP 시스템 이관 / 변경</a:t>
            </a:r>
          </a:p>
        </p:txBody>
      </p:sp>
      <p:sp>
        <p:nvSpPr>
          <p:cNvPr id="1714011330" name="Text">
    </p:cNvPr>
          <p:cNvSpPr>
            <a:spLocks noGrp="1"/>
          </p:cNvSpPr>
          <p:nvPr/>
        </p:nvSpPr>
        <p:spPr>
          <a:xfrm rot="0">
            <a:off x="53086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BC/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HCM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박남신</a:t>
            </a:r>
          </a:p>
        </p:txBody>
      </p:sp>
      <p:sp>
        <p:nvSpPr>
          <p:cNvPr id="1408519220" name="Text">
    </p:cNvPr>
          <p:cNvSpPr>
            <a:spLocks noGrp="1"/>
          </p:cNvSpPr>
          <p:nvPr/>
        </p:nvSpPr>
        <p:spPr>
          <a:xfrm rot="0">
            <a:off x="889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BC/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HCM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박남신</a:t>
            </a:r>
          </a:p>
        </p:txBody>
      </p:sp>
      <p:sp>
        <p:nvSpPr>
          <p:cNvPr id="308922818" name="Text">
    </p:cNvPr>
          <p:cNvSpPr>
            <a:spLocks noGrp="1"/>
          </p:cNvSpPr>
          <p:nvPr/>
        </p:nvSpPr>
        <p:spPr>
          <a:xfrm rot="0">
            <a:off x="711200" y="37719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[BC] SAP 시스템 정기 모니터링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[BC] SAP 시스템 이관 / 변경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[BC] 2023년 하반기 DR 재해복구 모의훈련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[BC] SAProutert Certificate 1년 만료에 따른 cert갱신 및 설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정작업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[BC] ERP운영/QA테스트 엘리베이터 DID System I/F 연결용 R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FC 신규등록 및 설정작업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[BC] HCM운영 Content Server MaxDB AutoLog 파일 삭제작업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[BC] 용인 네트워크 백본 교체 및 L4 구성 변경 작업에 따른 SA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P 서비스 점검작업 업무지원</a:t>
            </a:r>
          </a:p>
        </p:txBody>
      </p:sp>
      <p:sp>
        <p:nvSpPr>
          <p:cNvPr id="1901640272" name="Text">
    </p:cNvPr>
          <p:cNvSpPr>
            <a:spLocks noGrp="1"/>
          </p:cNvSpPr>
          <p:nvPr/>
        </p:nvSpPr>
        <p:spPr>
          <a:xfrm rot="0">
            <a:off x="44831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12/18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12/18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12/12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12/13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12/14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12/15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12/18</a:t>
            </a:r>
            <a:br/>
            <a:br/>
          </a:p>
        </p:txBody>
      </p:sp>
      <p:sp>
        <p:nvSpPr>
          <p:cNvPr id="1513936661" name="Text">
    </p:cNvPr>
          <p:cNvSpPr>
            <a:spLocks noGrp="1"/>
          </p:cNvSpPr>
          <p:nvPr/>
        </p:nvSpPr>
        <p:spPr>
          <a:xfrm rot="0">
            <a:off x="48514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12/18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12/18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12/12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12/13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12/14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12/15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12/18</a:t>
            </a:r>
            <a:br/>
            <a:br/>
          </a:p>
        </p:txBody>
      </p:sp>
      <p:sp>
        <p:nvSpPr>
          <p:cNvPr id="727233930" name="Text">
    </p:cNvPr>
          <p:cNvSpPr>
            <a:spLocks noGrp="1"/>
          </p:cNvSpPr>
          <p:nvPr/>
        </p:nvSpPr>
        <p:spPr>
          <a:xfrm rot="0">
            <a:off x="4114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12/12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12/12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12/07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12/08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12/14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12/15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12/12</a:t>
            </a:r>
            <a:br/>
            <a:br/>
          </a:p>
        </p:txBody>
      </p:sp>
      <p:sp>
        <p:nvSpPr>
          <p:cNvPr id="2007191290" name="Text">
    </p:cNvPr>
          <p:cNvSpPr>
            <a:spLocks noGrp="1"/>
          </p:cNvSpPr>
          <p:nvPr/>
        </p:nvSpPr>
        <p:spPr>
          <a:xfrm rot="0">
            <a:off x="6604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134420068" name="Text">
    </p:cNvPr>
          <p:cNvSpPr>
            <a:spLocks noGrp="1"/>
          </p:cNvSpPr>
          <p:nvPr/>
        </p:nvSpPr>
        <p:spPr>
          <a:xfrm rot="0">
            <a:off x="58801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3136253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289345014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2080789941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1345586321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131947281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b="1" sz="15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570">
                <a:latin typeface="맑은 고딕"/>
                <a:ea typeface="맑은 고딕"/>
                <a:cs typeface="맑은 고딕"/>
              </a:rPr>
              <a:t>3. 주간업무 실적 및 계획(①Baynex - ERP)</a:t>
            </a:r>
          </a:p>
        </p:txBody>
      </p:sp>
      <p:sp>
        <p:nvSpPr>
          <p:cNvPr id="1860478625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536997173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348560168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024043494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981006152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507123962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38245581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928416250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436260205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690124261" name="Text">
    </p:cNvPr>
          <p:cNvSpPr>
            <a:spLocks noGrp="1"/>
          </p:cNvSpPr>
          <p:nvPr/>
        </p:nvSpPr>
        <p:spPr>
          <a:xfrm rot="0">
            <a:off x="9702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12/30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02/02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03/29</a:t>
            </a:r>
            <a:br/>
            <a:br/>
          </a:p>
        </p:txBody>
      </p:sp>
      <p:sp>
        <p:nvSpPr>
          <p:cNvPr id="1516383811" name="Text">
    </p:cNvPr>
          <p:cNvSpPr>
            <a:spLocks noGrp="1"/>
          </p:cNvSpPr>
          <p:nvPr/>
        </p:nvSpPr>
        <p:spPr>
          <a:xfrm rot="0">
            <a:off x="93345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05/23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10/16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12/14</a:t>
            </a:r>
            <a:br/>
            <a:br/>
          </a:p>
        </p:txBody>
      </p:sp>
      <p:sp>
        <p:nvSpPr>
          <p:cNvPr id="582226030" name="Text">
    </p:cNvPr>
          <p:cNvSpPr>
            <a:spLocks noGrp="1"/>
          </p:cNvSpPr>
          <p:nvPr/>
        </p:nvSpPr>
        <p:spPr>
          <a:xfrm rot="0">
            <a:off x="5930900" y="15113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산업안전보건관리비 계상 관련 시스템 보완 요청* 구매요구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서 전송(ZMMT4040), 기성보고서 전송(ZMMT4060) 관련 기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능 추가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AS/400 화면 SAP 이관* 주요 자재/구매 화면 13개 SAP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이관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자산취득 장기 미정산 누락 방지를 위한 시스템 개선* WBS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요소 약정 관리를 위한 PR생성, 삭제 RFC Function 개발</a:t>
            </a:r>
          </a:p>
        </p:txBody>
      </p:sp>
      <p:sp>
        <p:nvSpPr>
          <p:cNvPr id="1053022960" name="Text">
    </p:cNvPr>
          <p:cNvSpPr>
            <a:spLocks noGrp="1"/>
          </p:cNvSpPr>
          <p:nvPr/>
        </p:nvSpPr>
        <p:spPr>
          <a:xfrm rot="0">
            <a:off x="53086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MM/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공장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오승룡</a:t>
            </a:r>
          </a:p>
        </p:txBody>
      </p:sp>
      <p:sp>
        <p:nvSpPr>
          <p:cNvPr id="856459482" name="Text">
    </p:cNvPr>
          <p:cNvSpPr>
            <a:spLocks noGrp="1"/>
          </p:cNvSpPr>
          <p:nvPr/>
        </p:nvSpPr>
        <p:spPr>
          <a:xfrm rot="0">
            <a:off x="889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MM/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공장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오승룡</a:t>
            </a:r>
          </a:p>
        </p:txBody>
      </p:sp>
      <p:sp>
        <p:nvSpPr>
          <p:cNvPr id="2019014862" name="Text">
    </p:cNvPr>
          <p:cNvSpPr>
            <a:spLocks noGrp="1"/>
          </p:cNvSpPr>
          <p:nvPr/>
        </p:nvSpPr>
        <p:spPr>
          <a:xfrm rot="0">
            <a:off x="711200" y="15113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산업안전보건관리비 계상 관련 시스템 보완 요청* 구매요구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서 전송(ZMMT4040), 기성보고서 전송(ZMMT4060) 관련 기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능 추가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AS/400 화면 SAP 이관* 주요 자재/구매 화면 13개 SAP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이관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자산취득 장기 미정산 누락 방지를 위한 시스템 개선* WBS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요소 약정 관리를 위한 PR생성, 삭제 RFC Function 개발</a:t>
            </a:r>
          </a:p>
        </p:txBody>
      </p:sp>
      <p:sp>
        <p:nvSpPr>
          <p:cNvPr id="2061693130" name="Text">
    </p:cNvPr>
          <p:cNvSpPr>
            <a:spLocks noGrp="1"/>
          </p:cNvSpPr>
          <p:nvPr/>
        </p:nvSpPr>
        <p:spPr>
          <a:xfrm rot="0">
            <a:off x="44831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12/30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02/02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03/29</a:t>
            </a:r>
            <a:br/>
            <a:br/>
          </a:p>
        </p:txBody>
      </p:sp>
      <p:sp>
        <p:nvSpPr>
          <p:cNvPr id="1524019516" name="Text">
    </p:cNvPr>
          <p:cNvSpPr>
            <a:spLocks noGrp="1"/>
          </p:cNvSpPr>
          <p:nvPr/>
        </p:nvSpPr>
        <p:spPr>
          <a:xfrm rot="0">
            <a:off x="48514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90%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90%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30%</a:t>
            </a:r>
            <a:br/>
            <a:br/>
          </a:p>
        </p:txBody>
      </p:sp>
      <p:sp>
        <p:nvSpPr>
          <p:cNvPr id="223062244" name="Text">
    </p:cNvPr>
          <p:cNvSpPr>
            <a:spLocks noGrp="1"/>
          </p:cNvSpPr>
          <p:nvPr/>
        </p:nvSpPr>
        <p:spPr>
          <a:xfrm rot="0">
            <a:off x="4114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05/23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10/16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12/14</a:t>
            </a:r>
            <a:br/>
            <a:br/>
          </a:p>
        </p:txBody>
      </p:sp>
      <p:sp>
        <p:nvSpPr>
          <p:cNvPr id="1218437195" name="Text">
    </p:cNvPr>
          <p:cNvSpPr>
            <a:spLocks noGrp="1"/>
          </p:cNvSpPr>
          <p:nvPr/>
        </p:nvSpPr>
        <p:spPr>
          <a:xfrm rot="0">
            <a:off x="6604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630603058" name="Text">
    </p:cNvPr>
          <p:cNvSpPr>
            <a:spLocks noGrp="1"/>
          </p:cNvSpPr>
          <p:nvPr/>
        </p:nvSpPr>
        <p:spPr>
          <a:xfrm rot="0">
            <a:off x="58801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244014573" name="Text">
    </p:cNvPr>
          <p:cNvSpPr>
            <a:spLocks noGrp="1"/>
          </p:cNvSpPr>
          <p:nvPr/>
        </p:nvSpPr>
        <p:spPr>
          <a:xfrm rot="0">
            <a:off x="9702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12/29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12/29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01/19</a:t>
            </a:r>
            <a:br/>
          </a:p>
        </p:txBody>
      </p:sp>
      <p:sp>
        <p:nvSpPr>
          <p:cNvPr id="452635333" name="Text">
    </p:cNvPr>
          <p:cNvSpPr>
            <a:spLocks noGrp="1"/>
          </p:cNvSpPr>
          <p:nvPr/>
        </p:nvSpPr>
        <p:spPr>
          <a:xfrm rot="0">
            <a:off x="93345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07/28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09/18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10/20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11/09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12/15</a:t>
            </a:r>
            <a:br/>
          </a:p>
        </p:txBody>
      </p:sp>
      <p:sp>
        <p:nvSpPr>
          <p:cNvPr id="760257641" name="Text">
    </p:cNvPr>
          <p:cNvSpPr>
            <a:spLocks noGrp="1"/>
          </p:cNvSpPr>
          <p:nvPr/>
        </p:nvSpPr>
        <p:spPr>
          <a:xfrm rot="0">
            <a:off x="5930900" y="37719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[e-Biz] POS기 전송 테스트 및 보완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[CCS] 결재요청시 결재선 심사부서 임직원 부서 및 재/퇴직 유무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체크 로직 추가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[Lube E-Biz] 서블릿 HANG 현상 원인 파악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[e-Biz] 계정 생성 프로시저 api 구축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인수인계 문서 생성</a:t>
            </a:r>
          </a:p>
        </p:txBody>
      </p:sp>
      <p:sp>
        <p:nvSpPr>
          <p:cNvPr id="960191324" name="Text">
    </p:cNvPr>
          <p:cNvSpPr>
            <a:spLocks noGrp="1"/>
          </p:cNvSpPr>
          <p:nvPr/>
        </p:nvSpPr>
        <p:spPr>
          <a:xfrm rot="0">
            <a:off x="53086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e-Biz/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CCS/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Lube E-Biz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이여진</a:t>
            </a:r>
          </a:p>
        </p:txBody>
      </p:sp>
      <p:sp>
        <p:nvSpPr>
          <p:cNvPr id="1113135833" name="Text">
    </p:cNvPr>
          <p:cNvSpPr>
            <a:spLocks noGrp="1"/>
          </p:cNvSpPr>
          <p:nvPr/>
        </p:nvSpPr>
        <p:spPr>
          <a:xfrm rot="0">
            <a:off x="889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e-Biz/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CCS/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Lube E-Biz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이여진</a:t>
            </a:r>
          </a:p>
        </p:txBody>
      </p:sp>
      <p:sp>
        <p:nvSpPr>
          <p:cNvPr id="230304981" name="Text">
    </p:cNvPr>
          <p:cNvSpPr>
            <a:spLocks noGrp="1"/>
          </p:cNvSpPr>
          <p:nvPr/>
        </p:nvSpPr>
        <p:spPr>
          <a:xfrm rot="0">
            <a:off x="711200" y="37719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[e-Biz] POS기 전송 테스트 및 보완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[CCS] 결재요청시 결재선 심사부서 임직원 부서 및 재/퇴직 유무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체크 로직 추가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[Lube E-Biz] 서블릿 HANG 현상 원인 파악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[e-Biz] 계정 생성 프로시저 api 구축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[e-Biz] 현수막 대금완료 상태값 변경 기능 생성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인수인계 문서 생성</a:t>
            </a:r>
          </a:p>
        </p:txBody>
      </p:sp>
      <p:sp>
        <p:nvSpPr>
          <p:cNvPr id="606100191" name="Text">
    </p:cNvPr>
          <p:cNvSpPr>
            <a:spLocks noGrp="1"/>
          </p:cNvSpPr>
          <p:nvPr/>
        </p:nvSpPr>
        <p:spPr>
          <a:xfrm rot="0">
            <a:off x="44831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12/29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12/29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01/19</a:t>
            </a:r>
            <a:br/>
          </a:p>
        </p:txBody>
      </p:sp>
      <p:sp>
        <p:nvSpPr>
          <p:cNvPr id="1201804476" name="Text">
    </p:cNvPr>
          <p:cNvSpPr>
            <a:spLocks noGrp="1"/>
          </p:cNvSpPr>
          <p:nvPr/>
        </p:nvSpPr>
        <p:spPr>
          <a:xfrm rot="0">
            <a:off x="48514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99%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99%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30%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99%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12/13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20%</a:t>
            </a:r>
            <a:br/>
          </a:p>
        </p:txBody>
      </p:sp>
      <p:sp>
        <p:nvSpPr>
          <p:cNvPr id="1294422339" name="Text">
    </p:cNvPr>
          <p:cNvSpPr>
            <a:spLocks noGrp="1"/>
          </p:cNvSpPr>
          <p:nvPr/>
        </p:nvSpPr>
        <p:spPr>
          <a:xfrm rot="0">
            <a:off x="4114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07/28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09/18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10/20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11/09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12/04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12/15</a:t>
            </a:r>
            <a:br/>
          </a:p>
        </p:txBody>
      </p:sp>
      <p:sp>
        <p:nvSpPr>
          <p:cNvPr id="296161462" name="Text">
    </p:cNvPr>
          <p:cNvSpPr>
            <a:spLocks noGrp="1"/>
          </p:cNvSpPr>
          <p:nvPr/>
        </p:nvSpPr>
        <p:spPr>
          <a:xfrm rot="0">
            <a:off x="6604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938956543" name="Text">
    </p:cNvPr>
          <p:cNvSpPr>
            <a:spLocks noGrp="1"/>
          </p:cNvSpPr>
          <p:nvPr/>
        </p:nvSpPr>
        <p:spPr>
          <a:xfrm rot="0">
            <a:off x="58801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3210441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394091335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056365502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859513393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1859908340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b="1" sz="15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570">
                <a:latin typeface="맑은 고딕"/>
                <a:ea typeface="맑은 고딕"/>
                <a:cs typeface="맑은 고딕"/>
              </a:rPr>
              <a:t>3. 주간업무 실적 및 계획(①Baynex - ERP)</a:t>
            </a:r>
          </a:p>
        </p:txBody>
      </p:sp>
      <p:sp>
        <p:nvSpPr>
          <p:cNvPr id="327232267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463612398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902291457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075817099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524373744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346090780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887963064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61186396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867827719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043649083" name="Text">
    </p:cNvPr>
          <p:cNvSpPr>
            <a:spLocks noGrp="1"/>
          </p:cNvSpPr>
          <p:nvPr/>
        </p:nvSpPr>
        <p:spPr>
          <a:xfrm rot="0">
            <a:off x="9702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12/29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12/22</a:t>
            </a:r>
            <a:br/>
          </a:p>
        </p:txBody>
      </p:sp>
      <p:sp>
        <p:nvSpPr>
          <p:cNvPr id="1667836088" name="Text">
    </p:cNvPr>
          <p:cNvSpPr>
            <a:spLocks noGrp="1"/>
          </p:cNvSpPr>
          <p:nvPr/>
        </p:nvSpPr>
        <p:spPr>
          <a:xfrm rot="0">
            <a:off x="93345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12/11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12/11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12/11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12/11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12/18</a:t>
            </a:r>
            <a:br/>
          </a:p>
        </p:txBody>
      </p:sp>
      <p:sp>
        <p:nvSpPr>
          <p:cNvPr id="909496299" name="Text">
    </p:cNvPr>
          <p:cNvSpPr>
            <a:spLocks noGrp="1"/>
          </p:cNvSpPr>
          <p:nvPr/>
        </p:nvSpPr>
        <p:spPr>
          <a:xfrm rot="0">
            <a:off x="5930900" y="15113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다면평가 평가자 추출 방식 개발 50%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퇴직연금 운용방식 변경 신청서 개발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임원 퇴직금 계산 명세서 로직 수정 요청  - 프로그램 개선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40%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휴가신청 / 휴가변경취소신청서 에서 소속부서 특정 관련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90%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HCM 문의 응대 </a:t>
            </a:r>
          </a:p>
        </p:txBody>
      </p:sp>
      <p:sp>
        <p:nvSpPr>
          <p:cNvPr id="1433164562" name="Text">
    </p:cNvPr>
          <p:cNvSpPr>
            <a:spLocks noGrp="1"/>
          </p:cNvSpPr>
          <p:nvPr/>
        </p:nvSpPr>
        <p:spPr>
          <a:xfrm rot="0">
            <a:off x="53086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HR/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HCM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최연화</a:t>
            </a:r>
          </a:p>
        </p:txBody>
      </p:sp>
      <p:sp>
        <p:nvSpPr>
          <p:cNvPr id="1297219214" name="Text">
    </p:cNvPr>
          <p:cNvSpPr>
            <a:spLocks noGrp="1"/>
          </p:cNvSpPr>
          <p:nvPr/>
        </p:nvSpPr>
        <p:spPr>
          <a:xfrm rot="0">
            <a:off x="889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HR/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HCM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최연화</a:t>
            </a:r>
          </a:p>
        </p:txBody>
      </p:sp>
      <p:sp>
        <p:nvSpPr>
          <p:cNvPr id="1733763956" name="Text">
    </p:cNvPr>
          <p:cNvSpPr>
            <a:spLocks noGrp="1"/>
          </p:cNvSpPr>
          <p:nvPr/>
        </p:nvSpPr>
        <p:spPr>
          <a:xfrm rot="0">
            <a:off x="711200" y="15113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다면평가 평가자 추출 방식 개발 - 사용자 테스트 및 수정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임원 퇴직금 계산 명세서 로직 수정 요청 - 데이타 변경건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임원 퇴직금 계산 명세서 로직 수정 요청  - 프로그램 개선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휴가신청 / 휴가변경취소신청서 에서 소속부서 특정 관련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HCM 문의 응대</a:t>
            </a:r>
          </a:p>
        </p:txBody>
      </p:sp>
      <p:sp>
        <p:nvSpPr>
          <p:cNvPr id="2131092194" name="Text">
    </p:cNvPr>
          <p:cNvSpPr>
            <a:spLocks noGrp="1"/>
          </p:cNvSpPr>
          <p:nvPr/>
        </p:nvSpPr>
        <p:spPr>
          <a:xfrm rot="0">
            <a:off x="44831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12/29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12/31</a:t>
            </a:r>
            <a:br/>
          </a:p>
        </p:txBody>
      </p:sp>
      <p:sp>
        <p:nvSpPr>
          <p:cNvPr id="1216774875" name="Text">
    </p:cNvPr>
          <p:cNvSpPr>
            <a:spLocks noGrp="1"/>
          </p:cNvSpPr>
          <p:nvPr/>
        </p:nvSpPr>
        <p:spPr>
          <a:xfrm rot="0">
            <a:off x="48514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50%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40%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90%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100%</a:t>
            </a:r>
            <a:br/>
          </a:p>
        </p:txBody>
      </p:sp>
      <p:sp>
        <p:nvSpPr>
          <p:cNvPr id="174174411" name="Text">
    </p:cNvPr>
          <p:cNvSpPr>
            <a:spLocks noGrp="1"/>
          </p:cNvSpPr>
          <p:nvPr/>
        </p:nvSpPr>
        <p:spPr>
          <a:xfrm rot="0">
            <a:off x="4114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12/11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12/11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12/11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12/11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12/11</a:t>
            </a:r>
            <a:br/>
          </a:p>
        </p:txBody>
      </p:sp>
      <p:sp>
        <p:nvSpPr>
          <p:cNvPr id="1416851056" name="Text">
    </p:cNvPr>
          <p:cNvSpPr>
            <a:spLocks noGrp="1"/>
          </p:cNvSpPr>
          <p:nvPr/>
        </p:nvSpPr>
        <p:spPr>
          <a:xfrm rot="0">
            <a:off x="6604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78746862" name="Text">
    </p:cNvPr>
          <p:cNvSpPr>
            <a:spLocks noGrp="1"/>
          </p:cNvSpPr>
          <p:nvPr/>
        </p:nvSpPr>
        <p:spPr>
          <a:xfrm rot="0">
            <a:off x="58801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7773689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2143112897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821211048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946625468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710209758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b="1" sz="15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570">
                <a:latin typeface="맑은 고딕"/>
                <a:ea typeface="맑은 고딕"/>
                <a:cs typeface="맑은 고딕"/>
              </a:rPr>
              <a:t>3. 주간업무 실적 및 계획(①Baynex - ERP)</a:t>
            </a:r>
          </a:p>
        </p:txBody>
      </p:sp>
      <p:sp>
        <p:nvSpPr>
          <p:cNvPr id="1057646611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438308789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078662902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301597217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565346160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997556564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596757610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217391101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2054444643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830557528" name="Text">
    </p:cNvPr>
          <p:cNvSpPr>
            <a:spLocks noGrp="1"/>
          </p:cNvSpPr>
          <p:nvPr/>
        </p:nvSpPr>
        <p:spPr>
          <a:xfrm rot="0">
            <a:off x="9702800" y="1511300"/>
            <a:ext cx="368300" cy="36449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12/31</a:t>
            </a:r>
            <a:br/>
            <a:br/>
            <a:br/>
            <a:br/>
          </a:p>
        </p:txBody>
      </p:sp>
      <p:sp>
        <p:nvSpPr>
          <p:cNvPr id="1086546957" name="Text">
    </p:cNvPr>
          <p:cNvSpPr>
            <a:spLocks noGrp="1"/>
          </p:cNvSpPr>
          <p:nvPr/>
        </p:nvSpPr>
        <p:spPr>
          <a:xfrm rot="0">
            <a:off x="9334500" y="1511300"/>
            <a:ext cx="368300" cy="36449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07/12</a:t>
            </a:r>
            <a:br/>
            <a:br/>
            <a:br/>
            <a:br/>
          </a:p>
        </p:txBody>
      </p:sp>
      <p:sp>
        <p:nvSpPr>
          <p:cNvPr id="1999945193" name="Text">
    </p:cNvPr>
          <p:cNvSpPr>
            <a:spLocks noGrp="1"/>
          </p:cNvSpPr>
          <p:nvPr/>
        </p:nvSpPr>
        <p:spPr>
          <a:xfrm rot="0">
            <a:off x="5930900" y="1511300"/>
            <a:ext cx="3403600" cy="36449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ITSM-89436SABIC 시스템 연동 구축-7/13 ~ 7/24 모니터링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프로그램 개발-7/27 ~ 8/7    오픈데이터 업로드 및 운영반영-8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/8   ~ 운영 반영 후 마이그레이션 데이터로             인한 버그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수정</a:t>
            </a:r>
          </a:p>
        </p:txBody>
      </p:sp>
      <p:sp>
        <p:nvSpPr>
          <p:cNvPr id="799746594" name="Text">
    </p:cNvPr>
          <p:cNvSpPr>
            <a:spLocks noGrp="1"/>
          </p:cNvSpPr>
          <p:nvPr/>
        </p:nvSpPr>
        <p:spPr>
          <a:xfrm rot="0">
            <a:off x="5308600" y="1511300"/>
            <a:ext cx="571500" cy="36449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TD/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SD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최진우</a:t>
            </a:r>
          </a:p>
        </p:txBody>
      </p:sp>
      <p:sp>
        <p:nvSpPr>
          <p:cNvPr id="570445400" name="Text">
    </p:cNvPr>
          <p:cNvSpPr>
            <a:spLocks noGrp="1"/>
          </p:cNvSpPr>
          <p:nvPr/>
        </p:nvSpPr>
        <p:spPr>
          <a:xfrm rot="0">
            <a:off x="88900" y="1511300"/>
            <a:ext cx="571500" cy="36449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TD/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SD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최진우</a:t>
            </a:r>
          </a:p>
        </p:txBody>
      </p:sp>
      <p:sp>
        <p:nvSpPr>
          <p:cNvPr id="2033759513" name="Text">
    </p:cNvPr>
          <p:cNvSpPr>
            <a:spLocks noGrp="1"/>
          </p:cNvSpPr>
          <p:nvPr/>
        </p:nvSpPr>
        <p:spPr>
          <a:xfrm rot="0">
            <a:off x="711200" y="1511300"/>
            <a:ext cx="3403600" cy="36449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[TD] ITSM-91037 실수송 거리 측정데이타 erp 연동요청-5/4~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프로그램 및 RFC 생성- 8/22 I/F 정의서 변경으로 로직 수정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[SD] ITSM-93611 ZSDR7090 - 담보관리:채권대비 담보확보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액” 개선요청-6/2~ 변경 요청사항 반영- 8/29~8/30 요구사항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변경으로 로직수정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[SD] ITSM-96689PRM 거래처 마스터 항목별 관리를 위한 ERP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마스터 분개처리 구조 보완 요청-7/3 RFC 구조 생성-7/4 조건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별 T코드 및 프로그램 코딩-7/5 처리결과 리턴 기능 추가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[SD] ITSM-89436SABIC 시스템 연동 구축-7/13 ~ 7/24 모니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터링 프로그램 개발-7/27 ~ 8/7    오픈데이터 업로드 및 운영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반영-8/8   ~ 운영 반영 후 마이그레이션 데이터로             인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한 버그 수정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ITSM-102063S-OIL &amp; SABIC Integration을 통한 ERP 내부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시스템 개선 요청-10/30~ 업무자동화 프로세스 적용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ITSM-104195e-Biz. 가격조회 RFC 수정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[TD] ITSM-102063ZPLER0010 선적관련일 필드 추가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[TD] ITSM-99139출하처 변경사유 항목 추가 및 기존 항목 변경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[SD] ITSM-101222업무효율성 제고 관련, ERP업무 개선사항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요청- ZCMR4174 신규프로그램 생성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[SD] ITSM-104108모바일상품권 취소 캐시백 수정요청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[SD] ITSM-103659BOA 마일리지 적립률 변경 협조 요청</a:t>
            </a:r>
          </a:p>
        </p:txBody>
      </p:sp>
      <p:sp>
        <p:nvSpPr>
          <p:cNvPr id="733058082" name="Text">
    </p:cNvPr>
          <p:cNvSpPr>
            <a:spLocks noGrp="1"/>
          </p:cNvSpPr>
          <p:nvPr/>
        </p:nvSpPr>
        <p:spPr>
          <a:xfrm rot="0">
            <a:off x="4483100" y="1511300"/>
            <a:ext cx="368300" cy="36449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07/31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07/31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07/31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12/31</a:t>
            </a:r>
            <a:br/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12/29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12/13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12/14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12/15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12/29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12/29</a:t>
            </a:r>
            <a:br/>
          </a:p>
        </p:txBody>
      </p:sp>
      <p:sp>
        <p:nvSpPr>
          <p:cNvPr id="1572688204" name="Text">
    </p:cNvPr>
          <p:cNvSpPr>
            <a:spLocks noGrp="1"/>
          </p:cNvSpPr>
          <p:nvPr/>
        </p:nvSpPr>
        <p:spPr>
          <a:xfrm rot="0">
            <a:off x="4851400" y="1511300"/>
            <a:ext cx="368300" cy="36449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80%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90%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90%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95%</a:t>
            </a:r>
            <a:br/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90%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12/13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12/14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12/15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12/15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12/14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12/14</a:t>
            </a:r>
            <a:br/>
          </a:p>
        </p:txBody>
      </p:sp>
      <p:sp>
        <p:nvSpPr>
          <p:cNvPr id="2104473133" name="Text">
    </p:cNvPr>
          <p:cNvSpPr>
            <a:spLocks noGrp="1"/>
          </p:cNvSpPr>
          <p:nvPr/>
        </p:nvSpPr>
        <p:spPr>
          <a:xfrm rot="0">
            <a:off x="4114800" y="1511300"/>
            <a:ext cx="368300" cy="36449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05/04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06/02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07/03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07/12</a:t>
            </a:r>
            <a:br/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10/30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12/13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12/14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12/15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12/01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12/13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12/14</a:t>
            </a:r>
            <a:br/>
          </a:p>
        </p:txBody>
      </p:sp>
      <p:sp>
        <p:nvSpPr>
          <p:cNvPr id="1094931684" name="Text">
    </p:cNvPr>
          <p:cNvSpPr>
            <a:spLocks noGrp="1"/>
          </p:cNvSpPr>
          <p:nvPr/>
        </p:nvSpPr>
        <p:spPr>
          <a:xfrm rot="0">
            <a:off x="660400" y="1511300"/>
            <a:ext cx="3454400" cy="36449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727322218" name="Text">
    </p:cNvPr>
          <p:cNvSpPr>
            <a:spLocks noGrp="1"/>
          </p:cNvSpPr>
          <p:nvPr/>
        </p:nvSpPr>
        <p:spPr>
          <a:xfrm rot="0">
            <a:off x="5880100" y="1511300"/>
            <a:ext cx="3454400" cy="36449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0254102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831882319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653553890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929220787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1316414863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b="1" sz="15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570">
                <a:latin typeface="맑은 고딕"/>
                <a:ea typeface="맑은 고딕"/>
                <a:cs typeface="맑은 고딕"/>
              </a:rPr>
              <a:t>3. 주간업무 실적 및 계획(①Baynex - WEB)</a:t>
            </a:r>
          </a:p>
        </p:txBody>
      </p:sp>
      <p:sp>
        <p:nvSpPr>
          <p:cNvPr id="568039480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615358337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95157495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2080910160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24078001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240899722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325103879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772754064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1412430606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681702385" name="Text">
    </p:cNvPr>
          <p:cNvSpPr>
            <a:spLocks noGrp="1"/>
          </p:cNvSpPr>
          <p:nvPr/>
        </p:nvSpPr>
        <p:spPr>
          <a:xfrm rot="0">
            <a:off x="9702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12/27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12/29</a:t>
            </a:r>
            <a:br/>
            <a:br/>
          </a:p>
        </p:txBody>
      </p:sp>
      <p:sp>
        <p:nvSpPr>
          <p:cNvPr id="1046452075" name="Text">
    </p:cNvPr>
          <p:cNvSpPr>
            <a:spLocks noGrp="1"/>
          </p:cNvSpPr>
          <p:nvPr/>
        </p:nvSpPr>
        <p:spPr>
          <a:xfrm rot="0">
            <a:off x="93345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08/22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10/19</a:t>
            </a:r>
            <a:br/>
            <a:br/>
          </a:p>
        </p:txBody>
      </p:sp>
      <p:sp>
        <p:nvSpPr>
          <p:cNvPr id="1783628282" name="Text">
    </p:cNvPr>
          <p:cNvSpPr>
            <a:spLocks noGrp="1"/>
          </p:cNvSpPr>
          <p:nvPr/>
        </p:nvSpPr>
        <p:spPr>
          <a:xfrm rot="0">
            <a:off x="5930900" y="15113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[OSPM] ITSM-96727 [OSPM] Application Secure Coding 취약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점 개선 요청 건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ITSM-99071 CP 내의 문자발송 기능 수정 개발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요청</a:t>
            </a:r>
          </a:p>
        </p:txBody>
      </p:sp>
      <p:sp>
        <p:nvSpPr>
          <p:cNvPr id="1099722805" name="Text">
    </p:cNvPr>
          <p:cNvSpPr>
            <a:spLocks noGrp="1"/>
          </p:cNvSpPr>
          <p:nvPr/>
        </p:nvSpPr>
        <p:spPr>
          <a:xfrm rot="0">
            <a:off x="53086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OSPM/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E-Approval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고귀한</a:t>
            </a:r>
          </a:p>
        </p:txBody>
      </p:sp>
      <p:sp>
        <p:nvSpPr>
          <p:cNvPr id="1721056654" name="Text">
    </p:cNvPr>
          <p:cNvSpPr>
            <a:spLocks noGrp="1"/>
          </p:cNvSpPr>
          <p:nvPr/>
        </p:nvSpPr>
        <p:spPr>
          <a:xfrm rot="0">
            <a:off x="889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OSPM/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E-Approval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고귀한</a:t>
            </a:r>
          </a:p>
        </p:txBody>
      </p:sp>
      <p:sp>
        <p:nvSpPr>
          <p:cNvPr id="615717624" name="Text">
    </p:cNvPr>
          <p:cNvSpPr>
            <a:spLocks noGrp="1"/>
          </p:cNvSpPr>
          <p:nvPr/>
        </p:nvSpPr>
        <p:spPr>
          <a:xfrm rot="0">
            <a:off x="711200" y="15113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[OSPM] ITSM-96727 [OSPM] Application Secure Coding 취약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점 개선 요청 건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ITSM-99071 CP 내의 문자발송 기능 수정 개발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ITSM-103991 기안지 A42-23-0045 본문 내용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및 첨부 자료 변경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ITSM-104085 계약체결기안 재상신을 위한 문서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삭제 등 처리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ITSM-104099 기안지 문구 추가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[OSPM] ITSM-103904 협력업체 사용자관리내 검색항목 추가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요청</a:t>
            </a:r>
          </a:p>
        </p:txBody>
      </p:sp>
      <p:sp>
        <p:nvSpPr>
          <p:cNvPr id="1309048901" name="Text">
    </p:cNvPr>
          <p:cNvSpPr>
            <a:spLocks noGrp="1"/>
          </p:cNvSpPr>
          <p:nvPr/>
        </p:nvSpPr>
        <p:spPr>
          <a:xfrm rot="0">
            <a:off x="44831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12/27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12/29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12/11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12/12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12/12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12/14</a:t>
            </a:r>
            <a:br/>
            <a:br/>
          </a:p>
        </p:txBody>
      </p:sp>
      <p:sp>
        <p:nvSpPr>
          <p:cNvPr id="1814649960" name="Text">
    </p:cNvPr>
          <p:cNvSpPr>
            <a:spLocks noGrp="1"/>
          </p:cNvSpPr>
          <p:nvPr/>
        </p:nvSpPr>
        <p:spPr>
          <a:xfrm rot="0">
            <a:off x="48514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80%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80%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12/11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12/12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12/12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12/14</a:t>
            </a:r>
            <a:br/>
            <a:br/>
          </a:p>
        </p:txBody>
      </p:sp>
      <p:sp>
        <p:nvSpPr>
          <p:cNvPr id="597648686" name="Text">
    </p:cNvPr>
          <p:cNvSpPr>
            <a:spLocks noGrp="1"/>
          </p:cNvSpPr>
          <p:nvPr/>
        </p:nvSpPr>
        <p:spPr>
          <a:xfrm rot="0">
            <a:off x="4114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08/22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10/19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12/11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12/12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12/12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12/14</a:t>
            </a:r>
            <a:br/>
            <a:br/>
          </a:p>
        </p:txBody>
      </p:sp>
      <p:sp>
        <p:nvSpPr>
          <p:cNvPr id="533188479" name="Text">
    </p:cNvPr>
          <p:cNvSpPr>
            <a:spLocks noGrp="1"/>
          </p:cNvSpPr>
          <p:nvPr/>
        </p:nvSpPr>
        <p:spPr>
          <a:xfrm rot="0">
            <a:off x="6604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706651754" name="Text">
    </p:cNvPr>
          <p:cNvSpPr>
            <a:spLocks noGrp="1"/>
          </p:cNvSpPr>
          <p:nvPr/>
        </p:nvSpPr>
        <p:spPr>
          <a:xfrm rot="0">
            <a:off x="58801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129691817" name="Text">
    </p:cNvPr>
          <p:cNvSpPr>
            <a:spLocks noGrp="1"/>
          </p:cNvSpPr>
          <p:nvPr/>
        </p:nvSpPr>
        <p:spPr>
          <a:xfrm rot="0">
            <a:off x="9702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12/31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12/31</a:t>
            </a:r>
            <a:br/>
          </a:p>
        </p:txBody>
      </p:sp>
      <p:sp>
        <p:nvSpPr>
          <p:cNvPr id="465240568" name="Text">
    </p:cNvPr>
          <p:cNvSpPr>
            <a:spLocks noGrp="1"/>
          </p:cNvSpPr>
          <p:nvPr/>
        </p:nvSpPr>
        <p:spPr>
          <a:xfrm rot="0">
            <a:off x="93345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01/01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06/01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06/01</a:t>
            </a:r>
            <a:br/>
          </a:p>
        </p:txBody>
      </p:sp>
      <p:sp>
        <p:nvSpPr>
          <p:cNvPr id="983996871" name="Text">
    </p:cNvPr>
          <p:cNvSpPr>
            <a:spLocks noGrp="1"/>
          </p:cNvSpPr>
          <p:nvPr/>
        </p:nvSpPr>
        <p:spPr>
          <a:xfrm rot="0">
            <a:off x="5930900" y="37719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[OAS] 개발 지원 및 인수인계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[ePSMS] 인수인계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[OAS] RTS DashboardSecure Coding 취약점 개선 요청 건</a:t>
            </a:r>
          </a:p>
        </p:txBody>
      </p:sp>
      <p:sp>
        <p:nvSpPr>
          <p:cNvPr id="347243737" name="Text">
    </p:cNvPr>
          <p:cNvSpPr>
            <a:spLocks noGrp="1"/>
          </p:cNvSpPr>
          <p:nvPr/>
        </p:nvSpPr>
        <p:spPr>
          <a:xfrm rot="0">
            <a:off x="53086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OAS/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ePSMS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김상훈</a:t>
            </a:r>
          </a:p>
        </p:txBody>
      </p:sp>
      <p:sp>
        <p:nvSpPr>
          <p:cNvPr id="2052912148" name="Text">
    </p:cNvPr>
          <p:cNvSpPr>
            <a:spLocks noGrp="1"/>
          </p:cNvSpPr>
          <p:nvPr/>
        </p:nvSpPr>
        <p:spPr>
          <a:xfrm rot="0">
            <a:off x="889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OAS/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ePSMS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김상훈</a:t>
            </a:r>
          </a:p>
        </p:txBody>
      </p:sp>
      <p:sp>
        <p:nvSpPr>
          <p:cNvPr id="967544422" name="Text">
    </p:cNvPr>
          <p:cNvSpPr>
            <a:spLocks noGrp="1"/>
          </p:cNvSpPr>
          <p:nvPr/>
        </p:nvSpPr>
        <p:spPr>
          <a:xfrm rot="0">
            <a:off x="711200" y="37719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[OAS] 개발 지원 및 인수인계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[ePSMS] 인수인계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RTS DashboardSecure Coding 취약점 개선 요청 건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[ePSMS] New RTDB 연동 테스트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[OAS] [ITSM-103623]OAS user 권한 부여 시 사용 만료 기간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지정 기능 추가</a:t>
            </a:r>
          </a:p>
        </p:txBody>
      </p:sp>
      <p:sp>
        <p:nvSpPr>
          <p:cNvPr id="936198197" name="Text">
    </p:cNvPr>
          <p:cNvSpPr>
            <a:spLocks noGrp="1"/>
          </p:cNvSpPr>
          <p:nvPr/>
        </p:nvSpPr>
        <p:spPr>
          <a:xfrm rot="0">
            <a:off x="44831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12/15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12/15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12/31</a:t>
            </a:r>
            <a:br/>
            <a:br/>
          </a:p>
        </p:txBody>
      </p:sp>
      <p:sp>
        <p:nvSpPr>
          <p:cNvPr id="937008729" name="Text">
    </p:cNvPr>
          <p:cNvSpPr>
            <a:spLocks noGrp="1"/>
          </p:cNvSpPr>
          <p:nvPr/>
        </p:nvSpPr>
        <p:spPr>
          <a:xfrm rot="0">
            <a:off x="48514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12/15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12/15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70%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20%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50%</a:t>
            </a:r>
            <a:br/>
            <a:br/>
          </a:p>
        </p:txBody>
      </p:sp>
      <p:sp>
        <p:nvSpPr>
          <p:cNvPr id="716710114" name="Text">
    </p:cNvPr>
          <p:cNvSpPr>
            <a:spLocks noGrp="1"/>
          </p:cNvSpPr>
          <p:nvPr/>
        </p:nvSpPr>
        <p:spPr>
          <a:xfrm rot="0">
            <a:off x="4114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12/11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12/11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06/22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11/27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12/04</a:t>
            </a:r>
            <a:br/>
            <a:br/>
          </a:p>
        </p:txBody>
      </p:sp>
      <p:sp>
        <p:nvSpPr>
          <p:cNvPr id="1325745005" name="Text">
    </p:cNvPr>
          <p:cNvSpPr>
            <a:spLocks noGrp="1"/>
          </p:cNvSpPr>
          <p:nvPr/>
        </p:nvSpPr>
        <p:spPr>
          <a:xfrm rot="0">
            <a:off x="6604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311717456" name="Text">
    </p:cNvPr>
          <p:cNvSpPr>
            <a:spLocks noGrp="1"/>
          </p:cNvSpPr>
          <p:nvPr/>
        </p:nvSpPr>
        <p:spPr>
          <a:xfrm rot="0">
            <a:off x="58801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4457101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43029479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743501043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1455202992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532258067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b="1" sz="15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570">
                <a:latin typeface="맑은 고딕"/>
                <a:ea typeface="맑은 고딕"/>
                <a:cs typeface="맑은 고딕"/>
              </a:rPr>
              <a:t>3. 주간업무 실적 및 계획(①Baynex - WEB)</a:t>
            </a:r>
          </a:p>
        </p:txBody>
      </p:sp>
      <p:sp>
        <p:nvSpPr>
          <p:cNvPr id="430979752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592857923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273470651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137607332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530103055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244582265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018248587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99050011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1275180178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889010034" name="Text">
    </p:cNvPr>
          <p:cNvSpPr>
            <a:spLocks noGrp="1"/>
          </p:cNvSpPr>
          <p:nvPr/>
        </p:nvSpPr>
        <p:spPr>
          <a:xfrm rot="0">
            <a:off x="9702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12/31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03/31</a:t>
            </a:r>
            <a:br/>
          </a:p>
        </p:txBody>
      </p:sp>
      <p:sp>
        <p:nvSpPr>
          <p:cNvPr id="1164982159" name="Text">
    </p:cNvPr>
          <p:cNvSpPr>
            <a:spLocks noGrp="1"/>
          </p:cNvSpPr>
          <p:nvPr/>
        </p:nvSpPr>
        <p:spPr>
          <a:xfrm rot="0">
            <a:off x="93345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06/13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09/05</a:t>
            </a:r>
            <a:br/>
          </a:p>
        </p:txBody>
      </p:sp>
      <p:sp>
        <p:nvSpPr>
          <p:cNvPr id="617902497" name="Text">
    </p:cNvPr>
          <p:cNvSpPr>
            <a:spLocks noGrp="1"/>
          </p:cNvSpPr>
          <p:nvPr/>
        </p:nvSpPr>
        <p:spPr>
          <a:xfrm rot="0">
            <a:off x="5930900" y="15113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[PRM] 주유소/충전소 PRM 거래처 마스터 신규 등록시 필수 계약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자동 체결요청 시스템 구축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[PRM] PRM 실수송 거리 측정데이타 erp 연동요청</a:t>
            </a:r>
          </a:p>
        </p:txBody>
      </p:sp>
      <p:sp>
        <p:nvSpPr>
          <p:cNvPr id="1697703053" name="Text">
    </p:cNvPr>
          <p:cNvSpPr>
            <a:spLocks noGrp="1"/>
          </p:cNvSpPr>
          <p:nvPr/>
        </p:nvSpPr>
        <p:spPr>
          <a:xfrm rot="0">
            <a:off x="53086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PRM/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S-ERP/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BI-EDW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남대현</a:t>
            </a:r>
          </a:p>
        </p:txBody>
      </p:sp>
      <p:sp>
        <p:nvSpPr>
          <p:cNvPr id="1427372744" name="Text">
    </p:cNvPr>
          <p:cNvSpPr>
            <a:spLocks noGrp="1"/>
          </p:cNvSpPr>
          <p:nvPr/>
        </p:nvSpPr>
        <p:spPr>
          <a:xfrm rot="0">
            <a:off x="889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PRM/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S-ERP/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BI-EDW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남대현</a:t>
            </a:r>
          </a:p>
        </p:txBody>
      </p:sp>
      <p:sp>
        <p:nvSpPr>
          <p:cNvPr id="295400362" name="Text">
    </p:cNvPr>
          <p:cNvSpPr>
            <a:spLocks noGrp="1"/>
          </p:cNvSpPr>
          <p:nvPr/>
        </p:nvSpPr>
        <p:spPr>
          <a:xfrm rot="0">
            <a:off x="711200" y="15113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[PRM] 주유소/충전소 PRM 거래처 마스터 신규 등록시 필수 계약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자동 체결요청 시스템 구축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[PRM] PRM 실수송 거리 측정데이타 erp 연동요청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[PRM]  e-biz홍보물 대금지급을 위한 최종 상태 코드 생성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[PRM] 수송비 ERP 거리와 API 측정거리 차이 기능 추가</a:t>
            </a:r>
          </a:p>
        </p:txBody>
      </p:sp>
      <p:sp>
        <p:nvSpPr>
          <p:cNvPr id="382030145" name="Text">
    </p:cNvPr>
          <p:cNvSpPr>
            <a:spLocks noGrp="1"/>
          </p:cNvSpPr>
          <p:nvPr/>
        </p:nvSpPr>
        <p:spPr>
          <a:xfrm rot="0">
            <a:off x="44831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12/31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03/31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12/27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12/15</a:t>
            </a:r>
            <a:br/>
          </a:p>
        </p:txBody>
      </p:sp>
      <p:sp>
        <p:nvSpPr>
          <p:cNvPr id="1957940120" name="Text">
    </p:cNvPr>
          <p:cNvSpPr>
            <a:spLocks noGrp="1"/>
          </p:cNvSpPr>
          <p:nvPr/>
        </p:nvSpPr>
        <p:spPr>
          <a:xfrm rot="0">
            <a:off x="48514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85%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80%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12/15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12/15</a:t>
            </a:r>
            <a:br/>
          </a:p>
        </p:txBody>
      </p:sp>
      <p:sp>
        <p:nvSpPr>
          <p:cNvPr id="1052555900" name="Text">
    </p:cNvPr>
          <p:cNvSpPr>
            <a:spLocks noGrp="1"/>
          </p:cNvSpPr>
          <p:nvPr/>
        </p:nvSpPr>
        <p:spPr>
          <a:xfrm rot="0">
            <a:off x="4114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06/13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09/05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11/20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12/12</a:t>
            </a:r>
            <a:br/>
          </a:p>
        </p:txBody>
      </p:sp>
      <p:sp>
        <p:nvSpPr>
          <p:cNvPr id="1953531938" name="Text">
    </p:cNvPr>
          <p:cNvSpPr>
            <a:spLocks noGrp="1"/>
          </p:cNvSpPr>
          <p:nvPr/>
        </p:nvSpPr>
        <p:spPr>
          <a:xfrm rot="0">
            <a:off x="6604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208193204" name="Text">
    </p:cNvPr>
          <p:cNvSpPr>
            <a:spLocks noGrp="1"/>
          </p:cNvSpPr>
          <p:nvPr/>
        </p:nvSpPr>
        <p:spPr>
          <a:xfrm rot="0">
            <a:off x="58801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570850599" name="Text">
    </p:cNvPr>
          <p:cNvSpPr>
            <a:spLocks noGrp="1"/>
          </p:cNvSpPr>
          <p:nvPr/>
        </p:nvSpPr>
        <p:spPr>
          <a:xfrm rot="0">
            <a:off x="9702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12/22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12/22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12/22</a:t>
            </a:r>
            <a:br/>
          </a:p>
        </p:txBody>
      </p:sp>
      <p:sp>
        <p:nvSpPr>
          <p:cNvPr id="2033343553" name="Text">
    </p:cNvPr>
          <p:cNvSpPr>
            <a:spLocks noGrp="1"/>
          </p:cNvSpPr>
          <p:nvPr/>
        </p:nvSpPr>
        <p:spPr>
          <a:xfrm rot="0">
            <a:off x="93345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12/18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12/18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12/18</a:t>
            </a:r>
            <a:br/>
          </a:p>
        </p:txBody>
      </p:sp>
      <p:sp>
        <p:nvSpPr>
          <p:cNvPr id="166980317" name="Text">
    </p:cNvPr>
          <p:cNvSpPr>
            <a:spLocks noGrp="1"/>
          </p:cNvSpPr>
          <p:nvPr/>
        </p:nvSpPr>
        <p:spPr>
          <a:xfrm rot="0">
            <a:off x="5930900" y="37719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[ASM] JIRA 변경 관리 요청 업무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[ATSS] 소스 내 naver 지도 api 소스 반영 테스트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[Mobile] 공지사항 검색 기능 추가</a:t>
            </a:r>
          </a:p>
        </p:txBody>
      </p:sp>
      <p:sp>
        <p:nvSpPr>
          <p:cNvPr id="1562467687" name="Text">
    </p:cNvPr>
          <p:cNvSpPr>
            <a:spLocks noGrp="1"/>
          </p:cNvSpPr>
          <p:nvPr/>
        </p:nvSpPr>
        <p:spPr>
          <a:xfrm rot="0">
            <a:off x="53086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ATSS/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ASM/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Mobile/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Admin관리/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GCMS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박민우</a:t>
            </a:r>
          </a:p>
        </p:txBody>
      </p:sp>
      <p:sp>
        <p:nvSpPr>
          <p:cNvPr id="1281359009" name="Text">
    </p:cNvPr>
          <p:cNvSpPr>
            <a:spLocks noGrp="1"/>
          </p:cNvSpPr>
          <p:nvPr/>
        </p:nvSpPr>
        <p:spPr>
          <a:xfrm rot="0">
            <a:off x="889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ATSS/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ASM/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Mobile/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Admin관리/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GCMS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박민우</a:t>
            </a:r>
          </a:p>
        </p:txBody>
      </p:sp>
      <p:sp>
        <p:nvSpPr>
          <p:cNvPr id="669278527" name="Text">
    </p:cNvPr>
          <p:cNvSpPr>
            <a:spLocks noGrp="1"/>
          </p:cNvSpPr>
          <p:nvPr/>
        </p:nvSpPr>
        <p:spPr>
          <a:xfrm rot="0">
            <a:off x="711200" y="37719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[Mobile] 공지사항 검색 기능 추가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[ATSS] naver api 반영 테스트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[ASM] ITSM-103999 변경결과 작성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[Mobile] ios developer 권한 계정 추가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[ASM] ITSM-103323 서비스요청서 삭제ITSM-78062 서비스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요청서 삭제ITSM-104175 변경결과 작성ITSM-104174 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경결과 작성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[ASM] 입사 / 퇴사 계정 주가 및 삭제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[ASM] ITSM-104139 변경결과 작성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[ASM] ITSM-101395 요청자 사번 변경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[ATSS] 출하처 변경사유 항목 추가 및 기존 항목 변경 요청</a:t>
            </a:r>
          </a:p>
        </p:txBody>
      </p:sp>
      <p:sp>
        <p:nvSpPr>
          <p:cNvPr id="836227612" name="Text">
    </p:cNvPr>
          <p:cNvSpPr>
            <a:spLocks noGrp="1"/>
          </p:cNvSpPr>
          <p:nvPr/>
        </p:nvSpPr>
        <p:spPr>
          <a:xfrm rot="0">
            <a:off x="44831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12/15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12/15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12/11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12/11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12/13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12/13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12/14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12/15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12/15</a:t>
            </a:r>
            <a:br/>
          </a:p>
        </p:txBody>
      </p:sp>
      <p:sp>
        <p:nvSpPr>
          <p:cNvPr id="1716157220" name="Text">
    </p:cNvPr>
          <p:cNvSpPr>
            <a:spLocks noGrp="1"/>
          </p:cNvSpPr>
          <p:nvPr/>
        </p:nvSpPr>
        <p:spPr>
          <a:xfrm rot="0">
            <a:off x="48514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65%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15%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12/11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12/11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12/13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12/13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12/14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12/15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12/15</a:t>
            </a:r>
            <a:br/>
          </a:p>
        </p:txBody>
      </p:sp>
      <p:sp>
        <p:nvSpPr>
          <p:cNvPr id="1438857656" name="Text">
    </p:cNvPr>
          <p:cNvSpPr>
            <a:spLocks noGrp="1"/>
          </p:cNvSpPr>
          <p:nvPr/>
        </p:nvSpPr>
        <p:spPr>
          <a:xfrm rot="0">
            <a:off x="4114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12/11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12/11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12/11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12/11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12/13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12/13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12/14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12/15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12/15</a:t>
            </a:r>
            <a:br/>
          </a:p>
        </p:txBody>
      </p:sp>
      <p:sp>
        <p:nvSpPr>
          <p:cNvPr id="1370113958" name="Text">
    </p:cNvPr>
          <p:cNvSpPr>
            <a:spLocks noGrp="1"/>
          </p:cNvSpPr>
          <p:nvPr/>
        </p:nvSpPr>
        <p:spPr>
          <a:xfrm rot="0">
            <a:off x="6604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583491261" name="Text">
    </p:cNvPr>
          <p:cNvSpPr>
            <a:spLocks noGrp="1"/>
          </p:cNvSpPr>
          <p:nvPr/>
        </p:nvSpPr>
        <p:spPr>
          <a:xfrm rot="0">
            <a:off x="58801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8067342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663097655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613610774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1811547897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657071123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b="1" sz="15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570">
                <a:latin typeface="맑은 고딕"/>
                <a:ea typeface="맑은 고딕"/>
                <a:cs typeface="맑은 고딕"/>
              </a:rPr>
              <a:t>3. 주간업무 실적 및 계획(①Baynex - WEB)</a:t>
            </a:r>
          </a:p>
        </p:txBody>
      </p:sp>
      <p:sp>
        <p:nvSpPr>
          <p:cNvPr id="808627816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54249277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953013357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341165027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788095387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936053723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634983923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707250603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1629812615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249474475" name="Text">
    </p:cNvPr>
          <p:cNvSpPr>
            <a:spLocks noGrp="1"/>
          </p:cNvSpPr>
          <p:nvPr/>
        </p:nvSpPr>
        <p:spPr>
          <a:xfrm rot="0">
            <a:off x="9702800" y="1511300"/>
            <a:ext cx="368300" cy="34925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12/22</a:t>
            </a:r>
            <a:br/>
          </a:p>
        </p:txBody>
      </p:sp>
      <p:sp>
        <p:nvSpPr>
          <p:cNvPr id="1898805188" name="Text">
    </p:cNvPr>
          <p:cNvSpPr>
            <a:spLocks noGrp="1"/>
          </p:cNvSpPr>
          <p:nvPr/>
        </p:nvSpPr>
        <p:spPr>
          <a:xfrm rot="0">
            <a:off x="9334500" y="1511300"/>
            <a:ext cx="368300" cy="34925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12/18</a:t>
            </a:r>
            <a:br/>
          </a:p>
        </p:txBody>
      </p:sp>
      <p:sp>
        <p:nvSpPr>
          <p:cNvPr id="1699975899" name="Text">
    </p:cNvPr>
          <p:cNvSpPr>
            <a:spLocks noGrp="1"/>
          </p:cNvSpPr>
          <p:nvPr/>
        </p:nvSpPr>
        <p:spPr>
          <a:xfrm rot="0">
            <a:off x="5930900" y="1511300"/>
            <a:ext cx="3403600" cy="34925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[RPA] 이상관리 및 재수행</a:t>
            </a:r>
            <a:br/>
          </a:p>
        </p:txBody>
      </p:sp>
      <p:sp>
        <p:nvSpPr>
          <p:cNvPr id="588110137" name="Text">
    </p:cNvPr>
          <p:cNvSpPr>
            <a:spLocks noGrp="1"/>
          </p:cNvSpPr>
          <p:nvPr/>
        </p:nvSpPr>
        <p:spPr>
          <a:xfrm rot="0">
            <a:off x="5308600" y="1511300"/>
            <a:ext cx="571500" cy="34925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RPA/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전자계약/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PPS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박선미</a:t>
            </a:r>
          </a:p>
        </p:txBody>
      </p:sp>
      <p:sp>
        <p:nvSpPr>
          <p:cNvPr id="1489345286" name="Text">
    </p:cNvPr>
          <p:cNvSpPr>
            <a:spLocks noGrp="1"/>
          </p:cNvSpPr>
          <p:nvPr/>
        </p:nvSpPr>
        <p:spPr>
          <a:xfrm rot="0">
            <a:off x="88900" y="1511300"/>
            <a:ext cx="571500" cy="34925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RPA/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전자계약/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PPS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박선미</a:t>
            </a:r>
          </a:p>
        </p:txBody>
      </p:sp>
      <p:sp>
        <p:nvSpPr>
          <p:cNvPr id="1120687245" name="Text">
    </p:cNvPr>
          <p:cNvSpPr>
            <a:spLocks noGrp="1"/>
          </p:cNvSpPr>
          <p:nvPr/>
        </p:nvSpPr>
        <p:spPr>
          <a:xfrm rot="0">
            <a:off x="711200" y="1511300"/>
            <a:ext cx="3403600" cy="34925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[RPA] 209PC 및 계정 확인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[RPA] A11 '#4 외화송금' 작업 수기처리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[RPA] RPA PC3대 화면보호기 방지 스크립트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생성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[RPA] A11 '사전점검' 작업 수기발송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[RPA] A360 '에너지관리팀-Daily Report' 작업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재수행 및 모니터링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[RPA] A11 '#1 회계지급전표' 작업 데이터정리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및 재수행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[RPA] A11 '#2 외화지급계좌 증빙대사' PDD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생성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[RPA] A11 -&gt; A360 Migration 방법 탐색 및 적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용, 테스트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[RPA] 209pc -&gt; 하드웨어 깨짐 PC 복구 불가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- 209pc 작업 백업본 117pc 로 업로드 및 테스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트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[RPA] 'CCS 사전점검' 작업 A11 -&gt; A360 운영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변경 및 스케쥴 등록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[RPA] 117pc SAP HCM 방화벽 오픈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[RPA] A11 '#4 외화송금' 새벽작업 모니터링 및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코드, vbs 일부 수정 및 재수행</a:t>
            </a:r>
            <a:br/>
          </a:p>
        </p:txBody>
      </p:sp>
      <p:sp>
        <p:nvSpPr>
          <p:cNvPr id="997245765" name="Text">
    </p:cNvPr>
          <p:cNvSpPr>
            <a:spLocks noGrp="1"/>
          </p:cNvSpPr>
          <p:nvPr/>
        </p:nvSpPr>
        <p:spPr>
          <a:xfrm rot="0">
            <a:off x="4483100" y="1511300"/>
            <a:ext cx="368300" cy="34925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12/11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12/11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12/11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12/15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12/15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12/15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12/29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12/29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12/14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12/14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12/14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12/15</a:t>
            </a:r>
            <a:br/>
            <a:br/>
          </a:p>
        </p:txBody>
      </p:sp>
      <p:sp>
        <p:nvSpPr>
          <p:cNvPr id="1996030211" name="Text">
    </p:cNvPr>
          <p:cNvSpPr>
            <a:spLocks noGrp="1"/>
          </p:cNvSpPr>
          <p:nvPr/>
        </p:nvSpPr>
        <p:spPr>
          <a:xfrm rot="0">
            <a:off x="4851400" y="1511300"/>
            <a:ext cx="368300" cy="34925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12/11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12/11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12/11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12/15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12/15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12/15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20%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80%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12/14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12/14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12/14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12/15</a:t>
            </a:r>
            <a:br/>
            <a:br/>
          </a:p>
        </p:txBody>
      </p:sp>
      <p:sp>
        <p:nvSpPr>
          <p:cNvPr id="43034993" name="Text">
    </p:cNvPr>
          <p:cNvSpPr>
            <a:spLocks noGrp="1"/>
          </p:cNvSpPr>
          <p:nvPr/>
        </p:nvSpPr>
        <p:spPr>
          <a:xfrm rot="0">
            <a:off x="4114800" y="1511300"/>
            <a:ext cx="368300" cy="34925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12/11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12/11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12/11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12/11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12/11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12/11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12/12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12/13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12/14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12/14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12/14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12/15</a:t>
            </a:r>
            <a:br/>
            <a:br/>
          </a:p>
        </p:txBody>
      </p:sp>
      <p:sp>
        <p:nvSpPr>
          <p:cNvPr id="576253330" name="Text">
    </p:cNvPr>
          <p:cNvSpPr>
            <a:spLocks noGrp="1"/>
          </p:cNvSpPr>
          <p:nvPr/>
        </p:nvSpPr>
        <p:spPr>
          <a:xfrm rot="0">
            <a:off x="660400" y="1511300"/>
            <a:ext cx="3454400" cy="34925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521103479" name="Text">
    </p:cNvPr>
          <p:cNvSpPr>
            <a:spLocks noGrp="1"/>
          </p:cNvSpPr>
          <p:nvPr/>
        </p:nvSpPr>
        <p:spPr>
          <a:xfrm rot="0">
            <a:off x="5880100" y="1511300"/>
            <a:ext cx="3454400" cy="34925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6264716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639401444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137520840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669365270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35430277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b="1" sz="15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570">
                <a:latin typeface="맑은 고딕"/>
                <a:ea typeface="맑은 고딕"/>
                <a:cs typeface="맑은 고딕"/>
              </a:rPr>
              <a:t>3. 주간업무 실적 및 계획(①Baynex - WEB)</a:t>
            </a:r>
          </a:p>
        </p:txBody>
      </p:sp>
      <p:sp>
        <p:nvSpPr>
          <p:cNvPr id="1193943423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842024994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728335497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25302363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397798861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576370459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735382495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985359012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1312123942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966846612" name="Text">
    </p:cNvPr>
          <p:cNvSpPr>
            <a:spLocks noGrp="1"/>
          </p:cNvSpPr>
          <p:nvPr/>
        </p:nvSpPr>
        <p:spPr>
          <a:xfrm rot="0">
            <a:off x="9702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12/29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12/29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12/29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12/29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12/29</a:t>
            </a:r>
            <a:br/>
            <a:br/>
          </a:p>
        </p:txBody>
      </p:sp>
      <p:sp>
        <p:nvSpPr>
          <p:cNvPr id="553124690" name="Text">
    </p:cNvPr>
          <p:cNvSpPr>
            <a:spLocks noGrp="1"/>
          </p:cNvSpPr>
          <p:nvPr/>
        </p:nvSpPr>
        <p:spPr>
          <a:xfrm rot="0">
            <a:off x="93345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07/20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10/23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08/22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10/02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11/20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12/11</a:t>
            </a:r>
            <a:br/>
            <a:br/>
          </a:p>
        </p:txBody>
      </p:sp>
      <p:sp>
        <p:nvSpPr>
          <p:cNvPr id="1737238757" name="Text">
    </p:cNvPr>
          <p:cNvSpPr>
            <a:spLocks noGrp="1"/>
          </p:cNvSpPr>
          <p:nvPr/>
        </p:nvSpPr>
        <p:spPr>
          <a:xfrm rot="0">
            <a:off x="5930900" y="15113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[TPMS] Application Secure Coding 취약점 개선 요청 건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산업안전보건관리비 계상 관련 시스템 보완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Soft Skill 인증제도(Skillset) 시행에 따른 LMS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개발 요청의 건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Defect Elimination Dashboard Renewal(신규 Po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rtal 구축) 관련 전자결재 연동 작업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보너스카드 서비스 중단유예 / 매출비율 기준 변경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신청서 format 변경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신규 CP 전자결재 문서 도입 요청 (사진촬영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서)</a:t>
            </a:r>
          </a:p>
        </p:txBody>
      </p:sp>
      <p:sp>
        <p:nvSpPr>
          <p:cNvPr id="37567598" name="Text">
    </p:cNvPr>
          <p:cNvSpPr>
            <a:spLocks noGrp="1"/>
          </p:cNvSpPr>
          <p:nvPr/>
        </p:nvSpPr>
        <p:spPr>
          <a:xfrm rot="0">
            <a:off x="53086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E-Approval/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TPMS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배영식</a:t>
            </a:r>
          </a:p>
        </p:txBody>
      </p:sp>
      <p:sp>
        <p:nvSpPr>
          <p:cNvPr id="1021808885" name="Text">
    </p:cNvPr>
          <p:cNvSpPr>
            <a:spLocks noGrp="1"/>
          </p:cNvSpPr>
          <p:nvPr/>
        </p:nvSpPr>
        <p:spPr>
          <a:xfrm rot="0">
            <a:off x="889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E-Approval/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TPMS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배영식</a:t>
            </a:r>
          </a:p>
        </p:txBody>
      </p:sp>
      <p:sp>
        <p:nvSpPr>
          <p:cNvPr id="1550182056" name="Text">
    </p:cNvPr>
          <p:cNvSpPr>
            <a:spLocks noGrp="1"/>
          </p:cNvSpPr>
          <p:nvPr/>
        </p:nvSpPr>
        <p:spPr>
          <a:xfrm rot="0">
            <a:off x="711200" y="15113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[TPMS] Application Secure Coding 취약점 개선 요청 건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산업안전보건관리비 계상 관련 시스템 보완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Soft Skill 인증제도(Skillset) 시행에 따른 LMS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개발 요청의 건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Defect Elimination Dashboard Renewal(신규 Po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rtal 구축) 관련 전자결재 연동 작업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보너스카드 서비스 중단유예 / 매출비율 기준 변경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신청서 format 변경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신규 CP 전자결재 문서 도입 요청 (사진촬영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서)</a:t>
            </a:r>
          </a:p>
        </p:txBody>
      </p:sp>
      <p:sp>
        <p:nvSpPr>
          <p:cNvPr id="1512580801" name="Text">
    </p:cNvPr>
          <p:cNvSpPr>
            <a:spLocks noGrp="1"/>
          </p:cNvSpPr>
          <p:nvPr/>
        </p:nvSpPr>
        <p:spPr>
          <a:xfrm rot="0">
            <a:off x="44831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12/29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12/29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12/29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12/29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12/29</a:t>
            </a:r>
            <a:br/>
            <a:br/>
          </a:p>
        </p:txBody>
      </p:sp>
      <p:sp>
        <p:nvSpPr>
          <p:cNvPr id="824029094" name="Text">
    </p:cNvPr>
          <p:cNvSpPr>
            <a:spLocks noGrp="1"/>
          </p:cNvSpPr>
          <p:nvPr/>
        </p:nvSpPr>
        <p:spPr>
          <a:xfrm rot="0">
            <a:off x="48514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40%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60%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70%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70%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70%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70%</a:t>
            </a:r>
            <a:br/>
            <a:br/>
          </a:p>
        </p:txBody>
      </p:sp>
      <p:sp>
        <p:nvSpPr>
          <p:cNvPr id="830337352" name="Text">
    </p:cNvPr>
          <p:cNvSpPr>
            <a:spLocks noGrp="1"/>
          </p:cNvSpPr>
          <p:nvPr/>
        </p:nvSpPr>
        <p:spPr>
          <a:xfrm rot="0">
            <a:off x="4114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07/20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10/23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08/22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10/02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11/20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12/11</a:t>
            </a:r>
            <a:br/>
            <a:br/>
          </a:p>
        </p:txBody>
      </p:sp>
      <p:sp>
        <p:nvSpPr>
          <p:cNvPr id="1113457001" name="Text">
    </p:cNvPr>
          <p:cNvSpPr>
            <a:spLocks noGrp="1"/>
          </p:cNvSpPr>
          <p:nvPr/>
        </p:nvSpPr>
        <p:spPr>
          <a:xfrm rot="0">
            <a:off x="6604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507539405" name="Text">
    </p:cNvPr>
          <p:cNvSpPr>
            <a:spLocks noGrp="1"/>
          </p:cNvSpPr>
          <p:nvPr/>
        </p:nvSpPr>
        <p:spPr>
          <a:xfrm rot="0">
            <a:off x="58801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693071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531878298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772723411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1773983098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1376711719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b="1" sz="15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570">
                <a:latin typeface="맑은 고딕"/>
                <a:ea typeface="맑은 고딕"/>
                <a:cs typeface="맑은 고딕"/>
              </a:rPr>
              <a:t>3. 주간업무 실적 및 계획(①Baynex - WEB)</a:t>
            </a:r>
          </a:p>
        </p:txBody>
      </p:sp>
      <p:sp>
        <p:nvSpPr>
          <p:cNvPr id="2100504503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482257350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472297650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917522849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371297472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99945089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505621095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933652714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1763506126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141922158" name="Text">
    </p:cNvPr>
          <p:cNvSpPr>
            <a:spLocks noGrp="1"/>
          </p:cNvSpPr>
          <p:nvPr/>
        </p:nvSpPr>
        <p:spPr>
          <a:xfrm rot="0">
            <a:off x="9702800" y="1511300"/>
            <a:ext cx="368300" cy="36449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12/29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12/29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12/22</a:t>
            </a:r>
            <a:br/>
            <a:br/>
          </a:p>
        </p:txBody>
      </p:sp>
      <p:sp>
        <p:nvSpPr>
          <p:cNvPr id="1924698951" name="Text">
    </p:cNvPr>
          <p:cNvSpPr>
            <a:spLocks noGrp="1"/>
          </p:cNvSpPr>
          <p:nvPr/>
        </p:nvSpPr>
        <p:spPr>
          <a:xfrm rot="0">
            <a:off x="9334500" y="1511300"/>
            <a:ext cx="368300" cy="36449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08/22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10/23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10/23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11/27</a:t>
            </a:r>
            <a:br/>
            <a:br/>
          </a:p>
        </p:txBody>
      </p:sp>
      <p:sp>
        <p:nvSpPr>
          <p:cNvPr id="135539096" name="Text">
    </p:cNvPr>
          <p:cNvSpPr>
            <a:spLocks noGrp="1"/>
          </p:cNvSpPr>
          <p:nvPr/>
        </p:nvSpPr>
        <p:spPr>
          <a:xfrm rot="0">
            <a:off x="5930900" y="1511300"/>
            <a:ext cx="3403600" cy="36449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[LMS] Soft Skill 인증제도(Skillset) 시행에 따른 LMS 개발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요청의 건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[ERM] ERM IT 시스템 BCP매뉴얼 등록 및 관리화면 개발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[LMS] 크롬 업데이트에 따른 LMS e-Learning 진도관리 기능제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한에 따른 코드 재개발 검토	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[ERS] ERS 모바일 SmartEX-02 기기에서 로그인시오류 확인 및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자료조회 오류 계정에 대해 확인 요청</a:t>
            </a:r>
          </a:p>
        </p:txBody>
      </p:sp>
      <p:sp>
        <p:nvSpPr>
          <p:cNvPr id="104336851" name="Text">
    </p:cNvPr>
          <p:cNvSpPr>
            <a:spLocks noGrp="1"/>
          </p:cNvSpPr>
          <p:nvPr/>
        </p:nvSpPr>
        <p:spPr>
          <a:xfrm rot="0">
            <a:off x="5308600" y="1511300"/>
            <a:ext cx="571500" cy="36449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LMS/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ERS/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ERM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순현국</a:t>
            </a:r>
          </a:p>
        </p:txBody>
      </p:sp>
      <p:sp>
        <p:nvSpPr>
          <p:cNvPr id="1084616531" name="Text">
    </p:cNvPr>
          <p:cNvSpPr>
            <a:spLocks noGrp="1"/>
          </p:cNvSpPr>
          <p:nvPr/>
        </p:nvSpPr>
        <p:spPr>
          <a:xfrm rot="0">
            <a:off x="88900" y="1511300"/>
            <a:ext cx="571500" cy="36449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LMS/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ERS/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ERM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순현국</a:t>
            </a:r>
          </a:p>
        </p:txBody>
      </p:sp>
      <p:sp>
        <p:nvSpPr>
          <p:cNvPr id="1982955179" name="Text">
    </p:cNvPr>
          <p:cNvSpPr>
            <a:spLocks noGrp="1"/>
          </p:cNvSpPr>
          <p:nvPr/>
        </p:nvSpPr>
        <p:spPr>
          <a:xfrm rot="0">
            <a:off x="711200" y="1511300"/>
            <a:ext cx="3403600" cy="36449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[LMS] Soft Skill 인증제도(Skillset) 시행에 따른 LMS 개발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요청의 건(Soft skil 실적현황관리 메뉴 개발)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[LMS] 크롬 업데이트에 따른 LMS e-Learning 진도관리 기능제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한에 따른 코드 재개발 검토	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[ERM] ERM IT 시스템 BCP매뉴얼 등록 및 관리화면 개발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[ERS] ERS 모바일 SmartEX-02 기기에서 로그인시오류 확인 및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자료조회 오류 계정에 대해 확인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[LMS] 교육결과보고서 작성시-전화영어 과정 조회안됨 확인요청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.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[LMS] 교육훈련신청서-결재오류 확인(2023-개인투자조합 업무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집행조합원(GP) 양성 교육과정)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[LMS] 신설 부서 생성으로 기존 부서정보 업데이트 배치 오류발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생 확인 예외처리( Ulsan Complex Head 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[ERS]  UTY3-D-3501 CW Pump Trip ARROW DIAGRAM을 폐기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이전으로 원복요청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[LMS] 교육훈련신청서 전자결재 연동오류 확인 및 공급가액 수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정요청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[ERS] 탈황3팀 #6Utility 부서지침서 개정 품의시 개정오류 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개정 처리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[ERS] 올레핀송유/동력팀 2023년 전사 운전지침서 Master Pl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an 계획에 따른 문서 표준화 및 통합 관련 신규 제정 문서들의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목차 수정 재반영</a:t>
            </a:r>
          </a:p>
        </p:txBody>
      </p:sp>
      <p:sp>
        <p:nvSpPr>
          <p:cNvPr id="1606467868" name="Text">
    </p:cNvPr>
          <p:cNvSpPr>
            <a:spLocks noGrp="1"/>
          </p:cNvSpPr>
          <p:nvPr/>
        </p:nvSpPr>
        <p:spPr>
          <a:xfrm rot="0">
            <a:off x="4483100" y="1511300"/>
            <a:ext cx="368300" cy="36449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12/29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12/29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12/22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12/11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12/11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12/12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12/14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12/14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12/14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12/15</a:t>
            </a:r>
            <a:br/>
            <a:br/>
            <a:br/>
          </a:p>
        </p:txBody>
      </p:sp>
      <p:sp>
        <p:nvSpPr>
          <p:cNvPr id="433068450" name="Text">
    </p:cNvPr>
          <p:cNvSpPr>
            <a:spLocks noGrp="1"/>
          </p:cNvSpPr>
          <p:nvPr/>
        </p:nvSpPr>
        <p:spPr>
          <a:xfrm rot="0">
            <a:off x="4851400" y="1511300"/>
            <a:ext cx="368300" cy="36449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80%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80%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80%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12/11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12/11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12/12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12/14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12/14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12/14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12/15</a:t>
            </a:r>
            <a:br/>
            <a:br/>
            <a:br/>
          </a:p>
        </p:txBody>
      </p:sp>
      <p:sp>
        <p:nvSpPr>
          <p:cNvPr id="1994433212" name="Text">
    </p:cNvPr>
          <p:cNvSpPr>
            <a:spLocks noGrp="1"/>
          </p:cNvSpPr>
          <p:nvPr/>
        </p:nvSpPr>
        <p:spPr>
          <a:xfrm rot="0">
            <a:off x="4114800" y="1511300"/>
            <a:ext cx="368300" cy="36449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08/22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10/23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10/23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11/27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12/11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12/11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12/12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12/14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12/14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12/14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12/15</a:t>
            </a:r>
            <a:br/>
            <a:br/>
            <a:br/>
          </a:p>
        </p:txBody>
      </p:sp>
      <p:sp>
        <p:nvSpPr>
          <p:cNvPr id="198790893" name="Text">
    </p:cNvPr>
          <p:cNvSpPr>
            <a:spLocks noGrp="1"/>
          </p:cNvSpPr>
          <p:nvPr/>
        </p:nvSpPr>
        <p:spPr>
          <a:xfrm rot="0">
            <a:off x="660400" y="1511300"/>
            <a:ext cx="3454400" cy="36449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388885675" name="Text">
    </p:cNvPr>
          <p:cNvSpPr>
            <a:spLocks noGrp="1"/>
          </p:cNvSpPr>
          <p:nvPr/>
        </p:nvSpPr>
        <p:spPr>
          <a:xfrm rot="0">
            <a:off x="5880100" y="1511300"/>
            <a:ext cx="3454400" cy="36449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1703641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944379614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2040895772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1859061101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1081075341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b="1" sz="15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570">
                <a:latin typeface="맑은 고딕"/>
                <a:ea typeface="맑은 고딕"/>
                <a:cs typeface="맑은 고딕"/>
              </a:rPr>
              <a:t>3. 주간업무 실적 및 계획(①Baynex - WEB)</a:t>
            </a:r>
          </a:p>
        </p:txBody>
      </p:sp>
      <p:sp>
        <p:nvSpPr>
          <p:cNvPr id="687600824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2109990338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798398842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414904607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603773721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098110801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565794486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489870045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497856718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111111029" name="Text">
    </p:cNvPr>
          <p:cNvSpPr>
            <a:spLocks noGrp="1"/>
          </p:cNvSpPr>
          <p:nvPr/>
        </p:nvSpPr>
        <p:spPr>
          <a:xfrm rot="0">
            <a:off x="9702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02/29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[보류]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12/27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[보류]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[보류]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[보류]</a:t>
            </a:r>
            <a:br/>
            <a:br/>
          </a:p>
        </p:txBody>
      </p:sp>
      <p:sp>
        <p:nvSpPr>
          <p:cNvPr id="702400354" name="Text">
    </p:cNvPr>
          <p:cNvSpPr>
            <a:spLocks noGrp="1"/>
          </p:cNvSpPr>
          <p:nvPr/>
        </p:nvSpPr>
        <p:spPr>
          <a:xfrm rot="0">
            <a:off x="93345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12/08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11/27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12/15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11/27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11/27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12/15</a:t>
            </a:r>
            <a:br/>
            <a:br/>
          </a:p>
        </p:txBody>
      </p:sp>
      <p:sp>
        <p:nvSpPr>
          <p:cNvPr id="490905072" name="Text">
    </p:cNvPr>
          <p:cNvSpPr>
            <a:spLocks noGrp="1"/>
          </p:cNvSpPr>
          <p:nvPr/>
        </p:nvSpPr>
        <p:spPr>
          <a:xfrm rot="0">
            <a:off x="5930900" y="15113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[WMS] [WMS] Application Secure Coding 취약점 개선 요청 건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[GCMS] 사이버 보안 컴플라이언스 조치 권고 사항 처리 요청 (C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ISO에서 메일이 오면 작업진행)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[GCMS] 모바일상품권 교환 CRM 집계 데이터와 차액 원인 분석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, 데이터 제공, 데이터 수정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[EWS] 사이버 보안 컴플라이언스 조치 권고 사항 처리 요청(CIS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O에서 메일이 오면 작업진행)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[EWS] SP062 과도한 상품권 대금 결제 시나리오 로직 분석 요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[EWS] SP104 시나리오 로직 수정 요청 (정보처리신청서 받고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진행예정)</a:t>
            </a:r>
          </a:p>
        </p:txBody>
      </p:sp>
      <p:sp>
        <p:nvSpPr>
          <p:cNvPr id="1703961686" name="Text">
    </p:cNvPr>
          <p:cNvSpPr>
            <a:spLocks noGrp="1"/>
          </p:cNvSpPr>
          <p:nvPr/>
        </p:nvSpPr>
        <p:spPr>
          <a:xfrm rot="0">
            <a:off x="53086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WMS/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EWS/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RPA/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GCMS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이병준</a:t>
            </a:r>
          </a:p>
        </p:txBody>
      </p:sp>
      <p:sp>
        <p:nvSpPr>
          <p:cNvPr id="1980916748" name="Text">
    </p:cNvPr>
          <p:cNvSpPr>
            <a:spLocks noGrp="1"/>
          </p:cNvSpPr>
          <p:nvPr/>
        </p:nvSpPr>
        <p:spPr>
          <a:xfrm rot="0">
            <a:off x="889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WMS/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EWS/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RPA/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GCMS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이병준</a:t>
            </a:r>
          </a:p>
        </p:txBody>
      </p:sp>
      <p:sp>
        <p:nvSpPr>
          <p:cNvPr id="825449339" name="Text">
    </p:cNvPr>
          <p:cNvSpPr>
            <a:spLocks noGrp="1"/>
          </p:cNvSpPr>
          <p:nvPr/>
        </p:nvSpPr>
        <p:spPr>
          <a:xfrm rot="0">
            <a:off x="711200" y="15113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[WMS] [WMS] Application Secure Coding 취약점 개선 요청 건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[WMS] 23년 하반기 Application 계정 권한 모니터링을 위한 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용자 리스트 추출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[WMS] WMS 시스템 23년 상반기 배치권한자 및 App 권한 모니터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링 결과보고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[GCMS] GCMS BI 모바일상품권 판매 관련 View 확인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[GCMS] 목표실적 로직 수정 요청 (모바일상품권 데이터)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[GCMS] 모바일상품권 교환 CRM 집계 데이터와 차액 원인 분석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, 데이터 제공, 데이터 수정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[EWS] SP104 시나리오 로직 및 데이터 확인 요청</a:t>
            </a:r>
          </a:p>
        </p:txBody>
      </p:sp>
      <p:sp>
        <p:nvSpPr>
          <p:cNvPr id="941096368" name="Text">
    </p:cNvPr>
          <p:cNvSpPr>
            <a:spLocks noGrp="1"/>
          </p:cNvSpPr>
          <p:nvPr/>
        </p:nvSpPr>
        <p:spPr>
          <a:xfrm rot="0">
            <a:off x="44831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02/29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12/14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12/13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12/14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12/14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12/27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12/14</a:t>
            </a:r>
            <a:br/>
          </a:p>
        </p:txBody>
      </p:sp>
      <p:sp>
        <p:nvSpPr>
          <p:cNvPr id="1581489200" name="Text">
    </p:cNvPr>
          <p:cNvSpPr>
            <a:spLocks noGrp="1"/>
          </p:cNvSpPr>
          <p:nvPr/>
        </p:nvSpPr>
        <p:spPr>
          <a:xfrm rot="0">
            <a:off x="48514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60%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12/14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12/13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12/14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12/14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60%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12/14</a:t>
            </a:r>
            <a:br/>
          </a:p>
        </p:txBody>
      </p:sp>
      <p:sp>
        <p:nvSpPr>
          <p:cNvPr id="999600624" name="Text">
    </p:cNvPr>
          <p:cNvSpPr>
            <a:spLocks noGrp="1"/>
          </p:cNvSpPr>
          <p:nvPr/>
        </p:nvSpPr>
        <p:spPr>
          <a:xfrm rot="0">
            <a:off x="4114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12/08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12/13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12/11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12/13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12/11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12/15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12/11</a:t>
            </a:r>
            <a:br/>
          </a:p>
        </p:txBody>
      </p:sp>
      <p:sp>
        <p:nvSpPr>
          <p:cNvPr id="274193786" name="Text">
    </p:cNvPr>
          <p:cNvSpPr>
            <a:spLocks noGrp="1"/>
          </p:cNvSpPr>
          <p:nvPr/>
        </p:nvSpPr>
        <p:spPr>
          <a:xfrm rot="0">
            <a:off x="6604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388651197" name="Text">
    </p:cNvPr>
          <p:cNvSpPr>
            <a:spLocks noGrp="1"/>
          </p:cNvSpPr>
          <p:nvPr/>
        </p:nvSpPr>
        <p:spPr>
          <a:xfrm rot="0">
            <a:off x="58801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430975604" name="Text">
    </p:cNvPr>
          <p:cNvSpPr>
            <a:spLocks noGrp="1"/>
          </p:cNvSpPr>
          <p:nvPr/>
        </p:nvSpPr>
        <p:spPr>
          <a:xfrm rot="0">
            <a:off x="9702800" y="3771900"/>
            <a:ext cx="368300" cy="2425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12/22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12/27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01/05</a:t>
            </a:r>
            <a:br/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12/19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12/22</a:t>
            </a:r>
            <a:br/>
            <a:br/>
            <a:br/>
          </a:p>
        </p:txBody>
      </p:sp>
      <p:sp>
        <p:nvSpPr>
          <p:cNvPr id="1271911452" name="Text">
    </p:cNvPr>
          <p:cNvSpPr>
            <a:spLocks noGrp="1"/>
          </p:cNvSpPr>
          <p:nvPr/>
        </p:nvSpPr>
        <p:spPr>
          <a:xfrm rot="0">
            <a:off x="9334500" y="3771900"/>
            <a:ext cx="368300" cy="2425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12/18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12/05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12/07</a:t>
            </a:r>
            <a:br/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12/15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12/18</a:t>
            </a:r>
            <a:br/>
            <a:br/>
            <a:br/>
          </a:p>
        </p:txBody>
      </p:sp>
      <p:sp>
        <p:nvSpPr>
          <p:cNvPr id="1709014034" name="Text">
    </p:cNvPr>
          <p:cNvSpPr>
            <a:spLocks noGrp="1"/>
          </p:cNvSpPr>
          <p:nvPr/>
        </p:nvSpPr>
        <p:spPr>
          <a:xfrm rot="0">
            <a:off x="5930900" y="3771900"/>
            <a:ext cx="3403600" cy="24257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[RMS] 기능 문의 및 피드백 처리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[LOPAS] SEM_SupriceTrans (EAI 공급 단가 수신) 'TM_BAS_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PRC_INFO' 테이블 변경 및 원복(추후 테스트를 통해 유효성 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인)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[LOPAS] 송유관 입고계획 관리 &gt; PDF upload, 'PDF' 양식 변경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으로 인한 업로드 에러 ( 1. PDF 내 발행번호를 읽지 못함 / 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. 저유소명 불일치 / 3. 셀병합 및 가운데 정렬로 인한 값 오배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치 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[LOPAS] 기준정보 &gt; 조석표 조회, EXCEL Upload '운영' 내 Me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rge 미적용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[LOPAS] 송유관 입고계획 관리 &gt; PDF upload, 'PDF' 양식 변경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으로 인한 업로드 에러 조치 기간 내 'PDF' 업로드 및 수정 배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포</a:t>
            </a:r>
          </a:p>
        </p:txBody>
      </p:sp>
      <p:sp>
        <p:nvSpPr>
          <p:cNvPr id="553070500" name="Text">
    </p:cNvPr>
          <p:cNvSpPr>
            <a:spLocks noGrp="1"/>
          </p:cNvSpPr>
          <p:nvPr/>
        </p:nvSpPr>
        <p:spPr>
          <a:xfrm rot="0">
            <a:off x="5308600" y="3771900"/>
            <a:ext cx="571500" cy="2425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계정관리/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LOPAS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이지은</a:t>
            </a:r>
          </a:p>
        </p:txBody>
      </p:sp>
      <p:sp>
        <p:nvSpPr>
          <p:cNvPr id="572294810" name="Text">
    </p:cNvPr>
          <p:cNvSpPr>
            <a:spLocks noGrp="1"/>
          </p:cNvSpPr>
          <p:nvPr/>
        </p:nvSpPr>
        <p:spPr>
          <a:xfrm rot="0">
            <a:off x="88900" y="3771900"/>
            <a:ext cx="571500" cy="2425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계정관리/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LOPAS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이지은</a:t>
            </a:r>
          </a:p>
        </p:txBody>
      </p:sp>
      <p:sp>
        <p:nvSpPr>
          <p:cNvPr id="398903793" name="Text">
    </p:cNvPr>
          <p:cNvSpPr>
            <a:spLocks noGrp="1"/>
          </p:cNvSpPr>
          <p:nvPr/>
        </p:nvSpPr>
        <p:spPr>
          <a:xfrm rot="0">
            <a:off x="711200" y="3771900"/>
            <a:ext cx="3403600" cy="24257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[RMS] 기능 문의 및 피드백 처리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[LOPAS] SEM_SupriceTrans (EAI 공급 단가 수신) 'TM_BAS_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PRC_INFO'  배치 테스트및 점검을 통한 유효성 확인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[LOPAS] 송유관 입고계획 관리 &gt; PDF upload, 'PDF' 양식 변경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으로 인한 업로드 에러 ( 1. PDF 내 발행번호를 읽지 못함 / 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. 저유소명 불일치 / 3. 셀병합 및 가운데 정렬로 인한 값 오배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치 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[LOPAS] 선사사용자 계정 조치 (잠금 및 비밀번호 초기화, 1건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[LOPAS] 송유관 입고계획 관리 &gt; PDF upload, 'PDF' 양식 변경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으로 인한 업로드 에러 조치 기간 내 'PDF' 업로드 및 수정 배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포 (2회 수정)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[LOPAS] 기준정보 &gt; 조석표 조회, EXCEL Upload '운영' 내 Me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rge 미적용</a:t>
            </a:r>
          </a:p>
        </p:txBody>
      </p:sp>
      <p:sp>
        <p:nvSpPr>
          <p:cNvPr id="427105015" name="Text">
    </p:cNvPr>
          <p:cNvSpPr>
            <a:spLocks noGrp="1"/>
          </p:cNvSpPr>
          <p:nvPr/>
        </p:nvSpPr>
        <p:spPr>
          <a:xfrm rot="0">
            <a:off x="4483100" y="3771900"/>
            <a:ext cx="368300" cy="2425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12/15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12/27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01/05</a:t>
            </a:r>
            <a:br/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12/14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12/15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12/19</a:t>
            </a:r>
            <a:br/>
            <a:br/>
          </a:p>
        </p:txBody>
      </p:sp>
      <p:sp>
        <p:nvSpPr>
          <p:cNvPr id="15109234" name="Text">
    </p:cNvPr>
          <p:cNvSpPr>
            <a:spLocks noGrp="1"/>
          </p:cNvSpPr>
          <p:nvPr/>
        </p:nvSpPr>
        <p:spPr>
          <a:xfrm rot="0">
            <a:off x="4851400" y="3771900"/>
            <a:ext cx="368300" cy="2425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12/15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50%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40%</a:t>
            </a:r>
            <a:br/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12/14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12/15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30%</a:t>
            </a:r>
            <a:br/>
            <a:br/>
          </a:p>
        </p:txBody>
      </p:sp>
      <p:sp>
        <p:nvSpPr>
          <p:cNvPr id="1183376034" name="Text">
    </p:cNvPr>
          <p:cNvSpPr>
            <a:spLocks noGrp="1"/>
          </p:cNvSpPr>
          <p:nvPr/>
        </p:nvSpPr>
        <p:spPr>
          <a:xfrm rot="0">
            <a:off x="4114800" y="3771900"/>
            <a:ext cx="368300" cy="2425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12/11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12/05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12/07</a:t>
            </a:r>
            <a:br/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12/14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12/11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12/15</a:t>
            </a:r>
            <a:br/>
            <a:br/>
          </a:p>
        </p:txBody>
      </p:sp>
      <p:sp>
        <p:nvSpPr>
          <p:cNvPr id="1730163395" name="Text">
    </p:cNvPr>
          <p:cNvSpPr>
            <a:spLocks noGrp="1"/>
          </p:cNvSpPr>
          <p:nvPr/>
        </p:nvSpPr>
        <p:spPr>
          <a:xfrm rot="0">
            <a:off x="660400" y="3771900"/>
            <a:ext cx="3454400" cy="2425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454583410" name="Text">
    </p:cNvPr>
          <p:cNvSpPr>
            <a:spLocks noGrp="1"/>
          </p:cNvSpPr>
          <p:nvPr/>
        </p:nvSpPr>
        <p:spPr>
          <a:xfrm rot="0">
            <a:off x="5880100" y="3771900"/>
            <a:ext cx="3454400" cy="2425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2731338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671352010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97406544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1245786149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1037707354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b="1" sz="15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570">
                <a:latin typeface="맑은 고딕"/>
                <a:ea typeface="맑은 고딕"/>
                <a:cs typeface="맑은 고딕"/>
              </a:rPr>
              <a:t>3. 주간업무 실적 및 계획(①Baynex - WEB)</a:t>
            </a:r>
          </a:p>
        </p:txBody>
      </p:sp>
      <p:sp>
        <p:nvSpPr>
          <p:cNvPr id="673667509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609313839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477101551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880858304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659083655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547717794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067668032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325203690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1839446178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861457640" name="Text">
    </p:cNvPr>
          <p:cNvSpPr>
            <a:spLocks noGrp="1"/>
          </p:cNvSpPr>
          <p:nvPr/>
        </p:nvSpPr>
        <p:spPr>
          <a:xfrm rot="0">
            <a:off x="9702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12/28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12/28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12/28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12/28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12/28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12/28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01/31</a:t>
            </a:r>
            <a:br/>
          </a:p>
        </p:txBody>
      </p:sp>
      <p:sp>
        <p:nvSpPr>
          <p:cNvPr id="382515601" name="Text">
    </p:cNvPr>
          <p:cNvSpPr>
            <a:spLocks noGrp="1"/>
          </p:cNvSpPr>
          <p:nvPr/>
        </p:nvSpPr>
        <p:spPr>
          <a:xfrm rot="0">
            <a:off x="93345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12/07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10/20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07/18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04/21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10/27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12/07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12/07</a:t>
            </a:r>
            <a:br/>
          </a:p>
        </p:txBody>
      </p:sp>
      <p:sp>
        <p:nvSpPr>
          <p:cNvPr id="345704644" name="Text">
    </p:cNvPr>
          <p:cNvSpPr>
            <a:spLocks noGrp="1"/>
          </p:cNvSpPr>
          <p:nvPr/>
        </p:nvSpPr>
        <p:spPr>
          <a:xfrm rot="0">
            <a:off x="5930900" y="15113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[EIS] 11월 Monthly Accountability Report 생성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산업안전보건관리비 계상 관련 시스템 보완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LOPAS 재고현황 자료 I/F 기준 변경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저유소 PM 관련 작업의뢰서 전자결재(T-Code : IW21) 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선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PRM 영업시설물 지원 시스템 개발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EAI DB TSDEAI 테이블스페이스 증설 검토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[LOPAS]ERP / EAI (SEM_SupriceTrans) 수정 요청</a:t>
            </a:r>
          </a:p>
        </p:txBody>
      </p:sp>
      <p:sp>
        <p:nvSpPr>
          <p:cNvPr id="1687016541" name="Text">
    </p:cNvPr>
          <p:cNvSpPr>
            <a:spLocks noGrp="1"/>
          </p:cNvSpPr>
          <p:nvPr/>
        </p:nvSpPr>
        <p:spPr>
          <a:xfrm rot="0">
            <a:off x="53086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EIS/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EAI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황보람</a:t>
            </a:r>
          </a:p>
        </p:txBody>
      </p:sp>
      <p:sp>
        <p:nvSpPr>
          <p:cNvPr id="298285992" name="Text">
    </p:cNvPr>
          <p:cNvSpPr>
            <a:spLocks noGrp="1"/>
          </p:cNvSpPr>
          <p:nvPr/>
        </p:nvSpPr>
        <p:spPr>
          <a:xfrm rot="0">
            <a:off x="889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EIS/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EAI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황보람</a:t>
            </a:r>
          </a:p>
        </p:txBody>
      </p:sp>
      <p:sp>
        <p:nvSpPr>
          <p:cNvPr id="1655986224" name="Text">
    </p:cNvPr>
          <p:cNvSpPr>
            <a:spLocks noGrp="1"/>
          </p:cNvSpPr>
          <p:nvPr/>
        </p:nvSpPr>
        <p:spPr>
          <a:xfrm rot="0">
            <a:off x="711200" y="15113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[EIS] 11월 Monthly Accountability Report 생성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산업안전보건관리비 계상 관련 시스템 보완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LOPAS 재고현황 자료 I/F 기준 변경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저유소 PM 관련 작업의뢰서 전자결재(T-Code : IW21) 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선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PRM 영업시설물 지원 시스템 개발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EAI DB TSDEAI 테이블스페이스 증설 검토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[LOPAS]ERP / EAI (SEM_SupriceTrans) 수정 요청</a:t>
            </a:r>
          </a:p>
        </p:txBody>
      </p:sp>
      <p:sp>
        <p:nvSpPr>
          <p:cNvPr id="774222218" name="Text">
    </p:cNvPr>
          <p:cNvSpPr>
            <a:spLocks noGrp="1"/>
          </p:cNvSpPr>
          <p:nvPr/>
        </p:nvSpPr>
        <p:spPr>
          <a:xfrm rot="0">
            <a:off x="44831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12/28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12/28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12/28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12/28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12/28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12/28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01/31</a:t>
            </a:r>
            <a:br/>
          </a:p>
        </p:txBody>
      </p:sp>
      <p:sp>
        <p:nvSpPr>
          <p:cNvPr id="612415279" name="Text">
    </p:cNvPr>
          <p:cNvSpPr>
            <a:spLocks noGrp="1"/>
          </p:cNvSpPr>
          <p:nvPr/>
        </p:nvSpPr>
        <p:spPr>
          <a:xfrm rot="0">
            <a:off x="48514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50%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90%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90%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70%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30%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90%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90%</a:t>
            </a:r>
            <a:br/>
          </a:p>
        </p:txBody>
      </p:sp>
      <p:sp>
        <p:nvSpPr>
          <p:cNvPr id="238064172" name="Text">
    </p:cNvPr>
          <p:cNvSpPr>
            <a:spLocks noGrp="1"/>
          </p:cNvSpPr>
          <p:nvPr/>
        </p:nvSpPr>
        <p:spPr>
          <a:xfrm rot="0">
            <a:off x="4114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12/07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10/20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07/18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04/21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10/27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12/07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12/07</a:t>
            </a:r>
            <a:br/>
          </a:p>
        </p:txBody>
      </p:sp>
      <p:sp>
        <p:nvSpPr>
          <p:cNvPr id="1308962306" name="Text">
    </p:cNvPr>
          <p:cNvSpPr>
            <a:spLocks noGrp="1"/>
          </p:cNvSpPr>
          <p:nvPr/>
        </p:nvSpPr>
        <p:spPr>
          <a:xfrm rot="0">
            <a:off x="6604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294958505" name="Text">
    </p:cNvPr>
          <p:cNvSpPr>
            <a:spLocks noGrp="1"/>
          </p:cNvSpPr>
          <p:nvPr/>
        </p:nvSpPr>
        <p:spPr>
          <a:xfrm rot="0">
            <a:off x="58801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7505" name="Group 97"/>
          <p:cNvGraphicFramePr>
            <a:graphicFrameLocks noGrp="1"/>
          </p:cNvGraphicFramePr>
          <p:nvPr/>
        </p:nvGraphicFramePr>
        <p:xfrm>
          <a:off x="255577" y="1105143"/>
          <a:ext cx="4771985" cy="3535492"/>
        </p:xfrm>
        <a:graphic>
          <a:graphicData uri="http://schemas.openxmlformats.org/drawingml/2006/table">
            <a:tbl>
              <a:tblPr/>
              <a:tblGrid>
                <a:gridCol w="52193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5880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2193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193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4737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85077"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구분</a:t>
                      </a:r>
                      <a:r>
                        <a:rPr altLang="ko-KR" b="1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/</a:t>
                      </a:r>
                    </a:p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담당자</a:t>
                      </a:r>
                      <a:endParaRPr altLang="ko-KR" b="1" baseline="0" cap="none" dirty="0" i="0" kumimoji="1" lang="en-US" normalizeH="0" smtClean="0" strike="noStrike" sz="9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494" marL="88055" marR="88055" marT="45494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업무 내용</a:t>
                      </a:r>
                    </a:p>
                  </a:txBody>
                  <a:tcPr anchor="ctr" horzOverflow="overflow" marB="45494" marL="88055" marR="88055" marT="45494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접수일</a:t>
                      </a:r>
                    </a:p>
                  </a:txBody>
                  <a:tcPr anchor="ctr" horzOverflow="overflow" marB="45494" marL="88055" marR="88055" marT="45494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완료 목표일</a:t>
                      </a:r>
                    </a:p>
                  </a:txBody>
                  <a:tcPr horzOverflow="overflow" marB="45494" marL="88055" marR="88055" marT="45494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err="1" i="0" kumimoji="1" lang="ko-KR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진행율</a:t>
                      </a:r>
                      <a:endParaRPr altLang="ko-KR" b="1" baseline="0" cap="none" dirty="0" i="0" kumimoji="1" lang="en-US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494" marL="88055" marR="88055" marT="45494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4922">
                <a:tc rowSpan="7">
                  <a:txBody>
                    <a:bodyPr/>
                    <a:lstStyle>
                      <a:lvl1pPr algn="l"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1pPr>
                      <a:lvl2pPr algn="l"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2pPr>
                      <a:lvl3pPr algn="l"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3pPr>
                      <a:lvl4pPr algn="l"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4pPr>
                      <a:lvl5pPr algn="l"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9pPr>
                    </a:lstStyle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CRM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Market.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/ 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박치영</a:t>
                      </a:r>
                    </a:p>
                  </a:txBody>
                  <a:tcPr horzOverflow="overflow" marB="45527" marL="81282" marR="81282" marT="4552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lvl="0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전화번호로 포인트 적립 적용 조회</a:t>
                      </a:r>
                      <a:endParaRPr altLang="ko-KR" b="0" baseline="0" dirty="0" lang="en-US" smtClean="0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b="0" baseline="0" dirty="0" kern="1200" lang="ko-KR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80%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05" marL="81282" marR="81282" marT="4560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2731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lvl="0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="0" baseline="0" dirty="0" err="1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현대차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</a:t>
                      </a: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G </a:t>
                      </a:r>
                      <a:r>
                        <a:rPr altLang="en-US" b="0" baseline="0" dirty="0" err="1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카페이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연동  </a:t>
                      </a: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(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주유소연동추가</a:t>
                      </a: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_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현대서버</a:t>
                      </a: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)</a:t>
                      </a: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b="0" baseline="0" dirty="0" kern="1200" lang="ko-KR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90%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05" marL="81282" marR="81282" marT="4560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4892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lvl="0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주유소 </a:t>
                      </a:r>
                      <a:r>
                        <a:rPr altLang="en-US" b="0" baseline="0" dirty="0" err="1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금결원전송관련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수정</a:t>
                      </a:r>
                      <a:endParaRPr altLang="ko-KR" b="0" baseline="0" dirty="0" lang="en-US" smtClean="0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b="0" baseline="0" dirty="0" kern="1200" lang="ko-KR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30%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05" marL="81282" marR="81282" marT="4560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1583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lvl="0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플랫폼</a:t>
                      </a: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테스트 대응</a:t>
                      </a: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, 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수정</a:t>
                      </a:r>
                      <a:endParaRPr altLang="ko-KR" b="0" baseline="0" dirty="0" lang="en-US" smtClean="0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b="0" baseline="0" dirty="0" kern="1200" lang="ko-KR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05" marL="81282" marR="81282" marT="4560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29932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lvl="0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부정적립관련 대응 조치 </a:t>
                      </a:r>
                      <a:endParaRPr altLang="ko-KR" b="0" baseline="0" dirty="0" lang="en-US" smtClean="0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b="0" baseline="0" dirty="0" kern="1200" lang="ko-KR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100%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05" marL="81282" marR="81282" marT="4560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29932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lvl="0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="0" baseline="0" dirty="0" err="1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키오스크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즉발카드 등록 개발</a:t>
                      </a:r>
                      <a:endParaRPr altLang="ko-KR" b="0" baseline="0" dirty="0" lang="en-US" smtClean="0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b="0" baseline="0" dirty="0" kern="1200" lang="ko-KR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40%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05" marL="81282" marR="81282" marT="4560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29932">
                <a:tc vMerge="1"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6526" marL="83067" marR="83067" marT="46526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lvl="0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="0" baseline="0" dirty="0" err="1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모바일상품권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제휴 성능 저하문제 수정</a:t>
                      </a:r>
                      <a:endParaRPr altLang="ko-KR" b="0" baseline="0" dirty="0" lang="en-US" smtClean="0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b="0" baseline="0" dirty="0" kern="1200" lang="ko-KR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70%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05" marL="81282" marR="81282" marT="4560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10568">
                <a:tc rowSpan="7"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CRM</a:t>
                      </a:r>
                    </a:p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IF.</a:t>
                      </a:r>
                    </a:p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/</a:t>
                      </a:r>
                    </a:p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이승범</a:t>
                      </a:r>
                    </a:p>
                  </a:txBody>
                  <a:tcPr horzOverflow="overflow" marB="45527" marL="81282" marR="81282" marT="4552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marL="0">
                        <a:buFontTx/>
                        <a:buNone/>
                      </a:pPr>
                      <a:r>
                        <a:rPr altLang="ko-KR" baseline="0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aseline="0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금결원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거래 전문 수정</a:t>
                      </a:r>
                      <a:endParaRPr altLang="ko-KR" baseline="0" dirty="0" lang="en-US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7" marL="81282" marR="81282" marT="4561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02/03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미정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90%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2" marL="81282" marR="81282" marT="4561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28773">
                <a:tc vMerge="1"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6680" marL="83077" marR="83077" marT="4668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marL="0">
                        <a:buFontTx/>
                        <a:buNone/>
                      </a:pPr>
                      <a:r>
                        <a:rPr altLang="ko-KR" baseline="0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aseline="0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모바일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쿠폰 전문 수정 </a:t>
                      </a:r>
                      <a:r>
                        <a:rPr altLang="ko-KR" baseline="0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(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사용가능상품</a:t>
                      </a:r>
                      <a:r>
                        <a:rPr altLang="ko-KR" baseline="0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)</a:t>
                      </a:r>
                    </a:p>
                  </a:txBody>
                  <a:tcPr horzOverflow="overflow" marB="45617" marL="81282" marR="81282" marT="4561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02/16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미정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8</a:t>
                      </a:r>
                      <a:r>
                        <a:rPr altLang="ko-KR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0</a:t>
                      </a: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%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2" marL="81282" marR="81282" marT="4561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25238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lvl="0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현대차 </a:t>
                      </a: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G 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카페이 연동 </a:t>
                      </a: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+ </a:t>
                      </a:r>
                      <a:r>
                        <a:rPr altLang="en-US" b="0" baseline="0" dirty="0" err="1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제네시스앱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연동</a:t>
                      </a:r>
                      <a:endParaRPr altLang="ko-KR" b="0" baseline="0" dirty="0" lang="en-US" smtClean="0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7" marL="81282" marR="81282" marT="4561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09/21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1" fontAlgn="auto" hangingPunct="1" indent="0" latinLnBrk="1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01/29</a:t>
                      </a:r>
                      <a:endParaRPr altLang="en-US" dirty="0" lang="ko-KR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80%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2" marL="81282" marR="81282" marT="4561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25247">
                <a:tc vMerge="1"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6680" marL="83077" marR="83077" marT="4668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marL="0">
                        <a:buFontTx/>
                        <a:buNone/>
                      </a:pPr>
                      <a:r>
                        <a:rPr altLang="ko-KR" baseline="0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국민카드 배치 서버 변경으로 인한 연계 테스트</a:t>
                      </a:r>
                      <a:endParaRPr altLang="ko-KR" baseline="0" dirty="0" lang="en-US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7" marL="81282" marR="81282" marT="4561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12/21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1" fontAlgn="auto" hangingPunct="1" indent="0" latinLnBrk="1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01/22</a:t>
                      </a:r>
                      <a:endParaRPr altLang="en-US" dirty="0" lang="ko-KR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90%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2" marL="81282" marR="81282" marT="4561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35529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indent="0" marL="0">
                        <a:buFontTx/>
                        <a:buNone/>
                      </a:pPr>
                      <a:r>
                        <a:rPr altLang="ko-KR" baseline="0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모바일 쿠폰 발행 점검</a:t>
                      </a:r>
                      <a:endParaRPr altLang="ko-KR" baseline="0" dirty="0" lang="en-US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7" marL="81282" marR="81282" marT="4561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01/11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1" fontAlgn="auto" hangingPunct="1" indent="0" latinLnBrk="1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02/28</a:t>
                      </a:r>
                      <a:endParaRPr altLang="en-US" dirty="0" lang="ko-KR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10%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2" marL="81282" marR="81282" marT="4561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10568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indent="0" marL="0">
                        <a:buFontTx/>
                        <a:buNone/>
                      </a:pPr>
                      <a:r>
                        <a:rPr altLang="ko-KR" baseline="0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롯데 </a:t>
                      </a:r>
                      <a:r>
                        <a:rPr altLang="en-US" baseline="0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멤버스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데이터 정합성</a:t>
                      </a:r>
                      <a:r>
                        <a:rPr altLang="ko-KR" baseline="0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,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후속 조치</a:t>
                      </a:r>
                      <a:endParaRPr altLang="ko-KR" baseline="0" dirty="0" lang="en-US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7" marL="81282" marR="81282" marT="4561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01/18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1" fontAlgn="auto" hangingPunct="1" indent="0" latinLnBrk="1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01/22</a:t>
                      </a:r>
                      <a:endParaRPr altLang="en-US" dirty="0" lang="ko-KR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10%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2" marL="81282" marR="81282" marT="4561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10569">
                <a:tc vMerge="1"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6525" marL="83067" marR="83067" marT="4652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marL="0">
                        <a:buFontTx/>
                        <a:buNone/>
                      </a:pPr>
                      <a:endParaRPr altLang="ko-KR" baseline="0" dirty="0" lang="en-US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7" marL="81282" marR="81282" marT="4561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1" fontAlgn="auto" hangingPunct="1" indent="0" latinLnBrk="1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en-US" dirty="0" lang="ko-KR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2" marL="81282" marR="81282" marT="4561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</a:tbl>
          </a:graphicData>
        </a:graphic>
      </p:graphicFrame>
      <p:sp>
        <p:nvSpPr>
          <p:cNvPr id="8274" name="Rectangle 137"/>
          <p:cNvSpPr>
            <a:spLocks noChangeArrowheads="1"/>
          </p:cNvSpPr>
          <p:nvPr/>
        </p:nvSpPr>
        <p:spPr bwMode="auto">
          <a:xfrm>
            <a:off x="302179" y="302534"/>
            <a:ext cx="8761066" cy="3314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algn="ctr" dir="2700000" dist="35921" rotWithShape="0">
                    <a:schemeClr val="bg2"/>
                  </a:outerShdw>
                </a:effectLst>
              </a14:hiddenEffects>
            </a:ext>
          </a:extLst>
        </p:spPr>
        <p:txBody>
          <a:bodyPr anchor="ctr" bIns="44805" lIns="89609" rIns="89609" tIns="44805">
            <a:spAutoFit/>
          </a:bodyPr>
          <a:lstStyle>
            <a:lvl1pPr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1pPr>
            <a:lvl2pPr indent="-285750" marL="7429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2pPr>
            <a:lvl3pPr indent="-228600" marL="11430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3pPr>
            <a:lvl4pPr indent="-228600" marL="16002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4pPr>
            <a:lvl5pPr indent="-228600" marL="20574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5pPr>
            <a:lvl6pPr eaLnBrk="0" fontAlgn="base" hangingPunct="0" indent="-228600" marL="25146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6pPr>
            <a:lvl7pPr eaLnBrk="0" fontAlgn="base" hangingPunct="0" indent="-228600" marL="29718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7pPr>
            <a:lvl8pPr eaLnBrk="0" fontAlgn="base" hangingPunct="0" indent="-228600" marL="34290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8pPr>
            <a:lvl9pPr eaLnBrk="0" fontAlgn="base" hangingPunct="0" indent="-228600" marL="38862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9pPr>
          </a:lstStyle>
          <a:p>
            <a:pPr eaLnBrk="1" hangingPunct="1">
              <a:spcBef>
                <a:spcPct val="0"/>
              </a:spcBef>
              <a:spcAft>
                <a:spcPct val="0"/>
              </a:spcAft>
            </a:pPr>
            <a:r>
              <a:rPr altLang="ko-KR" kumimoji="1" lang="en-US" sz="1566">
                <a:solidFill>
                  <a:srgbClr val="000000"/>
                </a:solidFill>
              </a:rPr>
              <a:t>3. </a:t>
            </a:r>
            <a:r>
              <a:rPr altLang="en-US" kumimoji="1" lang="ko-KR" sz="1566">
                <a:solidFill>
                  <a:srgbClr val="000000"/>
                </a:solidFill>
              </a:rPr>
              <a:t>주간업무 실적 및 계획</a:t>
            </a:r>
            <a:r>
              <a:rPr altLang="ko-KR" kumimoji="1" lang="en-US" sz="1566">
                <a:solidFill>
                  <a:srgbClr val="000000"/>
                </a:solidFill>
              </a:rPr>
              <a:t>(</a:t>
            </a:r>
            <a:r>
              <a:rPr altLang="en-US" lang="ko-KR" sz="1566">
                <a:solidFill>
                  <a:srgbClr val="000000"/>
                </a:solidFill>
              </a:rPr>
              <a:t>②</a:t>
            </a:r>
            <a:r>
              <a:rPr altLang="ko-KR" kumimoji="1" lang="en-US" sz="1566">
                <a:solidFill>
                  <a:srgbClr val="000000"/>
                </a:solidFill>
              </a:rPr>
              <a:t>Quintet - CRM)</a:t>
            </a:r>
          </a:p>
        </p:txBody>
      </p:sp>
      <p:sp>
        <p:nvSpPr>
          <p:cNvPr id="8275" name="Rectangle 135"/>
          <p:cNvSpPr>
            <a:spLocks noChangeArrowheads="1"/>
          </p:cNvSpPr>
          <p:nvPr/>
        </p:nvSpPr>
        <p:spPr bwMode="auto">
          <a:xfrm>
            <a:off x="255577" y="752526"/>
            <a:ext cx="4771985" cy="298249"/>
          </a:xfrm>
          <a:prstGeom prst="rect">
            <a:avLst/>
          </a:prstGeom>
          <a:solidFill>
            <a:srgbClr val="C7CDFD"/>
          </a:solidFill>
          <a:ln>
            <a:noFill/>
          </a:ln>
          <a:effectLst>
            <a:outerShdw algn="ctr" dir="2700000" dist="35921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algn="ctr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defTabSz="806450" indent="-247650" marL="2476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1pPr>
            <a:lvl2pPr defTabSz="806450" indent="-285750" marL="7429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2pPr>
            <a:lvl3pPr defTabSz="806450" indent="-228600" marL="11430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3pPr>
            <a:lvl4pPr defTabSz="806450" indent="-228600" marL="16002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4pPr>
            <a:lvl5pPr defTabSz="806450" indent="-228600" marL="20574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5pPr>
            <a:lvl6pPr defTabSz="806450" eaLnBrk="0" fontAlgn="base" hangingPunct="0" indent="-228600" marL="25146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6pPr>
            <a:lvl7pPr defTabSz="806450" eaLnBrk="0" fontAlgn="base" hangingPunct="0" indent="-228600" marL="29718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7pPr>
            <a:lvl8pPr defTabSz="806450" eaLnBrk="0" fontAlgn="base" hangingPunct="0" indent="-228600" marL="34290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8pPr>
            <a:lvl9pPr defTabSz="806450" eaLnBrk="0" fontAlgn="base" hangingPunct="0" indent="-228600" marL="38862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9pPr>
          </a:lstStyle>
          <a:p>
            <a:pPr algn="ctr" eaLnBrk="1" hangingPunct="1">
              <a:spcBef>
                <a:spcPct val="0"/>
              </a:spcBef>
              <a:spcAft>
                <a:spcPct val="0"/>
              </a:spcAft>
            </a:pPr>
            <a:r>
              <a:rPr altLang="en-US" kumimoji="1" lang="ko-KR" sz="1370">
                <a:solidFill>
                  <a:srgbClr val="000000"/>
                </a:solidFill>
              </a:rPr>
              <a:t>금주 업무 실적</a:t>
            </a:r>
            <a:endParaRPr altLang="ko-KR" kumimoji="1" lang="en-US" sz="1370">
              <a:solidFill>
                <a:srgbClr val="000000"/>
              </a:solidFill>
            </a:endParaRPr>
          </a:p>
        </p:txBody>
      </p:sp>
      <p:graphicFrame>
        <p:nvGraphicFramePr>
          <p:cNvPr id="7" name="Group 9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6426789"/>
              </p:ext>
            </p:extLst>
          </p:nvPr>
        </p:nvGraphicFramePr>
        <p:xfrm>
          <a:off x="5102125" y="1048417"/>
          <a:ext cx="4473736" cy="3871829"/>
        </p:xfrm>
        <a:graphic>
          <a:graphicData uri="http://schemas.openxmlformats.org/drawingml/2006/table">
            <a:tbl>
              <a:tblPr/>
              <a:tblGrid>
                <a:gridCol w="6685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613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2193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193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90165"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구분</a:t>
                      </a:r>
                      <a:r>
                        <a:rPr altLang="ko-KR" b="1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/</a:t>
                      </a:r>
                    </a:p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담당자</a:t>
                      </a:r>
                      <a:endParaRPr altLang="ko-KR" b="1" baseline="0" cap="none" dirty="0" i="0" kumimoji="1" lang="en-US" normalizeH="0" smtClean="0" strike="noStrike" sz="9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49" marL="88066" marR="88066" marT="45749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업무 내용</a:t>
                      </a:r>
                    </a:p>
                  </a:txBody>
                  <a:tcPr anchor="ctr" horzOverflow="overflow" marB="45749" marL="88066" marR="88066" marT="45749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접수일</a:t>
                      </a:r>
                    </a:p>
                  </a:txBody>
                  <a:tcPr anchor="ctr" horzOverflow="overflow" marB="45749" marL="88066" marR="88066" marT="4574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완료 목표일</a:t>
                      </a:r>
                    </a:p>
                  </a:txBody>
                  <a:tcPr horzOverflow="overflow" marB="45749" marL="88066" marR="88066" marT="45749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1896">
                <a:tc rowSpan="5"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CRM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Market.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/ 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박치영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43" marL="81291" marR="81291" marT="45743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lvl="0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법인 </a:t>
                      </a:r>
                      <a:endParaRPr altLang="ko-KR" b="0" baseline="0" dirty="0" lang="en-US" smtClean="0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79" marL="81282" marR="81282" marT="4567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ko-KR" b="0" baseline="0" cap="none" dirty="0" i="0" kumimoji="1" lang="en-US" normalizeH="0" smtClean="0" strike="noStrike" sz="8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41" marL="81291" marR="81291" marT="4574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ko-KR" b="0" baseline="0" cap="none" dirty="0" i="0" kumimoji="1" lang="en-US" normalizeH="0" smtClean="0" strike="noStrike" sz="8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41" marL="81291" marR="81291" marT="4574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1896">
                <a:tc vMerge="1"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6770" marL="83077" marR="83077" marT="4677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lvl="0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거래내역 </a:t>
                      </a: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(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신규 결제 수단 정의</a:t>
                      </a: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)</a:t>
                      </a:r>
                    </a:p>
                  </a:txBody>
                  <a:tcPr horzOverflow="overflow" marB="45679" marL="81282" marR="81282" marT="4567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ko-KR" b="0" baseline="0" cap="none" dirty="0" i="0" kumimoji="1" lang="en-US" normalizeH="0" smtClean="0" strike="noStrike" sz="8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41" marL="81291" marR="81291" marT="4574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ko-KR" b="0" baseline="0" cap="none" dirty="0" i="0" kumimoji="1" lang="en-US" normalizeH="0" smtClean="0" strike="noStrike" sz="8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41" marL="81291" marR="81291" marT="4574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1896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lvl="0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dirty="0" lang="en-US" smtClean="0" sz="800">
                          <a:solidFill>
                            <a:schemeClr val="bg1">
                              <a:lumMod val="85000"/>
                            </a:schemeClr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ko-KR" b="0" baseline="0" dirty="0" err="1" lang="en-US" smtClean="0" sz="800">
                          <a:solidFill>
                            <a:schemeClr val="bg1">
                              <a:lumMod val="85000"/>
                            </a:schemeClr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Pb</a:t>
                      </a:r>
                      <a:r>
                        <a:rPr altLang="en-US" b="0" baseline="0" dirty="0" lang="ko-KR" smtClean="0" sz="800">
                          <a:solidFill>
                            <a:schemeClr val="bg1">
                              <a:lumMod val="85000"/>
                            </a:schemeClr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상품적립</a:t>
                      </a:r>
                      <a:endParaRPr altLang="ko-KR" b="0" baseline="0" dirty="0" lang="en-US" smtClean="0" sz="800">
                        <a:solidFill>
                          <a:schemeClr val="bg1">
                            <a:lumMod val="85000"/>
                          </a:schemeClr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79" marL="81282" marR="81282" marT="4567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ko-KR" b="0" baseline="0" dirty="0" kern="1200" lang="en-US" smtClean="0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</a:txBody>
                  <a:tcPr horzOverflow="overflow" marB="45737" marL="81291" marR="81291" marT="4573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ko-KR" b="0" baseline="0" dirty="0" kern="1200" lang="en-US" smtClean="0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</a:txBody>
                  <a:tcPr horzOverflow="overflow" marB="45737" marL="81291" marR="81291" marT="4573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1896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1" fontAlgn="auto" hangingPunct="1" indent="-171450" latinLnBrk="1" lvl="0" marL="17145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사후적립 </a:t>
                      </a: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PRM,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전자결재 연동개발</a:t>
                      </a:r>
                      <a:endParaRPr altLang="ko-KR" b="0" baseline="0" dirty="0" lang="en-US" smtClean="0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79" marL="81282" marR="81282" marT="4567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ko-KR" b="0" baseline="0" cap="none" dirty="0" i="0" kumimoji="1" lang="en-US" normalizeH="0" smtClean="0" strike="noStrike" sz="8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41" marL="81291" marR="81291" marT="4574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ko-KR" b="0" baseline="0" cap="none" dirty="0" i="0" kumimoji="1" lang="en-US" normalizeH="0" smtClean="0" strike="noStrike" sz="8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41" marL="81291" marR="81291" marT="4574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95434">
                <a:tc vMerge="1"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6770" marL="83077" marR="83077" marT="4677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lvl="0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App push</a:t>
                      </a:r>
                    </a:p>
                  </a:txBody>
                  <a:tcPr horzOverflow="overflow" marB="45679" marL="81282" marR="81282" marT="4567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ko-KR" b="0" baseline="0" dirty="0" kern="1200" lang="en-US" smtClean="0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</a:txBody>
                  <a:tcPr horzOverflow="overflow" marB="45737" marL="81291" marR="81291" marT="4573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ko-KR" b="0" baseline="0" dirty="0" kern="1200" lang="en-US" smtClean="0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</a:txBody>
                  <a:tcPr horzOverflow="overflow" marB="45737" marL="81291" marR="81291" marT="4573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40934">
                <a:tc rowSpan="8"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CRM</a:t>
                      </a:r>
                    </a:p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IF.</a:t>
                      </a:r>
                    </a:p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/</a:t>
                      </a:r>
                    </a:p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이승범</a:t>
                      </a:r>
                    </a:p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43" marL="81291" marR="81291" marT="45743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marL="0">
                        <a:buFontTx/>
                        <a:buNone/>
                      </a:pPr>
                      <a:r>
                        <a:rPr altLang="ko-KR" baseline="0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aseline="0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금결원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전문 수정</a:t>
                      </a:r>
                      <a:endParaRPr altLang="ko-KR" baseline="0" dirty="0" lang="en-US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41" marL="81282" marR="81282" marT="4564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02/03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29" marL="81282" marR="81282" marT="4562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미정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29" marL="81282" marR="81282" marT="4562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40848">
                <a:tc vMerge="1"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6766" marL="83077" marR="83077" marT="46766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marL="0">
                        <a:buFontTx/>
                        <a:buNone/>
                      </a:pPr>
                      <a:r>
                        <a:rPr altLang="ko-KR" baseline="0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aseline="0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모바일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쿠폰 전문 수정</a:t>
                      </a:r>
                      <a:endParaRPr altLang="ko-KR" baseline="0" dirty="0" lang="en-US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5" marL="81282" marR="81282" marT="4561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02/16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28" marL="81282" marR="81282" marT="45628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미정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28" marL="81282" marR="81282" marT="45628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40784">
                <a:tc vMerge="1"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6766" marL="83077" marR="83077" marT="46766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lvl="0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현대차 </a:t>
                      </a: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G 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카페이 연동 </a:t>
                      </a: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+ </a:t>
                      </a:r>
                      <a:r>
                        <a:rPr altLang="en-US" b="0" baseline="0" dirty="0" err="1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제네시스앱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연동</a:t>
                      </a:r>
                      <a:endParaRPr altLang="ko-KR" b="0" baseline="0" dirty="0" lang="en-US" smtClean="0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7" marL="81282" marR="81282" marT="4561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09/21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1" fontAlgn="auto" hangingPunct="1" indent="0" latinLnBrk="1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01/29</a:t>
                      </a:r>
                      <a:endParaRPr altLang="en-US" dirty="0" lang="ko-KR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40784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indent="0" marL="0">
                        <a:buFontTx/>
                        <a:buNone/>
                      </a:pPr>
                      <a:r>
                        <a:rPr altLang="ko-KR" baseline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aseline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국민카드 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배치 서버 변경으로 인한 연계 테스트</a:t>
                      </a:r>
                      <a:endParaRPr altLang="ko-KR" baseline="0" dirty="0" lang="en-US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7" marL="81282" marR="81282" marT="4561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12/21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1" fontAlgn="auto" hangingPunct="1" indent="0" latinLnBrk="1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01/22</a:t>
                      </a:r>
                      <a:endParaRPr altLang="en-US" dirty="0" lang="ko-KR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28248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indent="0" marL="0">
                        <a:buFontTx/>
                        <a:buNone/>
                      </a:pPr>
                      <a:r>
                        <a:rPr altLang="ko-KR" baseline="0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모바일 쿠폰 발행 점검</a:t>
                      </a:r>
                      <a:endParaRPr altLang="ko-KR" baseline="0" dirty="0" lang="en-US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7" marL="81282" marR="81282" marT="4561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01/11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1" fontAlgn="auto" hangingPunct="1" indent="0" latinLnBrk="1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02/28</a:t>
                      </a:r>
                      <a:endParaRPr altLang="en-US" dirty="0" lang="ko-KR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28248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indent="0" marL="0">
                        <a:buFontTx/>
                        <a:buNone/>
                      </a:pPr>
                      <a:r>
                        <a:rPr altLang="ko-KR" baseline="0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롯데 </a:t>
                      </a:r>
                      <a:r>
                        <a:rPr altLang="en-US" baseline="0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멤버스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데이터 정합성</a:t>
                      </a:r>
                      <a:r>
                        <a:rPr altLang="ko-KR" baseline="0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,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후속 조치</a:t>
                      </a:r>
                      <a:endParaRPr altLang="ko-KR" baseline="0" dirty="0" lang="en-US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7" marL="81282" marR="81282" marT="4561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01/18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1" fontAlgn="auto" hangingPunct="1" indent="0" latinLnBrk="1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01/22</a:t>
                      </a:r>
                      <a:endParaRPr altLang="en-US" dirty="0" lang="ko-KR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28248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indent="0" marL="0">
                        <a:buFontTx/>
                        <a:buNone/>
                      </a:pPr>
                      <a:endParaRPr altLang="ko-KR" baseline="0" dirty="0" lang="en-US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5" marL="81282" marR="81282" marT="4561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28" marL="81282" marR="81282" marT="45628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1" fontAlgn="auto" hangingPunct="1" indent="0" latinLnBrk="1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en-US" dirty="0" lang="ko-KR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28" marL="81282" marR="81282" marT="45628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10555">
                <a:tc vMerge="1"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6766" marL="83077" marR="83077" marT="46766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marL="0">
                        <a:buFontTx/>
                        <a:buNone/>
                      </a:pPr>
                      <a:endParaRPr altLang="ko-KR" baseline="0" dirty="0" lang="en-US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5" marL="81282" marR="81282" marT="4561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28" marL="81282" marR="81282" marT="45628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1" fontAlgn="auto" hangingPunct="1" indent="0" latinLnBrk="1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en-US" dirty="0" lang="ko-KR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28" marL="81282" marR="81282" marT="45628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</a:tbl>
          </a:graphicData>
        </a:graphic>
      </p:graphicFrame>
      <p:sp>
        <p:nvSpPr>
          <p:cNvPr id="8336" name="Rectangle 136"/>
          <p:cNvSpPr>
            <a:spLocks noChangeArrowheads="1"/>
          </p:cNvSpPr>
          <p:nvPr/>
        </p:nvSpPr>
        <p:spPr bwMode="auto">
          <a:xfrm>
            <a:off x="5092804" y="744759"/>
            <a:ext cx="4473736" cy="310676"/>
          </a:xfrm>
          <a:prstGeom prst="rect">
            <a:avLst/>
          </a:prstGeom>
          <a:solidFill>
            <a:srgbClr val="C7CDFD"/>
          </a:solidFill>
          <a:ln>
            <a:noFill/>
          </a:ln>
          <a:effectLst>
            <a:outerShdw algn="ctr" dir="2700000" dist="35921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algn="ctr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defTabSz="806450" indent="-247650" marL="2476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1pPr>
            <a:lvl2pPr defTabSz="806450" indent="-285750" marL="7429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2pPr>
            <a:lvl3pPr defTabSz="806450" indent="-228600" marL="11430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3pPr>
            <a:lvl4pPr defTabSz="806450" indent="-228600" marL="16002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4pPr>
            <a:lvl5pPr defTabSz="806450" indent="-228600" marL="20574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5pPr>
            <a:lvl6pPr defTabSz="806450" eaLnBrk="0" fontAlgn="base" hangingPunct="0" indent="-228600" marL="25146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6pPr>
            <a:lvl7pPr defTabSz="806450" eaLnBrk="0" fontAlgn="base" hangingPunct="0" indent="-228600" marL="29718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7pPr>
            <a:lvl8pPr defTabSz="806450" eaLnBrk="0" fontAlgn="base" hangingPunct="0" indent="-228600" marL="34290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8pPr>
            <a:lvl9pPr defTabSz="806450" eaLnBrk="0" fontAlgn="base" hangingPunct="0" indent="-228600" marL="38862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9pPr>
          </a:lstStyle>
          <a:p>
            <a:pPr algn="ctr" eaLnBrk="1" hangingPunct="1">
              <a:spcBef>
                <a:spcPct val="0"/>
              </a:spcBef>
              <a:spcAft>
                <a:spcPct val="0"/>
              </a:spcAft>
            </a:pPr>
            <a:r>
              <a:rPr altLang="en-US" kumimoji="1" lang="ko-KR" sz="1370">
                <a:solidFill>
                  <a:srgbClr val="000000"/>
                </a:solidFill>
              </a:rPr>
              <a:t>차주 업무 계획</a:t>
            </a:r>
            <a:endParaRPr altLang="ko-KR" kumimoji="1" lang="en-US" sz="137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7505" name="Group 97"/>
          <p:cNvGraphicFramePr>
            <a:graphicFrameLocks noGrp="1"/>
          </p:cNvGraphicFramePr>
          <p:nvPr/>
        </p:nvGraphicFramePr>
        <p:xfrm>
          <a:off x="264898" y="1097377"/>
          <a:ext cx="4771985" cy="5727215"/>
        </p:xfrm>
        <a:graphic>
          <a:graphicData uri="http://schemas.openxmlformats.org/drawingml/2006/table">
            <a:tbl>
              <a:tblPr/>
              <a:tblGrid>
                <a:gridCol w="65560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661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2029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6452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6538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01374"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구분</a:t>
                      </a:r>
                      <a:r>
                        <a:rPr altLang="ko-KR" b="1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/</a:t>
                      </a:r>
                    </a:p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담당자</a:t>
                      </a:r>
                      <a:endParaRPr altLang="ko-KR" b="1" baseline="0" cap="none" dirty="0" i="0" kumimoji="1" lang="en-US" normalizeH="0" smtClean="0" strike="noStrike" sz="9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55" marL="88075" marR="88075" marT="45755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업무 내용</a:t>
                      </a:r>
                    </a:p>
                  </a:txBody>
                  <a:tcPr anchor="ctr" horzOverflow="overflow" marB="45755" marL="88075" marR="88075" marT="45755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접수일</a:t>
                      </a:r>
                    </a:p>
                  </a:txBody>
                  <a:tcPr anchor="ctr" horzOverflow="overflow" marB="45755" marL="88075" marR="88075" marT="4575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완료 목표일</a:t>
                      </a:r>
                    </a:p>
                  </a:txBody>
                  <a:tcPr horzOverflow="overflow" marB="45755" marL="88075" marR="88075" marT="45755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err="1" i="0" kumimoji="1" lang="ko-KR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진행율</a:t>
                      </a:r>
                      <a:r>
                        <a:rPr altLang="ko-KR" b="1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/</a:t>
                      </a:r>
                    </a:p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완료일</a:t>
                      </a:r>
                      <a:endParaRPr altLang="ko-KR" b="1" baseline="0" cap="none" dirty="0" i="0" kumimoji="1" lang="en-US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55" marL="88075" marR="88075" marT="45755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0977">
                <a:tc rowSpan="5"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CRM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홈페이지</a:t>
                      </a:r>
                      <a:endParaRPr altLang="ko-KR" b="0" baseline="0" cap="none" dirty="0" i="0" kumimoji="1" lang="en-US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/ 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김재희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ko-KR" b="0" baseline="0" cap="none" dirty="0" i="0" kumimoji="1" lang="en-US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53" marL="88075" marR="88075" marT="45753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법인 하위 카드 등록 </a:t>
                      </a:r>
                    </a:p>
                  </a:txBody>
                  <a:tcPr horzOverflow="overflow" marB="45727" marL="81298" marR="81298" marT="4572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12/24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33" marL="81298" marR="81298" marT="45733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12/31</a:t>
                      </a: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806" marL="81298" marR="81298" marT="45806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100%</a:t>
                      </a:r>
                    </a:p>
                  </a:txBody>
                  <a:tcPr horzOverflow="overflow" marB="45747" marL="81301" marR="81301" marT="4574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0977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</a:t>
                      </a:r>
                      <a:r>
                        <a:rPr altLang="ko-KR" baseline="0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프로모션 기간내 가입자 정보 제공 </a:t>
                      </a:r>
                      <a:endParaRPr altLang="en-US" dirty="0" lang="ko-KR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35" marL="81298" marR="81298" marT="4573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1/13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42" marL="81298" marR="81298" marT="4574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1/13</a:t>
                      </a: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815" marL="81298" marR="81298" marT="4581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100%</a:t>
                      </a:r>
                    </a:p>
                  </a:txBody>
                  <a:tcPr horzOverflow="overflow" marB="45747" marL="81301" marR="81301" marT="4574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0977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모바일주유권 문자 발송 </a:t>
                      </a:r>
                    </a:p>
                  </a:txBody>
                  <a:tcPr horzOverflow="overflow" marB="45736" marL="81298" marR="81298" marT="45736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1/13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43" marL="81298" marR="81298" marT="45743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1/15</a:t>
                      </a: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815" marL="81298" marR="81298" marT="4581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100%</a:t>
                      </a:r>
                    </a:p>
                  </a:txBody>
                  <a:tcPr horzOverflow="overflow" marB="45747" marL="81301" marR="81301" marT="4574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0950">
                <a:tc vMerge="1"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ko-KR" b="0" baseline="0" cap="none" dirty="0" i="0" kumimoji="1" lang="en-US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6757" marL="90003" marR="90003" marT="4675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모의해킹 중복로그인 제한 개발 및 운영 이관 </a:t>
                      </a:r>
                    </a:p>
                  </a:txBody>
                  <a:tcPr horzOverflow="overflow" marB="45751" marL="81298" marR="81298" marT="4575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11/02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42" marL="81298" marR="81298" marT="4574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1/12</a:t>
                      </a:r>
                    </a:p>
                  </a:txBody>
                  <a:tcPr horzOverflow="overflow" marB="45773" marL="81301" marR="81301" marT="45773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100%</a:t>
                      </a:r>
                    </a:p>
                  </a:txBody>
                  <a:tcPr horzOverflow="overflow" marB="45752" marL="81301" marR="81301" marT="4575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0179">
                <a:tc vMerge="1"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ko-KR" b="0" baseline="0" cap="none" dirty="0" i="0" kumimoji="1" lang="en-US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6761" marL="90003" marR="90003" marT="4676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marL="0">
                        <a:buFontTx/>
                        <a:buNone/>
                      </a:pP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믿음가득주유소 화면 오류 확인 및 수정 요청</a:t>
                      </a:r>
                      <a:endParaRPr altLang="ko-KR" dirty="0" lang="en-US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51" marL="81298" marR="81298" marT="4575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1/13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42" marL="81298" marR="81298" marT="4574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ko-KR" b="0" baseline="0" cap="none" dirty="0" i="0" kern="1200" kumimoji="1" lang="en-US" normalizeH="0" smtClean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73" marL="81301" marR="81301" marT="45773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50%</a:t>
                      </a:r>
                    </a:p>
                  </a:txBody>
                  <a:tcPr horzOverflow="overflow" marB="45752" marL="81301" marR="81301" marT="4575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10913">
                <a:tc rowSpan="7"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VOC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/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강길제</a:t>
                      </a:r>
                      <a:endParaRPr altLang="ko-KR" b="0" baseline="0" cap="none" dirty="0" i="0" kumimoji="1" lang="en-US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53" marL="88075" marR="88075" marT="45753">
                    <a:lnL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-  </a:t>
                      </a:r>
                      <a:r>
                        <a:rPr altLang="en-US" b="0" baseline="0" cap="none" dirty="0" err="1" i="0" kern="1200" kumimoji="1" lang="ko-KR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감사인원</a:t>
                      </a:r>
                      <a:r>
                        <a:rPr altLang="en-US" b="0" baseline="0" cap="none" dirty="0" i="0" kern="1200" kumimoji="1" lang="ko-KR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 </a:t>
                      </a: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VOC</a:t>
                      </a:r>
                      <a:r>
                        <a:rPr altLang="en-US" b="0" baseline="0" cap="none" dirty="0" i="0" kern="1200" kumimoji="1" lang="ko-KR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관리자 권한 부여</a:t>
                      </a: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68" marL="81301" marR="81301" marT="45768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1/8</a:t>
                      </a: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69" marL="81301" marR="81301" marT="4576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1/11</a:t>
                      </a: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69" marL="81301" marR="81301" marT="4576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100%</a:t>
                      </a:r>
                    </a:p>
                  </a:txBody>
                  <a:tcPr horzOverflow="overflow" marB="45750" marL="81301" marR="81301" marT="4575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0913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-  VOC Summary </a:t>
                      </a:r>
                      <a:r>
                        <a:rPr altLang="en-US" b="0" baseline="0" cap="none" dirty="0" i="0" kern="1200" kumimoji="1" lang="ko-KR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발송 </a:t>
                      </a:r>
                      <a:r>
                        <a:rPr altLang="en-US" b="0" baseline="0" cap="none" dirty="0" err="1" i="0" kern="1200" kumimoji="1" lang="ko-KR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로직</a:t>
                      </a:r>
                      <a:r>
                        <a:rPr altLang="en-US" b="0" baseline="0" cap="none" dirty="0" i="0" kern="1200" kumimoji="1" lang="ko-KR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 변경</a:t>
                      </a: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68" marL="81301" marR="81301" marT="45768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1/14</a:t>
                      </a: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69" marL="81301" marR="81301" marT="4576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1/15</a:t>
                      </a: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69" marL="81301" marR="81301" marT="4576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100%</a:t>
                      </a:r>
                    </a:p>
                  </a:txBody>
                  <a:tcPr horzOverflow="overflow" marB="45750" marL="81301" marR="81301" marT="4575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10913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-  VOC </a:t>
                      </a:r>
                      <a:r>
                        <a:rPr altLang="en-US" b="0" baseline="0" cap="none" dirty="0" i="0" kern="1200" kumimoji="1" lang="ko-KR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배치 스케줄러 개선</a:t>
                      </a: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58" marL="81301" marR="81301" marT="45758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1/13</a:t>
                      </a: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59" marL="81301" marR="81301" marT="4575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1/13</a:t>
                      </a: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59" marL="81301" marR="81301" marT="4575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100%</a:t>
                      </a:r>
                    </a:p>
                  </a:txBody>
                  <a:tcPr horzOverflow="overflow" marB="45750" marL="81301" marR="81301" marT="4575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10918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-  VOC </a:t>
                      </a:r>
                      <a:r>
                        <a:rPr altLang="en-US" b="0" baseline="0" cap="none" dirty="0" i="0" kern="1200" kumimoji="1" lang="ko-KR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검색 </a:t>
                      </a:r>
                      <a:r>
                        <a:rPr altLang="en-US" b="0" baseline="0" cap="none" dirty="0" err="1" i="0" kern="1200" kumimoji="1" lang="ko-KR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로직</a:t>
                      </a:r>
                      <a:r>
                        <a:rPr altLang="en-US" b="0" baseline="0" cap="none" dirty="0" i="0" kern="1200" kumimoji="1" lang="ko-KR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 개선</a:t>
                      </a: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89" marL="81294" marR="81294" marT="4578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90" marL="81294" marR="81294" marT="4579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90" marL="81294" marR="81294" marT="4579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ko-KR" b="0" baseline="0" cap="none" dirty="0" i="0" kern="1200" kumimoji="1" lang="en-US" normalizeH="0" smtClean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50" marL="81301" marR="81301" marT="4575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10913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68" marL="81301" marR="81301" marT="45768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69" marL="81301" marR="81301" marT="4576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69" marL="81301" marR="81301" marT="4576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ko-KR" b="0" baseline="0" cap="none" dirty="0" i="0" kern="1200" kumimoji="1" lang="en-US" normalizeH="0" smtClean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50" marL="81301" marR="81301" marT="4575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10875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68" marL="81301" marR="81301" marT="45768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69" marL="81301" marR="81301" marT="4576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69" marL="81301" marR="81301" marT="4576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ko-KR" b="0" baseline="0" cap="none" dirty="0" i="0" kern="1200" kumimoji="1" lang="en-US" normalizeH="0" smtClean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50" marL="81301" marR="81301" marT="4575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34382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68" marL="81301" marR="81301" marT="45768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69" marL="81301" marR="81301" marT="4576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69" marL="81301" marR="81301" marT="4576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ko-KR" b="0" baseline="0" cap="none" dirty="0" i="0" kern="1200" kumimoji="1" lang="en-US" normalizeH="0" smtClean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50" marL="81301" marR="81301" marT="4575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10829">
                <a:tc rowSpan="11"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CRM BI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/ 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석주연</a:t>
                      </a:r>
                    </a:p>
                  </a:txBody>
                  <a:tcPr horzOverflow="overflow" marB="45753" marL="88075" marR="88075" marT="45753">
                    <a:lnL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</a:t>
                      </a:r>
                      <a:r>
                        <a:rPr altLang="ko-KR" baseline="0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보너스카드 </a:t>
                      </a:r>
                      <a:r>
                        <a:rPr altLang="en-US" baseline="0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매출비율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</a:t>
                      </a:r>
                      <a:r>
                        <a:rPr altLang="en-US" baseline="0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사입량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반영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1/11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1/12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itchFamily="50" typeface="맑은 고딕"/>
                          <a:ea charset="-127" pitchFamily="50" typeface="맑은 고딕"/>
                        </a:rPr>
                        <a:t>100%</a:t>
                      </a:r>
                      <a:endParaRPr altLang="en-US" dirty="0" lang="ko-KR" sz="800">
                        <a:latin charset="-127" pitchFamily="50" typeface="맑은 고딕"/>
                        <a:ea charset="-127" pitchFamily="50" typeface="맑은 고딕"/>
                      </a:endParaRPr>
                    </a:p>
                  </a:txBody>
                  <a:tcPr horzOverflow="overflow" marB="45750" marL="81301" marR="81301" marT="4575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10829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‘20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년 </a:t>
                      </a: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12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월 </a:t>
                      </a:r>
                      <a:r>
                        <a:rPr altLang="en-US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남선석유</a:t>
                      </a: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/</a:t>
                      </a:r>
                      <a:r>
                        <a:rPr altLang="en-US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리드코프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</a:t>
                      </a:r>
                      <a:r>
                        <a:rPr altLang="en-US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매출비율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반영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1/12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1/12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itchFamily="50" typeface="맑은 고딕"/>
                          <a:ea charset="-127" pitchFamily="50" typeface="맑은 고딕"/>
                        </a:rPr>
                        <a:t>100%</a:t>
                      </a:r>
                      <a:endParaRPr altLang="en-US" dirty="0" lang="ko-KR" sz="800">
                        <a:latin charset="-127" pitchFamily="50" typeface="맑은 고딕"/>
                        <a:ea charset="-127" pitchFamily="50" typeface="맑은 고딕"/>
                      </a:endParaRPr>
                    </a:p>
                  </a:txBody>
                  <a:tcPr horzOverflow="overflow" marB="45750" marL="81301" marR="81301" marT="4575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17351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’20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년 </a:t>
                      </a: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12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월 </a:t>
                      </a: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UNDEFINED</a:t>
                      </a:r>
                      <a:r>
                        <a:rPr altLang="ko-KR" baseline="0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</a:t>
                      </a:r>
                      <a:r>
                        <a:rPr altLang="en-US" baseline="0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유치실적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데이터 제공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1/13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1/13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itchFamily="50" typeface="맑은 고딕"/>
                          <a:ea charset="-127" pitchFamily="50" typeface="맑은 고딕"/>
                        </a:rPr>
                        <a:t>100%</a:t>
                      </a:r>
                      <a:endParaRPr altLang="en-US" dirty="0" lang="ko-KR" sz="800">
                        <a:latin charset="-127" pitchFamily="50" typeface="맑은 고딕"/>
                        <a:ea charset="-127" pitchFamily="50" typeface="맑은 고딕"/>
                      </a:endParaRPr>
                    </a:p>
                  </a:txBody>
                  <a:tcPr horzOverflow="overflow" marB="45750" marL="81301" marR="81301" marT="4575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17744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신규회원 분석 </a:t>
                      </a: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BI</a:t>
                      </a:r>
                      <a:r>
                        <a:rPr altLang="ko-KR" baseline="0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엑셀 파일 제공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1/13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1/13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100%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50" marL="81301" marR="81301" marT="4575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210857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과다적립금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관련 문의 응대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1/11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1/11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100%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210857">
                <a:tc vMerge="1"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6755" marL="90010" marR="90010" marT="46755">
                    <a:lnL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중단대상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거래처 및 </a:t>
                      </a:r>
                      <a:r>
                        <a:rPr altLang="en-US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과다적립금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</a:t>
                      </a:r>
                      <a:r>
                        <a:rPr altLang="en-US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재산정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개발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1/14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1/19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90%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210829">
                <a:tc vMerge="1"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6753" marL="90010" marR="90010" marT="46753">
                    <a:lnL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  <a:tr h="210829">
                <a:tc vMerge="1"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6746" marL="90010" marR="90010" marT="46746">
                    <a:lnL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20"/>
                  </a:ext>
                </a:extLst>
              </a:tr>
              <a:tr h="210857">
                <a:tc vMerge="1"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6746" marL="90010" marR="90010" marT="46746">
                    <a:lnL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21"/>
                  </a:ext>
                </a:extLst>
              </a:tr>
              <a:tr h="210829">
                <a:tc vMerge="1"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6749" marL="90010" marR="90010" marT="46749">
                    <a:lnL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22"/>
                  </a:ext>
                </a:extLst>
              </a:tr>
              <a:tr h="330140">
                <a:tc vMerge="1"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6754" marL="90010" marR="90010" marT="46754">
                    <a:lnL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23"/>
                  </a:ext>
                </a:extLst>
              </a:tr>
            </a:tbl>
          </a:graphicData>
        </a:graphic>
      </p:graphicFrame>
      <p:sp>
        <p:nvSpPr>
          <p:cNvPr id="9339" name="Rectangle 137"/>
          <p:cNvSpPr>
            <a:spLocks noChangeArrowheads="1"/>
          </p:cNvSpPr>
          <p:nvPr/>
        </p:nvSpPr>
        <p:spPr bwMode="auto">
          <a:xfrm>
            <a:off x="302179" y="302534"/>
            <a:ext cx="8761066" cy="3314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algn="ctr" dir="2700000" dist="35921" rotWithShape="0">
                    <a:schemeClr val="bg2"/>
                  </a:outerShdw>
                </a:effectLst>
              </a14:hiddenEffects>
            </a:ext>
          </a:extLst>
        </p:spPr>
        <p:txBody>
          <a:bodyPr anchor="ctr" bIns="44805" lIns="89609" rIns="89609" tIns="44805">
            <a:spAutoFit/>
          </a:bodyPr>
          <a:lstStyle>
            <a:lvl1pPr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1pPr>
            <a:lvl2pPr indent="-285750" marL="7429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2pPr>
            <a:lvl3pPr indent="-228600" marL="11430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3pPr>
            <a:lvl4pPr indent="-228600" marL="16002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4pPr>
            <a:lvl5pPr indent="-228600" marL="20574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5pPr>
            <a:lvl6pPr eaLnBrk="0" fontAlgn="base" hangingPunct="0" indent="-228600" marL="25146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6pPr>
            <a:lvl7pPr eaLnBrk="0" fontAlgn="base" hangingPunct="0" indent="-228600" marL="29718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7pPr>
            <a:lvl8pPr eaLnBrk="0" fontAlgn="base" hangingPunct="0" indent="-228600" marL="34290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8pPr>
            <a:lvl9pPr eaLnBrk="0" fontAlgn="base" hangingPunct="0" indent="-228600" marL="38862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9pPr>
          </a:lstStyle>
          <a:p>
            <a:pPr eaLnBrk="1" hangingPunct="1">
              <a:spcBef>
                <a:spcPct val="0"/>
              </a:spcBef>
              <a:spcAft>
                <a:spcPct val="0"/>
              </a:spcAft>
            </a:pPr>
            <a:r>
              <a:rPr altLang="ko-KR" kumimoji="1" lang="en-US" sz="1566">
                <a:solidFill>
                  <a:srgbClr val="000000"/>
                </a:solidFill>
              </a:rPr>
              <a:t>3. </a:t>
            </a:r>
            <a:r>
              <a:rPr altLang="en-US" kumimoji="1" lang="ko-KR" sz="1566">
                <a:solidFill>
                  <a:srgbClr val="000000"/>
                </a:solidFill>
              </a:rPr>
              <a:t>주간업무 실적 및 계획</a:t>
            </a:r>
            <a:r>
              <a:rPr altLang="ko-KR" kumimoji="1" lang="en-US" sz="1566">
                <a:solidFill>
                  <a:srgbClr val="000000"/>
                </a:solidFill>
              </a:rPr>
              <a:t>(</a:t>
            </a:r>
            <a:r>
              <a:rPr altLang="en-US" lang="ko-KR" sz="1566">
                <a:solidFill>
                  <a:srgbClr val="000000"/>
                </a:solidFill>
              </a:rPr>
              <a:t>②</a:t>
            </a:r>
            <a:r>
              <a:rPr altLang="ko-KR" kumimoji="1" lang="en-US" sz="1566">
                <a:solidFill>
                  <a:srgbClr val="000000"/>
                </a:solidFill>
              </a:rPr>
              <a:t>Quintet - CRM)</a:t>
            </a:r>
          </a:p>
        </p:txBody>
      </p:sp>
      <p:sp>
        <p:nvSpPr>
          <p:cNvPr id="9340" name="Rectangle 135"/>
          <p:cNvSpPr>
            <a:spLocks noChangeArrowheads="1"/>
          </p:cNvSpPr>
          <p:nvPr/>
        </p:nvSpPr>
        <p:spPr bwMode="auto">
          <a:xfrm>
            <a:off x="246257" y="750972"/>
            <a:ext cx="4771985" cy="298249"/>
          </a:xfrm>
          <a:prstGeom prst="rect">
            <a:avLst/>
          </a:prstGeom>
          <a:solidFill>
            <a:srgbClr val="C7CDFD"/>
          </a:solidFill>
          <a:ln>
            <a:noFill/>
          </a:ln>
          <a:effectLst>
            <a:outerShdw algn="ctr" dir="2700000" dist="35921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algn="ctr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defTabSz="806450" indent="-247650" marL="2476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1pPr>
            <a:lvl2pPr defTabSz="806450" indent="-285750" marL="7429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2pPr>
            <a:lvl3pPr defTabSz="806450" indent="-228600" marL="11430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3pPr>
            <a:lvl4pPr defTabSz="806450" indent="-228600" marL="16002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4pPr>
            <a:lvl5pPr defTabSz="806450" indent="-228600" marL="20574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5pPr>
            <a:lvl6pPr defTabSz="806450" eaLnBrk="0" fontAlgn="base" hangingPunct="0" indent="-228600" marL="25146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6pPr>
            <a:lvl7pPr defTabSz="806450" eaLnBrk="0" fontAlgn="base" hangingPunct="0" indent="-228600" marL="29718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7pPr>
            <a:lvl8pPr defTabSz="806450" eaLnBrk="0" fontAlgn="base" hangingPunct="0" indent="-228600" marL="34290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8pPr>
            <a:lvl9pPr defTabSz="806450" eaLnBrk="0" fontAlgn="base" hangingPunct="0" indent="-228600" marL="38862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9pPr>
          </a:lstStyle>
          <a:p>
            <a:pPr algn="ctr" eaLnBrk="1" hangingPunct="1">
              <a:spcBef>
                <a:spcPct val="0"/>
              </a:spcBef>
              <a:spcAft>
                <a:spcPct val="0"/>
              </a:spcAft>
            </a:pPr>
            <a:r>
              <a:rPr altLang="en-US" kumimoji="1" lang="ko-KR" sz="1370">
                <a:solidFill>
                  <a:srgbClr val="000000"/>
                </a:solidFill>
              </a:rPr>
              <a:t>금주 업무 실적</a:t>
            </a:r>
            <a:endParaRPr altLang="ko-KR" kumimoji="1" lang="en-US" sz="1370">
              <a:solidFill>
                <a:srgbClr val="000000"/>
              </a:solidFill>
            </a:endParaRPr>
          </a:p>
        </p:txBody>
      </p:sp>
      <p:graphicFrame>
        <p:nvGraphicFramePr>
          <p:cNvPr id="7" name="Group 97"/>
          <p:cNvGraphicFramePr>
            <a:graphicFrameLocks noGrp="1"/>
          </p:cNvGraphicFramePr>
          <p:nvPr/>
        </p:nvGraphicFramePr>
        <p:xfrm>
          <a:off x="5111445" y="1108250"/>
          <a:ext cx="4473736" cy="4374258"/>
        </p:xfrm>
        <a:graphic>
          <a:graphicData uri="http://schemas.openxmlformats.org/drawingml/2006/table">
            <a:tbl>
              <a:tblPr/>
              <a:tblGrid>
                <a:gridCol w="6685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613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2193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193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4752"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구분</a:t>
                      </a:r>
                      <a:r>
                        <a:rPr altLang="ko-KR" b="1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/</a:t>
                      </a:r>
                    </a:p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담당자</a:t>
                      </a:r>
                      <a:endParaRPr altLang="ko-KR" b="1" baseline="0" cap="none" dirty="0" i="0" kumimoji="1" lang="en-US" normalizeH="0" smtClean="0" strike="noStrike" sz="9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55" marL="88066" marR="88066" marT="45755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업무 내용</a:t>
                      </a:r>
                    </a:p>
                  </a:txBody>
                  <a:tcPr anchor="ctr" horzOverflow="overflow" marB="45755" marL="88066" marR="88066" marT="45755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접수일</a:t>
                      </a:r>
                    </a:p>
                  </a:txBody>
                  <a:tcPr anchor="ctr" horzOverflow="overflow" marB="45755" marL="88066" marR="88066" marT="4575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완료 목표일</a:t>
                      </a:r>
                    </a:p>
                  </a:txBody>
                  <a:tcPr horzOverflow="overflow" marB="45755" marL="88066" marR="88066" marT="45755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1029">
                <a:tc rowSpan="5"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CRM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홈페이지</a:t>
                      </a:r>
                      <a:endParaRPr altLang="ko-KR" b="0" baseline="0" cap="none" dirty="0" i="0" kumimoji="1" lang="en-US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/ 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김재희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  <a:p>
                      <a:pPr latinLnBrk="1"/>
                      <a:endParaRPr altLang="en-US" dirty="0" lang="ko-KR" sz="900"/>
                    </a:p>
                  </a:txBody>
                  <a:tcPr horzOverflow="overflow" marB="45753" marL="88066" marR="88066" marT="45753">
                    <a:lnL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보너스카드홈페이지 카드 안내 페이지 수정</a:t>
                      </a:r>
                    </a:p>
                  </a:txBody>
                  <a:tcPr horzOverflow="overflow" marB="45735" marL="81298" marR="81298" marT="4573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9/17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42" marL="81298" marR="81298" marT="4574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ern="1200" kumimoji="1" lang="ko-KR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미정</a:t>
                      </a: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815" marL="81298" marR="81298" marT="4581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1019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indent="0" marL="0">
                        <a:buFontTx/>
                        <a:buNone/>
                      </a:pP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믿음가득주유소 화면 테스트 및 운영 이관</a:t>
                      </a:r>
                      <a:endParaRPr altLang="ko-KR" dirty="0" lang="en-US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51" marL="81298" marR="81298" marT="4575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3175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1/13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42" marL="81298" marR="81298" marT="4574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3175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ko-KR" b="0" baseline="0" cap="none" dirty="0" i="0" kern="1200" kumimoji="1" lang="en-US" normalizeH="0" smtClean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73" marL="81301" marR="81301" marT="45773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3175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0955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endParaRPr altLang="en-US" dirty="0" lang="ko-KR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35" marL="81298" marR="81298" marT="4573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3175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42" marL="81298" marR="81298" marT="4574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3175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815" marL="81298" marR="81298" marT="4581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3175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0955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en-US" dirty="0" lang="ko-KR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36" marL="81298" marR="81298" marT="45736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3175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43" marL="81298" marR="81298" marT="45743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3175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815" marL="81298" marR="81298" marT="4581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3175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10942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en-US" dirty="0" lang="ko-KR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35" marL="81298" marR="81298" marT="4573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42" marL="81298" marR="81298" marT="4574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815" marL="81298" marR="81298" marT="4581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10987">
                <a:tc rowSpan="6"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VOC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/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강길제</a:t>
                      </a:r>
                      <a:endParaRPr altLang="ko-KR" b="0" baseline="0" cap="none" dirty="0" i="0" kumimoji="1" lang="en-US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53" marL="88066" marR="88066" marT="45753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-  VOC </a:t>
                      </a:r>
                      <a:r>
                        <a:rPr altLang="en-US" b="0" baseline="0" cap="none" dirty="0" i="0" kern="1200" kumimoji="1" lang="ko-KR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분류 개선</a:t>
                      </a: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63" marL="81301" marR="81301" marT="45763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64" marL="81301" marR="81301" marT="45764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64" marL="81301" marR="81301" marT="45764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0983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-  VOC </a:t>
                      </a:r>
                      <a:r>
                        <a:rPr altLang="en-US" b="0" baseline="0" cap="none" dirty="0" i="0" kern="1200" kumimoji="1" lang="ko-KR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검색 </a:t>
                      </a:r>
                      <a:r>
                        <a:rPr altLang="en-US" b="0" baseline="0" cap="none" dirty="0" err="1" i="0" kern="1200" kumimoji="1" lang="ko-KR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로직</a:t>
                      </a:r>
                      <a:r>
                        <a:rPr altLang="en-US" b="0" baseline="0" cap="none" dirty="0" i="0" kern="1200" kumimoji="1" lang="ko-KR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 개선</a:t>
                      </a: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89" marL="81294" marR="81294" marT="4578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90" marL="81294" marR="81294" marT="4579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90" marL="81294" marR="81294" marT="4579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10995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73" marL="81301" marR="81301" marT="45773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74" marL="81301" marR="81301" marT="45774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74" marL="81301" marR="81301" marT="45774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10987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75" marL="81301" marR="81301" marT="4577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76" marL="81301" marR="81301" marT="45776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76" marL="81301" marR="81301" marT="45776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10987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75" marL="81301" marR="81301" marT="4577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76" marL="81301" marR="81301" marT="45776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76" marL="81301" marR="81301" marT="45776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10885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82" marL="81294" marR="81294" marT="4578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83" marL="81294" marR="81294" marT="45783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83" marL="81294" marR="81294" marT="45783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10879">
                <a:tc rowSpan="8"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CRM BI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/ 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석주연</a:t>
                      </a:r>
                    </a:p>
                  </a:txBody>
                  <a:tcPr horzOverflow="overflow" marB="45753" marL="88066" marR="88066" marT="45753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과다적립금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</a:t>
                      </a:r>
                      <a:r>
                        <a:rPr altLang="en-US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산정식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수정 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12/28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10881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포인트 적립 사용 </a:t>
                      </a: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ERP </a:t>
                      </a:r>
                      <a:r>
                        <a:rPr altLang="en-US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보고용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</a:t>
                      </a: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‘20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년도 데이터 제공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1/18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1/18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10881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’20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년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</a:t>
                      </a:r>
                      <a:r>
                        <a:rPr altLang="en-US" baseline="0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중단대상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거래처 대상 리스트 제공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1/18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1/18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12582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이벤트 기간 중 </a:t>
                      </a:r>
                      <a:r>
                        <a:rPr altLang="en-US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신규회원의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</a:t>
                      </a:r>
                      <a:r>
                        <a:rPr altLang="en-US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주유데이터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제공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1/18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1/18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10881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중단대상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거래처 및 </a:t>
                      </a:r>
                      <a:r>
                        <a:rPr altLang="en-US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과다적립금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</a:t>
                      </a:r>
                      <a:r>
                        <a:rPr altLang="en-US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재산정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개발 및 검증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1/14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1/19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210893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210893">
                <a:tc vMerge="1"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6750" marL="90000" marR="90000" marT="4675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210893">
                <a:tc vMerge="1"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6754" marL="90000" marR="90000" marT="46754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</a:tbl>
          </a:graphicData>
        </a:graphic>
      </p:graphicFrame>
      <p:sp>
        <p:nvSpPr>
          <p:cNvPr id="9423" name="Rectangle 136"/>
          <p:cNvSpPr>
            <a:spLocks noChangeArrowheads="1"/>
          </p:cNvSpPr>
          <p:nvPr/>
        </p:nvSpPr>
        <p:spPr bwMode="auto">
          <a:xfrm>
            <a:off x="5092804" y="750972"/>
            <a:ext cx="4473736" cy="310676"/>
          </a:xfrm>
          <a:prstGeom prst="rect">
            <a:avLst/>
          </a:prstGeom>
          <a:solidFill>
            <a:srgbClr val="C7CDFD"/>
          </a:solidFill>
          <a:ln>
            <a:noFill/>
          </a:ln>
          <a:effectLst>
            <a:outerShdw algn="ctr" dir="2700000" dist="35921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algn="ctr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defTabSz="806450" indent="-247650" marL="2476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1pPr>
            <a:lvl2pPr defTabSz="806450" indent="-285750" marL="7429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2pPr>
            <a:lvl3pPr defTabSz="806450" indent="-228600" marL="11430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3pPr>
            <a:lvl4pPr defTabSz="806450" indent="-228600" marL="16002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4pPr>
            <a:lvl5pPr defTabSz="806450" indent="-228600" marL="20574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5pPr>
            <a:lvl6pPr defTabSz="806450" eaLnBrk="0" fontAlgn="base" hangingPunct="0" indent="-228600" marL="25146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6pPr>
            <a:lvl7pPr defTabSz="806450" eaLnBrk="0" fontAlgn="base" hangingPunct="0" indent="-228600" marL="29718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7pPr>
            <a:lvl8pPr defTabSz="806450" eaLnBrk="0" fontAlgn="base" hangingPunct="0" indent="-228600" marL="34290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8pPr>
            <a:lvl9pPr defTabSz="806450" eaLnBrk="0" fontAlgn="base" hangingPunct="0" indent="-228600" marL="38862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9pPr>
          </a:lstStyle>
          <a:p>
            <a:pPr algn="ctr" eaLnBrk="1" hangingPunct="1">
              <a:spcBef>
                <a:spcPct val="0"/>
              </a:spcBef>
              <a:spcAft>
                <a:spcPct val="0"/>
              </a:spcAft>
            </a:pPr>
            <a:r>
              <a:rPr altLang="en-US" kumimoji="1" lang="ko-KR" sz="1370">
                <a:solidFill>
                  <a:srgbClr val="000000"/>
                </a:solidFill>
              </a:rPr>
              <a:t>차주 업무 계획</a:t>
            </a:r>
            <a:endParaRPr altLang="ko-KR" kumimoji="1" lang="en-US" sz="137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22.xml><?xml version="1.0" encoding="utf-8"?>
<p:sld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076" name="표 3075"/>
          <p:cNvGraphicFramePr/>
          <p:nvPr>
            <p:extLst>
              <p:ext uri="{D42A27DB-BD31-4B8C-83A1-F6EECF244321}">
                <p14:modId xmlns:p14="http://schemas.microsoft.com/office/powerpoint/2010/main" val="3560969926"/>
              </p:ext>
            </p:extLst>
          </p:nvPr>
        </p:nvGraphicFramePr>
        <p:xfrm>
          <a:off x="271440" y="1141189"/>
          <a:ext cx="9318451" cy="5164874"/>
        </p:xfrm>
        <a:graphic>
          <a:graphicData uri="http://schemas.openxmlformats.org/drawingml/2006/table">
            <a:tbl>
              <a:tblPr bandRow="1" firstRow="1"/>
              <a:tblGrid>
                <a:gridCol w="13205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205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2053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2533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6501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7132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29518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28572">
                <a:tc>
                  <a:txBody>
                    <a:bodyPr/>
                    <a:lstStyle/>
                    <a:p>
                      <a:pPr algn="ctr" defTabSz="58846888" eaLnBrk="0" hangingPunct="0" indent="0" latinLnBrk="0" lvl="0" marL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altLang="en-US" b="0" baseline="0" dirty="0" i="0" kumimoji="1" lang="ko-KR" sz="900">
                          <a:solidFill>
                            <a:srgbClr val="FF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</a:rPr>
                        <a:t>일</a:t>
                      </a:r>
                      <a:endParaRPr altLang="en-US" b="0" dirty="0" i="0" kumimoji="1" lang="ko-KR" sz="900">
                        <a:solidFill>
                          <a:srgbClr val="FF0000">
                            <a:alpha val="100000"/>
                          </a:srgbClr>
                        </a:solidFill>
                        <a:latin typeface="맑은 고딕"/>
                        <a:ea typeface="맑은 고딕"/>
                      </a:endParaRPr>
                    </a:p>
                  </a:txBody>
                  <a:tcPr anchor="ctr" marB="45719" marT="45719">
                    <a:lnL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solidFill>
                      <a:srgbClr val="EAEA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58846888" eaLnBrk="0" hangingPunct="0" indent="0" latinLnBrk="0" lvl="0" marL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altLang="en-US" b="0" baseline="0" i="0" kumimoji="1" lang="ko-KR" sz="90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</a:rPr>
                        <a:t>월</a:t>
                      </a:r>
                      <a:endParaRPr altLang="en-US" b="0" i="0" kumimoji="1" lang="ko-KR" sz="90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  <a:ea typeface="맑은 고딕"/>
                      </a:endParaRPr>
                    </a:p>
                  </a:txBody>
                  <a:tcPr anchor="ctr"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solidFill>
                      <a:srgbClr val="EAEA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58846888" eaLnBrk="0" hangingPunct="0" indent="0" latinLnBrk="0" lvl="0" marL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altLang="en-US" b="0" baseline="0" i="0" kumimoji="1" lang="ko-KR" sz="90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</a:rPr>
                        <a:t>화</a:t>
                      </a:r>
                      <a:endParaRPr altLang="en-US" b="0" i="0" kumimoji="1" lang="ko-KR" sz="90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  <a:ea typeface="맑은 고딕"/>
                      </a:endParaRPr>
                    </a:p>
                  </a:txBody>
                  <a:tcPr anchor="ctr"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solidFill>
                      <a:srgbClr val="EAEA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58846888" eaLnBrk="0" hangingPunct="0" indent="0" latinLnBrk="0" lvl="0" marL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altLang="en-US" b="0" baseline="0" i="0" kumimoji="1" lang="ko-KR" sz="90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</a:rPr>
                        <a:t>수</a:t>
                      </a:r>
                      <a:endParaRPr altLang="en-US" b="0" i="0" kumimoji="1" lang="ko-KR" sz="90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  <a:ea typeface="맑은 고딕"/>
                      </a:endParaRPr>
                    </a:p>
                  </a:txBody>
                  <a:tcPr anchor="ctr"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solidFill>
                      <a:srgbClr val="EAEA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58846888" eaLnBrk="0" hangingPunct="0" indent="0" latinLnBrk="0" lvl="0" marL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altLang="en-US" b="0" baseline="0" i="0" kumimoji="1" lang="ko-KR" sz="90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</a:rPr>
                        <a:t>목</a:t>
                      </a:r>
                      <a:endParaRPr altLang="en-US" b="0" i="0" kumimoji="1" lang="ko-KR" sz="90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  <a:ea typeface="맑은 고딕"/>
                      </a:endParaRPr>
                    </a:p>
                  </a:txBody>
                  <a:tcPr anchor="ctr"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solidFill>
                      <a:srgbClr val="EAEA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58846888" eaLnBrk="0" hangingPunct="0" indent="0" latinLnBrk="0" lvl="0" marL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altLang="en-US" b="0" baseline="0" i="0" kumimoji="1" lang="ko-KR" sz="90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</a:rPr>
                        <a:t>금</a:t>
                      </a:r>
                      <a:endParaRPr altLang="en-US" b="0" i="0" kumimoji="1" lang="ko-KR" sz="90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  <a:ea typeface="맑은 고딕"/>
                      </a:endParaRPr>
                    </a:p>
                  </a:txBody>
                  <a:tcPr anchor="ctr"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solidFill>
                      <a:srgbClr val="EAEA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58846888" eaLnBrk="0" hangingPunct="0" indent="0" latinLnBrk="0" lvl="0" marL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altLang="en-US" b="0" baseline="0" dirty="0" i="0" kumimoji="1" lang="ko-KR" sz="900">
                          <a:solidFill>
                            <a:srgbClr val="0000FF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</a:rPr>
                        <a:t>토</a:t>
                      </a:r>
                      <a:endParaRPr altLang="en-US" b="0" dirty="0" i="0" kumimoji="1" lang="ko-KR" sz="900">
                        <a:solidFill>
                          <a:srgbClr val="0000FF">
                            <a:alpha val="100000"/>
                          </a:srgbClr>
                        </a:solidFill>
                        <a:latin typeface="맑은 고딕"/>
                        <a:ea typeface="맑은 고딕"/>
                      </a:endParaRPr>
                    </a:p>
                  </a:txBody>
                  <a:tcPr anchor="ctr"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solidFill>
                      <a:srgbClr val="EAEAEA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71392">
                <a:tc>
                  <a:txBody>
                    <a:bodyPr/>
                    <a:lstStyle/>
                    <a:p>
                      <a:endParaRPr altLang="en-US" dirty="0" lang="ko-KR" sz="9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>
                    <a:lnL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dirty="0" lang="ko-KR" sz="9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lang="ko-KR" sz="9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dirty="0" lang="ko-KR" sz="9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dirty="0" lang="ko-KR" sz="9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</a:t>
                      </a:r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/>
                      </a:r>
                    </a:p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배영식</a:t>
                      </a:r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/>
                      </a:r>
                    </a:p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박민우</a:t>
                      </a:r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/>
                      </a:r>
                    </a:p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강민경</a:t>
                      </a:r>
                    </a:p>
                  </a:txBody>
                  <a:tcPr marB="45716" marT="45716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0070C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</a:t>
                      </a:r>
                      <a:endParaRPr altLang="en-US" dirty="0" lang="ko-KR" sz="900">
                        <a:solidFill>
                          <a:srgbClr val="0070C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49176"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FF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3</a:t>
                      </a:r>
                      <a:endParaRPr altLang="en-US" dirty="0" lang="ko-KR" sz="900">
                        <a:solidFill>
                          <a:srgbClr val="FF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4</a:t>
                      </a:r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/>
                      </a:r>
                    </a:p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김예린</a:t>
                      </a:r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/>
                      </a:r>
                    </a:p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◑ 이여진</a:t>
                      </a:r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/>
                      </a:r>
                    </a:p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이병준</a:t>
                      </a: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5</a:t>
                      </a:r>
                      <a:endParaRPr altLang="en-US" dirty="0" lang="ko-KR" sz="9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6</a:t>
                      </a:r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/>
                      </a:r>
                    </a:p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박선미</a:t>
                      </a:r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/>
                      </a:r>
                    </a:p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박민우</a:t>
                      </a: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7</a:t>
                      </a:r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/>
                      </a:r>
                    </a:p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◑ 남대현</a:t>
                      </a: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8</a:t>
                      </a:r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/>
                      </a:r>
                    </a:p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남대현</a:t>
                      </a:r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/>
                      </a:r>
                    </a:p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황보람</a:t>
                      </a:r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/>
                      </a:r>
                    </a:p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강민경</a:t>
                      </a: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0070C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9</a:t>
                      </a:r>
                      <a:endParaRPr altLang="en-US" dirty="0" lang="ko-KR" sz="900">
                        <a:solidFill>
                          <a:srgbClr val="0070C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52327"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FF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10</a:t>
                      </a:r>
                      <a:endParaRPr altLang="en-US" dirty="0" lang="ko-KR" sz="900">
                        <a:solidFill>
                          <a:srgbClr val="FF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03" marT="45703">
                    <a:lnL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11</a:t>
                      </a:r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/>
                      </a:r>
                    </a:p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◐ 강민경</a:t>
                      </a:r>
                    </a:p>
                  </a:txBody>
                  <a:tcPr marB="45703" marT="45703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12</a:t>
                      </a:r>
                      <a:endParaRPr altLang="en-US" dirty="0" lang="ko-KR" sz="9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03" marT="45703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13</a:t>
                      </a:r>
                      <a:endParaRPr altLang="en-US" dirty="0" lang="ko-KR" sz="9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14</a:t>
                      </a:r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/>
                      </a:r>
                    </a:p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◐ 순현국</a:t>
                      </a: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15</a:t>
                      </a:r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/>
                      </a:r>
                    </a:p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배영식</a:t>
                      </a: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0070C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16</a:t>
                      </a:r>
                      <a:endParaRPr altLang="en-US" dirty="0" lang="ko-KR" sz="900">
                        <a:solidFill>
                          <a:srgbClr val="0070C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049146"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FF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17</a:t>
                      </a:r>
                      <a:endParaRPr altLang="en-US" dirty="0" lang="ko-KR" sz="900">
                        <a:solidFill>
                          <a:srgbClr val="FF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03" marT="45703">
                    <a:lnL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18</a:t>
                      </a:r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/>
                      </a:r>
                    </a:p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박선미</a:t>
                      </a:r>
                    </a:p>
                  </a:txBody>
                  <a:tcPr marB="45703" marT="45703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19</a:t>
                      </a:r>
                      <a:endParaRPr altLang="en-US" dirty="0" lang="ko-KR" sz="9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03" marT="45703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20</a:t>
                      </a:r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/>
                      </a:r>
                    </a:p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박남신</a:t>
                      </a: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21</a:t>
                      </a:r>
                      <a:endParaRPr altLang="en-US" dirty="0" lang="ko-KR" sz="9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22</a:t>
                      </a:r>
                      <a:endParaRPr altLang="en-US" dirty="0" lang="ko-KR" sz="9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0070C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23</a:t>
                      </a:r>
                      <a:endParaRPr altLang="en-US" dirty="0" lang="ko-KR" sz="900">
                        <a:solidFill>
                          <a:srgbClr val="0070C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914235"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FF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24/31</a:t>
                      </a:r>
                      <a:endParaRPr altLang="en-US" dirty="0" lang="ko-KR" sz="900">
                        <a:solidFill>
                          <a:srgbClr val="FF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03" marT="45703">
                    <a:lnL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FF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25</a:t>
                      </a:r>
                      <a:endParaRPr altLang="en-US" dirty="0" lang="ko-KR" sz="900">
                        <a:solidFill>
                          <a:srgbClr val="FF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26</a:t>
                      </a:r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/>
                      </a:r>
                    </a:p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김원기</a:t>
                      </a:r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/>
                      </a:r>
                    </a:p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최진우</a:t>
                      </a:r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/>
                      </a:r>
                    </a:p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고귀한</a:t>
                      </a:r>
                    </a:p>
                  </a:txBody>
                  <a:tcPr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27</a:t>
                      </a:r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/>
                      </a:r>
                    </a:p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김원기</a:t>
                      </a:r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/>
                      </a:r>
                    </a:p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순현국</a:t>
                      </a:r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/>
                      </a:r>
                    </a:p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고귀한</a:t>
                      </a:r>
                    </a:p>
                  </a:txBody>
                  <a:tcPr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FF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28</a:t>
                      </a:r>
                      <a:endParaRPr altLang="en-US" dirty="0" lang="ko-KR" sz="900">
                        <a:solidFill>
                          <a:srgbClr val="FF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FF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29</a:t>
                      </a:r>
                      <a:endParaRPr altLang="en-US" dirty="0" lang="ko-KR" sz="900">
                        <a:solidFill>
                          <a:srgbClr val="FF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0070C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30</a:t>
                      </a:r>
                      <a:endParaRPr altLang="en-US" dirty="0" lang="ko-KR" sz="900">
                        <a:solidFill>
                          <a:srgbClr val="0070C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3246" name="TextBox 3245"/>
          <p:cNvSpPr txBox="1"/>
          <p:nvPr/>
        </p:nvSpPr>
        <p:spPr>
          <a:xfrm>
            <a:off x="5639356" y="661884"/>
            <a:ext cx="661884" cy="363427"/>
          </a:xfrm>
          <a:prstGeom prst="rect">
            <a:avLst/>
          </a:prstGeom>
          <a:noFill/>
          <a:ln algn="ctr" cap="flat" cmpd="sng" w="9525">
            <a:noFill/>
            <a:prstDash val="solid"/>
            <a:round/>
          </a:ln>
        </p:spPr>
        <p:txBody>
          <a:bodyPr anchor="t" bIns="45720" lIns="91440" rIns="91440" tIns="45720" vert="horz" wrap="none">
            <a:noAutofit/>
          </a:bodyPr>
          <a:lstStyle/>
          <a:p>
            <a:pPr algn="r" defTabSz="75524200" eaLnBrk="0" hangingPunct="0" indent="-188937" latinLnBrk="0" lvl="0" marL="188937" rtl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3333CC">
                  <a:alpha val="100000"/>
                </a:srgbClr>
              </a:buClr>
              <a:buSzPct val="100000"/>
              <a:buFont typeface="Arial"/>
              <a:buChar char="◑"/>
              <a:defRPr/>
            </a:pPr>
            <a:r>
              <a:rPr altLang="en-US" b="0" baseline="0" i="0" kumimoji="1" lang="ko-KR" sz="900">
                <a:solidFill>
                  <a:srgbClr val="3333CC">
                    <a:alpha val="100000"/>
                  </a:srgbClr>
                </a:solidFill>
                <a:latin typeface="맑은 고딕"/>
                <a:ea typeface="맑은 고딕"/>
              </a:rPr>
              <a:t>반 차</a:t>
            </a:r>
          </a:p>
          <a:p>
            <a:pPr algn="r" defTabSz="75524200" eaLnBrk="0" hangingPunct="0" indent="-188937" latinLnBrk="0" lvl="0" marL="188937" rtl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3333CC">
                  <a:alpha val="100000"/>
                </a:srgbClr>
              </a:buClr>
              <a:buSzPct val="150000"/>
              <a:buFont typeface="Wingdings"/>
              <a:buChar char="l"/>
              <a:defRPr/>
            </a:pPr>
            <a:r>
              <a:rPr altLang="en-US" b="0" baseline="0" i="0" kumimoji="1" lang="ko-KR" sz="900">
                <a:solidFill>
                  <a:srgbClr val="3333CC">
                    <a:alpha val="100000"/>
                  </a:srgbClr>
                </a:solidFill>
                <a:latin typeface="맑은 고딕"/>
                <a:ea typeface="맑은 고딕"/>
              </a:rPr>
              <a:t> 1day</a:t>
            </a:r>
            <a:endParaRPr altLang="en-US" b="0" i="0" kumimoji="1" lang="ko-KR" sz="900">
              <a:solidFill>
                <a:srgbClr val="3333CC">
                  <a:alpha val="100000"/>
                </a:srgbClr>
              </a:solidFill>
              <a:latin typeface="맑은 고딕"/>
              <a:ea typeface="맑은 고딕"/>
            </a:endParaRPr>
          </a:p>
        </p:txBody>
      </p:sp>
      <p:sp>
        <p:nvSpPr>
          <p:cNvPr id="3247" name="TextBox 3246"/>
          <p:cNvSpPr txBox="1"/>
          <p:nvPr/>
        </p:nvSpPr>
        <p:spPr>
          <a:xfrm>
            <a:off x="226954" y="199994"/>
            <a:ext cx="9056616" cy="336468"/>
          </a:xfrm>
          <a:prstGeom prst="rect">
            <a:avLst/>
          </a:prstGeom>
          <a:noFill/>
          <a:ln algn="ctr" cap="flat" cmpd="sng" w="9525">
            <a:noFill/>
            <a:prstDash val="solid"/>
            <a:round/>
          </a:ln>
        </p:spPr>
        <p:txBody>
          <a:bodyPr anchor="ctr" bIns="45789" lIns="91577" rIns="91577" tIns="45789" vert="horz" wrap="square">
            <a:noAutofit/>
          </a:bodyPr>
          <a:lstStyle/>
          <a:p>
            <a:pPr algn="l" defTabSz="58846888" eaLnBrk="0" hangingPunct="0" indent="-385813" latinLnBrk="0" lvl="0" marL="385813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/>
            </a:pPr>
            <a:r>
              <a:rPr altLang="en-US" b="1" baseline="0" dirty="0" i="0" kumimoji="1" lang="ko-KR" sz="16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별첨</a:t>
            </a:r>
            <a:r>
              <a:rPr altLang="en-US" b="1" baseline="0" dirty="0" i="0" kumimoji="1" lang="ko-KR" sz="16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-</a:t>
            </a:r>
            <a:r>
              <a:rPr altLang="en-US" b="1" baseline="0" dirty="0" i="0" kumimoji="1" lang="ko-KR" sz="16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2</a:t>
            </a:r>
            <a:r>
              <a:rPr altLang="en-US" b="1" baseline="0" dirty="0" i="0" kumimoji="1" lang="ko-KR" sz="16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.</a:t>
            </a:r>
            <a:r>
              <a:rPr altLang="en-US" b="1" baseline="0" dirty="0" i="0" kumimoji="1" lang="ko-KR" sz="16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 2023</a:t>
            </a:r>
            <a:r>
              <a:rPr altLang="en-US" b="1" baseline="0" dirty="0" i="0" kumimoji="1" lang="ko-KR" sz="16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. </a:t>
            </a:r>
            <a:r>
              <a:rPr altLang="ko-KR" b="1" dirty="0" kumimoji="1" lang="en-US" sz="16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12</a:t>
            </a:r>
            <a:r>
              <a:rPr altLang="en-US" b="1" baseline="0" dirty="0" i="0" kumimoji="1" lang="ko-KR" sz="16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월 휴가계획서</a:t>
            </a:r>
            <a:endParaRPr altLang="en-US" b="1" dirty="0" i="0" kumimoji="1" lang="ko-KR" sz="1600">
              <a:solidFill>
                <a:srgbClr val="000000">
                  <a:alpha val="100000"/>
                </a:srgbClr>
              </a:solidFill>
              <a:latin typeface="맑은 고딕"/>
              <a:ea typeface="맑은 고딕"/>
            </a:endParaRPr>
          </a:p>
        </p:txBody>
      </p:sp>
      <p:sp>
        <p:nvSpPr>
          <p:cNvPr id="3248" name="TextBox 3247"/>
          <p:cNvSpPr txBox="1"/>
          <p:nvPr/>
        </p:nvSpPr>
        <p:spPr>
          <a:xfrm>
            <a:off x="6777363" y="666628"/>
            <a:ext cx="1447571" cy="355557"/>
          </a:xfrm>
          <a:prstGeom prst="rect">
            <a:avLst/>
          </a:prstGeom>
          <a:noFill/>
          <a:ln algn="ctr" cap="flat" cmpd="sng" w="9525">
            <a:noFill/>
            <a:prstDash val="solid"/>
            <a:round/>
          </a:ln>
        </p:spPr>
        <p:txBody>
          <a:bodyPr anchor="t" bIns="45720" lIns="91440" rIns="91440" tIns="45720" vert="horz" wrap="square">
            <a:noAutofit/>
          </a:bodyPr>
          <a:lstStyle/>
          <a:p>
            <a:pPr algn="r" defTabSz="75524200" eaLnBrk="1" hangingPunct="1" indent="-188937" latinLnBrk="0" lvl="0" marL="188937" rtl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333399">
                  <a:alpha val="100000"/>
                </a:srgbClr>
              </a:buClr>
              <a:buSzPct val="100000"/>
              <a:buFont typeface="Wingdings"/>
              <a:buChar char="Ø"/>
              <a:defRPr/>
            </a:pPr>
            <a:r>
              <a:rPr altLang="en-US" b="0" baseline="0" dirty="0" i="0" kumimoji="1" lang="ko-KR" sz="900">
                <a:solidFill>
                  <a:srgbClr val="333399">
                    <a:alpha val="100000"/>
                  </a:srgbClr>
                </a:solidFill>
                <a:latin typeface="맑은 고딕"/>
                <a:ea typeface="맑은 고딕"/>
              </a:rPr>
              <a:t>예비군</a:t>
            </a:r>
            <a:r>
              <a:rPr altLang="en-US" b="0" baseline="0" dirty="0" i="0" kumimoji="1" lang="ko-KR" sz="900">
                <a:solidFill>
                  <a:srgbClr val="333399">
                    <a:alpha val="100000"/>
                  </a:srgbClr>
                </a:solidFill>
                <a:latin typeface="바탕"/>
                <a:ea typeface="맑은 고딕"/>
              </a:rPr>
              <a:t>/</a:t>
            </a:r>
            <a:r>
              <a:rPr altLang="en-US" b="0" baseline="0" dirty="0" i="0" kumimoji="1" lang="ko-KR" sz="900">
                <a:solidFill>
                  <a:srgbClr val="333399">
                    <a:alpha val="100000"/>
                  </a:srgbClr>
                </a:solidFill>
                <a:latin typeface="맑은 고딕"/>
                <a:ea typeface="맑은 고딕"/>
              </a:rPr>
              <a:t>민방위 훈련 </a:t>
            </a:r>
          </a:p>
          <a:p>
            <a:pPr algn="r" defTabSz="75524200" eaLnBrk="1" hangingPunct="1" indent="-188937" latinLnBrk="0" lvl="0" marL="188937" rtl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333399">
                  <a:alpha val="100000"/>
                </a:srgbClr>
              </a:buClr>
              <a:buSzPct val="100000"/>
              <a:buFont typeface="Wingdings"/>
              <a:buChar char="ü"/>
              <a:defRPr/>
            </a:pPr>
            <a:r>
              <a:rPr altLang="en-US" b="0" baseline="0" dirty="0" i="0" kumimoji="1" lang="ko-KR" sz="900">
                <a:solidFill>
                  <a:srgbClr val="333399">
                    <a:alpha val="100000"/>
                  </a:srgbClr>
                </a:solidFill>
                <a:latin typeface="맑은 고딕"/>
                <a:ea typeface="맑은 고딕"/>
              </a:rPr>
              <a:t>교육</a:t>
            </a:r>
            <a:r>
              <a:rPr altLang="en-US" b="0" baseline="0" dirty="0" i="0" kumimoji="1" lang="ko-KR" sz="900">
                <a:solidFill>
                  <a:srgbClr val="333399">
                    <a:alpha val="100000"/>
                  </a:srgbClr>
                </a:solidFill>
                <a:latin typeface="바탕"/>
                <a:ea typeface="맑은 고딕"/>
              </a:rPr>
              <a:t>,</a:t>
            </a:r>
            <a:r>
              <a:rPr altLang="en-US" b="0" baseline="0" dirty="0" i="0" kumimoji="1" lang="ko-KR" sz="900">
                <a:solidFill>
                  <a:srgbClr val="333399">
                    <a:alpha val="100000"/>
                  </a:srgbClr>
                </a:solidFill>
                <a:latin typeface="맑은 고딕"/>
                <a:ea typeface="맑은 고딕"/>
              </a:rPr>
              <a:t> 내부회의 </a:t>
            </a:r>
            <a:endParaRPr altLang="en-US" b="0" dirty="0" i="0" kumimoji="1" lang="ko-KR" sz="900">
              <a:solidFill>
                <a:srgbClr val="333399">
                  <a:alpha val="100000"/>
                </a:srgbClr>
              </a:solidFill>
              <a:latin typeface="맑은 고딕"/>
              <a:ea typeface="맑은 고딕"/>
            </a:endParaRPr>
          </a:p>
        </p:txBody>
      </p:sp>
      <p:sp>
        <p:nvSpPr>
          <p:cNvPr id="3252" name="TextBox 3251"/>
          <p:cNvSpPr txBox="1"/>
          <p:nvPr/>
        </p:nvSpPr>
        <p:spPr>
          <a:xfrm>
            <a:off x="7853525" y="661884"/>
            <a:ext cx="1676088" cy="355501"/>
          </a:xfrm>
          <a:prstGeom prst="rect">
            <a:avLst/>
          </a:prstGeom>
          <a:noFill/>
          <a:ln algn="ctr" cap="flat" cmpd="sng" w="9525">
            <a:noFill/>
            <a:prstDash val="solid"/>
            <a:round/>
          </a:ln>
        </p:spPr>
        <p:txBody>
          <a:bodyPr anchor="t" bIns="45720" lIns="91440" rIns="91440" tIns="45720" vert="horz" wrap="square">
            <a:noAutofit/>
          </a:bodyPr>
          <a:lstStyle/>
          <a:p>
            <a:pPr algn="r" defTabSz="75524200" eaLnBrk="1" hangingPunct="1" indent="-188937" latinLnBrk="0" lvl="0" marL="188937" rtl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333399">
                  <a:alpha val="100000"/>
                </a:srgbClr>
              </a:buClr>
              <a:buSzPct val="100000"/>
              <a:buFont typeface="Wingdings"/>
              <a:buChar char="v"/>
              <a:defRPr/>
            </a:pPr>
            <a:r>
              <a:rPr altLang="en-US" b="0" baseline="0" i="0" kumimoji="1" lang="ko-KR" sz="900">
                <a:solidFill>
                  <a:srgbClr val="333399">
                    <a:alpha val="100000"/>
                  </a:srgbClr>
                </a:solidFill>
                <a:latin typeface="맑은 고딕"/>
                <a:ea typeface="맑은 고딕"/>
              </a:rPr>
              <a:t>경조휴가</a:t>
            </a:r>
          </a:p>
          <a:p>
            <a:pPr algn="r" defTabSz="75524200" eaLnBrk="1" hangingPunct="1" indent="-188937" latinLnBrk="0" lvl="0" marL="188937" rtl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333399">
                  <a:alpha val="100000"/>
                </a:srgbClr>
              </a:buClr>
              <a:buSzPct val="100000"/>
              <a:buFont typeface="Arial"/>
              <a:buChar char="◇"/>
              <a:defRPr/>
            </a:pPr>
            <a:r>
              <a:rPr altLang="en-US" b="0" baseline="0" i="0" kumimoji="1" lang="ko-KR" sz="900">
                <a:solidFill>
                  <a:srgbClr val="333399">
                    <a:alpha val="100000"/>
                  </a:srgbClr>
                </a:solidFill>
                <a:latin typeface="맑은 고딕"/>
                <a:ea typeface="맑은 고딕"/>
              </a:rPr>
              <a:t>건강검진</a:t>
            </a:r>
            <a:endParaRPr altLang="en-US" b="0" i="0" kumimoji="1" lang="ko-KR" sz="900">
              <a:solidFill>
                <a:srgbClr val="333399">
                  <a:alpha val="100000"/>
                </a:srgbClr>
              </a:solidFill>
              <a:latin typeface="맑은 고딕"/>
              <a:ea typeface="맑은 고딕"/>
            </a:endParaRPr>
          </a:p>
        </p:txBody>
      </p:sp>
      <p:sp>
        <p:nvSpPr>
          <p:cNvPr id="3253" name="TextBox 3252"/>
          <p:cNvSpPr txBox="1"/>
          <p:nvPr/>
        </p:nvSpPr>
        <p:spPr>
          <a:xfrm>
            <a:off x="722167" y="6401209"/>
            <a:ext cx="3085536" cy="223828"/>
          </a:xfrm>
          <a:prstGeom prst="rect">
            <a:avLst/>
          </a:prstGeom>
          <a:noFill/>
          <a:ln algn="ctr" cap="flat" cmpd="sng" w="9525">
            <a:noFill/>
            <a:prstDash val="solid"/>
            <a:round/>
          </a:ln>
        </p:spPr>
        <p:txBody>
          <a:bodyPr anchor="ctr" bIns="45720" lIns="91440" rIns="91440" tIns="45720" vert="horz" wrap="none">
            <a:noAutofit/>
          </a:bodyPr>
          <a:lstStyle/>
          <a:p>
            <a:pPr algn="r" defTabSz="75524200" eaLnBrk="0" hangingPunct="0" indent="0" latinLnBrk="0" lvl="0" marL="0" rtl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None/>
              <a:defRPr/>
            </a:pP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(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H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)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 IT운영팀  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(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R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)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 생산IT지원팀  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(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B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)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 Baynex   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(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Q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)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 Quintet</a:t>
            </a:r>
            <a:endParaRPr altLang="en-US" b="0" i="0" kumimoji="1" lang="ko-KR" sz="900">
              <a:solidFill>
                <a:srgbClr val="000000">
                  <a:alpha val="100000"/>
                </a:srgbClr>
              </a:solidFill>
              <a:latin typeface="맑은 고딕"/>
              <a:ea typeface="맑은 고딕"/>
            </a:endParaRPr>
          </a:p>
        </p:txBody>
      </p:sp>
    </p:spTree>
  </p:cSld>
  <p:clrMapOvr>
    <a:masterClrMapping/>
  </p:clrMapOvr>
</p:sld>
</file>

<file path=ppt/slides/slide23.xml><?xml version="1.0" encoding="utf-8"?>
<p:sld xmlns:p="http://schemas.openxmlformats.org/presentationml/2006/main" xmlns:a="http://schemas.openxmlformats.org/drawingml/2006/main" showMasterSp="false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terms:modified xsi:type="dcterms:W3CDTF">2011-08-01T06:04:30Z</dcterms:modified>
  <cp:revision>1</cp:revision>
</cp:coreProperties>
</file>