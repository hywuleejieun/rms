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[2023.12.05 ~ 2023.12.11]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12월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77194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74280179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6814458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9938211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6833474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10795803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024740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53750647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6974544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465751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94404339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2957485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63734669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0605170" name="Frame"/>
          <p:cNvSpPr>
            <a:spLocks noGrp="1"/>
          </p:cNvSpPr>
          <p:nvPr/>
        </p:nvSpPr>
        <p:spPr>
          <a:xfrm>
            <a:off x="25400" y="5702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41114543" name="Text">
    </p:cNvPr>
          <p:cNvSpPr>
            <a:spLocks noGrp="1"/>
          </p:cNvSpPr>
          <p:nvPr/>
        </p:nvSpPr>
        <p:spPr>
          <a:xfrm rot="0">
            <a:off x="152400" y="5727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99924860" name="Text">
    </p:cNvPr>
          <p:cNvSpPr>
            <a:spLocks noGrp="1"/>
          </p:cNvSpPr>
          <p:nvPr/>
        </p:nvSpPr>
        <p:spPr>
          <a:xfrm rot="0">
            <a:off x="6451600" y="6261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559331" name="Text">
    </p:cNvPr>
          <p:cNvSpPr>
            <a:spLocks noGrp="1"/>
          </p:cNvSpPr>
          <p:nvPr/>
        </p:nvSpPr>
        <p:spPr>
          <a:xfrm rot="0">
            <a:off x="2057400" y="6261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182451" name="Text">
    </p:cNvPr>
          <p:cNvSpPr>
            <a:spLocks noGrp="1"/>
          </p:cNvSpPr>
          <p:nvPr/>
        </p:nvSpPr>
        <p:spPr>
          <a:xfrm rot="0">
            <a:off x="101600" y="6261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6618249" name="Text">
    </p:cNvPr>
          <p:cNvSpPr>
            <a:spLocks noGrp="1"/>
          </p:cNvSpPr>
          <p:nvPr/>
        </p:nvSpPr>
        <p:spPr>
          <a:xfrm rot="0">
            <a:off x="101600" y="6019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43787718" name="Text">
    </p:cNvPr>
          <p:cNvSpPr>
            <a:spLocks noGrp="1"/>
          </p:cNvSpPr>
          <p:nvPr/>
        </p:nvSpPr>
        <p:spPr>
          <a:xfrm rot="0">
            <a:off x="2057400" y="6019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17023416" name="Text">
    </p:cNvPr>
          <p:cNvSpPr>
            <a:spLocks noGrp="1"/>
          </p:cNvSpPr>
          <p:nvPr/>
        </p:nvSpPr>
        <p:spPr>
          <a:xfrm rot="0">
            <a:off x="6451600" y="6019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3786719" name="Text">
    </p:cNvPr>
          <p:cNvSpPr>
            <a:spLocks noGrp="1"/>
          </p:cNvSpPr>
          <p:nvPr/>
        </p:nvSpPr>
        <p:spPr>
          <a:xfrm rot="0">
            <a:off x="101600" y="6553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6877625" name="Text">
    </p:cNvPr>
          <p:cNvSpPr>
            <a:spLocks noGrp="1"/>
          </p:cNvSpPr>
          <p:nvPr/>
        </p:nvSpPr>
        <p:spPr>
          <a:xfrm rot="0">
            <a:off x="6451600" y="6553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226610" name="Text">
    </p:cNvPr>
          <p:cNvSpPr>
            <a:spLocks noGrp="1"/>
          </p:cNvSpPr>
          <p:nvPr/>
        </p:nvSpPr>
        <p:spPr>
          <a:xfrm rot="0">
            <a:off x="2057400" y="6553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9050207" name="Text">
    </p:cNvPr>
          <p:cNvSpPr>
            <a:spLocks noGrp="1"/>
          </p:cNvSpPr>
          <p:nvPr/>
        </p:nvSpPr>
        <p:spPr>
          <a:xfrm rot="0">
            <a:off x="1244600" y="6553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3557193" name="Text">
    </p:cNvPr>
          <p:cNvSpPr>
            <a:spLocks noGrp="1"/>
          </p:cNvSpPr>
          <p:nvPr/>
        </p:nvSpPr>
        <p:spPr>
          <a:xfrm rot="0">
            <a:off x="1244600" y="6261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7583511" name="Text">
    </p:cNvPr>
          <p:cNvSpPr>
            <a:spLocks noGrp="1"/>
          </p:cNvSpPr>
          <p:nvPr/>
        </p:nvSpPr>
        <p:spPr>
          <a:xfrm rot="0">
            <a:off x="1244600" y="6019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401594256" name="Text">
    </p:cNvPr>
          <p:cNvSpPr>
            <a:spLocks noGrp="1"/>
          </p:cNvSpPr>
          <p:nvPr/>
        </p:nvSpPr>
        <p:spPr>
          <a:xfrm rot="0">
            <a:off x="8102600" y="6553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242043" name="Text">
    </p:cNvPr>
          <p:cNvSpPr>
            <a:spLocks noGrp="1"/>
          </p:cNvSpPr>
          <p:nvPr/>
        </p:nvSpPr>
        <p:spPr>
          <a:xfrm rot="0">
            <a:off x="8102600" y="6019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20393615" name="Text">
    </p:cNvPr>
          <p:cNvSpPr>
            <a:spLocks noGrp="1"/>
          </p:cNvSpPr>
          <p:nvPr/>
        </p:nvSpPr>
        <p:spPr>
          <a:xfrm rot="0">
            <a:off x="8102600" y="6261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2107963" name="Frame"/>
          <p:cNvSpPr>
            <a:spLocks noGrp="1"/>
          </p:cNvSpPr>
          <p:nvPr/>
        </p:nvSpPr>
        <p:spPr>
          <a:xfrm>
            <a:off x="101600" y="2832100"/>
            <a:ext cx="9779000" cy="270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02740385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731695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373804727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36105025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2873139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533676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03354773" name="Frame"/>
          <p:cNvSpPr>
            <a:spLocks noGrp="1"/>
          </p:cNvSpPr>
          <p:nvPr/>
        </p:nvSpPr>
        <p:spPr>
          <a:xfrm>
            <a:off x="165100" y="43053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58467151" name="Text">
    </p:cNvPr>
          <p:cNvSpPr>
            <a:spLocks noGrp="1"/>
          </p:cNvSpPr>
          <p:nvPr/>
        </p:nvSpPr>
        <p:spPr>
          <a:xfrm rot="0">
            <a:off x="165100" y="42799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19257007" name="Text">
    </p:cNvPr>
          <p:cNvSpPr>
            <a:spLocks noGrp="1"/>
          </p:cNvSpPr>
          <p:nvPr/>
        </p:nvSpPr>
        <p:spPr>
          <a:xfrm rot="0">
            <a:off x="965200" y="43307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1465799376" name="Text">
    </p:cNvPr>
          <p:cNvSpPr>
            <a:spLocks noGrp="1"/>
          </p:cNvSpPr>
          <p:nvPr/>
        </p:nvSpPr>
        <p:spPr>
          <a:xfrm rot="0">
            <a:off x="7239000" y="43307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74644798" name="Text">
    </p:cNvPr>
          <p:cNvSpPr>
            <a:spLocks noGrp="1"/>
          </p:cNvSpPr>
          <p:nvPr/>
        </p:nvSpPr>
        <p:spPr>
          <a:xfrm rot="0">
            <a:off x="5549900" y="43307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</a:p>
        </p:txBody>
      </p:sp>
      <p:sp>
        <p:nvSpPr>
          <p:cNvPr id="1243298815" name="Text">
    </p:cNvPr>
          <p:cNvSpPr>
            <a:spLocks noGrp="1"/>
          </p:cNvSpPr>
          <p:nvPr/>
        </p:nvSpPr>
        <p:spPr>
          <a:xfrm rot="0">
            <a:off x="901700" y="42799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2160786" name="Text">
    </p:cNvPr>
          <p:cNvSpPr>
            <a:spLocks noGrp="1"/>
          </p:cNvSpPr>
          <p:nvPr/>
        </p:nvSpPr>
        <p:spPr>
          <a:xfrm rot="0">
            <a:off x="6121400" y="42799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2558431" name="Text">
    </p:cNvPr>
          <p:cNvSpPr>
            <a:spLocks noGrp="1"/>
          </p:cNvSpPr>
          <p:nvPr/>
        </p:nvSpPr>
        <p:spPr>
          <a:xfrm rot="0">
            <a:off x="5549900" y="42799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7646621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0543758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6627678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[SABIC] SABIC 시스템 연동 구축</a:t>
            </a:r>
          </a:p>
        </p:txBody>
      </p:sp>
      <p:sp>
        <p:nvSpPr>
          <p:cNvPr id="120327324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76763586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181849599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5136337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094074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2482371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90322161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59651759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3203092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 My S-oil 소비자판매가 실시간 연동을위한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국내출장명령서/ 국내출장비 신청서 내 직책 우선 표시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[LOPAS] HOME &gt; 이관수송 현황 내 스크롤 시, 팝업창이 뜨지 않는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2023.10월 결산의 EIS, Yellow Book 반영</a:t>
            </a:r>
          </a:p>
        </p:txBody>
      </p:sp>
      <p:sp>
        <p:nvSpPr>
          <p:cNvPr id="2146736350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412228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99706286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</a:p>
        </p:txBody>
      </p:sp>
      <p:sp>
        <p:nvSpPr>
          <p:cNvPr id="1896516169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57679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081171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76883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7407773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4474446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61881465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ZEAM1112 추가 수정 여러 거래유형 입력하여 프로그램 실행할수있도록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DP 코드 전송 배치 보완 CCS 전송로직 수정(ZCOT7080)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마감업무 지원작업</a:t>
            </a:r>
          </a:p>
        </p:txBody>
      </p:sp>
      <p:sp>
        <p:nvSpPr>
          <p:cNvPr id="933392143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9710352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299228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</a:p>
        </p:txBody>
      </p:sp>
      <p:sp>
        <p:nvSpPr>
          <p:cNvPr id="200119172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463740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8399187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133656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60045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04569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10649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012385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580881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674751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12096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64577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18042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19455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11459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58440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2395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4312637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242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7375670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5226900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3646777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66908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8063357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인터페이스 생성 전표 제외하고 전표 생성자와 역분개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유저 ID 가 같지 않으면 역분개 안되도록 수정(ZFIR7050)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ZEAM1112 추가 수정 여러 거래유형 입력하여 프로그램 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행할수있도록 수정(ZEAM1112)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DP 코드 전송 배치 보완 CCS 전송로직 수정(ZC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OT7080)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결재선 변경요청에서 결재선 새로 생성기능 추가 / 결재선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 승인에서 승인버튼 권한별로 관리 기능 추가(ZEAM1111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</a:t>
            </a:r>
          </a:p>
        </p:txBody>
      </p:sp>
      <p:sp>
        <p:nvSpPr>
          <p:cNvPr id="11958618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9118624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0830171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0712293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5251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399067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08387392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4138008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업무종료</a:t>
            </a:r>
          </a:p>
        </p:txBody>
      </p:sp>
      <p:sp>
        <p:nvSpPr>
          <p:cNvPr id="87280636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3083630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49571290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HCM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임원 퇴직금 누진적수로 적용</a:t>
            </a:r>
          </a:p>
        </p:txBody>
      </p:sp>
      <p:sp>
        <p:nvSpPr>
          <p:cNvPr id="2945943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792823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6579232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21392087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73782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4671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82233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50136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519314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74358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256734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91161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5857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4904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47412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428092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21540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43670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3810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284295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968847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7508617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</a:p>
        </p:txBody>
      </p:sp>
      <p:sp>
        <p:nvSpPr>
          <p:cNvPr id="8580300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475992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538660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국내출장비 신청서의 동행자 입력메뉴 비활성화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제증명(원천징수영수증) 선택시 연도지정 기본값 반영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제증명(경력증명-국가기술 자격) 안내 팝업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국내출장명령서/ 국내출장비 신청서 내 직책 우선 표시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907473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</a:p>
        </p:txBody>
      </p:sp>
      <p:sp>
        <p:nvSpPr>
          <p:cNvPr id="4769318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1206</a:t>
            </a:r>
            <a:br/>
            <a:br/>
          </a:p>
        </p:txBody>
      </p:sp>
      <p:sp>
        <p:nvSpPr>
          <p:cNvPr id="7465187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14536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3435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2388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</a:p>
        </p:txBody>
      </p:sp>
      <p:sp>
        <p:nvSpPr>
          <p:cNvPr id="13996739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65648786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규제 화학물질 승인(ZIMR3020) 담당자 변경에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후속조치</a:t>
            </a:r>
          </a:p>
        </p:txBody>
      </p:sp>
      <p:sp>
        <p:nvSpPr>
          <p:cNvPr id="2525693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51374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0217699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규제 화학물질 승인(ZIMR3020) 담당자 변경에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후속조치</a:t>
            </a:r>
          </a:p>
        </p:txBody>
      </p:sp>
      <p:sp>
        <p:nvSpPr>
          <p:cNvPr id="271028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</a:p>
        </p:txBody>
      </p:sp>
      <p:sp>
        <p:nvSpPr>
          <p:cNvPr id="163212604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08079965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9995237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904798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2034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875708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15403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31491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963498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839760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83714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694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05066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85308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29036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75709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81612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137930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23315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</a:p>
        </p:txBody>
      </p:sp>
      <p:sp>
        <p:nvSpPr>
          <p:cNvPr id="14513008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8083341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SAProutert Certificate 1년 만료에 따른 cert갱신 및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정작업</a:t>
            </a:r>
          </a:p>
        </p:txBody>
      </p:sp>
      <p:sp>
        <p:nvSpPr>
          <p:cNvPr id="10314192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818937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865538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successfactors RSA SSH Key 인증서 확인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설정작업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HCM시스템 사용자 보안접속을 위한 SAP GUI 및 SNC 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업무지원(Big Data팀)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감사1/2팀에 기존에 삭제된 BC 관련 권한Role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설정작업 업무지원</a:t>
            </a:r>
          </a:p>
        </p:txBody>
      </p:sp>
      <p:sp>
        <p:nvSpPr>
          <p:cNvPr id="2428560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</a:p>
        </p:txBody>
      </p:sp>
      <p:sp>
        <p:nvSpPr>
          <p:cNvPr id="16485914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</a:p>
        </p:txBody>
      </p:sp>
      <p:sp>
        <p:nvSpPr>
          <p:cNvPr id="6623333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</a:p>
        </p:txBody>
      </p:sp>
      <p:sp>
        <p:nvSpPr>
          <p:cNvPr id="90277844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717779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3647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20960552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8659435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25804050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4834092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1173751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8845655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5418089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55703597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7712282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10348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494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26085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32329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3304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677463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776550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79877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278903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43180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67697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06392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92918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53412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41133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91424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10325843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191893786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현수막 대금완료 상태값 변경 기능 생성</a:t>
            </a:r>
          </a:p>
        </p:txBody>
      </p:sp>
      <p:sp>
        <p:nvSpPr>
          <p:cNvPr id="4419700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33429397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902150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현수막 대금완료 상태값 변경 기능 생성</a:t>
            </a:r>
          </a:p>
        </p:txBody>
      </p:sp>
      <p:sp>
        <p:nvSpPr>
          <p:cNvPr id="10375545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5988353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</a:p>
        </p:txBody>
      </p:sp>
      <p:sp>
        <p:nvSpPr>
          <p:cNvPr id="14674201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5868166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65408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69396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9840486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187686310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</a:p>
        </p:txBody>
      </p:sp>
      <p:sp>
        <p:nvSpPr>
          <p:cNvPr id="13087734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76854436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4152260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특근명령서 특근유형 변경</a:t>
            </a:r>
          </a:p>
        </p:txBody>
      </p:sp>
      <p:sp>
        <p:nvSpPr>
          <p:cNvPr id="456189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5773680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2001069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8446263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269261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4632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26708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529127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43660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018669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240324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77965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83219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14743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52921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64522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95798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2194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09754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0461054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1241003255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152862599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1183978525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25531213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65398687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1402638810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9216544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721726491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857831329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409404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9214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64498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8901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09005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035278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42369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40597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97056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07464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2549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22130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0744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78411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06261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1276513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821964741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296502062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862979713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582056885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676736545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ITSM-103674 협조문 (문서번호 B63-23-0260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변경 요청금액/ 첨부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ITSM-103599 충원요청서 공장 계약직 담당자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ITSM-103578 C.P에 결재 진행 중인 사고조사보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고서 기각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ITSM-103693 담당자 변경에 따른 결재선 및 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당자 정보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ITSM-103862 OSPM 작업정산서 준공 해제 요청 (W/O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3888600)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ITSM-103892 AB1-23-0249 협조문 내 표 수정</a:t>
            </a:r>
          </a:p>
        </p:txBody>
      </p:sp>
      <p:sp>
        <p:nvSpPr>
          <p:cNvPr id="371963660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626851654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11371147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758237897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565771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4775264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63428441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728608701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773083982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41973212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90878992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[ITSM-103623]OAS user 권한 부여 시 사용 만료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기능 추가</a:t>
            </a:r>
          </a:p>
        </p:txBody>
      </p:sp>
      <p:sp>
        <p:nvSpPr>
          <p:cNvPr id="1943006537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2135776861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221686153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</a:p>
        </p:txBody>
      </p:sp>
      <p:sp>
        <p:nvSpPr>
          <p:cNvPr id="1966570755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038729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3731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70817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29751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837667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79336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098373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852250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45761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26903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81624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57299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09983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8961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42898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08964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6272005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8237675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19247626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326932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49761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My S-oil 소비자판매가 실시간 연동을위한 보완</a:t>
            </a:r>
          </a:p>
        </p:txBody>
      </p:sp>
      <p:sp>
        <p:nvSpPr>
          <p:cNvPr id="14059187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8315842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6518824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20780952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99175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33789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363011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4845125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5344561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8881840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322843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2023년 연간예산 월별 집행계획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ITSM-87270 변경요청서 삭제ITSM-100130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157074439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46529904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368941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48258711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55753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3177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67732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45626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36107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55972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62080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4914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52853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75300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55462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05609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1217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58772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33326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04926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097136381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152151143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995569142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64197107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9206043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'구매관리팀-구매송장' 작업 현업 담당자 Login 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격증명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'기계설계팀-자재번호' 작업 데이터 오류 항목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 및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'법인영업팀-항공사 매출입력' 현업 자료 오입력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정요청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A360 '생산조정팀-전표처리' 작업 오류확인, PC 재설정 및 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 일부수정,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[RPA] A11 '#1 회계지급전표 증빙대사'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중간모니터링 및 수정,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로그확인 및 재기동 재인수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117pc, 209pc 재부팅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'CCS 사전점검' 작업 재수행 및 수정</a:t>
            </a:r>
          </a:p>
        </p:txBody>
      </p:sp>
      <p:sp>
        <p:nvSpPr>
          <p:cNvPr id="670866050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62535963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66541091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901051117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9608908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8942341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525406141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326463598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29728940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62091178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8412827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국내출장명령서/ 국내출장비 신청서 내 직책 우선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2018546281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41325441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781099727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499320278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5524573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9615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37958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34309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464665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74954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413701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51713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10471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99321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28221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27361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45607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1528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74233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882319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613793356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48593826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</a:p>
        </p:txBody>
      </p:sp>
      <p:sp>
        <p:nvSpPr>
          <p:cNvPr id="1854911990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2886347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44406503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 교육시간 이수후 내/외부 평가 요청 메일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스케쥴러 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2건의 교육훈련신청서 전자결재 오류 문의 확인 및 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스킬셋 근태승인 오류관련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유밥(스마트러닝)교육이력 11월 데이터 삭제후 재연계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조직 변경 및 인사이동으로 인한 인사배치 프로시저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프로시저 수정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표준문서&gt;일반 문서번호 생성 체계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OST-S-L001 문서 오타로 수정 요청</a:t>
            </a:r>
          </a:p>
        </p:txBody>
      </p:sp>
      <p:sp>
        <p:nvSpPr>
          <p:cNvPr id="585438876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836122419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519971028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292458147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619368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3584542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673865405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803325787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214437208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70687827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31277934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충북지사 카드리더기 교체 후 IC칩 인식불가 원격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사용자 계정 권한 데이터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 내역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검토 원인이 확인 안된 항목에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검출 사유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EWS 시나리오 점검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SP402 Timeout 으로 인한  SQL 튜닝 </a:t>
            </a:r>
          </a:p>
        </p:txBody>
      </p:sp>
      <p:sp>
        <p:nvSpPr>
          <p:cNvPr id="183286616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911295025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953973454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536978081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1227522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5751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7125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2380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39014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059972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374308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19721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0059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91977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28066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56904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97315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50771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000938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399935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202543358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br/>
          </a:p>
        </p:txBody>
      </p:sp>
      <p:sp>
        <p:nvSpPr>
          <p:cNvPr id="1909359002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테이블 변경 및 원복(추후 테스트를 통해 유효성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810226544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69509320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26239258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테이블 변경 및 원복(추후 테스트를 통해 유효성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546582651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br/>
          </a:p>
        </p:txBody>
      </p:sp>
      <p:sp>
        <p:nvSpPr>
          <p:cNvPr id="1709139780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br/>
          </a:p>
        </p:txBody>
      </p:sp>
      <p:sp>
        <p:nvSpPr>
          <p:cNvPr id="1992970005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</a:p>
        </p:txBody>
      </p:sp>
      <p:sp>
        <p:nvSpPr>
          <p:cNvPr id="1310285217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481982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4949379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969381327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905451159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1139842407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54980882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35391140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EAI테스트 서버 HCM&lt;-&gt;전자결재간 연결 Client 원복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SYSTEM damage queue 복구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863932634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948395639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761768072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309548664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243363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이여진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