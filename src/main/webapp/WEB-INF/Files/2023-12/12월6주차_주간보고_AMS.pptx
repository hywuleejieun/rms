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[2023.12.19 ~ 2023.12.25]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12월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35902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686286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6026450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4738742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8292194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1709974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2616148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9852323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6510520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436801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77415766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4414306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2514478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6354166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63565370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77271929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705962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2706503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1173519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3243122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052832429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47092990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161181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3449212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0367104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8644512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8348822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97242532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368450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53561934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2003612" name="Frame"/>
          <p:cNvSpPr>
            <a:spLocks noGrp="1"/>
          </p:cNvSpPr>
          <p:nvPr/>
        </p:nvSpPr>
        <p:spPr>
          <a:xfrm>
            <a:off x="101600" y="2984500"/>
            <a:ext cx="9779000" cy="270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8274456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72798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585486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0460926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334022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40382930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482958" name="Frame"/>
          <p:cNvSpPr>
            <a:spLocks noGrp="1"/>
          </p:cNvSpPr>
          <p:nvPr/>
        </p:nvSpPr>
        <p:spPr>
          <a:xfrm>
            <a:off x="165100" y="44577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19461345" name="Text">
    </p:cNvPr>
          <p:cNvSpPr>
            <a:spLocks noGrp="1"/>
          </p:cNvSpPr>
          <p:nvPr/>
        </p:nvSpPr>
        <p:spPr>
          <a:xfrm rot="0">
            <a:off x="165100" y="44323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07816197" name="Text">
    </p:cNvPr>
          <p:cNvSpPr>
            <a:spLocks noGrp="1"/>
          </p:cNvSpPr>
          <p:nvPr/>
        </p:nvSpPr>
        <p:spPr>
          <a:xfrm rot="0">
            <a:off x="965200" y="44831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624577310" name="Text">
    </p:cNvPr>
          <p:cNvSpPr>
            <a:spLocks noGrp="1"/>
          </p:cNvSpPr>
          <p:nvPr/>
        </p:nvSpPr>
        <p:spPr>
          <a:xfrm rot="0">
            <a:off x="7239000" y="44831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25873970" name="Text">
    </p:cNvPr>
          <p:cNvSpPr>
            <a:spLocks noGrp="1"/>
          </p:cNvSpPr>
          <p:nvPr/>
        </p:nvSpPr>
        <p:spPr>
          <a:xfrm rot="0">
            <a:off x="5549900" y="44831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62481062" name="Text">
    </p:cNvPr>
          <p:cNvSpPr>
            <a:spLocks noGrp="1"/>
          </p:cNvSpPr>
          <p:nvPr/>
        </p:nvSpPr>
        <p:spPr>
          <a:xfrm rot="0">
            <a:off x="901700" y="44323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982894" name="Text">
    </p:cNvPr>
          <p:cNvSpPr>
            <a:spLocks noGrp="1"/>
          </p:cNvSpPr>
          <p:nvPr/>
        </p:nvSpPr>
        <p:spPr>
          <a:xfrm rot="0">
            <a:off x="6121400" y="44323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5218116" name="Text">
    </p:cNvPr>
          <p:cNvSpPr>
            <a:spLocks noGrp="1"/>
          </p:cNvSpPr>
          <p:nvPr/>
        </p:nvSpPr>
        <p:spPr>
          <a:xfrm rot="0">
            <a:off x="5549900" y="44323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8296550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69583844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90549010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819518996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2301231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</a:p>
        </p:txBody>
      </p:sp>
      <p:sp>
        <p:nvSpPr>
          <p:cNvPr id="1299235454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756828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0926075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57073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10772566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63793032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78449018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[ITSM-103623]OAS user 권한 부여 시 사용 만료 기간 지정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신규 CP 전자결재 문서 도입 요청 (사진촬영 요청서)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2023-12-19일자 규정관리 기안지 300여건 제정/개정시 연계 데이터 오류 발생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및 재처리, 중복 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DB TSDEAI 테이블스페이스 증설 검토</a:t>
            </a:r>
          </a:p>
        </p:txBody>
      </p:sp>
      <p:sp>
        <p:nvSpPr>
          <p:cNvPr id="519622856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7859713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28984364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</a:p>
        </p:txBody>
      </p:sp>
      <p:sp>
        <p:nvSpPr>
          <p:cNvPr id="1317396672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9782984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4645654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4123853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7373379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6381795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6012960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정보 관련 프로그램 분석(ZFIR5175, 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AS/400 화면 SAP 이관 *주요 자재/구매 화면 13개 SAP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SABIC 시스템 연동 구축</a:t>
            </a:r>
          </a:p>
        </p:txBody>
      </p:sp>
      <p:sp>
        <p:nvSpPr>
          <p:cNvPr id="64130827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04829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8908407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</a:p>
        </p:txBody>
      </p:sp>
      <p:sp>
        <p:nvSpPr>
          <p:cNvPr id="88649534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62661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705674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921565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9987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46610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06492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6014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95448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712417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74205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5615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09272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23163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5315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39459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8938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8451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849172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1231634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4152979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042736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1287511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458338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자산취득 장기 미정산 누락 방지를 위한 시스템 개선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프로세스 분석(ZCOR7111)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정보 관련 프로그램 분석(ZFIR5175, ZSIR20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비용예산 대비 실적 조회(ZCOR1182)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자산취득 통지서 CP 전송 오류 원인 분석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자산취득 통지서(e-office) 프로세스 분석(ZFIR9101)</a:t>
            </a:r>
          </a:p>
        </p:txBody>
      </p:sp>
      <p:sp>
        <p:nvSpPr>
          <p:cNvPr id="9965421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0567681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2415723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7339609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18889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5891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9915141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7805034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66191144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834844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321954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사내 자격증 일괄삭제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예외근무신청서 작성가능토록 반영 요청</a:t>
            </a:r>
          </a:p>
        </p:txBody>
      </p:sp>
      <p:sp>
        <p:nvSpPr>
          <p:cNvPr id="16067778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2553084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1218</a:t>
            </a:r>
            <a:br/>
          </a:p>
        </p:txBody>
      </p:sp>
      <p:sp>
        <p:nvSpPr>
          <p:cNvPr id="14851670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8501046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7639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856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4523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16673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19630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14127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16299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22061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91158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661874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05302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59935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55876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2203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24759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02911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3124476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2636641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75006420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97934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751661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시설물 구매 관련 입고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소액물품 온라인 주문시스템 신규품목에 대한 자재번호 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5506866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6198207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4878164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7072343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38803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30386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</a:p>
        </p:txBody>
      </p:sp>
      <p:sp>
        <p:nvSpPr>
          <p:cNvPr id="5348491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509951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6680654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8601449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1649991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접속 사용자 자동로그오프 예외처리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정등록(인천저유소)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DMS Content Server 정보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ERP운영/HCM운영 배치잡 재설정 작업 (ZSD_REUTER_P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RICE_01 외 5건)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 12월 SAP시스템 인프라 취약점 조치 작업 업무지원</a:t>
            </a:r>
          </a:p>
        </p:txBody>
      </p:sp>
      <p:sp>
        <p:nvSpPr>
          <p:cNvPr id="140799974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4386765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5559472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68789584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93132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579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40430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7047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80101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22984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175791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3784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873616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08920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7995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30083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26259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28579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75080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16346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9881587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831974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985974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0230253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940319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7781538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398894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</a:p>
        </p:txBody>
      </p:sp>
      <p:sp>
        <p:nvSpPr>
          <p:cNvPr id="13491642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837579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609984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62372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1356362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3877187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72968363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4458910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8881769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1271858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5522196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21279679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41227085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00659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66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80837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21097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3134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10214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8371034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36891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89682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52036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38950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53904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856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42602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16015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100258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20991946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4006962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3285323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20752217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21389465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telnet_방화벽확인, iam시스템서버확인</a:t>
            </a:r>
          </a:p>
        </p:txBody>
      </p:sp>
      <p:sp>
        <p:nvSpPr>
          <p:cNvPr id="12642578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20488288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90/22</a:t>
            </a:r>
            <a:br/>
          </a:p>
        </p:txBody>
      </p:sp>
      <p:sp>
        <p:nvSpPr>
          <p:cNvPr id="1956685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4210409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589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5079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1331902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51723406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 50%</a:t>
            </a:r>
          </a:p>
        </p:txBody>
      </p:sp>
      <p:sp>
        <p:nvSpPr>
          <p:cNvPr id="11964948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2961191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699906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</a:t>
            </a:r>
          </a:p>
        </p:txBody>
      </p:sp>
      <p:sp>
        <p:nvSpPr>
          <p:cNvPr id="16032035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695217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876098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2847084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1857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3225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51667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61134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76295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72271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75645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94544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47051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74157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14156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84559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855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48401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27487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785540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109632929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203172056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9396781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04717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13884138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60543399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87766736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478396129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031465584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928861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6152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67776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57959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14722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5731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0528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1704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62344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53134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22832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87097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18079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2791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4477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4261274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677946899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090809709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48206676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98311956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49141581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ITSM-104318 RFCC2팀 대기초과 배출 부과금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납부 품의 기안지 첨부 문서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ITSM-104335 기안지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ITSM-104328 기성보고서 결재일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ITSM-104346 투자관리번호부여 신청서상 예산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관리부서란 부서명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ITSM-104327 결재문서 본문 이미지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ITSM-104326 계약체결기안 변경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ITSM-104350 법인인감 날인 신청(C10-23-006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 "용역 도급계약서 날인 회수(5회 → 9회)"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ITSM-104482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ITSM-104480 기안지 첨부 1건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ITSM-104478 결제 진행 문서의 첨부 파일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ITSM-104476 결재 진행중인 기안지 내용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ITSM-104389 기안지(A62-23-0082) 내용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ITSM-104465 결재문서 (안전보건검토결과서)에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대한 결재의견 삭제 요청</a:t>
            </a:r>
          </a:p>
        </p:txBody>
      </p:sp>
      <p:sp>
        <p:nvSpPr>
          <p:cNvPr id="162638629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516674819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85717884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42580473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216045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2219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38401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05991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364418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38289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8822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18720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79411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63214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53081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7605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36497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76145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062633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03918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468793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</a:p>
        </p:txBody>
      </p:sp>
      <p:sp>
        <p:nvSpPr>
          <p:cNvPr id="15440159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</a:p>
        </p:txBody>
      </p:sp>
      <p:sp>
        <p:nvSpPr>
          <p:cNvPr id="7070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319160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0026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9562042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8613974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19003313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7087335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33465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580106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41204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6934727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828600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3483800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921528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8693831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9268754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4553530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6382501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87857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925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63518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57391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1426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58694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082162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26920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8560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812710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16000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1311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66310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361846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6961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0701835" name="Text">
    </p:cNvPr>
          <p:cNvSpPr>
            <a:spLocks noGrp="1"/>
          </p:cNvSpPr>
          <p:nvPr/>
        </p:nvSpPr>
        <p:spPr>
          <a:xfrm rot="0">
            <a:off x="9702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89602319" name="Text">
    </p:cNvPr>
          <p:cNvSpPr>
            <a:spLocks noGrp="1"/>
          </p:cNvSpPr>
          <p:nvPr/>
        </p:nvSpPr>
        <p:spPr>
          <a:xfrm rot="0">
            <a:off x="93345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2137607989" name="Text">
    </p:cNvPr>
          <p:cNvSpPr>
            <a:spLocks noGrp="1"/>
          </p:cNvSpPr>
          <p:nvPr/>
        </p:nvSpPr>
        <p:spPr>
          <a:xfrm rot="0">
            <a:off x="5930900" y="1511300"/>
            <a:ext cx="3403600" cy="440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</a:p>
        </p:txBody>
      </p:sp>
      <p:sp>
        <p:nvSpPr>
          <p:cNvPr id="1312089364" name="Text">
    </p:cNvPr>
          <p:cNvSpPr>
            <a:spLocks noGrp="1"/>
          </p:cNvSpPr>
          <p:nvPr/>
        </p:nvSpPr>
        <p:spPr>
          <a:xfrm rot="0">
            <a:off x="53086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13559295" name="Text">
    </p:cNvPr>
          <p:cNvSpPr>
            <a:spLocks noGrp="1"/>
          </p:cNvSpPr>
          <p:nvPr/>
        </p:nvSpPr>
        <p:spPr>
          <a:xfrm rot="0">
            <a:off x="889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7496638" name="Text">
    </p:cNvPr>
          <p:cNvSpPr>
            <a:spLocks noGrp="1"/>
          </p:cNvSpPr>
          <p:nvPr/>
        </p:nvSpPr>
        <p:spPr>
          <a:xfrm rot="0">
            <a:off x="711200" y="1511300"/>
            <a:ext cx="3403600" cy="440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산출물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ITSM-104368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ITSM-104256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ITSM-104223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ITSM-104166 작업 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ITSM-100681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ITSM-104396 데이터작업서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ITSM-104330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ITSM-104475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ITSM-104392 서비스요청서 정보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주문 및 배차 2012~2017 데이터 백업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ITSM-104496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ITSM-93945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ITSM-104268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ITSM-63261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ITSM-63966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재설치</a:t>
            </a:r>
            <a:br/>
          </a:p>
        </p:txBody>
      </p:sp>
      <p:sp>
        <p:nvSpPr>
          <p:cNvPr id="972805095" name="Text">
    </p:cNvPr>
          <p:cNvSpPr>
            <a:spLocks noGrp="1"/>
          </p:cNvSpPr>
          <p:nvPr/>
        </p:nvSpPr>
        <p:spPr>
          <a:xfrm rot="0">
            <a:off x="44831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351523721" name="Text">
    </p:cNvPr>
          <p:cNvSpPr>
            <a:spLocks noGrp="1"/>
          </p:cNvSpPr>
          <p:nvPr/>
        </p:nvSpPr>
        <p:spPr>
          <a:xfrm rot="0">
            <a:off x="48514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264470642" name="Text">
    </p:cNvPr>
          <p:cNvSpPr>
            <a:spLocks noGrp="1"/>
          </p:cNvSpPr>
          <p:nvPr/>
        </p:nvSpPr>
        <p:spPr>
          <a:xfrm rot="0">
            <a:off x="4114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17663201" name="Text">
    </p:cNvPr>
          <p:cNvSpPr>
            <a:spLocks noGrp="1"/>
          </p:cNvSpPr>
          <p:nvPr/>
        </p:nvSpPr>
        <p:spPr>
          <a:xfrm rot="0">
            <a:off x="6604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7480100" name="Text">
    </p:cNvPr>
          <p:cNvSpPr>
            <a:spLocks noGrp="1"/>
          </p:cNvSpPr>
          <p:nvPr/>
        </p:nvSpPr>
        <p:spPr>
          <a:xfrm rot="0">
            <a:off x="58801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9973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4828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95813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042740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43567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22215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0965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4154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81461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9768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77218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9399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81636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553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71791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579022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15004198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7657670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504880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795033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방법 탐색 및 적용,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모니터링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에러 안내 및 모니터링,      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에러항목 예외처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 - 나프타 수입부과금' 작업 AS40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 시스템 향후 일정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수신자 추가</a:t>
            </a:r>
          </a:p>
        </p:txBody>
      </p:sp>
      <p:sp>
        <p:nvSpPr>
          <p:cNvPr id="14852946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13552829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2080834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</a:p>
        </p:txBody>
      </p:sp>
      <p:sp>
        <p:nvSpPr>
          <p:cNvPr id="5295326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6125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44501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57816829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10360724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</a:p>
        </p:txBody>
      </p:sp>
      <p:sp>
        <p:nvSpPr>
          <p:cNvPr id="14193265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318664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69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요청서)</a:t>
            </a:r>
            <a:br/>
          </a:p>
        </p:txBody>
      </p:sp>
      <p:sp>
        <p:nvSpPr>
          <p:cNvPr id="8771975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69515288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848101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7458865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4901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8343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8048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9046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936916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72562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14152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864497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36856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13523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44862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14327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09301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4659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53109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5666690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264455829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699614803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2096330578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44088308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55310742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실적현황관리 통계 수정반영)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2023-12-19일자 규정관리 기안지 300여건 제정/개정시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 데이터 오류 발생 확인 및 재처리, 중복 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RI-147,RI-148 연계 오류 확인, 수동 스케쥴러 실행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절자준수 risk assessment 상 Risk owner 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이진주 책임. 4724,  Refinery ECC 데이터에 대해 알림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발송 및 CRUD 권한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사용자 화면 문구 수정 요청</a:t>
            </a:r>
          </a:p>
        </p:txBody>
      </p:sp>
      <p:sp>
        <p:nvSpPr>
          <p:cNvPr id="313201976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71694040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786018051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163897248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58461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3191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54471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4342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3933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52430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11423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31312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30513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2261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336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3724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25009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26826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8761762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360480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2088200427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560838869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 요청 (CISO에서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리 요청(CISO에서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직 분석 요청</a:t>
            </a:r>
            <a:br/>
          </a:p>
        </p:txBody>
      </p:sp>
      <p:sp>
        <p:nvSpPr>
          <p:cNvPr id="106964639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8715540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141852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실적정보 전송 Batch 오류 확인 (L4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SNAT 설정오류)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12월 취약점 조치 요청 (인프라, app 서버)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재고번호 이전 오류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하반기 배치권한자 및 app 권한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링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원인 분석,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기회수상품권 이미지 확인 요청 및 데이터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CRM과 모바일 상품권 번호 비교 후 데이터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부산지사 수기입금표 오류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수정 요청</a:t>
            </a:r>
            <a:br/>
          </a:p>
        </p:txBody>
      </p:sp>
      <p:sp>
        <p:nvSpPr>
          <p:cNvPr id="1202248992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959485350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207267046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85145963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983799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7729895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20943270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br/>
          </a:p>
        </p:txBody>
      </p:sp>
      <p:sp>
        <p:nvSpPr>
          <p:cNvPr id="1331837219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5639579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92590253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929135834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 배치 테스트및 점검을 통한 유효성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</a:p>
        </p:txBody>
      </p:sp>
      <p:sp>
        <p:nvSpPr>
          <p:cNvPr id="738841223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914951360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71608545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34596150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4490331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897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32926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08345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54991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02580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2051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37885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320560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66341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21747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58768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976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21590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43799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81647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839825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2336274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1173608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863439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019969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국제유가 정보 엘리베이터 분리 전송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에쓰오일 용인IDC L4 구성변경 작업 지원요청 -SSO</a:t>
            </a:r>
          </a:p>
        </p:txBody>
      </p:sp>
      <p:sp>
        <p:nvSpPr>
          <p:cNvPr id="1473952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5075276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399682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75237147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2889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이여진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