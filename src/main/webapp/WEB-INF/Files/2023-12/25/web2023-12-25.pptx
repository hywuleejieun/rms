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6152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67776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57959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714722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5731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00528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17049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62344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531340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22832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87097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18079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82791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04477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4261274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677946899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090809709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48206676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2098311956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49141581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ITSM-104318 RFCC2팀 대기초과 배출 부과금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납부 품의 기안지 첨부 문서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ITSM-104335 기안지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ITSM-104328 기성보고서 결재일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ITSM-104346 투자관리번호부여 신청서상 예산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관리부서란 부서명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ITSM-104327 결재문서 본문 이미지 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ITSM-104326 계약체결기안 변경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ITSM-104350 법인인감 날인 신청(C10-23-006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1) "용역 도급계약서 날인 회수(5회 → 9회)"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ITSM-104482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ITSM-104480 기안지 첨부 1건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ITSM-104478 결제 진행 문서의 첨부 파일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ITSM-104476 결재 진행중인 기안지 내용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ITSM-104389 기안지(A62-23-0082) 내용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ITSM-104465 결재문서 (안전보건검토결과서)에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대한 결재의견 삭제 요청</a:t>
            </a:r>
          </a:p>
        </p:txBody>
      </p:sp>
      <p:sp>
        <p:nvSpPr>
          <p:cNvPr id="1626386298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516674819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1857178845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42580473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216045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2219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38401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05991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364418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38289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88225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18720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79411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63214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53081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37605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364975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76145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062633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203918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74687935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</a:p>
        </p:txBody>
      </p:sp>
      <p:sp>
        <p:nvSpPr>
          <p:cNvPr id="15440159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</a:p>
        </p:txBody>
      </p:sp>
      <p:sp>
        <p:nvSpPr>
          <p:cNvPr id="7070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319160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00261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[ITSM-103623]OAS user 권한 부여 시 사용 만료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기능 추가</a:t>
            </a:r>
          </a:p>
        </p:txBody>
      </p:sp>
      <p:sp>
        <p:nvSpPr>
          <p:cNvPr id="9562042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8613974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</a:p>
        </p:txBody>
      </p:sp>
      <p:sp>
        <p:nvSpPr>
          <p:cNvPr id="19003313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</a:p>
        </p:txBody>
      </p:sp>
      <p:sp>
        <p:nvSpPr>
          <p:cNvPr id="17087335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33465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580106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841204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6934727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828600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3483800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921528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86938317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9268754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</a:p>
        </p:txBody>
      </p:sp>
      <p:sp>
        <p:nvSpPr>
          <p:cNvPr id="45535309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6382501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87857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9925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63518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57391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814265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58694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082162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26920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85604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812710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16000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1311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66310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36184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69610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0701835" name="Text">
    </p:cNvPr>
          <p:cNvSpPr>
            <a:spLocks noGrp="1"/>
          </p:cNvSpPr>
          <p:nvPr/>
        </p:nvSpPr>
        <p:spPr>
          <a:xfrm rot="0">
            <a:off x="9702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89602319" name="Text">
    </p:cNvPr>
          <p:cNvSpPr>
            <a:spLocks noGrp="1"/>
          </p:cNvSpPr>
          <p:nvPr/>
        </p:nvSpPr>
        <p:spPr>
          <a:xfrm rot="0">
            <a:off x="93345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2137607989" name="Text">
    </p:cNvPr>
          <p:cNvSpPr>
            <a:spLocks noGrp="1"/>
          </p:cNvSpPr>
          <p:nvPr/>
        </p:nvSpPr>
        <p:spPr>
          <a:xfrm rot="0">
            <a:off x="5930900" y="1511300"/>
            <a:ext cx="3403600" cy="440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</a:t>
            </a:r>
            <a:br/>
          </a:p>
        </p:txBody>
      </p:sp>
      <p:sp>
        <p:nvSpPr>
          <p:cNvPr id="1312089364" name="Text">
    </p:cNvPr>
          <p:cNvSpPr>
            <a:spLocks noGrp="1"/>
          </p:cNvSpPr>
          <p:nvPr/>
        </p:nvSpPr>
        <p:spPr>
          <a:xfrm rot="0">
            <a:off x="53086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13559295" name="Text">
    </p:cNvPr>
          <p:cNvSpPr>
            <a:spLocks noGrp="1"/>
          </p:cNvSpPr>
          <p:nvPr/>
        </p:nvSpPr>
        <p:spPr>
          <a:xfrm rot="0">
            <a:off x="889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7496638" name="Text">
    </p:cNvPr>
          <p:cNvSpPr>
            <a:spLocks noGrp="1"/>
          </p:cNvSpPr>
          <p:nvPr/>
        </p:nvSpPr>
        <p:spPr>
          <a:xfrm rot="0">
            <a:off x="711200" y="1511300"/>
            <a:ext cx="3403600" cy="440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산출물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ITSM-104368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ITSM-104256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ITSM-104388 대상시스템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ITSM-104223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ITSM-104166 작업 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ITSM-100681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ITSM-104396 데이터작업서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ITSM-104387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ITSM-104330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ITSM-104475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ITSM-104392 서비스요청서 정보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주문 및 배차 2012~2017 데이터 백업 및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ITSM-93989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ITSM-97114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ITSM-104496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ITSM-93945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ITSM-104268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ITSM-63261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ITSM-63966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ITSM-97114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ITSM-93989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재설치</a:t>
            </a:r>
            <a:br/>
          </a:p>
        </p:txBody>
      </p:sp>
      <p:sp>
        <p:nvSpPr>
          <p:cNvPr id="972805095" name="Text">
    </p:cNvPr>
          <p:cNvSpPr>
            <a:spLocks noGrp="1"/>
          </p:cNvSpPr>
          <p:nvPr/>
        </p:nvSpPr>
        <p:spPr>
          <a:xfrm rot="0">
            <a:off x="44831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351523721" name="Text">
    </p:cNvPr>
          <p:cNvSpPr>
            <a:spLocks noGrp="1"/>
          </p:cNvSpPr>
          <p:nvPr/>
        </p:nvSpPr>
        <p:spPr>
          <a:xfrm rot="0">
            <a:off x="48514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264470642" name="Text">
    </p:cNvPr>
          <p:cNvSpPr>
            <a:spLocks noGrp="1"/>
          </p:cNvSpPr>
          <p:nvPr/>
        </p:nvSpPr>
        <p:spPr>
          <a:xfrm rot="0">
            <a:off x="4114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917663201" name="Text">
    </p:cNvPr>
          <p:cNvSpPr>
            <a:spLocks noGrp="1"/>
          </p:cNvSpPr>
          <p:nvPr/>
        </p:nvSpPr>
        <p:spPr>
          <a:xfrm rot="0">
            <a:off x="6604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7480100" name="Text">
    </p:cNvPr>
          <p:cNvSpPr>
            <a:spLocks noGrp="1"/>
          </p:cNvSpPr>
          <p:nvPr/>
        </p:nvSpPr>
        <p:spPr>
          <a:xfrm rot="0">
            <a:off x="58801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9973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48281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95813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042740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843567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222150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09652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41543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81461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89768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77218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9399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81636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5533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71791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5790224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</a:p>
        </p:txBody>
      </p:sp>
      <p:sp>
        <p:nvSpPr>
          <p:cNvPr id="15004198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7657670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504880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795033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Migration 방법 탐색 및 적용,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모니터링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에러 안내 및 모니터링,      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'#1 회계지급전표 증빙대사' 작업 에러항목 예외처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'Basic Chemical - 나프타 수입부과금' 작업 AS40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 시스템 향후 일정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수신자 추가</a:t>
            </a:r>
          </a:p>
        </p:txBody>
      </p:sp>
      <p:sp>
        <p:nvSpPr>
          <p:cNvPr id="14852946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13552829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2080834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5295326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96125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44501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57816829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103607245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</a:p>
        </p:txBody>
      </p:sp>
      <p:sp>
        <p:nvSpPr>
          <p:cNvPr id="14193265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3186643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969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신규 CP 전자결재 문서 도입 요청 (사진촬영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요청서)</a:t>
            </a:r>
            <a:br/>
          </a:p>
        </p:txBody>
      </p:sp>
      <p:sp>
        <p:nvSpPr>
          <p:cNvPr id="8771975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69515288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8481010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</a:p>
        </p:txBody>
      </p:sp>
      <p:sp>
        <p:nvSpPr>
          <p:cNvPr id="17458865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84901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8343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68048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9046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936916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72562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014152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864497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36856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13523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44862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14327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09301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74659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53109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5666690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264455829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699614803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</a:p>
        </p:txBody>
      </p:sp>
      <p:sp>
        <p:nvSpPr>
          <p:cNvPr id="2096330578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44088308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55310742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 실적현황관리 통계 수정반영)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2023-12-19일자 규정관리 기안지 300여건 제정/개정시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연계 데이터 오류 발생 확인 및 재처리, 중복 제정건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RI-147,RI-148 연계 오류 확인, 수동 스케쥴러 실행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절자준수 risk assessment 상 Risk owner 변경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이진주 책임. 4724,  Refinery ECC 데이터에 대해 알림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발송 및 CRUD 권한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사용자 화면 문구 수정 요청</a:t>
            </a:r>
          </a:p>
        </p:txBody>
      </p:sp>
      <p:sp>
        <p:nvSpPr>
          <p:cNvPr id="313201976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971694040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786018051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163897248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1584614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3191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54471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4342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73933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52430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6114230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31312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30513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22614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336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23724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25009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26826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8761762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3360480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2088200427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560838869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 요청 (CISO에서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 요청(CISO에서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직 분석 요청</a:t>
            </a:r>
            <a:br/>
          </a:p>
        </p:txBody>
      </p:sp>
      <p:sp>
        <p:nvSpPr>
          <p:cNvPr id="1069646393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87155408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8141852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실적정보 전송 Batch 오류 확인 (L4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SNAT 설정오류)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12월 취약점 조치 요청 (인프라, app 서버)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재고번호 이전 오류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하반기 배치권한자 및 app 권한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링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교환 CRM 집계 데이터와 차액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원인 분석, 데이터 제공,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기회수상품권 이미지 확인 요청 및 데이터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CRM과 모바일 상품권 번호 비교 후 데이터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부산지사 수기입금표 오류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수정 요청</a:t>
            </a:r>
            <a:br/>
          </a:p>
        </p:txBody>
      </p:sp>
      <p:sp>
        <p:nvSpPr>
          <p:cNvPr id="1202248992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959485350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2072670465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85145963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983799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7729895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</a:p>
        </p:txBody>
      </p:sp>
      <p:sp>
        <p:nvSpPr>
          <p:cNvPr id="209432709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br/>
          </a:p>
        </p:txBody>
      </p:sp>
      <p:sp>
        <p:nvSpPr>
          <p:cNvPr id="1331837219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5639579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92590253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929135834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 배치 테스트및 점검을 통한 유효성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조석표 조회, EXCEL Upload '운영' 내 Me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rge 미적용</a:t>
            </a:r>
          </a:p>
        </p:txBody>
      </p:sp>
      <p:sp>
        <p:nvSpPr>
          <p:cNvPr id="738841223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914951360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71608545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345961509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4490331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897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32926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08345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54991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02580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92051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37885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320560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66341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21747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58768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49761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21590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43799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81647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839825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23362740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11173608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863439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019969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국제유가 정보 엘리베이터 분리 전송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에쓰오일 용인IDC L4 구성변경 작업 지원요청 -SSO</a:t>
            </a:r>
          </a:p>
        </p:txBody>
      </p:sp>
      <p:sp>
        <p:nvSpPr>
          <p:cNvPr id="147395287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5075276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399682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75237147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2889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