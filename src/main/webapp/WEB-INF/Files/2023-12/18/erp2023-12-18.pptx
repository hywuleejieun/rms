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  <p:sldId id="2565" r:id="rId5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79002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2500004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9064800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61024353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778486263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2518757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4517925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2859912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29747839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7583415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2942473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5791543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7170207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93801475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69269107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</a:p>
        </p:txBody>
      </p:sp>
      <p:sp>
        <p:nvSpPr>
          <p:cNvPr id="1961847312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br/>
          </a:p>
        </p:txBody>
      </p:sp>
      <p:sp>
        <p:nvSpPr>
          <p:cNvPr id="153141201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구분회계기준 비용의 1차원가요소 data 산출 프로그램 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 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PP(Polypropylene) 제품별 원가내역 조회 Report 개발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청(ZPCOR2030)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대주주 감사자료 생성-MRO 자재계정의 상대계정 리스트 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이블 저장 (ZFIR7035, ZFIT7035)</a:t>
            </a:r>
          </a:p>
        </p:txBody>
      </p:sp>
      <p:sp>
        <p:nvSpPr>
          <p:cNvPr id="918033815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47442570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481751661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전표 역분개 실행 유저 제어 추가 수정(ZFIR7050)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거래유형 생성 기능 추가 / 승인버튼 권한 별 관리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(ZEAM1111, ZEAM1112)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결재선 변경 요청 승인 완료 후 재 요청 프로세스 추가(ZEA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M1111, ZEAM1112)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총계정원장 정보 추출 요청 프로그램 생성(ZFIR5175_1)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자산취득 장기 미정산 누락 방지를 위한 시스템 개선 관련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프로세스 분석(ZCOR7111)</a:t>
            </a:r>
          </a:p>
        </p:txBody>
      </p:sp>
      <p:sp>
        <p:nvSpPr>
          <p:cNvPr id="948385642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br/>
          </a:p>
        </p:txBody>
      </p:sp>
      <p:sp>
        <p:nvSpPr>
          <p:cNvPr id="131528121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br/>
          </a:p>
        </p:txBody>
      </p:sp>
      <p:sp>
        <p:nvSpPr>
          <p:cNvPr id="382157132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br/>
          </a:p>
        </p:txBody>
      </p:sp>
      <p:sp>
        <p:nvSpPr>
          <p:cNvPr id="112618423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1761568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42132430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</a:p>
        </p:txBody>
      </p:sp>
      <p:sp>
        <p:nvSpPr>
          <p:cNvPr id="204578985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</a:p>
        </p:txBody>
      </p:sp>
      <p:sp>
        <p:nvSpPr>
          <p:cNvPr id="1316644191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외근신청현황(ZHRR2780) 수정 및 삭제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휴가사용조회(HCM)의 종류별 휴가 표기</a:t>
            </a:r>
          </a:p>
        </p:txBody>
      </p:sp>
      <p:sp>
        <p:nvSpPr>
          <p:cNvPr id="1744573826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김예린</a:t>
            </a:r>
          </a:p>
        </p:txBody>
      </p:sp>
      <p:sp>
        <p:nvSpPr>
          <p:cNvPr id="1162356619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김예린</a:t>
            </a:r>
          </a:p>
        </p:txBody>
      </p:sp>
      <p:sp>
        <p:nvSpPr>
          <p:cNvPr id="1149104995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반반차(2시간) 연차휴가 신청 및 관리를 위한 시스템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요청(메뉴 별 개선)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- CCS 연동 기능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외국어 학습비 결재 완료문서 원복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법정 선임자 선임/해임 처리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법적선임자 선임/해임 관련 선임 면허등급 추가 요청</a:t>
            </a:r>
          </a:p>
        </p:txBody>
      </p:sp>
      <p:sp>
        <p:nvSpPr>
          <p:cNvPr id="1504720430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12/12</a:t>
            </a:r>
            <a:br/>
          </a:p>
        </p:txBody>
      </p:sp>
      <p:sp>
        <p:nvSpPr>
          <p:cNvPr id="1592227999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1212</a:t>
            </a:r>
            <a:br/>
          </a:p>
        </p:txBody>
      </p:sp>
      <p:sp>
        <p:nvSpPr>
          <p:cNvPr id="1519872183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12/12</a:t>
            </a:r>
            <a:br/>
          </a:p>
        </p:txBody>
      </p:sp>
      <p:sp>
        <p:nvSpPr>
          <p:cNvPr id="1910144621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96465214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62753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7113215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5989125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06478698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59977057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18923664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1212754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6098551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0884214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11471337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4218404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1474082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27998078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84289316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9774268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</a:p>
        </p:txBody>
      </p:sp>
      <p:sp>
        <p:nvSpPr>
          <p:cNvPr id="137114091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10/06</a:t>
            </a:r>
            <a:br/>
          </a:p>
        </p:txBody>
      </p:sp>
      <p:sp>
        <p:nvSpPr>
          <p:cNvPr id="125510671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SABIC 시스템 연동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ZIMHCD 티코드에 전표기준 AP반제 기능추가</a:t>
            </a:r>
          </a:p>
        </p:txBody>
      </p:sp>
      <p:sp>
        <p:nvSpPr>
          <p:cNvPr id="1706242985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22537516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32405332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SABIC 시스템 연동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ZIMHCD 티코드에 전표기준 AP반제 기능추가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ERP 규제 화학물질 승인(ZIMR3020) 담당자 변경에 따른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후속조치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PO PROGRESS상 '구매단가' 열 추가 요청</a:t>
            </a:r>
          </a:p>
        </p:txBody>
      </p:sp>
      <p:sp>
        <p:nvSpPr>
          <p:cNvPr id="58579354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</a:p>
        </p:txBody>
      </p:sp>
      <p:sp>
        <p:nvSpPr>
          <p:cNvPr id="158077786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[보류]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12/13</a:t>
            </a:r>
            <a:br/>
          </a:p>
        </p:txBody>
      </p:sp>
      <p:sp>
        <p:nvSpPr>
          <p:cNvPr id="607204087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12/13</a:t>
            </a:r>
            <a:br/>
          </a:p>
        </p:txBody>
      </p:sp>
      <p:sp>
        <p:nvSpPr>
          <p:cNvPr id="842909122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43071062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52759991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12/25</a:t>
            </a:r>
            <a:br/>
          </a:p>
        </p:txBody>
      </p:sp>
      <p:sp>
        <p:nvSpPr>
          <p:cNvPr id="1896221531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</a:p>
        </p:txBody>
      </p:sp>
      <p:sp>
        <p:nvSpPr>
          <p:cNvPr id="759812972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</a:p>
        </p:txBody>
      </p:sp>
      <p:sp>
        <p:nvSpPr>
          <p:cNvPr id="1714011330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408519220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308922818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2023년 하반기 DR 재해복구 모의훈련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SAProutert Certificate 1년 만료에 따른 cert갱신 및 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정작업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ERP운영/QA테스트 엘리베이터 DID System I/F 연결용 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FC 신규등록 및 설정작업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HCM운영 Content Server MaxDB AutoLog 파일 삭제작업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용인 네트워크 백본 교체 및 L4 구성 변경 작업에 따른 SA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P 서비스 점검작업 업무지원</a:t>
            </a:r>
          </a:p>
        </p:txBody>
      </p:sp>
      <p:sp>
        <p:nvSpPr>
          <p:cNvPr id="1901640272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br/>
          </a:p>
        </p:txBody>
      </p:sp>
      <p:sp>
        <p:nvSpPr>
          <p:cNvPr id="1513936661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br/>
          </a:p>
        </p:txBody>
      </p:sp>
      <p:sp>
        <p:nvSpPr>
          <p:cNvPr id="727233930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12/12</a:t>
            </a:r>
            <a:br/>
            <a:br/>
          </a:p>
        </p:txBody>
      </p:sp>
      <p:sp>
        <p:nvSpPr>
          <p:cNvPr id="2007191290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34420068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313625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8934501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8078994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345586321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3194728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86047862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3699717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4856016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2404349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8100615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0712396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824558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2841625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43626020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9012426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151638381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58222603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계상 관련 시스템 보완 요청* 구매요구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서 전송(ZMMT4040), 기성보고서 전송(ZMMT4060) 관련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추가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AS/400 화면 SAP 이관* 주요 자재/구매 화면 13개 SAP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</a:p>
        </p:txBody>
      </p:sp>
      <p:sp>
        <p:nvSpPr>
          <p:cNvPr id="1053022960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85645948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201901486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계상 관련 시스템 보완 요청* 구매요구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서 전송(ZMMT4040), 기성보고서 전송(ZMMT4060) 관련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추가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AS/400 화면 SAP 이관* 주요 자재/구매 화면 13개 SAP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</a:p>
        </p:txBody>
      </p:sp>
      <p:sp>
        <p:nvSpPr>
          <p:cNvPr id="2061693130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152401951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</a:p>
        </p:txBody>
      </p:sp>
      <p:sp>
        <p:nvSpPr>
          <p:cNvPr id="223062244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121843719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30603058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44014573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</a:p>
        </p:txBody>
      </p:sp>
      <p:sp>
        <p:nvSpPr>
          <p:cNvPr id="452635333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</a:p>
        </p:txBody>
      </p:sp>
      <p:sp>
        <p:nvSpPr>
          <p:cNvPr id="760257641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POS기 전송 테스트 및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결재요청시 결재선 심사부서 임직원 부서 및 재/퇴직 유무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체크 로직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[Lube E-Biz] 서블릿 HANG 현상 원인 파악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계정 생성 프로시저 api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인수인계 문서 생성</a:t>
            </a:r>
          </a:p>
        </p:txBody>
      </p:sp>
      <p:sp>
        <p:nvSpPr>
          <p:cNvPr id="960191324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Lube E-Biz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이여진</a:t>
            </a:r>
          </a:p>
        </p:txBody>
      </p:sp>
      <p:sp>
        <p:nvSpPr>
          <p:cNvPr id="1113135833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Lube E-Biz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이여진</a:t>
            </a:r>
          </a:p>
        </p:txBody>
      </p:sp>
      <p:sp>
        <p:nvSpPr>
          <p:cNvPr id="230304981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POS기 전송 테스트 및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결재요청시 결재선 심사부서 임직원 부서 및 재/퇴직 유무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체크 로직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[Lube E-Biz] 서블릿 HANG 현상 원인 파악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계정 생성 프로시저 api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현수막 대금완료 상태값 변경 기능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인수인계 문서 생성</a:t>
            </a:r>
          </a:p>
        </p:txBody>
      </p:sp>
      <p:sp>
        <p:nvSpPr>
          <p:cNvPr id="606100191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</a:p>
        </p:txBody>
      </p:sp>
      <p:sp>
        <p:nvSpPr>
          <p:cNvPr id="1201804476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99%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99%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99%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</a:p>
        </p:txBody>
      </p:sp>
      <p:sp>
        <p:nvSpPr>
          <p:cNvPr id="1294422339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</a:p>
        </p:txBody>
      </p:sp>
      <p:sp>
        <p:nvSpPr>
          <p:cNvPr id="296161462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38956543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321044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9409133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5636550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85951339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85990834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32723226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6361239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0229145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7581709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524373744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34609078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8796306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118639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86782771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43649083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12/22</a:t>
            </a:r>
            <a:br/>
          </a:p>
        </p:txBody>
      </p:sp>
      <p:sp>
        <p:nvSpPr>
          <p:cNvPr id="1667836088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</a:p>
        </p:txBody>
      </p:sp>
      <p:sp>
        <p:nvSpPr>
          <p:cNvPr id="909496299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다면평가 평가자 추출 방식 개발 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퇴직연금 운용방식 변경 신청서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임원 퇴직금 계산 명세서 로직 수정 요청  - 프로그램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40%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휴가신청 / 휴가변경취소신청서 에서 소속부서 특정 관련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 응대 </a:t>
            </a:r>
          </a:p>
        </p:txBody>
      </p:sp>
      <p:sp>
        <p:nvSpPr>
          <p:cNvPr id="143316456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129721921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173376395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다면평가 평가자 추출 방식 개발 - 사용자 테스트 및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임원 퇴직금 계산 명세서 로직 수정 요청 - 데이타 변경건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임원 퇴직금 계산 명세서 로직 수정 요청  - 프로그램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휴가신청 / 휴가변경취소신청서 에서 소속부서 특정 관련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 응대</a:t>
            </a:r>
          </a:p>
        </p:txBody>
      </p:sp>
      <p:sp>
        <p:nvSpPr>
          <p:cNvPr id="213109219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1216774875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</a:p>
        </p:txBody>
      </p:sp>
      <p:sp>
        <p:nvSpPr>
          <p:cNvPr id="17417441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</a:p>
        </p:txBody>
      </p:sp>
      <p:sp>
        <p:nvSpPr>
          <p:cNvPr id="141685105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8746862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77368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14311289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2121104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94662546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71020975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05764661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3830878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7866290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0159721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6534616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9755656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9675761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21739110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05444464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30557528" name="Text">
    </p:cNvPr>
          <p:cNvSpPr>
            <a:spLocks noGrp="1"/>
          </p:cNvSpPr>
          <p:nvPr/>
        </p:nvSpPr>
        <p:spPr>
          <a:xfrm rot="0">
            <a:off x="9702800" y="1511300"/>
            <a:ext cx="3683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br/>
            <a:br/>
          </a:p>
        </p:txBody>
      </p:sp>
      <p:sp>
        <p:nvSpPr>
          <p:cNvPr id="1086546957" name="Text">
    </p:cNvPr>
          <p:cNvSpPr>
            <a:spLocks noGrp="1"/>
          </p:cNvSpPr>
          <p:nvPr/>
        </p:nvSpPr>
        <p:spPr>
          <a:xfrm rot="0">
            <a:off x="9334500" y="1511300"/>
            <a:ext cx="3683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  <a:br/>
            <a:br/>
          </a:p>
        </p:txBody>
      </p:sp>
      <p:sp>
        <p:nvSpPr>
          <p:cNvPr id="1999945193" name="Text">
    </p:cNvPr>
          <p:cNvSpPr>
            <a:spLocks noGrp="1"/>
          </p:cNvSpPr>
          <p:nvPr/>
        </p:nvSpPr>
        <p:spPr>
          <a:xfrm rot="0">
            <a:off x="5930900" y="1511300"/>
            <a:ext cx="3403600" cy="3644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ITSM-89436SABIC 시스템 연동 구축-7/13 ~ 7/24 모니터링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프로그램 개발-7/27 ~ 8/7    오픈데이터 업로드 및 운영반영-8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/8   ~ 운영 반영 후 마이그레이션 데이터로             인한 버그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수정</a:t>
            </a:r>
          </a:p>
        </p:txBody>
      </p:sp>
      <p:sp>
        <p:nvSpPr>
          <p:cNvPr id="799746594" name="Text">
    </p:cNvPr>
          <p:cNvSpPr>
            <a:spLocks noGrp="1"/>
          </p:cNvSpPr>
          <p:nvPr/>
        </p:nvSpPr>
        <p:spPr>
          <a:xfrm rot="0">
            <a:off x="5308600" y="1511300"/>
            <a:ext cx="5715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570445400" name="Text">
    </p:cNvPr>
          <p:cNvSpPr>
            <a:spLocks noGrp="1"/>
          </p:cNvSpPr>
          <p:nvPr/>
        </p:nvSpPr>
        <p:spPr>
          <a:xfrm rot="0">
            <a:off x="88900" y="1511300"/>
            <a:ext cx="5715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2033759513" name="Text">
    </p:cNvPr>
          <p:cNvSpPr>
            <a:spLocks noGrp="1"/>
          </p:cNvSpPr>
          <p:nvPr/>
        </p:nvSpPr>
        <p:spPr>
          <a:xfrm rot="0">
            <a:off x="711200" y="1511300"/>
            <a:ext cx="3403600" cy="3644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ITSM-91037 실수송 거리 측정데이타 erp 연동요청-5/4~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프로그램 및 RFC 생성- 8/22 I/F 정의서 변경으로 로직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ITSM-93611 ZSDR7090 - 담보관리:채권대비 담보확보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액” 개선요청-6/2~ 변경 요청사항 반영- 8/29~8/30 요구사항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변경으로 로직수정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ITSM-96689PRM 거래처 마스터 항목별 관리를 위한 ERP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마스터 분개처리 구조 보완 요청-7/3 RFC 구조 생성-7/4 조건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별 T코드 및 프로그램 코딩-7/5 처리결과 리턴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ITSM-89436SABIC 시스템 연동 구축-7/13 ~ 7/24 모니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터링 프로그램 개발-7/27 ~ 8/7    오픈데이터 업로드 및 운영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반영-8/8   ~ 운영 반영 후 마이그레이션 데이터로             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버그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ITSM-102063S-OIL &amp; SABIC Integration을 통한 ERP 내부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시스템 개선 요청-10/30~ 업무자동화 프로세스 적용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ITSM-104195e-Biz. 가격조회 RFC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ITSM-102063ZPLER0010 선적관련일 필드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ITSM-99139출하처 변경사유 항목 추가 및 기존 항목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ITSM-101222업무효율성 제고 관련, ERP업무 개선사항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요청- ZCMR4174 신규프로그램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ITSM-104108모바일상품권 취소 캐시백 수정요청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ITSM-103659BOA 마일리지 적립률 변경 협조 요청</a:t>
            </a:r>
          </a:p>
        </p:txBody>
      </p:sp>
      <p:sp>
        <p:nvSpPr>
          <p:cNvPr id="733058082" name="Text">
    </p:cNvPr>
          <p:cNvSpPr>
            <a:spLocks noGrp="1"/>
          </p:cNvSpPr>
          <p:nvPr/>
        </p:nvSpPr>
        <p:spPr>
          <a:xfrm rot="0">
            <a:off x="4483100" y="1511300"/>
            <a:ext cx="3683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</a:p>
        </p:txBody>
      </p:sp>
      <p:sp>
        <p:nvSpPr>
          <p:cNvPr id="1572688204" name="Text">
    </p:cNvPr>
          <p:cNvSpPr>
            <a:spLocks noGrp="1"/>
          </p:cNvSpPr>
          <p:nvPr/>
        </p:nvSpPr>
        <p:spPr>
          <a:xfrm rot="0">
            <a:off x="4851400" y="1511300"/>
            <a:ext cx="3683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</a:p>
        </p:txBody>
      </p:sp>
      <p:sp>
        <p:nvSpPr>
          <p:cNvPr id="2104473133" name="Text">
    </p:cNvPr>
          <p:cNvSpPr>
            <a:spLocks noGrp="1"/>
          </p:cNvSpPr>
          <p:nvPr/>
        </p:nvSpPr>
        <p:spPr>
          <a:xfrm rot="0">
            <a:off x="4114800" y="1511300"/>
            <a:ext cx="3683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</a:p>
        </p:txBody>
      </p:sp>
      <p:sp>
        <p:nvSpPr>
          <p:cNvPr id="1094931684" name="Text">
    </p:cNvPr>
          <p:cNvSpPr>
            <a:spLocks noGrp="1"/>
          </p:cNvSpPr>
          <p:nvPr/>
        </p:nvSpPr>
        <p:spPr>
          <a:xfrm rot="0">
            <a:off x="660400" y="1511300"/>
            <a:ext cx="34544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27322218" name="Text">
    </p:cNvPr>
          <p:cNvSpPr>
            <a:spLocks noGrp="1"/>
          </p:cNvSpPr>
          <p:nvPr/>
        </p:nvSpPr>
        <p:spPr>
          <a:xfrm rot="0">
            <a:off x="5880100" y="1511300"/>
            <a:ext cx="34544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