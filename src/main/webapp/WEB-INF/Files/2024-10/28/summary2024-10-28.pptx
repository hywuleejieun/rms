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181457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086726475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1575629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8785397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9024814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450855028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67107953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777707125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903637630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77285070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817831955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682316269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622623298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15800851" name="Frame"/>
          <p:cNvSpPr>
            <a:spLocks noGrp="1"/>
          </p:cNvSpPr>
          <p:nvPr/>
        </p:nvSpPr>
        <p:spPr>
          <a:xfrm>
            <a:off x="25400" y="52451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30250530" name="Text">
    </p:cNvPr>
          <p:cNvSpPr>
            <a:spLocks noGrp="1"/>
          </p:cNvSpPr>
          <p:nvPr/>
        </p:nvSpPr>
        <p:spPr>
          <a:xfrm rot="0">
            <a:off x="152400" y="5270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327006163" name="Text">
    </p:cNvPr>
          <p:cNvSpPr>
            <a:spLocks noGrp="1"/>
          </p:cNvSpPr>
          <p:nvPr/>
        </p:nvSpPr>
        <p:spPr>
          <a:xfrm rot="0">
            <a:off x="6451600" y="5803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36432042" name="Text">
    </p:cNvPr>
          <p:cNvSpPr>
            <a:spLocks noGrp="1"/>
          </p:cNvSpPr>
          <p:nvPr/>
        </p:nvSpPr>
        <p:spPr>
          <a:xfrm rot="0">
            <a:off x="2057400" y="5803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8011602" name="Text">
    </p:cNvPr>
          <p:cNvSpPr>
            <a:spLocks noGrp="1"/>
          </p:cNvSpPr>
          <p:nvPr/>
        </p:nvSpPr>
        <p:spPr>
          <a:xfrm rot="0">
            <a:off x="101600" y="5803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2109308" name="Text">
    </p:cNvPr>
          <p:cNvSpPr>
            <a:spLocks noGrp="1"/>
          </p:cNvSpPr>
          <p:nvPr/>
        </p:nvSpPr>
        <p:spPr>
          <a:xfrm rot="0">
            <a:off x="101600" y="5562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204604478" name="Text">
    </p:cNvPr>
          <p:cNvSpPr>
            <a:spLocks noGrp="1"/>
          </p:cNvSpPr>
          <p:nvPr/>
        </p:nvSpPr>
        <p:spPr>
          <a:xfrm rot="0">
            <a:off x="2057400" y="5562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486667593" name="Text">
    </p:cNvPr>
          <p:cNvSpPr>
            <a:spLocks noGrp="1"/>
          </p:cNvSpPr>
          <p:nvPr/>
        </p:nvSpPr>
        <p:spPr>
          <a:xfrm rot="0">
            <a:off x="6451600" y="5562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614557218" name="Text">
    </p:cNvPr>
          <p:cNvSpPr>
            <a:spLocks noGrp="1"/>
          </p:cNvSpPr>
          <p:nvPr/>
        </p:nvSpPr>
        <p:spPr>
          <a:xfrm rot="0">
            <a:off x="101600" y="6096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9174175" name="Text">
    </p:cNvPr>
          <p:cNvSpPr>
            <a:spLocks noGrp="1"/>
          </p:cNvSpPr>
          <p:nvPr/>
        </p:nvSpPr>
        <p:spPr>
          <a:xfrm rot="0">
            <a:off x="6451600" y="6096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4658566" name="Text">
    </p:cNvPr>
          <p:cNvSpPr>
            <a:spLocks noGrp="1"/>
          </p:cNvSpPr>
          <p:nvPr/>
        </p:nvSpPr>
        <p:spPr>
          <a:xfrm rot="0">
            <a:off x="2057400" y="6096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1284952" name="Text">
    </p:cNvPr>
          <p:cNvSpPr>
            <a:spLocks noGrp="1"/>
          </p:cNvSpPr>
          <p:nvPr/>
        </p:nvSpPr>
        <p:spPr>
          <a:xfrm rot="0">
            <a:off x="1244600" y="6096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823841" name="Text">
    </p:cNvPr>
          <p:cNvSpPr>
            <a:spLocks noGrp="1"/>
          </p:cNvSpPr>
          <p:nvPr/>
        </p:nvSpPr>
        <p:spPr>
          <a:xfrm rot="0">
            <a:off x="1244600" y="5803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3369973" name="Text">
    </p:cNvPr>
          <p:cNvSpPr>
            <a:spLocks noGrp="1"/>
          </p:cNvSpPr>
          <p:nvPr/>
        </p:nvSpPr>
        <p:spPr>
          <a:xfrm rot="0">
            <a:off x="1244600" y="5562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300291164" name="Text">
    </p:cNvPr>
          <p:cNvSpPr>
            <a:spLocks noGrp="1"/>
          </p:cNvSpPr>
          <p:nvPr/>
        </p:nvSpPr>
        <p:spPr>
          <a:xfrm rot="0">
            <a:off x="8102600" y="6096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0741532" name="Text">
    </p:cNvPr>
          <p:cNvSpPr>
            <a:spLocks noGrp="1"/>
          </p:cNvSpPr>
          <p:nvPr/>
        </p:nvSpPr>
        <p:spPr>
          <a:xfrm rot="0">
            <a:off x="8102600" y="5562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502976580" name="Text">
    </p:cNvPr>
          <p:cNvSpPr>
            <a:spLocks noGrp="1"/>
          </p:cNvSpPr>
          <p:nvPr/>
        </p:nvSpPr>
        <p:spPr>
          <a:xfrm rot="0">
            <a:off x="8102600" y="5803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2224575" name="Frame"/>
          <p:cNvSpPr>
            <a:spLocks noGrp="1"/>
          </p:cNvSpPr>
          <p:nvPr/>
        </p:nvSpPr>
        <p:spPr>
          <a:xfrm>
            <a:off x="101600" y="2832100"/>
            <a:ext cx="9779000" cy="2247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497025181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2271249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228311285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193171200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16290140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656753096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534529095" name="Frame"/>
          <p:cNvSpPr>
            <a:spLocks noGrp="1"/>
          </p:cNvSpPr>
          <p:nvPr/>
        </p:nvSpPr>
        <p:spPr>
          <a:xfrm>
            <a:off x="165100" y="44577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17211877" name="Text">
    </p:cNvPr>
          <p:cNvSpPr>
            <a:spLocks noGrp="1"/>
          </p:cNvSpPr>
          <p:nvPr/>
        </p:nvSpPr>
        <p:spPr>
          <a:xfrm rot="0">
            <a:off x="165100" y="443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446346515" name="Text">
    </p:cNvPr>
          <p:cNvSpPr>
            <a:spLocks noGrp="1"/>
          </p:cNvSpPr>
          <p:nvPr/>
        </p:nvSpPr>
        <p:spPr>
          <a:xfrm rot="0">
            <a:off x="965200" y="44831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S-imoms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2024년 일반부서_사이버보안_컴플라이언스관련 후속조치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[승강기연동] REUTERS국제가 연동 서버 변경에 따른 인터페이스 수정</a:t>
            </a:r>
          </a:p>
        </p:txBody>
      </p:sp>
      <p:sp>
        <p:nvSpPr>
          <p:cNvPr id="2019976131" name="Text">
    </p:cNvPr>
          <p:cNvSpPr>
            <a:spLocks noGrp="1"/>
          </p:cNvSpPr>
          <p:nvPr/>
        </p:nvSpPr>
        <p:spPr>
          <a:xfrm rot="0">
            <a:off x="7239000" y="44831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90566388" name="Text">
    </p:cNvPr>
          <p:cNvSpPr>
            <a:spLocks noGrp="1"/>
          </p:cNvSpPr>
          <p:nvPr/>
        </p:nvSpPr>
        <p:spPr>
          <a:xfrm rot="0">
            <a:off x="5549900" y="44831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1372186205" name="Text">
    </p:cNvPr>
          <p:cNvSpPr>
            <a:spLocks noGrp="1"/>
          </p:cNvSpPr>
          <p:nvPr/>
        </p:nvSpPr>
        <p:spPr>
          <a:xfrm rot="0">
            <a:off x="901700" y="443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6782554" name="Text">
    </p:cNvPr>
          <p:cNvSpPr>
            <a:spLocks noGrp="1"/>
          </p:cNvSpPr>
          <p:nvPr/>
        </p:nvSpPr>
        <p:spPr>
          <a:xfrm rot="0">
            <a:off x="6121400" y="44323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6580260" name="Text">
    </p:cNvPr>
          <p:cNvSpPr>
            <a:spLocks noGrp="1"/>
          </p:cNvSpPr>
          <p:nvPr/>
        </p:nvSpPr>
        <p:spPr>
          <a:xfrm rot="0">
            <a:off x="5549900" y="443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3270206" name="Frame"/>
          <p:cNvSpPr>
            <a:spLocks noGrp="1"/>
          </p:cNvSpPr>
          <p:nvPr/>
        </p:nvSpPr>
        <p:spPr>
          <a:xfrm>
            <a:off x="165100" y="3454400"/>
            <a:ext cx="9639300" cy="977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41701274" name="Text">
    </p:cNvPr>
          <p:cNvSpPr>
            <a:spLocks noGrp="1"/>
          </p:cNvSpPr>
          <p:nvPr/>
        </p:nvSpPr>
        <p:spPr>
          <a:xfrm rot="0">
            <a:off x="165100" y="3454400"/>
            <a:ext cx="7366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481461448" name="Text">
    </p:cNvPr>
          <p:cNvSpPr>
            <a:spLocks noGrp="1"/>
          </p:cNvSpPr>
          <p:nvPr/>
        </p:nvSpPr>
        <p:spPr>
          <a:xfrm rot="0">
            <a:off x="965200" y="3530600"/>
            <a:ext cx="45847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[TR] 관세/부과금 환급 업로드(ZFIR이자율계산 공휴일 이자계산 제외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(ZFIR1255)7140_U)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신규 발주 생성 시 대금수수계약 체결여부 점검 및 안내기능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842631206" name="Text">
    </p:cNvPr>
          <p:cNvSpPr>
            <a:spLocks noGrp="1"/>
          </p:cNvSpPr>
          <p:nvPr/>
        </p:nvSpPr>
        <p:spPr>
          <a:xfrm rot="0">
            <a:off x="7239000" y="3530600"/>
            <a:ext cx="25527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808307994" name="Text">
    </p:cNvPr>
          <p:cNvSpPr>
            <a:spLocks noGrp="1"/>
          </p:cNvSpPr>
          <p:nvPr/>
        </p:nvSpPr>
        <p:spPr>
          <a:xfrm rot="0">
            <a:off x="5549900" y="3530600"/>
            <a:ext cx="5715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62419466" name="Text">
    </p:cNvPr>
          <p:cNvSpPr>
            <a:spLocks noGrp="1"/>
          </p:cNvSpPr>
          <p:nvPr/>
        </p:nvSpPr>
        <p:spPr>
          <a:xfrm rot="0">
            <a:off x="901700" y="3454400"/>
            <a:ext cx="46482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5313211" name="Text">
    </p:cNvPr>
          <p:cNvSpPr>
            <a:spLocks noGrp="1"/>
          </p:cNvSpPr>
          <p:nvPr/>
        </p:nvSpPr>
        <p:spPr>
          <a:xfrm rot="0">
            <a:off x="6121400" y="3454400"/>
            <a:ext cx="36449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29041667" name="Text">
    </p:cNvPr>
          <p:cNvSpPr>
            <a:spLocks noGrp="1"/>
          </p:cNvSpPr>
          <p:nvPr/>
        </p:nvSpPr>
        <p:spPr>
          <a:xfrm rot="0">
            <a:off x="5549900" y="3454400"/>
            <a:ext cx="5715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6538338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363466495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785942515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431979063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컨테이너 안전점검표 보관신청 사용부서 목록 개선요청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EAI Upgrade개발 단계 산출물 검수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2024.8월 결산의 EIS, Yellow Book 반영</a:t>
            </a:r>
          </a:p>
        </p:txBody>
      </p:sp>
      <p:sp>
        <p:nvSpPr>
          <p:cNvPr id="1860403746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29341729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763379753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</a:p>
        </p:txBody>
      </p:sp>
      <p:sp>
        <p:nvSpPr>
          <p:cNvPr id="186100735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1602221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5859354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8669513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9940962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432373173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290354896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수출체선료 리스트 중 제외되어야 하는 조건 추가(ZFIR9116)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대손상각계상 프로그램에서 외화채권 처리 가능토록 개발 요청(ZFIR1180)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자재 예약 시 단위 임의 변경 불가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[HCM] 고정공제 신청서 항목 선택시 해당내역 즉시 조회 기능 추가</a:t>
            </a:r>
          </a:p>
        </p:txBody>
      </p:sp>
      <p:sp>
        <p:nvSpPr>
          <p:cNvPr id="1884098008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4379697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947793565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</a:p>
        </p:txBody>
      </p:sp>
      <p:sp>
        <p:nvSpPr>
          <p:cNvPr id="1050084994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8867653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5194235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5775086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