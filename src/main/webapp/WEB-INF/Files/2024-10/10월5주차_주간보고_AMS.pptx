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2"/>
    <p:sldId id="276" r:id="rId34"/>
    <p:sldId id="277" r:id="rId36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notesSlides/notesSlide6.xml" Type="http://schemas.openxmlformats.org/officeDocument/2006/relationships/notesSlide"/><Relationship Id="rId34" Target="slides/slide21.xml" Type="http://schemas.openxmlformats.org/officeDocument/2006/relationships/slide"/><Relationship Id="rId35" Target="notesSlides/notesSlide7.xml" Type="http://schemas.openxmlformats.org/officeDocument/2006/relationships/notesSlide"/><Relationship Id="rId36" Target="slides/slide22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2024-09-30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[2024.10.15 ~ 2024.10.21]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10월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임시공휴일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개천절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Duty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한글날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01554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542837284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6785791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3125129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676301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08834623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19243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07717307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312441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595223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242446974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79618713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6765089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94304679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62543410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125171990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4440565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994007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5617300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69927629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088660222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440792867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0625994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666450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5539331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6179560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4057076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97423664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4436257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943260548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9068663" name="Frame"/>
          <p:cNvSpPr>
            <a:spLocks noGrp="1"/>
          </p:cNvSpPr>
          <p:nvPr/>
        </p:nvSpPr>
        <p:spPr>
          <a:xfrm>
            <a:off x="101600" y="2832100"/>
            <a:ext cx="9779000" cy="224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80167781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2764868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097735222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54241206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9145075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6537682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93008356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4924632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9019333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[SAP DS Upgrade] EWS, GCMS 지원 (To-be ERP 스텐다드 테이블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2024.8월 결산의 EIS, Yellow Book 반영</a:t>
            </a:r>
          </a:p>
        </p:txBody>
      </p:sp>
      <p:sp>
        <p:nvSpPr>
          <p:cNvPr id="664691159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14116792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2085565572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984811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3924881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8026955" name="Frame"/>
          <p:cNvSpPr>
            <a:spLocks noGrp="1"/>
          </p:cNvSpPr>
          <p:nvPr/>
        </p:nvSpPr>
        <p:spPr>
          <a:xfrm>
            <a:off x="165100" y="3454400"/>
            <a:ext cx="9639300" cy="97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58425918" name="Text">
    </p:cNvPr>
          <p:cNvSpPr>
            <a:spLocks noGrp="1"/>
          </p:cNvSpPr>
          <p:nvPr/>
        </p:nvSpPr>
        <p:spPr>
          <a:xfrm rot="0">
            <a:off x="165100" y="34544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71233355" name="Text">
    </p:cNvPr>
          <p:cNvSpPr>
            <a:spLocks noGrp="1"/>
          </p:cNvSpPr>
          <p:nvPr/>
        </p:nvSpPr>
        <p:spPr>
          <a:xfrm rot="0">
            <a:off x="965200" y="3530600"/>
            <a:ext cx="4584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[TR] 관세/부과금 환급 업로드(ZFIR이자율계산 공휴일 이자계산 제외 로직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(ZFIR1255)7140_U)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405689587" name="Text">
    </p:cNvPr>
          <p:cNvSpPr>
            <a:spLocks noGrp="1"/>
          </p:cNvSpPr>
          <p:nvPr/>
        </p:nvSpPr>
        <p:spPr>
          <a:xfrm rot="0">
            <a:off x="7239000" y="35306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72093139" name="Text">
    </p:cNvPr>
          <p:cNvSpPr>
            <a:spLocks noGrp="1"/>
          </p:cNvSpPr>
          <p:nvPr/>
        </p:nvSpPr>
        <p:spPr>
          <a:xfrm rot="0">
            <a:off x="5549900" y="35306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789260169" name="Text">
    </p:cNvPr>
          <p:cNvSpPr>
            <a:spLocks noGrp="1"/>
          </p:cNvSpPr>
          <p:nvPr/>
        </p:nvSpPr>
        <p:spPr>
          <a:xfrm rot="0">
            <a:off x="901700" y="34544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3099984" name="Text">
    </p:cNvPr>
          <p:cNvSpPr>
            <a:spLocks noGrp="1"/>
          </p:cNvSpPr>
          <p:nvPr/>
        </p:nvSpPr>
        <p:spPr>
          <a:xfrm rot="0">
            <a:off x="6121400" y="3454400"/>
            <a:ext cx="36449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2279949" name="Text">
    </p:cNvPr>
          <p:cNvSpPr>
            <a:spLocks noGrp="1"/>
          </p:cNvSpPr>
          <p:nvPr/>
        </p:nvSpPr>
        <p:spPr>
          <a:xfrm rot="0">
            <a:off x="5549900" y="34544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7972956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58384054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5154558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468783054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[휴넷]2024.04~09월 스마트러닝 교육이력 오류 확인 및 재전송 반영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19년부터 지류식상품권 판매 데이터 추출요청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[EAI Upgrade] TO-BE개발서버 매매계약서 전송시 연동 접속정보 수정</a:t>
            </a:r>
          </a:p>
        </p:txBody>
      </p:sp>
      <p:sp>
        <p:nvSpPr>
          <p:cNvPr id="543694763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9055885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549606122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</a:p>
        </p:txBody>
      </p:sp>
      <p:sp>
        <p:nvSpPr>
          <p:cNvPr id="1435630342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4147800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6404036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9998213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903467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5710147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0269052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마이그레이션 추가수정(ZFIM9030_M)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SAP 수입통관 OFFER #100003942 단가 정정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한라석유 농가 거래처 주민등록번호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ITSM-117911 ERP 양하지 이벤트 기본 그룹변경 요청</a:t>
            </a:r>
          </a:p>
        </p:txBody>
      </p:sp>
      <p:sp>
        <p:nvSpPr>
          <p:cNvPr id="144912255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49133073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7916975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</a:p>
        </p:txBody>
      </p:sp>
      <p:sp>
        <p:nvSpPr>
          <p:cNvPr id="661257315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44904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0086275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2267313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72408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00440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27175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82031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660993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59586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140456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429987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219839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186954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7513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72881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15169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183543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39042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998969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12956104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관세/부과금 환급 업로드(ZFIR이자율계산 공휴일 이자계산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제외 로직 추가 (ZFIR1255)7140_U)</a:t>
            </a:r>
          </a:p>
        </p:txBody>
      </p:sp>
      <p:sp>
        <p:nvSpPr>
          <p:cNvPr id="6894279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4097430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9176393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마이그레이션 추가수정(ZFIM9030_M)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마케터 영업차량 차량유지비 구간별 지급기준 변경(ZPCR8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000, ZPCR8001)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CP 회계전표 목록에 구매처명 필드에 세금코드 정보 추가(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LZEAF10F01)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 체선료 및 미수금 관련 사업부문 추가 요청(Polymer)(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ZFIR9114F)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관세/부과금 환급 업로드(ZFIR이자율계산 공휴일 이자계산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제외 로직 추가 (ZFIR1255)7140_U)</a:t>
            </a:r>
          </a:p>
        </p:txBody>
      </p:sp>
      <p:sp>
        <p:nvSpPr>
          <p:cNvPr id="18890985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7400568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7042823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6144847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257178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49434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1237689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18615514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</a:p>
        </p:txBody>
      </p:sp>
      <p:sp>
        <p:nvSpPr>
          <p:cNvPr id="41088015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012030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860628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 작성일자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수입통관 OFFER #100003942 단가 정정 요청</a:t>
            </a:r>
          </a:p>
        </p:txBody>
      </p:sp>
      <p:sp>
        <p:nvSpPr>
          <p:cNvPr id="697555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89406491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</a:p>
        </p:txBody>
      </p:sp>
      <p:sp>
        <p:nvSpPr>
          <p:cNvPr id="69056297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</a:p>
        </p:txBody>
      </p:sp>
      <p:sp>
        <p:nvSpPr>
          <p:cNvPr id="18345540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71229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4794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63961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63526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477891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064576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025676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75724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33525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737867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13884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46607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97607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54300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8739197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92166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5902494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3955985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9585422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446199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9391533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TCP/IP RFC Destination 정보 확인 및 내용전달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3분기 계정 유효성 검증 대상서버 확인정리 및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및 HCM시스템 DMS서버 정보 및 SNC 관련 파라미터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취합정리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37027065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0500315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523950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4203135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393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559284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74473509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5909025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49723808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91655784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08884517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6장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7장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8장</a:t>
            </a:r>
          </a:p>
        </p:txBody>
      </p:sp>
      <p:sp>
        <p:nvSpPr>
          <p:cNvPr id="1265849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296993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28215493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6766539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76419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6918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22087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45953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310316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32813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3520867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37001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93717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993343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44195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39578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33067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166046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308813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216589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209790258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7861623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예약 시 단위 임의 변경 불가 로직 추가* 입력 단위와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자재마스터 단위가 다를 경우 에러 처리</a:t>
            </a:r>
          </a:p>
        </p:txBody>
      </p:sp>
      <p:sp>
        <p:nvSpPr>
          <p:cNvPr id="179907227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5520740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62810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예약 시 단위 임의 변경 불가 로직 추가* 입력 단위와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자재마스터 단위가 다를 경우 에러 처리</a:t>
            </a:r>
          </a:p>
        </p:txBody>
      </p:sp>
      <p:sp>
        <p:nvSpPr>
          <p:cNvPr id="200347977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10257437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57839078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197396094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852840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9601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60295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41937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4829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625074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443179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75852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635314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9649143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108749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393805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41399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617287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229422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6241945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35926414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</a:p>
        </p:txBody>
      </p:sp>
      <p:sp>
        <p:nvSpPr>
          <p:cNvPr id="983160044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[ITSM-1176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29] 인수인계서 작성(팀원용) 개발</a:t>
            </a:r>
          </a:p>
        </p:txBody>
      </p:sp>
      <p:sp>
        <p:nvSpPr>
          <p:cNvPr id="2127437815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37852951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09054819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[ITSM-117629] 인수인계서 작성(팀원용) 개발관련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분석 및 설계- 문의대응: 근무편제변경신청 문의, 근무지변경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발령시 근무일정변경 문의, 방문교통비 결재문의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[ITSM-117629] 인수인계서 작성(팀원용) 개발 : 리스트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개발(100%)- [ITSM-117959] 해외출장명령서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[ITSM-117957] 특근명령서 삭제- [ITSM-117956] [SAP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HR]ZHRR1230-발령품의 관리 로직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SF 프로젝트 지원   . 일자명세 생성로직 제공   . 현부서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근속 및 재직기간 산출로직 제공- erp 통합프로젝트 지원   .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컨텐츠 서버 관련 문의대응- 문의대응: 휴가미신청자 현황화면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[ITSM-117629] 인수인계서 작성(팀원용) 개발 : 작성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수정화면 개발(50%)- [ITSM-118133] 특근확인서(HCM/CP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휴게시간 및 특근시간 수정- 문의대응: 부서변경에 관련 출장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비신청 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급여작업지원: 근무지변경 관련 중식비 생성오류 외- [I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TSM-118104] 고정공제 신청현황의 결제예정자에게 SMS발송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과 이메일 동시 발송 기능 추가</a:t>
            </a:r>
          </a:p>
        </p:txBody>
      </p:sp>
      <p:sp>
        <p:nvSpPr>
          <p:cNvPr id="1780287217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</a:p>
        </p:txBody>
      </p:sp>
      <p:sp>
        <p:nvSpPr>
          <p:cNvPr id="167999024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</a:p>
        </p:txBody>
      </p:sp>
      <p:sp>
        <p:nvSpPr>
          <p:cNvPr id="975740072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</a:p>
        </p:txBody>
      </p:sp>
      <p:sp>
        <p:nvSpPr>
          <p:cNvPr id="413544473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163890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1661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39842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27869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64439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575264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0393021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881384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1888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30167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45452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05359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89657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600263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6053244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233893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65493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</a:p>
        </p:txBody>
      </p:sp>
      <p:sp>
        <p:nvSpPr>
          <p:cNvPr id="146003645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사용자 지원 -&gt; TS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</a:p>
        </p:txBody>
      </p:sp>
      <p:sp>
        <p:nvSpPr>
          <p:cNvPr id="20424800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4971856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4331650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사용자 지원 ( SR )-&gt;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</a:p>
        </p:txBody>
      </p:sp>
      <p:sp>
        <p:nvSpPr>
          <p:cNvPr id="210821687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78137463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11%</a:t>
            </a:r>
            <a:br/>
          </a:p>
        </p:txBody>
      </p:sp>
      <p:sp>
        <p:nvSpPr>
          <p:cNvPr id="16878205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190051693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81453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7325948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2027705161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895758230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444758694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14987121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87478637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ITSM-116842한라석유 농가 거래처 주민등록번호 삭제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ITSM-117911ERP 양하지 이벤트 기본 그룹변경 요청</a:t>
            </a:r>
          </a:p>
        </p:txBody>
      </p:sp>
      <p:sp>
        <p:nvSpPr>
          <p:cNvPr id="1285919601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881265719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418364560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45590935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0804584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6502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9091423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97312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6713964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431994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870324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498708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893695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99265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91330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662708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76523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52987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561292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03935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427671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08626699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</a:p>
        </p:txBody>
      </p:sp>
      <p:sp>
        <p:nvSpPr>
          <p:cNvPr id="134145835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8644950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63604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</a:p>
        </p:txBody>
      </p:sp>
      <p:sp>
        <p:nvSpPr>
          <p:cNvPr id="83291260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44351384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9095282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82374184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06301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149399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9150126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3879187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84352475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3481751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22634000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41036109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0959166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</a:p>
        </p:txBody>
      </p:sp>
      <p:sp>
        <p:nvSpPr>
          <p:cNvPr id="91303168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02001026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691353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2892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37701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61542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859750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87888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744914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0219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687439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07587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43858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78139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89103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52173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197665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89959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9921377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</a:p>
        </p:txBody>
      </p:sp>
      <p:sp>
        <p:nvSpPr>
          <p:cNvPr id="82382630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1254947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518527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855968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지원 및 관리시스템 추가 보완요청</a:t>
            </a:r>
          </a:p>
        </p:txBody>
      </p:sp>
      <p:sp>
        <p:nvSpPr>
          <p:cNvPr id="10028698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80960858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59239122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</a:p>
        </p:txBody>
      </p:sp>
      <p:sp>
        <p:nvSpPr>
          <p:cNvPr id="18757508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31385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414937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85530781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81010037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재정비</a:t>
            </a:r>
          </a:p>
        </p:txBody>
      </p:sp>
      <p:sp>
        <p:nvSpPr>
          <p:cNvPr id="16929525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045256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4088158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ITSM-116438 작업 담장자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ITSM-114583 작업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ITSM-117971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ITSM-113807 예상 작업 완료일 변경</a:t>
            </a:r>
          </a:p>
        </p:txBody>
      </p:sp>
      <p:sp>
        <p:nvSpPr>
          <p:cNvPr id="164173852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17722644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0606893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46422927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80222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5031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1461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62372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334604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04083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019887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77936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94168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90826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1065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55838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53713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86602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883630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00278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595987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5068848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'Invoice Payment Completed - Polymer' 작업 보완</a:t>
            </a:r>
          </a:p>
        </p:txBody>
      </p:sp>
      <p:sp>
        <p:nvSpPr>
          <p:cNvPr id="8164251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2662280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45262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WMS 엑셀 오류 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'Invoice Payment Completed - Polymer' 작업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수행 및 오류 확인. 담당자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 항공급유 매출입력' 작업 수행 및 오류확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인. 담당자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서버 사용 유무 확인 및 서버담당자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rpa_poc01 메일 용량 초과로 인한 발송 불가 조치</a:t>
            </a:r>
          </a:p>
        </p:txBody>
      </p:sp>
      <p:sp>
        <p:nvSpPr>
          <p:cNvPr id="64730292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5354101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81583264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6464840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811711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90278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73898055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912564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컨테이너 안전점검표 보관신청 사용부서 목록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9484471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62535188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5474277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컨테이너 안전점검표 보관신청 사용부서 목록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22257721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72251620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2772960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81641813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835969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9563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62452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17304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383834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145273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305812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64668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68902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94239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609945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15507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8962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644146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962432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5290910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090138733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535022508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826906023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800729632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49759869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ITSM-117870, ITSM-117866, ITSM-117885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ITSM-117909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ITSM-117948, ITSM-117959, ITSM-117957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ITSM-117975, ITSM-117986, ITSM-117990,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8006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ITSM-118006, ITSM-118043, ITSM-117823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ITSM-118077, ITSM-118089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ITSM-118093, ITSM-118127, ITSM-118143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ITSM-118149, ITSM-118165, ITSM-118187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ITSM-118191, ITSM-118199</a:t>
            </a:r>
          </a:p>
        </p:txBody>
      </p:sp>
      <p:sp>
        <p:nvSpPr>
          <p:cNvPr id="2064896063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01357143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253279554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456493403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6640790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0850331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923955575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670166085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1874543345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700799782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96644916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 신청서 상 기재 된 교육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사번:2865 , PSM 온라인 과정 시험 재응시 가능하도록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전표생성시 오류 확인 및 재처리 요청(삭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제된구매처/확정안된구매처코드)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(RI-268) 화재/폭발 사고 건수  2024.3월 측정값 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오류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[휴넷]2024.04~09월 스마트러닝 교육이력 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재전송 반영 작업</a:t>
            </a:r>
          </a:p>
        </p:txBody>
      </p:sp>
      <p:sp>
        <p:nvSpPr>
          <p:cNvPr id="1206239684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929162499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382856559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01395311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1640432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5883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12555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509627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837689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473757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43918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30699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04994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290614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48629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89903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52496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682306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579230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7458833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2317530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06626008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비경상적 비용인식, 비경상적 채무반제 시나리오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우리카드 독자가맹점 출범에 따른 GCMS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EAI 개발 서버 테스트 [SAP -&gt; GCMS]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19638085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491776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825835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19년부터 지류식상품권 판매 데이터 추출요청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우리카드 독자가맹점 출범에 따른 GCMS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EAI 개발 서버 테스트  지원 [SAP -&gt; GCMS]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공구실 PDA 로그인 에러로 비밀번호 초기화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13463716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3324063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27457923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75395525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95136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70789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77845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17453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874730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291550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003248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42734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34588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995162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863898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11814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39314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30958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054092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97279691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550935339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</a:p>
        </p:txBody>
      </p:sp>
      <p:sp>
        <p:nvSpPr>
          <p:cNvPr id="635724101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'저유소기초재고(TT_PLT_BORW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_REPY)' 내 차입량/대여량 계산 로직 추가 요청 (ITSM-1178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835592940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73915231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47358078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CRM 판매단가 NULL 값 전송 점검 요청 (평화주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유소/에이치대하에너지 죽전주유소,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 (VOC : V240926-0000476-1) (이돈녕 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'저유소기초재고(TT_PLT_BORW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_REPY)' 내 차입량/대여량 계산 로직 추가 요청 (ITSM-1178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Summary 내 '제휴카드 포인트 미적립(롯데법인택시제휴카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드)' 종료 건 출력 조치 (완료 상태 -&gt; 종료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V241017-0000271-1 수완 구도일주유소 거래처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불가 (삭제 여부 'Y' 지정 확인 후 해제 조치 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70911784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782206159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945742533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1690248084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2153708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7668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41328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23593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33208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98333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30785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75735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57085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2062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86293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43916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40151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29129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0025807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40869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20117422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202841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한국전자인증 서버용 인증서는 갱신 </a:t>
            </a:r>
          </a:p>
        </p:txBody>
      </p:sp>
      <p:sp>
        <p:nvSpPr>
          <p:cNvPr id="9646840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300081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7799403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[EAI Upgrade] TO-BE개발서버 매매계약서 전송시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접속정보 수정</a:t>
            </a:r>
          </a:p>
        </p:txBody>
      </p:sp>
      <p:sp>
        <p:nvSpPr>
          <p:cNvPr id="26757911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2249359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145749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0731523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12781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임시공휴일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개천절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Duty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한글날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