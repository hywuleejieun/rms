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015542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542837284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785791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25129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763010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2088346233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8192436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077173077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63124418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45952230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242446974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679618713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767650895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94304679" name="Frame"/>
          <p:cNvSpPr>
            <a:spLocks noGrp="1"/>
          </p:cNvSpPr>
          <p:nvPr/>
        </p:nvSpPr>
        <p:spPr>
          <a:xfrm>
            <a:off x="25400" y="52451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62543410" name="Text">
    </p:cNvPr>
          <p:cNvSpPr>
            <a:spLocks noGrp="1"/>
          </p:cNvSpPr>
          <p:nvPr/>
        </p:nvSpPr>
        <p:spPr>
          <a:xfrm rot="0">
            <a:off x="152400" y="5270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125171990" name="Text">
    </p:cNvPr>
          <p:cNvSpPr>
            <a:spLocks noGrp="1"/>
          </p:cNvSpPr>
          <p:nvPr/>
        </p:nvSpPr>
        <p:spPr>
          <a:xfrm rot="0">
            <a:off x="6451600" y="5803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4440565" name="Text">
    </p:cNvPr>
          <p:cNvSpPr>
            <a:spLocks noGrp="1"/>
          </p:cNvSpPr>
          <p:nvPr/>
        </p:nvSpPr>
        <p:spPr>
          <a:xfrm rot="0">
            <a:off x="2057400" y="5803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6994007" name="Text">
    </p:cNvPr>
          <p:cNvSpPr>
            <a:spLocks noGrp="1"/>
          </p:cNvSpPr>
          <p:nvPr/>
        </p:nvSpPr>
        <p:spPr>
          <a:xfrm rot="0">
            <a:off x="101600" y="5803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5617300" name="Text">
    </p:cNvPr>
          <p:cNvSpPr>
            <a:spLocks noGrp="1"/>
          </p:cNvSpPr>
          <p:nvPr/>
        </p:nvSpPr>
        <p:spPr>
          <a:xfrm rot="0">
            <a:off x="101600" y="5562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69927629" name="Text">
    </p:cNvPr>
          <p:cNvSpPr>
            <a:spLocks noGrp="1"/>
          </p:cNvSpPr>
          <p:nvPr/>
        </p:nvSpPr>
        <p:spPr>
          <a:xfrm rot="0">
            <a:off x="2057400" y="5562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2088660222" name="Text">
    </p:cNvPr>
          <p:cNvSpPr>
            <a:spLocks noGrp="1"/>
          </p:cNvSpPr>
          <p:nvPr/>
        </p:nvSpPr>
        <p:spPr>
          <a:xfrm rot="0">
            <a:off x="6451600" y="5562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440792867" name="Text">
    </p:cNvPr>
          <p:cNvSpPr>
            <a:spLocks noGrp="1"/>
          </p:cNvSpPr>
          <p:nvPr/>
        </p:nvSpPr>
        <p:spPr>
          <a:xfrm rot="0">
            <a:off x="101600" y="6096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0625994" name="Text">
    </p:cNvPr>
          <p:cNvSpPr>
            <a:spLocks noGrp="1"/>
          </p:cNvSpPr>
          <p:nvPr/>
        </p:nvSpPr>
        <p:spPr>
          <a:xfrm rot="0">
            <a:off x="6451600" y="6096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3666450" name="Text">
    </p:cNvPr>
          <p:cNvSpPr>
            <a:spLocks noGrp="1"/>
          </p:cNvSpPr>
          <p:nvPr/>
        </p:nvSpPr>
        <p:spPr>
          <a:xfrm rot="0">
            <a:off x="2057400" y="6096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5539331" name="Text">
    </p:cNvPr>
          <p:cNvSpPr>
            <a:spLocks noGrp="1"/>
          </p:cNvSpPr>
          <p:nvPr/>
        </p:nvSpPr>
        <p:spPr>
          <a:xfrm rot="0">
            <a:off x="1244600" y="6096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6179560" name="Text">
    </p:cNvPr>
          <p:cNvSpPr>
            <a:spLocks noGrp="1"/>
          </p:cNvSpPr>
          <p:nvPr/>
        </p:nvSpPr>
        <p:spPr>
          <a:xfrm rot="0">
            <a:off x="1244600" y="5803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4057076" name="Text">
    </p:cNvPr>
          <p:cNvSpPr>
            <a:spLocks noGrp="1"/>
          </p:cNvSpPr>
          <p:nvPr/>
        </p:nvSpPr>
        <p:spPr>
          <a:xfrm rot="0">
            <a:off x="1244600" y="5562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897423664" name="Text">
    </p:cNvPr>
          <p:cNvSpPr>
            <a:spLocks noGrp="1"/>
          </p:cNvSpPr>
          <p:nvPr/>
        </p:nvSpPr>
        <p:spPr>
          <a:xfrm rot="0">
            <a:off x="8102600" y="6096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4436257" name="Text">
    </p:cNvPr>
          <p:cNvSpPr>
            <a:spLocks noGrp="1"/>
          </p:cNvSpPr>
          <p:nvPr/>
        </p:nvSpPr>
        <p:spPr>
          <a:xfrm rot="0">
            <a:off x="8102600" y="5562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943260548" name="Text">
    </p:cNvPr>
          <p:cNvSpPr>
            <a:spLocks noGrp="1"/>
          </p:cNvSpPr>
          <p:nvPr/>
        </p:nvSpPr>
        <p:spPr>
          <a:xfrm rot="0">
            <a:off x="8102600" y="5803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9068663" name="Frame"/>
          <p:cNvSpPr>
            <a:spLocks noGrp="1"/>
          </p:cNvSpPr>
          <p:nvPr/>
        </p:nvSpPr>
        <p:spPr>
          <a:xfrm>
            <a:off x="101600" y="2832100"/>
            <a:ext cx="9779000" cy="2247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480167781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82764868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2097735222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54241206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9145075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365376828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793008356" name="Frame"/>
          <p:cNvSpPr>
            <a:spLocks noGrp="1"/>
          </p:cNvSpPr>
          <p:nvPr/>
        </p:nvSpPr>
        <p:spPr>
          <a:xfrm>
            <a:off x="165100" y="44577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54924632" name="Text">
    </p:cNvPr>
          <p:cNvSpPr>
            <a:spLocks noGrp="1"/>
          </p:cNvSpPr>
          <p:nvPr/>
        </p:nvSpPr>
        <p:spPr>
          <a:xfrm rot="0">
            <a:off x="165100" y="443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99019333" name="Text">
    </p:cNvPr>
          <p:cNvSpPr>
            <a:spLocks noGrp="1"/>
          </p:cNvSpPr>
          <p:nvPr/>
        </p:nvSpPr>
        <p:spPr>
          <a:xfrm rot="0">
            <a:off x="965200" y="44831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S-imoms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[SAP DS Upgrade] EWS, GCMS 지원 (To-be ERP 스텐다드 테이블 변경 건)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2024.8월 결산의 EIS, Yellow Book 반영</a:t>
            </a:r>
          </a:p>
        </p:txBody>
      </p:sp>
      <p:sp>
        <p:nvSpPr>
          <p:cNvPr id="664691159" name="Text">
    </p:cNvPr>
          <p:cNvSpPr>
            <a:spLocks noGrp="1"/>
          </p:cNvSpPr>
          <p:nvPr/>
        </p:nvSpPr>
        <p:spPr>
          <a:xfrm rot="0">
            <a:off x="7239000" y="44831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14116792" name="Text">
    </p:cNvPr>
          <p:cNvSpPr>
            <a:spLocks noGrp="1"/>
          </p:cNvSpPr>
          <p:nvPr/>
        </p:nvSpPr>
        <p:spPr>
          <a:xfrm rot="0">
            <a:off x="5549900" y="44831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</a:p>
        </p:txBody>
      </p:sp>
      <p:sp>
        <p:nvSpPr>
          <p:cNvPr id="2085565572" name="Text">
    </p:cNvPr>
          <p:cNvSpPr>
            <a:spLocks noGrp="1"/>
          </p:cNvSpPr>
          <p:nvPr/>
        </p:nvSpPr>
        <p:spPr>
          <a:xfrm rot="0">
            <a:off x="901700" y="443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5984811" name="Text">
    </p:cNvPr>
          <p:cNvSpPr>
            <a:spLocks noGrp="1"/>
          </p:cNvSpPr>
          <p:nvPr/>
        </p:nvSpPr>
        <p:spPr>
          <a:xfrm rot="0">
            <a:off x="6121400" y="44323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3924881" name="Text">
    </p:cNvPr>
          <p:cNvSpPr>
            <a:spLocks noGrp="1"/>
          </p:cNvSpPr>
          <p:nvPr/>
        </p:nvSpPr>
        <p:spPr>
          <a:xfrm rot="0">
            <a:off x="5549900" y="443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98026955" name="Frame"/>
          <p:cNvSpPr>
            <a:spLocks noGrp="1"/>
          </p:cNvSpPr>
          <p:nvPr/>
        </p:nvSpPr>
        <p:spPr>
          <a:xfrm>
            <a:off x="165100" y="3454400"/>
            <a:ext cx="9639300" cy="977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58425918" name="Text">
    </p:cNvPr>
          <p:cNvSpPr>
            <a:spLocks noGrp="1"/>
          </p:cNvSpPr>
          <p:nvPr/>
        </p:nvSpPr>
        <p:spPr>
          <a:xfrm rot="0">
            <a:off x="165100" y="3454400"/>
            <a:ext cx="7366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571233355" name="Text">
    </p:cNvPr>
          <p:cNvSpPr>
            <a:spLocks noGrp="1"/>
          </p:cNvSpPr>
          <p:nvPr/>
        </p:nvSpPr>
        <p:spPr>
          <a:xfrm rot="0">
            <a:off x="965200" y="3530600"/>
            <a:ext cx="4584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[TR] 관세/부과금 환급 업로드(ZFIR이자율계산 공휴일 이자계산 제외 로직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(ZFIR1255)7140_U)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신규 발주 생성 시 대금수수계약 체결여부 점검 및 안내기능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405689587" name="Text">
    </p:cNvPr>
          <p:cNvSpPr>
            <a:spLocks noGrp="1"/>
          </p:cNvSpPr>
          <p:nvPr/>
        </p:nvSpPr>
        <p:spPr>
          <a:xfrm rot="0">
            <a:off x="7239000" y="3530600"/>
            <a:ext cx="2552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72093139" name="Text">
    </p:cNvPr>
          <p:cNvSpPr>
            <a:spLocks noGrp="1"/>
          </p:cNvSpPr>
          <p:nvPr/>
        </p:nvSpPr>
        <p:spPr>
          <a:xfrm rot="0">
            <a:off x="5549900" y="3530600"/>
            <a:ext cx="5715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1789260169" name="Text">
    </p:cNvPr>
          <p:cNvSpPr>
            <a:spLocks noGrp="1"/>
          </p:cNvSpPr>
          <p:nvPr/>
        </p:nvSpPr>
        <p:spPr>
          <a:xfrm rot="0">
            <a:off x="901700" y="3454400"/>
            <a:ext cx="46482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3099984" name="Text">
    </p:cNvPr>
          <p:cNvSpPr>
            <a:spLocks noGrp="1"/>
          </p:cNvSpPr>
          <p:nvPr/>
        </p:nvSpPr>
        <p:spPr>
          <a:xfrm rot="0">
            <a:off x="6121400" y="3454400"/>
            <a:ext cx="36449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02279949" name="Text">
    </p:cNvPr>
          <p:cNvSpPr>
            <a:spLocks noGrp="1"/>
          </p:cNvSpPr>
          <p:nvPr/>
        </p:nvSpPr>
        <p:spPr>
          <a:xfrm rot="0">
            <a:off x="5549900" y="3454400"/>
            <a:ext cx="5715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57972956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658384054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25154558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468783054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조달청 협약 여부 CRM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[휴넷]2024.04~09월 스마트러닝 교육이력 오류 확인 및 재전송 반영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[GCMS] 19년부터 지류식상품권 판매 데이터 추출요청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[EAI Upgrade] TO-BE개발서버 매매계약서 전송시 연동 접속정보 수정</a:t>
            </a:r>
          </a:p>
        </p:txBody>
      </p:sp>
      <p:sp>
        <p:nvSpPr>
          <p:cNvPr id="543694763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990558852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549606122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</a:p>
        </p:txBody>
      </p:sp>
      <p:sp>
        <p:nvSpPr>
          <p:cNvPr id="1435630342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4147800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6404036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9998213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34670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357101473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40269052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마이그레이션 추가수정(ZFIM9030_M)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SAP 수입통관 OFFER #100003942 단가 정정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한라석유 농가 거래처 주민등록번호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ITSM-117911 ERP 양하지 이벤트 기본 그룹변경 요청</a:t>
            </a:r>
          </a:p>
        </p:txBody>
      </p:sp>
      <p:sp>
        <p:nvSpPr>
          <p:cNvPr id="1449122550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149133073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37916975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</a:p>
        </p:txBody>
      </p:sp>
      <p:sp>
        <p:nvSpPr>
          <p:cNvPr id="661257315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6449042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0086275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2267313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